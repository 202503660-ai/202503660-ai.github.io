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cb694a269449bf" /><Relationship Type="http://schemas.openxmlformats.org/officeDocument/2006/relationships/extended-properties" Target="/docProps/app.xml" Id="Rf6b2235202794e63" /><Relationship Type="http://schemas.openxmlformats.org/officeDocument/2006/relationships/officeDocument" Target="/ppt/presentation.xml" Id="Rc10b181861544c98" /></Relationships>
</file>

<file path=ppt/presentation.xml><?xml version="1.0" encoding="utf-8"?>
<p:presentation xmlns:p="http://schemas.openxmlformats.org/presentationml/2006/main">
  <p:sldMasterIdLst>
    <p:sldMasterId xmlns:r="http://schemas.openxmlformats.org/officeDocument/2006/relationships" id="2147483648" r:id="R12aa0ad8013e4df1"/>
  </p:sldMasterIdLst>
  <p:notesMasterIdLst>
    <p:notesMasterId xmlns:r="http://schemas.openxmlformats.org/officeDocument/2006/relationships" r:id="R9f212a3a734e40c5"/>
  </p:notesMasterIdLst>
  <p:sldIdLst>
    <p:sldId xmlns:r="http://schemas.openxmlformats.org/officeDocument/2006/relationships" id="256" r:id="Rfffa08e488044ed3"/>
    <p:sldId xmlns:r="http://schemas.openxmlformats.org/officeDocument/2006/relationships" id="257" r:id="Rb5df6a9ebc3e4b78"/>
    <p:sldId xmlns:r="http://schemas.openxmlformats.org/officeDocument/2006/relationships" id="258" r:id="R6fc6c2a0348241a0"/>
    <p:sldId xmlns:r="http://schemas.openxmlformats.org/officeDocument/2006/relationships" id="259" r:id="R68b746c09a194d72"/>
    <p:sldId xmlns:r="http://schemas.openxmlformats.org/officeDocument/2006/relationships" id="260" r:id="R554e701678754a5f"/>
    <p:sldId xmlns:r="http://schemas.openxmlformats.org/officeDocument/2006/relationships" id="261" r:id="R506df9af05044baf"/>
    <p:sldId xmlns:r="http://schemas.openxmlformats.org/officeDocument/2006/relationships" id="262" r:id="R5a66f8ace5c94c5c"/>
    <p:sldId xmlns:r="http://schemas.openxmlformats.org/officeDocument/2006/relationships" id="263" r:id="R526f352dffb642de"/>
    <p:sldId xmlns:r="http://schemas.openxmlformats.org/officeDocument/2006/relationships" id="264" r:id="Rf74b4e43b27a4713"/>
    <p:sldId xmlns:r="http://schemas.openxmlformats.org/officeDocument/2006/relationships" id="265" r:id="R735b5aa74c7b468c"/>
    <p:sldId xmlns:r="http://schemas.openxmlformats.org/officeDocument/2006/relationships" id="266" r:id="R3c1fc4e4b40d4977"/>
    <p:sldId xmlns:r="http://schemas.openxmlformats.org/officeDocument/2006/relationships" id="267" r:id="R2b0a121238e0403c"/>
    <p:sldId xmlns:r="http://schemas.openxmlformats.org/officeDocument/2006/relationships" id="268" r:id="R6fb1b31abb624886"/>
    <p:sldId xmlns:r="http://schemas.openxmlformats.org/officeDocument/2006/relationships" id="269" r:id="R3e4ace64ffd04aaf"/>
    <p:sldId xmlns:r="http://schemas.openxmlformats.org/officeDocument/2006/relationships" id="270" r:id="R450e5c2a2d9d4d9c"/>
    <p:sldId xmlns:r="http://schemas.openxmlformats.org/officeDocument/2006/relationships" id="271" r:id="Rdd59274463924de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489d1fbb7a445b" /><Relationship Type="http://schemas.openxmlformats.org/officeDocument/2006/relationships/slideMaster" Target="/ppt/slideMasters/slideMaster1.xml" Id="R12aa0ad8013e4df1" /><Relationship Type="http://schemas.openxmlformats.org/officeDocument/2006/relationships/notesMaster" Target="/ppt/notesMasters/notesMaster1.xml" Id="R9f212a3a734e40c5" /><Relationship Type="http://schemas.openxmlformats.org/officeDocument/2006/relationships/presProps" Target="/ppt/presProps.xml" Id="R8a27a53a974942ef" /><Relationship Type="http://schemas.openxmlformats.org/officeDocument/2006/relationships/tableStyles" Target="/ppt/tableStyles.xml" Id="R122cd7cdfc304209" /><Relationship Type="http://schemas.openxmlformats.org/officeDocument/2006/relationships/slide" Target="/ppt/slides/slide1.xml" Id="Rfffa08e488044ed3" /><Relationship Type="http://schemas.openxmlformats.org/officeDocument/2006/relationships/slide" Target="/ppt/slides/slide2.xml" Id="Rb5df6a9ebc3e4b78" /><Relationship Type="http://schemas.openxmlformats.org/officeDocument/2006/relationships/slide" Target="/ppt/slides/slide3.xml" Id="R6fc6c2a0348241a0" /><Relationship Type="http://schemas.openxmlformats.org/officeDocument/2006/relationships/slide" Target="/ppt/slides/slide4.xml" Id="R68b746c09a194d72" /><Relationship Type="http://schemas.openxmlformats.org/officeDocument/2006/relationships/slide" Target="/ppt/slides/slide5.xml" Id="R554e701678754a5f" /><Relationship Type="http://schemas.openxmlformats.org/officeDocument/2006/relationships/slide" Target="/ppt/slides/slide6.xml" Id="R506df9af05044baf" /><Relationship Type="http://schemas.openxmlformats.org/officeDocument/2006/relationships/slide" Target="/ppt/slides/slide7.xml" Id="R5a66f8ace5c94c5c" /><Relationship Type="http://schemas.openxmlformats.org/officeDocument/2006/relationships/slide" Target="/ppt/slides/slide8.xml" Id="R526f352dffb642de" /><Relationship Type="http://schemas.openxmlformats.org/officeDocument/2006/relationships/slide" Target="/ppt/slides/slide9.xml" Id="Rf74b4e43b27a4713" /><Relationship Type="http://schemas.openxmlformats.org/officeDocument/2006/relationships/slide" Target="/ppt/slides/slide10.xml" Id="R735b5aa74c7b468c" /><Relationship Type="http://schemas.openxmlformats.org/officeDocument/2006/relationships/slide" Target="/ppt/slides/slide11.xml" Id="R3c1fc4e4b40d4977" /><Relationship Type="http://schemas.openxmlformats.org/officeDocument/2006/relationships/slide" Target="/ppt/slides/slide12.xml" Id="R2b0a121238e0403c" /><Relationship Type="http://schemas.openxmlformats.org/officeDocument/2006/relationships/slide" Target="/ppt/slides/slide13.xml" Id="R6fb1b31abb624886" /><Relationship Type="http://schemas.openxmlformats.org/officeDocument/2006/relationships/slide" Target="/ppt/slides/slide14.xml" Id="R3e4ace64ffd04aaf" /><Relationship Type="http://schemas.openxmlformats.org/officeDocument/2006/relationships/slide" Target="/ppt/slides/slide15.xml" Id="R450e5c2a2d9d4d9c" /><Relationship Type="http://schemas.openxmlformats.org/officeDocument/2006/relationships/slide" Target="/ppt/slides/slide16.xml" Id="Rdd59274463924d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89f5ea7a554d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26b4e2f25d44b5" /><Relationship Type="http://schemas.openxmlformats.org/officeDocument/2006/relationships/notesMaster" Target="/ppt/notesMasters/notesMaster1.xml" Id="R9ae24cd6975e4b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faf9a28e27493c" /><Relationship Type="http://schemas.openxmlformats.org/officeDocument/2006/relationships/notesMaster" Target="/ppt/notesMasters/notesMaster1.xml" Id="Rbcff269792484c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6e2fbba486435f" /><Relationship Type="http://schemas.openxmlformats.org/officeDocument/2006/relationships/notesMaster" Target="/ppt/notesMasters/notesMaster1.xml" Id="Rc8ddca06dafd49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3a0939676a426d" /><Relationship Type="http://schemas.openxmlformats.org/officeDocument/2006/relationships/notesMaster" Target="/ppt/notesMasters/notesMaster1.xml" Id="Re43ca51bee1244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0084d99e384e9c" /><Relationship Type="http://schemas.openxmlformats.org/officeDocument/2006/relationships/notesMaster" Target="/ppt/notesMasters/notesMaster1.xml" Id="Red726e3503d847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9c6a2d2bb14257" /><Relationship Type="http://schemas.openxmlformats.org/officeDocument/2006/relationships/notesMaster" Target="/ppt/notesMasters/notesMaster1.xml" Id="Rc03d062c360d48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cf1ea5e1d54039" /><Relationship Type="http://schemas.openxmlformats.org/officeDocument/2006/relationships/notesMaster" Target="/ppt/notesMasters/notesMaster1.xml" Id="R69d25db5fd9a4c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9254164fbe45d4" /><Relationship Type="http://schemas.openxmlformats.org/officeDocument/2006/relationships/notesMaster" Target="/ppt/notesMasters/notesMaster1.xml" Id="R06f9d31716b04b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16c48b17d648dd" /><Relationship Type="http://schemas.openxmlformats.org/officeDocument/2006/relationships/notesMaster" Target="/ppt/notesMasters/notesMaster1.xml" Id="R8752165203bc4a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0c2aca8b1d4da9" /><Relationship Type="http://schemas.openxmlformats.org/officeDocument/2006/relationships/notesMaster" Target="/ppt/notesMasters/notesMaster1.xml" Id="R7c7f7688438849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0a3b508d224a84" /><Relationship Type="http://schemas.openxmlformats.org/officeDocument/2006/relationships/notesMaster" Target="/ppt/notesMasters/notesMaster1.xml" Id="R3f85151ca7d941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0ad5aad80b4a0b" /><Relationship Type="http://schemas.openxmlformats.org/officeDocument/2006/relationships/notesMaster" Target="/ppt/notesMasters/notesMaster1.xml" Id="R513c2b89771b46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8a76a8403441b1" /><Relationship Type="http://schemas.openxmlformats.org/officeDocument/2006/relationships/notesMaster" Target="/ppt/notesMasters/notesMaster1.xml" Id="R7b2115adf35241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1f139940ef45f0" /><Relationship Type="http://schemas.openxmlformats.org/officeDocument/2006/relationships/notesMaster" Target="/ppt/notesMasters/notesMaster1.xml" Id="Rbad29af9478946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f4b819de7b4971" /><Relationship Type="http://schemas.openxmlformats.org/officeDocument/2006/relationships/notesMaster" Target="/ppt/notesMasters/notesMaster1.xml" Id="Reb7e34645b9b48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7509252ab148c9" /><Relationship Type="http://schemas.openxmlformats.org/officeDocument/2006/relationships/notesMaster" Target="/ppt/notesMasters/notesMaster1.xml" Id="R59cacccbe5b044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10초</a:t>
            </a:r>
          </a:p>
          <a:p xmlns:a="http://schemas.openxmlformats.org/drawingml/2006/main">
            <a:r>
              <a:t>안녕하세요. 저희는 회기·이문·전농의 16개 상권에 스탬프 60개를 어떻게 배정할지 제안합니다.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코어 9개 상권에서 20대 유동의 이동평균 지수는 기준 수준에 가깝습니다. 최종 구성안에 기록된 20대 추정매출 지수는 73.4로 낮아졌습니다. 이번 폴더에서 유동 추이는 재현했지만 장기 매출 원자료는 없어 기록값을 구분했습니다. 이 차이를 방문과 지역 소비를 연결하는 운영 장치의 검토 배경으로 삼았습니다. 축제의 효과나 감소 원인을 증명한 결과는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참여 범위는 세 대학앞 상권을 감싼 볼록껍질의 외곽에 300미터를 더하고, 상권 면적의 절반 이상이 들어오는 곳을 선택하는 규칙입니다. 문서상 코어 9곳과 참여 7곳, 총 16곳입니다. 여기 지도는 공식 중심점 위치도이며 실제 경계를 재현한 것은 아닙니다. 연계존 7곳은 교통 연계를 검토합니다.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도달 지수에는 평시 20대 비중과 거리의 관계에서 추정한 감쇠계수를 사용합니다. 기록된 베타는 킬로미터당 1.189이며 반감거리는 약 583미터입니다. 이 곡선은 그 계수를 적용한 모형값입니다. 축제 당일 방문을 측정한 결과가 아니고, 앞의 300미터 참여 규칙과도 용도가 다릅니다.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배정 기준은 소외도 M입니다. D는 최근의 하락, L은 낮은 점포당 매출, R은 거리 기반 도달을 뜻합니다. D는 네 지표를 백분위화해 평균한 뒤 다시 백분위화합니다. D와 L을 대칭적으로 결합하고 R을 곱합니다. 시립대앞사거리는 M이 0.669로 6개, 경희대앞은 0.216으로 최소 참여 2개를 배정합니다. 취향 추천 점수와는 별개의 정책 지수입니다.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60개 총량 안에서 코어에 36개, 참여에 24개를 배정했습니다. 연계존은 0개입니다. 상권별 최소 2개를 보장하고, 최대 6개 또는 전체 점포 수의 20퍼센트 중 작은 값을 상한으로 둡니다. 시조사삼거리와 회기역 1번은 2개에서 6개로 늘었습니다. 이경시장은 점포 19곳의 20퍼센트를 내림한 상한 때문에 3개입니다. 확정 제휴 매장 수가 아닌 모집 배정안입니다.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40초</a:t>
            </a:r>
          </a:p>
          <a:p xmlns:a="http://schemas.openxmlformats.org/drawingml/2006/main">
            <a:r>
              <a:t>전체 60개로 분모를 통일하면 소외도 상위 다섯 곳의 몫은 13개, 21.7퍼센트에서 27개, 45퍼센트로 늘어납니다. 같은 총량에서 14개를 더 배정하는 방향으로 바뀐 것입니다. 배정과 점포당 매출의 상관도 양에서 음으로 전환했습니다. 이 숫자는 매출 증가 효과가 아니라 계획상 배정량의 변화입니다.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분석에서는 세 상권을 묶는 코스도 제안했습니다. 회기권은 회기역 1번, 회기시장, 시조사삼거리입니다. 이문권과 전농권도 각각 세 곳을 연결합니다. 세 코스는 소외도 상위 다섯 곳을 모두 포함합니다. 거리는 대표점 직선거리에 우회계수를 적용한 가정값이므로 실제 보행경로와 방문 순서는 현장 확인이 필요합니다. 웹의 기존 테마 코스와는 구분합니다.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[추천 화면 10초] 방문객은 취향에 맞는 상권을 찾습니다. [지도 목록에서 시립대앞사거리 열기 15초] 상세 화면에서 스탬프 6개와 소외도 0.669를 확인합니다. [근거 설명 15초] D·L·R과 상한, 출처를 함께 보여주어 배정 이유를 설명합니다. 방문객 추천과 운영자 배정은 목적이 다릅니다. [발표 복귀 5초] 네트워크가 끊기면 동일한 캡처로 설명합니다.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50초</a:t>
            </a:r>
          </a:p>
          <a:p xmlns:a="http://schemas.openxmlformats.org/drawingml/2006/main">
            <a:r>
              <a:t>실행은 행사 4주 전 협의부터 시작합니다. 2~3주 전에는 제휴 모집과 경로를 확인하고, 1주 전에는 쿠폰과 집계를 점검합니다. 대학 운영진은 방문 안내, 상인회와 상점은 모집과 쿠폰, 관계 기관은 현장 지원, 분석팀은 배정과 평가를 담당하도록 제안합니다. 모집 실적과 완주율을 집계하고, 동의한 매장의 매출과 객수를 비교합니다. 요일과 날씨, 학사일정도 고려해야 합니다. 인력과 제작물, 쿠폰 재원은 별도 산정합니다.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25초</a:t>
            </a:r>
          </a:p>
          <a:p xmlns:a="http://schemas.openxmlformats.org/drawingml/2006/main">
            <a:r>
              <a:t>제안의 규모는 16개 상권과 60개 배정입니다. 그중 소외도 상위 다섯 곳에 27개를 배정했습니다. 이 배정안으로 참여 상점을 모집하고 실제 방문과 소비 자료를 모아 다음 행사에 반영하겠습니다. 현장 검증과 제휴 협의를 진행할 시범 운영 기회를 요청드립니다.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B10-14 PDF 7–8쪽의 공개 배정표. 소수 셋째 자리 반올림 값이며 재계산 결과가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목적함수와 제약 아래의 최적성입니다. 실제 매출 증가를 최대화한다고 검증한 것은 아닙니다. DP 결과와 민감도는 B10-14에 기록된 검증이며 이번 폴더에서 원본 입력으로 재실행하지 않았습니다.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D 41.5%, L 41.6%, R 16.9%는 기록된 평균 절대 Shapley 비중입니다. 지수 출력의 설명이며 인과적 매출 기여율이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전체 웹 명단은 현재 로컬 데이터를 유지합니다. 구성안의 4,402점포는 교정 명단이 없어 적용하지 않습니다. 자료가 없다고 0으로 바꾸거나 임의의 관측치를 만들지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300m는 범위 규칙이고 583m는 감쇠모형의 반감거리입니다. 425m 분절점의 추가 설명력은 유의하지 않습니다. 새 지수에 옛 점포 수 min-max 항이 없으므로 500개 클리핑을 복원하지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059fd5010748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a4d028a82342e0" /><Relationship Type="http://schemas.openxmlformats.org/officeDocument/2006/relationships/slideLayout" Target="/ppt/slideLayouts/slideLayout1.xml" Id="R26e0dc2159d748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e0dc2159d748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d2d5d6f03c40fe" /><Relationship Type="http://schemas.openxmlformats.org/officeDocument/2006/relationships/notesSlide" Target="/ppt/notesSlides/notesSlide1.xml" Id="Ra79e065584fc40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31d518b4b34e1a" /><Relationship Type="http://schemas.openxmlformats.org/officeDocument/2006/relationships/chart" Target="/ppt/slides/charts/chart1.xml" Id="Rf2480914159d48c2" /><Relationship Type="http://schemas.openxmlformats.org/officeDocument/2006/relationships/notesSlide" Target="/ppt/notesSlides/notesSlide2.xml" Id="R3cc3a937c46745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875138456f4f35" /><Relationship Type="http://schemas.openxmlformats.org/officeDocument/2006/relationships/chart" Target="/ppt/slides/charts/chart2.xml" Id="Ra54a09dbd3564639" /><Relationship Type="http://schemas.openxmlformats.org/officeDocument/2006/relationships/notesSlide" Target="/ppt/notesSlides/notesSlide3.xml" Id="R2d02ef39d49d49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5a193a5b024c5f" /><Relationship Type="http://schemas.openxmlformats.org/officeDocument/2006/relationships/chart" Target="/ppt/slides/charts/chart3.xml" Id="Rd6c3f90d728b4ba5" /><Relationship Type="http://schemas.openxmlformats.org/officeDocument/2006/relationships/notesSlide" Target="/ppt/notesSlides/notesSlide4.xml" Id="R3d34b073ffdc44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d0b441e9ac4b8a" /><Relationship Type="http://schemas.openxmlformats.org/officeDocument/2006/relationships/notesSlide" Target="/ppt/notesSlides/notesSlide5.xml" Id="R11ab395b048b40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afa31b91444ee8" /><Relationship Type="http://schemas.openxmlformats.org/officeDocument/2006/relationships/chart" Target="/ppt/slides/charts/chart4.xml" Id="R15b70351409d48c4" /><Relationship Type="http://schemas.openxmlformats.org/officeDocument/2006/relationships/notesSlide" Target="/ppt/notesSlides/notesSlide6.xml" Id="Rad7edbdb391943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eee10253834dd0" /><Relationship Type="http://schemas.openxmlformats.org/officeDocument/2006/relationships/chart" Target="/ppt/slides/charts/chart5.xml" Id="Rdb7a1d375d8245ae" /><Relationship Type="http://schemas.openxmlformats.org/officeDocument/2006/relationships/notesSlide" Target="/ppt/notesSlides/notesSlide7.xml" Id="Rbbdaf845b70243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1696c8179f48cf" /><Relationship Type="http://schemas.openxmlformats.org/officeDocument/2006/relationships/notesSlide" Target="/ppt/notesSlides/notesSlide8.xml" Id="Rf8120fb4f2264a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23b3d8b1344492" /><Relationship Type="http://schemas.openxmlformats.org/officeDocument/2006/relationships/image" Target="/ppt/media/image.png" Id="R77a4093deb464c28" /><Relationship Type="http://schemas.openxmlformats.org/officeDocument/2006/relationships/image" Target="/ppt/media/image2.png" Id="R92cbe198853b4e17" /><Relationship Type="http://schemas.openxmlformats.org/officeDocument/2006/relationships/notesSlide" Target="/ppt/notesSlides/notesSlide9.xml" Id="R96382614948845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86217172294a2b" /><Relationship Type="http://schemas.openxmlformats.org/officeDocument/2006/relationships/notesSlide" Target="/ppt/notesSlides/notesSlide10.xml" Id="R3346f31a004644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ffc91ab05c4bd5" /><Relationship Type="http://schemas.openxmlformats.org/officeDocument/2006/relationships/notesSlide" Target="/ppt/notesSlides/notesSlide11.xml" Id="R428115f065be40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46ba8bfa3054123" /><Relationship Type="http://schemas.openxmlformats.org/officeDocument/2006/relationships/notesSlide" Target="/ppt/notesSlides/notesSlide12.xml" Id="Re1698c05dd674c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fd0f9513bf14f90" /><Relationship Type="http://schemas.openxmlformats.org/officeDocument/2006/relationships/notesSlide" Target="/ppt/notesSlides/notesSlide13.xml" Id="Reaaefe78f8e24c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96599a887343b3" /><Relationship Type="http://schemas.openxmlformats.org/officeDocument/2006/relationships/chart" Target="/ppt/slides/charts/chart6.xml" Id="Rd7ac0ad1ecac4bbe" /><Relationship Type="http://schemas.openxmlformats.org/officeDocument/2006/relationships/notesSlide" Target="/ppt/notesSlides/notesSlide14.xml" Id="R694a6fa1d2ad47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0afe5685604375" /><Relationship Type="http://schemas.openxmlformats.org/officeDocument/2006/relationships/notesSlide" Target="/ppt/notesSlides/notesSlide15.xml" Id="Rad5d6991b69048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8557757c7ab46ff" /><Relationship Type="http://schemas.openxmlformats.org/officeDocument/2006/relationships/notesSlide" Target="/ppt/notesSlides/notesSlide16.xml" Id="Ra055a7114eea42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20대 유동</c:v>
          </c:tx>
          <c:spPr>
            <a:ln xmlns:a="http://schemas.openxmlformats.org/drawingml/2006/main" w="28575">
              <a:solidFill>
                <a:srgbClr val="487CA5"/>
              </a:solidFill>
            </a:ln>
          </c:spPr>
          <c:marker>
            <c:symbol val="none"/>
          </c:marker>
          <c:cat>
            <c:strRef>
              <c:f>'Chart Data'!$A$2:$A$16</c:f>
              <c:strCache>
                <c:ptCount val="15"/>
                <c:pt idx="0">
                  <c:v>22.4Q</c:v>
                </c:pt>
                <c:pt idx="1">
                  <c:v>23.1Q</c:v>
                </c:pt>
                <c:pt idx="2">
                  <c:v>23.2Q</c:v>
                </c:pt>
                <c:pt idx="3">
                  <c:v>23.3Q</c:v>
                </c:pt>
                <c:pt idx="4">
                  <c:v>23.4Q</c:v>
                </c:pt>
                <c:pt idx="5">
                  <c:v>24.1Q</c:v>
                </c:pt>
                <c:pt idx="6">
                  <c:v>24.2Q</c:v>
                </c:pt>
                <c:pt idx="7">
                  <c:v>24.3Q</c:v>
                </c:pt>
                <c:pt idx="8">
                  <c:v>24.4Q</c:v>
                </c:pt>
                <c:pt idx="9">
                  <c:v>25.1Q</c:v>
                </c:pt>
                <c:pt idx="10">
                  <c:v>25.2Q</c:v>
                </c:pt>
                <c:pt idx="11">
                  <c:v>25.3Q</c:v>
                </c:pt>
                <c:pt idx="12">
                  <c:v>25.4Q</c:v>
                </c:pt>
                <c:pt idx="13">
                  <c:v>26.1Q</c:v>
                </c:pt>
                <c:pt idx="14">
                  <c:v>26.2Q</c:v>
                </c:pt>
              </c:strCache>
            </c:strRef>
          </c:cat>
          <c:val>
            <c:numRef>
              <c:f>'Chart Data'!$B$2:$B$16</c:f>
              <c:numCache>
                <c:formatCode>0</c:formatCode>
                <c:ptCount val="15"/>
                <c:pt idx="0">
                  <c:v>100</c:v>
                </c:pt>
                <c:pt idx="1">
                  <c:v>103.682533</c:v>
                </c:pt>
                <c:pt idx="2">
                  <c:v>107.369128</c:v>
                </c:pt>
                <c:pt idx="3">
                  <c:v>106.884237</c:v>
                </c:pt>
                <c:pt idx="4">
                  <c:v>107.919965</c:v>
                </c:pt>
                <c:pt idx="5">
                  <c:v>106.247696</c:v>
                </c:pt>
                <c:pt idx="6">
                  <c:v>105.63071</c:v>
                </c:pt>
                <c:pt idx="7">
                  <c:v>104.34615</c:v>
                </c:pt>
                <c:pt idx="8">
                  <c:v>102.699915</c:v>
                </c:pt>
                <c:pt idx="9">
                  <c:v>102.146107</c:v>
                </c:pt>
                <c:pt idx="10">
                  <c:v>101.425705</c:v>
                </c:pt>
                <c:pt idx="11">
                  <c:v>101.198844</c:v>
                </c:pt>
                <c:pt idx="12">
                  <c:v>100.128618</c:v>
                </c:pt>
                <c:pt idx="13">
                  <c:v>99.80175</c:v>
                </c:pt>
                <c:pt idx="14">
                  <c:v>100.665485</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15"/>
          <c:min val="85"/>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코어</c:v>
          </c:tx>
          <c:spPr>
            <a:solidFill xmlns:a="http://schemas.openxmlformats.org/drawingml/2006/main">
              <a:srgbClr val="487CA5"/>
            </a:solidFill>
          </c:spPr>
          <c:marker>
            <c:symbol val="circle"/>
            <c:size val="9"/>
          </c:marker>
          <c:xVal>
            <c:numRef>
              <c:f>'Chart Data'!$A$2:$A$10</c:f>
              <c:numCache>
                <c:formatCode>General</c:formatCode>
                <c:ptCount val="9"/>
                <c:pt idx="0">
                  <c:v>204632</c:v>
                </c:pt>
                <c:pt idx="1">
                  <c:v>204533</c:v>
                </c:pt>
                <c:pt idx="2">
                  <c:v>205089</c:v>
                </c:pt>
                <c:pt idx="3">
                  <c:v>205403</c:v>
                </c:pt>
                <c:pt idx="4">
                  <c:v>205156</c:v>
                </c:pt>
                <c:pt idx="5">
                  <c:v>204907</c:v>
                </c:pt>
                <c:pt idx="6">
                  <c:v>204784</c:v>
                </c:pt>
                <c:pt idx="7">
                  <c:v>205004</c:v>
                </c:pt>
                <c:pt idx="8">
                  <c:v>204642</c:v>
                </c:pt>
              </c:numCache>
            </c:numRef>
          </c:xVal>
          <c:yVal>
            <c:numRef>
              <c:f>'Chart Data'!$B$2:$B$10</c:f>
              <c:numCache>
                <c:formatCode>0</c:formatCode>
                <c:ptCount val="9"/>
                <c:pt idx="0">
                  <c:v>454773</c:v>
                </c:pt>
                <c:pt idx="1">
                  <c:v>454605</c:v>
                </c:pt>
                <c:pt idx="2">
                  <c:v>454430</c:v>
                </c:pt>
                <c:pt idx="3">
                  <c:v>455074</c:v>
                </c:pt>
                <c:pt idx="4">
                  <c:v>454641</c:v>
                </c:pt>
                <c:pt idx="5">
                  <c:v>454615</c:v>
                </c:pt>
                <c:pt idx="6">
                  <c:v>454008</c:v>
                </c:pt>
                <c:pt idx="7">
                  <c:v>454831</c:v>
                </c:pt>
                <c:pt idx="8">
                  <c:v>454283</c:v>
                </c:pt>
              </c:numCache>
            </c:numRef>
          </c:yVal>
        </c:ser>
        <c:ser>
          <c:idx val="1"/>
          <c:order val="1"/>
          <c:tx>
            <c:v>참여</c:v>
          </c:tx>
          <c:spPr>
            <a:solidFill xmlns:a="http://schemas.openxmlformats.org/drawingml/2006/main">
              <a:srgbClr val="B59369"/>
            </a:solidFill>
          </c:spPr>
          <c:marker>
            <c:symbol val="circle"/>
            <c:size val="9"/>
          </c:marker>
          <c:xVal>
            <c:numRef>
              <c:f>'Chart Data'!$C$2:$C$8</c:f>
              <c:numCache>
                <c:formatCode>General</c:formatCode>
                <c:ptCount val="7"/>
                <c:pt idx="0">
                  <c:v>204987</c:v>
                </c:pt>
                <c:pt idx="1">
                  <c:v>205315</c:v>
                </c:pt>
                <c:pt idx="2">
                  <c:v>205611</c:v>
                </c:pt>
                <c:pt idx="3">
                  <c:v>205838</c:v>
                </c:pt>
                <c:pt idx="4">
                  <c:v>204615</c:v>
                </c:pt>
                <c:pt idx="5">
                  <c:v>204828</c:v>
                </c:pt>
                <c:pt idx="6">
                  <c:v>205428</c:v>
                </c:pt>
              </c:numCache>
            </c:numRef>
          </c:xVal>
          <c:yVal>
            <c:numRef>
              <c:f>'Chart Data'!$D$2:$D$8</c:f>
              <c:numCache>
                <c:formatCode>0</c:formatCode>
                <c:ptCount val="7"/>
                <c:pt idx="0">
                  <c:v>455329</c:v>
                </c:pt>
                <c:pt idx="1">
                  <c:v>454241</c:v>
                </c:pt>
                <c:pt idx="2">
                  <c:v>454967</c:v>
                </c:pt>
                <c:pt idx="3">
                  <c:v>455017</c:v>
                </c:pt>
                <c:pt idx="4">
                  <c:v>453829</c:v>
                </c:pt>
                <c:pt idx="5">
                  <c:v>453365</c:v>
                </c:pt>
                <c:pt idx="6">
                  <c:v>454564</c:v>
                </c:pt>
              </c:numCache>
            </c:numRef>
          </c:yVal>
        </c:ser>
        <c:ser>
          <c:idx val="2"/>
          <c:order val="2"/>
          <c:tx>
            <c:v>연계</c:v>
          </c:tx>
          <c:spPr>
            <a:solidFill xmlns:a="http://schemas.openxmlformats.org/drawingml/2006/main">
              <a:srgbClr val="C9C9C6"/>
            </a:solidFill>
          </c:spPr>
          <c:marker>
            <c:symbol val="circle"/>
            <c:size val="9"/>
          </c:marker>
          <c:xVal>
            <c:numRef>
              <c:f>'Chart Data'!$E$2:$E$8</c:f>
              <c:numCache>
                <c:formatCode>General</c:formatCode>
                <c:ptCount val="7"/>
                <c:pt idx="0">
                  <c:v>204223</c:v>
                </c:pt>
                <c:pt idx="1">
                  <c:v>205511</c:v>
                </c:pt>
                <c:pt idx="2">
                  <c:v>205012</c:v>
                </c:pt>
                <c:pt idx="3">
                  <c:v>205156</c:v>
                </c:pt>
                <c:pt idx="4">
                  <c:v>204076</c:v>
                </c:pt>
                <c:pt idx="5">
                  <c:v>204193</c:v>
                </c:pt>
                <c:pt idx="6">
                  <c:v>204578</c:v>
                </c:pt>
              </c:numCache>
            </c:numRef>
          </c:xVal>
          <c:yVal>
            <c:numRef>
              <c:f>'Chart Data'!$F$2:$F$8</c:f>
              <c:numCache>
                <c:formatCode>0</c:formatCode>
                <c:ptCount val="7"/>
                <c:pt idx="0">
                  <c:v>453496</c:v>
                </c:pt>
                <c:pt idx="1">
                  <c:v>456109</c:v>
                </c:pt>
                <c:pt idx="2">
                  <c:v>453131</c:v>
                </c:pt>
                <c:pt idx="3">
                  <c:v>453263</c:v>
                </c:pt>
                <c:pt idx="4">
                  <c:v>452936</c:v>
                </c:pt>
                <c:pt idx="5">
                  <c:v>453064</c:v>
                </c:pt>
                <c:pt idx="6">
                  <c:v>453280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valAx>
      <c:val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상대 도달 지수 R</c:v>
          </c:tx>
          <c:spPr>
            <a:ln xmlns:a="http://schemas.openxmlformats.org/drawingml/2006/main" w="28575">
              <a:solidFill>
                <a:srgbClr val="487CA5"/>
              </a:solidFill>
            </a:ln>
          </c:spPr>
          <c:marker>
            <c:symbol val="none"/>
          </c:marker>
          <c:cat>
            <c:strRef>
              <c:f>'Chart Data'!$A$2:$A$7</c:f>
              <c:strCache>
                <c:ptCount val="6"/>
                <c:pt idx="0">
                  <c:v>0</c:v>
                </c:pt>
                <c:pt idx="1">
                  <c:v>200</c:v>
                </c:pt>
                <c:pt idx="2">
                  <c:v>400</c:v>
                </c:pt>
                <c:pt idx="3">
                  <c:v>600</c:v>
                </c:pt>
                <c:pt idx="4">
                  <c:v>800</c:v>
                </c:pt>
                <c:pt idx="5">
                  <c:v>1,000</c:v>
                </c:pt>
              </c:strCache>
            </c:strRef>
          </c:cat>
          <c:val>
            <c:numRef>
              <c:f>'Chart Data'!$B$2:$B$7</c:f>
              <c:numCache>
                <c:formatCode>0.00</c:formatCode>
                <c:ptCount val="6"/>
                <c:pt idx="0">
                  <c:v>1</c:v>
                </c:pt>
                <c:pt idx="1">
                  <c:v>0.78836</c:v>
                </c:pt>
                <c:pt idx="2">
                  <c:v>0.621512</c:v>
                </c:pt>
                <c:pt idx="3">
                  <c:v>0.489975</c:v>
                </c:pt>
                <c:pt idx="4">
                  <c:v>0.386277</c:v>
                </c:pt>
                <c:pt idx="5">
                  <c:v>0.304526</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거리 (m)</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상대 도달 지수 R</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기존</c:v>
          </c:tx>
          <c:spPr>
            <a:solidFill xmlns:a="http://schemas.openxmlformats.org/drawingml/2006/main">
              <a:srgbClr val="D9D9D6"/>
            </a:solidFill>
          </c:spPr>
          <c:cat>
            <c:strRef>
              <c:f>'Chart Data'!$A$2:$A$5</c:f>
              <c:strCache>
                <c:ptCount val="4"/>
                <c:pt idx="0">
                  <c:v>시립대앞사거리</c:v>
                </c:pt>
                <c:pt idx="1">
                  <c:v>회기역 1번</c:v>
                </c:pt>
                <c:pt idx="2">
                  <c:v>시조사삼거리</c:v>
                </c:pt>
                <c:pt idx="3">
                  <c:v>이경시장</c:v>
                </c:pt>
              </c:strCache>
            </c:strRef>
          </c:cat>
          <c:val>
            <c:numRef>
              <c:f>'Chart Data'!$B$2:$B$5</c:f>
              <c:numCache>
                <c:formatCode>0</c:formatCode>
                <c:ptCount val="4"/>
                <c:pt idx="0">
                  <c:v>3</c:v>
                </c:pt>
                <c:pt idx="1">
                  <c:v>2</c:v>
                </c:pt>
                <c:pt idx="2">
                  <c:v>2</c:v>
                </c:pt>
                <c:pt idx="3">
                  <c:v>3</c:v>
                </c:pt>
              </c:numCache>
            </c:numRef>
          </c:val>
        </c:ser>
        <c:ser>
          <c:idx val="1"/>
          <c:order val="1"/>
          <c:tx>
            <c:v>최종</c:v>
          </c:tx>
          <c:spPr>
            <a:solidFill xmlns:a="http://schemas.openxmlformats.org/drawingml/2006/main">
              <a:srgbClr val="487CA5"/>
            </a:solidFill>
          </c:spPr>
          <c:cat>
            <c:strRef>
              <c:f>'Chart Data'!$C$2:$C$5</c:f>
              <c:strCache>
                <c:ptCount val="4"/>
                <c:pt idx="0">
                  <c:v>시립대앞사거리</c:v>
                </c:pt>
                <c:pt idx="1">
                  <c:v>회기역 1번</c:v>
                </c:pt>
                <c:pt idx="2">
                  <c:v>시조사삼거리</c:v>
                </c:pt>
                <c:pt idx="3">
                  <c:v>이경시장</c:v>
                </c:pt>
              </c:strCache>
            </c:strRef>
          </c:cat>
          <c:val>
            <c:numRef>
              <c:f>'Chart Data'!$D$2:$D$5</c:f>
              <c:numCache>
                <c:formatCode>0</c:formatCode>
                <c:ptCount val="4"/>
                <c:pt idx="0">
                  <c:v>6</c:v>
                </c:pt>
                <c:pt idx="1">
                  <c:v>6</c:v>
                </c:pt>
                <c:pt idx="2">
                  <c:v>6</c:v>
                </c:pt>
                <c:pt idx="3">
                  <c:v>3</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7"/>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소외도 상위 5곳</c:v>
          </c:tx>
          <c:spPr>
            <a:solidFill xmlns:a="http://schemas.openxmlformats.org/drawingml/2006/main">
              <a:srgbClr val="487CA5"/>
            </a:solidFill>
          </c:spPr>
          <c:cat>
            <c:strRef>
              <c:f>'Chart Data'!$A$2:$A$3</c:f>
              <c:strCache>
                <c:ptCount val="2"/>
                <c:pt idx="0">
                  <c:v>기존 배정</c:v>
                </c:pt>
                <c:pt idx="1">
                  <c:v>최종 배정</c:v>
                </c:pt>
              </c:strCache>
            </c:strRef>
          </c:cat>
          <c:val>
            <c:numRef>
              <c:f>'Chart Data'!$B$2:$B$3</c:f>
              <c:numCache>
                <c:formatCode>0</c:formatCode>
                <c:ptCount val="2"/>
                <c:pt idx="0">
                  <c:v>13</c:v>
                </c:pt>
                <c:pt idx="1">
                  <c:v>27</c:v>
                </c:pt>
              </c:numCache>
            </c:numRef>
          </c:val>
        </c:ser>
        <c:ser>
          <c:idx val="1"/>
          <c:order val="1"/>
          <c:tx>
            <c:v>나머지 대상 11곳</c:v>
          </c:tx>
          <c:spPr>
            <a:solidFill xmlns:a="http://schemas.openxmlformats.org/drawingml/2006/main">
              <a:srgbClr val="CBCBC7"/>
            </a:solidFill>
          </c:spPr>
          <c:cat>
            <c:strRef>
              <c:f>'Chart Data'!$C$2:$C$3</c:f>
              <c:strCache>
                <c:ptCount val="2"/>
                <c:pt idx="0">
                  <c:v>기존 배정</c:v>
                </c:pt>
                <c:pt idx="1">
                  <c:v>최종 배정</c:v>
                </c:pt>
              </c:strCache>
            </c:strRef>
          </c:cat>
          <c:val>
            <c:numRef>
              <c:f>'Chart Data'!$D$2:$D$3</c:f>
              <c:numCache>
                <c:formatCode>0</c:formatCode>
                <c:ptCount val="2"/>
                <c:pt idx="0">
                  <c:v>37</c:v>
                </c:pt>
                <c:pt idx="1">
                  <c:v>33</c:v>
                </c:pt>
              </c:numCache>
            </c:numRef>
          </c:val>
        </c:ser>
        <c:ser>
          <c:idx val="2"/>
          <c:order val="2"/>
          <c:tx>
            <c:v>연계 7곳</c:v>
          </c:tx>
          <c:spPr>
            <a:solidFill xmlns:a="http://schemas.openxmlformats.org/drawingml/2006/main">
              <a:srgbClr val="EAEAE7"/>
            </a:solidFill>
          </c:spPr>
          <c:dLbls>
            <c:dLbl>
              <c:idx val="1"/>
              <c:showLegendKey val="0"/>
              <c:showVal val="0"/>
              <c:showCatName val="0"/>
              <c:showSerName val="0"/>
              <c:showPercent val="0"/>
              <c:showBubbleSize val="0"/>
            </c:dLbl>
          </c:dLbls>
          <c:cat>
            <c:strRef>
              <c:f>'Chart Data'!$E$2:$E$3</c:f>
              <c:strCache>
                <c:ptCount val="2"/>
                <c:pt idx="0">
                  <c:v>기존 배정</c:v>
                </c:pt>
                <c:pt idx="1">
                  <c:v>최종 배정</c:v>
                </c:pt>
              </c:strCache>
            </c:strRef>
          </c:cat>
          <c:val>
            <c:numRef>
              <c:f>'Chart Data'!$F$2:$F$3</c:f>
              <c:numCache>
                <c:formatCode>0</c:formatCode>
                <c:ptCount val="2"/>
                <c:pt idx="0">
                  <c:v>10</c:v>
                </c:pt>
                <c:pt idx="1">
                  <c:v>0</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ctr"/>
          <c:showLegendKey val="0"/>
          <c:showVal val="1"/>
          <c:showCatName val="0"/>
          <c:showSerName val="0"/>
          <c:showPercent val="0"/>
          <c:showBubbleSize val="0"/>
          <c:showLeaderLines val="0"/>
        </c:dLbls>
        <c:overlap val="10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6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평균 절대 Shapley 비중 (%)</c:v>
          </c:tx>
          <c:spPr>
            <a:solidFill xmlns:a="http://schemas.openxmlformats.org/drawingml/2006/main">
              <a:srgbClr val="487CA5"/>
            </a:solidFill>
          </c:spPr>
          <c:cat>
            <c:strRef>
              <c:f>'Chart Data'!$A$2:$A$4</c:f>
              <c:strCache>
                <c:ptCount val="3"/>
                <c:pt idx="0">
                  <c:v>D 하락</c:v>
                </c:pt>
                <c:pt idx="1">
                  <c:v>L 저활력</c:v>
                </c:pt>
                <c:pt idx="2">
                  <c:v>R 도달</c:v>
                </c:pt>
              </c:strCache>
            </c:strRef>
          </c:cat>
          <c:val>
            <c:numRef>
              <c:f>'Chart Data'!$B$2:$B$4</c:f>
              <c:numCache>
                <c:formatCode>0</c:formatCode>
                <c:ptCount val="3"/>
                <c:pt idx="0">
                  <c:v>41.5</c:v>
                </c:pt>
                <c:pt idx="1">
                  <c:v>41.6</c:v>
                </c:pt>
                <c:pt idx="2">
                  <c:v>16.9</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5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3239F68F-EFD7-4ED2-9A03-C9A1DBD1F095}"/>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42B383-083E-4295-BE29-76915ED34354}"/>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1119823-524E-47F6-B111-2BB4D19057EC}"/>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5C973D9D-A64F-45E3-A6E9-FA061E7A7CC7}"/>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08FB009F-1269-410F-B1A9-FB6BA122A452}"/>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67BDE499-86FC-482A-AFA7-600F2374A2EE}"/>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8590D79E-07CA-4EF8-820A-94F18E7C2614}"/>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88B04C48-0718-4DBD-B1D2-517ABC74AEE0}"/>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CBE9BBCA-F876-494A-AA26-EAB93D9651C6}"/>
              </a:ext>
            </a:extLst>
          </p:cNvPr>
          <p:cNvSpPr>
            <a:spLocks xmlns:a="http://schemas.openxmlformats.org/drawingml/2006/main" noGrp="1"/>
          </p:cNvSpPr>
          <p:nvPr/>
        </p:nvSpPr>
        <p:spPr>
          <a:xfrm xmlns:a="http://schemas.openxmlformats.org/drawingml/2006/main">
            <a:off x="95250" y="29622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80C362-63ED-4B7C-958E-84871980B185}"/>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1" name="">
            <a:extLst xmlns:a="http://schemas.openxmlformats.org/drawingml/2006/main">
              <a:ext uri="{FF2B5EF4-FFF2-40B4-BE49-F238E27FC236}">
                <a16:creationId xmlns:a16="http://schemas.microsoft.com/office/drawing/2014/main" id="{593C6F86-C2D5-4382-A2EB-ECC4736F87F3}"/>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DF8230-6070-4E45-8E08-BC19E792EEB3}"/>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5C3B5B-0E74-47A8-8112-4D07ECDBE927}"/>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F48533A-3D1E-472A-BD75-F7E649D613A9}"/>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프로젝트 개요</a:t>
            </a:r>
          </a:p>
        </p:txBody>
      </p:sp>
      <p:sp>
        <p:nvSpPr>
          <p:cNvPr id="15" name="">
            <a:extLst xmlns:a="http://schemas.openxmlformats.org/drawingml/2006/main">
              <a:ext uri="{FF2B5EF4-FFF2-40B4-BE49-F238E27FC236}">
                <a16:creationId xmlns:a16="http://schemas.microsoft.com/office/drawing/2014/main" id="{B8164799-7A31-46CC-B834-023B1A719702}"/>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EA1B278A-50F7-46C8-B854-EDE44503465E}"/>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0C72541-87BE-4F4D-BCEE-4033BADD9E2A}"/>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5EF3E60-7FAB-4490-B442-FB67404C385C}"/>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C865B87-7543-4B5D-B646-C86F634B37A7}"/>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D29D99B8-EDB5-4890-9685-EE3C7F608373}"/>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B9A84950-112E-4BF7-93D1-A9A771E6292F}"/>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AA6B047-F2FA-4ADC-B0F9-8817E0B41AD1}"/>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E0D1F6E-6036-435A-BF6C-4F86E06272E4}"/>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805009E-4CF4-4ADB-A546-5742157EF037}"/>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734EFF67-1FE3-4A7B-A133-D19851FEF375}"/>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3F88C444-646C-47ED-83F0-1F1DD479AC21}"/>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9A37F09-FAE7-4C13-A4A3-061439371F05}"/>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65FD6F3-DE19-4F45-BBAD-CDDA4CDE6879}"/>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EC806E4-A457-4F9B-BBE6-CA38CE62EFB7}"/>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01FA17BD-24C2-4BD6-ABFE-B3B90739ABB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58022B04-C671-44FD-9F56-DCE2914227A1}"/>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36CF807-7127-4A88-B149-71A707B9C554}"/>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14EA8D6-92F6-4C3A-BF11-E53D3EC272DF}"/>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F0BEC3E-F179-4131-A7F6-51698022B3EF}"/>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62981580-81C0-4BB1-B16A-4DC4C09BC43A}"/>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88D27FBD-B93D-413C-9358-C969885B0BC4}"/>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1DD576C-03AE-4DBD-9651-1DB932F9CD5E}"/>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D6C922E-45C9-44AB-AEF4-5F3D2E8EC0D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4D0E4CD-9C4A-47F2-AF71-9E2F6898E4B7}"/>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E1C7C65C-F5ED-4AE0-917E-FF24E9D9E7C8}"/>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FCC5EC59-AAC5-4FC6-B1A2-548B6CCAC5EA}"/>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F98D27C-2336-4C48-AD14-F20E2C0C8A6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A77628D-BD87-459A-8910-A8F0E33680B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1100A98-8E82-48B4-859B-4F3A91C53A0F}"/>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D87D2D8F-F311-46EC-9860-F684D5A4A2B3}"/>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99F30891-01D6-4F08-B407-25D415AE825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805542B-9693-4E07-BF58-AEDE53D0E197}"/>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B5022D5-BD4A-426A-BB8F-9FC0A8A5772B}"/>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83674BB-6E61-4395-9191-4D23D52566BF}"/>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76BE28FF-340A-4D07-9D9B-E903033E8B9E}"/>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E6BAF237-6731-4DDD-B65F-7097D5B39546}"/>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7B156ADF-541E-41CE-8D78-AA02E25158CE}"/>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TROIKA 스탬프 배정안</a:t>
            </a:r>
          </a:p>
        </p:txBody>
      </p:sp>
      <p:sp>
        <p:nvSpPr>
          <p:cNvPr id="53" name="">
            <a:extLst xmlns:a="http://schemas.openxmlformats.org/drawingml/2006/main">
              <a:ext uri="{FF2B5EF4-FFF2-40B4-BE49-F238E27FC236}">
                <a16:creationId xmlns:a16="http://schemas.microsoft.com/office/drawing/2014/main" id="{45D9239A-23E9-4C3D-9B7C-FD9337C9F310}"/>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D8478D9-3A92-4268-B513-3901D855041B}"/>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59AF2270-329F-4262-9C6D-5CB9CBEA7D00}"/>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C87E49E-CC3E-4C08-8684-5BBE5A914DDB}"/>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8E66EA5A-A9E7-45D7-AFEA-BE22C56C8FBF}"/>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65C97DD-D878-4077-8532-A7C414D0E622}"/>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TROIKA 스탬프 배정안</a:t>
            </a:r>
          </a:p>
        </p:txBody>
      </p:sp>
      <p:sp>
        <p:nvSpPr>
          <p:cNvPr id="59" name="">
            <a:extLst xmlns:a="http://schemas.openxmlformats.org/drawingml/2006/main">
              <a:ext uri="{FF2B5EF4-FFF2-40B4-BE49-F238E27FC236}">
                <a16:creationId xmlns:a16="http://schemas.microsoft.com/office/drawing/2014/main" id="{64ACE42D-C0FC-431C-BB2C-D6F7B4E7511B}"/>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서울시 상권 자료 기반 정책제안</a:t>
            </a:r>
          </a:p>
        </p:txBody>
      </p:sp>
      <p:sp>
        <p:nvSpPr>
          <p:cNvPr id="60" name="">
            <a:extLst xmlns:a="http://schemas.openxmlformats.org/drawingml/2006/main">
              <a:ext uri="{FF2B5EF4-FFF2-40B4-BE49-F238E27FC236}">
                <a16:creationId xmlns:a16="http://schemas.microsoft.com/office/drawing/2014/main" id="{1A283785-5AFC-476E-8A05-038C1887F821}"/>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E05AA4BB-0D89-446D-A573-9E7D6CD393E5}"/>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01 / 11</a:t>
            </a:r>
          </a:p>
        </p:txBody>
      </p:sp>
      <p:sp>
        <p:nvSpPr>
          <p:cNvPr id="62" name="">
            <a:extLst xmlns:a="http://schemas.openxmlformats.org/drawingml/2006/main">
              <a:ext uri="{FF2B5EF4-FFF2-40B4-BE49-F238E27FC236}">
                <a16:creationId xmlns:a16="http://schemas.microsoft.com/office/drawing/2014/main" id="{1450B19C-5F15-4B13-A2F9-40EDADAF30C1}"/>
              </a:ext>
            </a:extLst>
          </p:cNvPr>
          <p:cNvSpPr>
            <a:spLocks xmlns:a="http://schemas.openxmlformats.org/drawingml/2006/main" noGrp="1"/>
          </p:cNvSpPr>
          <p:nvPr/>
        </p:nvSpPr>
        <p:spPr>
          <a:xfrm xmlns:a="http://schemas.openxmlformats.org/drawingml/2006/main">
            <a:off x="3048000" y="3419475"/>
            <a:ext cx="1123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회기·이문·전농 상권을 잇는</a:t>
            </a:r>
          </a:p>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스탬프 모집 배정</a:t>
            </a:r>
          </a:p>
        </p:txBody>
      </p:sp>
      <p:sp>
        <p:nvSpPr>
          <p:cNvPr id="63" name="">
            <a:extLst xmlns:a="http://schemas.openxmlformats.org/drawingml/2006/main">
              <a:ext uri="{FF2B5EF4-FFF2-40B4-BE49-F238E27FC236}">
                <a16:creationId xmlns:a16="http://schemas.microsoft.com/office/drawing/2014/main" id="{5761C413-B000-40E1-860F-F337E631BA73}"/>
              </a:ext>
            </a:extLst>
          </p:cNvPr>
          <p:cNvSpPr>
            <a:spLocks xmlns:a="http://schemas.openxmlformats.org/drawingml/2006/main" noGrp="1"/>
          </p:cNvSpPr>
          <p:nvPr/>
        </p:nvSpPr>
        <p:spPr>
          <a:xfrm xmlns:a="http://schemas.openxmlformats.org/drawingml/2006/main">
            <a:off x="3048000" y="5038725"/>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16개 상권</a:t>
            </a:r>
          </a:p>
        </p:txBody>
      </p:sp>
      <p:sp>
        <p:nvSpPr>
          <p:cNvPr id="64" name="">
            <a:extLst xmlns:a="http://schemas.openxmlformats.org/drawingml/2006/main">
              <a:ext uri="{FF2B5EF4-FFF2-40B4-BE49-F238E27FC236}">
                <a16:creationId xmlns:a16="http://schemas.microsoft.com/office/drawing/2014/main" id="{10FB0D78-C804-462C-A739-0A34B5820EC8}"/>
              </a:ext>
            </a:extLst>
          </p:cNvPr>
          <p:cNvSpPr>
            <a:spLocks xmlns:a="http://schemas.openxmlformats.org/drawingml/2006/main" noGrp="1"/>
          </p:cNvSpPr>
          <p:nvPr/>
        </p:nvSpPr>
        <p:spPr>
          <a:xfrm xmlns:a="http://schemas.openxmlformats.org/drawingml/2006/main">
            <a:off x="8934450" y="5038725"/>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60개 배정</a:t>
            </a:r>
          </a:p>
        </p:txBody>
      </p:sp>
      <p:sp>
        <p:nvSpPr>
          <p:cNvPr id="65" name="">
            <a:extLst xmlns:a="http://schemas.openxmlformats.org/drawingml/2006/main">
              <a:ext uri="{FF2B5EF4-FFF2-40B4-BE49-F238E27FC236}">
                <a16:creationId xmlns:a16="http://schemas.microsoft.com/office/drawing/2014/main" id="{8C9A0DF5-95AC-4156-BA11-33BFCDA44925}"/>
              </a:ext>
            </a:extLst>
          </p:cNvPr>
          <p:cNvSpPr>
            <a:spLocks xmlns:a="http://schemas.openxmlformats.org/drawingml/2006/main" noGrp="1"/>
          </p:cNvSpPr>
          <p:nvPr/>
        </p:nvSpPr>
        <p:spPr>
          <a:xfrm xmlns:a="http://schemas.openxmlformats.org/drawingml/2006/main">
            <a:off x="3048000" y="6543675"/>
            <a:ext cx="11506200" cy="790575"/>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C68E7136-0078-4661-930B-B6F7167B7B88}"/>
              </a:ext>
            </a:extLst>
          </p:cNvPr>
          <p:cNvSpPr>
            <a:spLocks xmlns:a="http://schemas.openxmlformats.org/drawingml/2006/main" noGrp="1"/>
          </p:cNvSpPr>
          <p:nvPr/>
        </p:nvSpPr>
        <p:spPr>
          <a:xfrm xmlns:a="http://schemas.openxmlformats.org/drawingml/2006/main">
            <a:off x="3238500" y="6667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85D76F65-1954-4564-AD05-4CF4485E0052}"/>
              </a:ext>
            </a:extLst>
          </p:cNvPr>
          <p:cNvSpPr>
            <a:spLocks xmlns:a="http://schemas.openxmlformats.org/drawingml/2006/main" noGrp="1"/>
          </p:cNvSpPr>
          <p:nvPr/>
        </p:nvSpPr>
        <p:spPr>
          <a:xfrm xmlns:a="http://schemas.openxmlformats.org/drawingml/2006/main">
            <a:off x="3714750" y="66579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지원 필요도가 높은 상권으로 방문을 연결하는 시범 운영 제안</a:t>
            </a:r>
          </a:p>
        </p:txBody>
      </p:sp>
      <p:sp>
        <p:nvSpPr>
          <p:cNvPr id="68" name="">
            <a:extLst xmlns:a="http://schemas.openxmlformats.org/drawingml/2006/main">
              <a:ext uri="{FF2B5EF4-FFF2-40B4-BE49-F238E27FC236}">
                <a16:creationId xmlns:a16="http://schemas.microsoft.com/office/drawing/2014/main" id="{88A848D7-09B6-4B72-8989-38EEE14CCDB8}"/>
              </a:ext>
            </a:extLst>
          </p:cNvPr>
          <p:cNvSpPr>
            <a:spLocks xmlns:a="http://schemas.openxmlformats.org/drawingml/2006/main" noGrp="1"/>
          </p:cNvSpPr>
          <p:nvPr/>
        </p:nvSpPr>
        <p:spPr>
          <a:xfrm xmlns:a="http://schemas.openxmlformats.org/drawingml/2006/main">
            <a:off x="3048000" y="77438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787774"/>
                </a:solidFill>
                <a:latin typeface="Malgun Gothic"/>
                <a:ea typeface="Malgun Gothic"/>
                <a:cs typeface="Malgun Gothic"/>
              </a:defRPr>
            </a:pPr>
            <a:r>
              <a:rPr sz="1500" b="0">
                <a:solidFill>
                  <a:srgbClr val="787774"/>
                </a:solidFill>
                <a:latin typeface="Malgun Gothic"/>
                <a:ea typeface="Malgun Gothic"/>
                <a:cs typeface="Malgun Gothic"/>
              </a:rPr>
              <a:t>TROIKA  ·  2026.09</a:t>
            </a:r>
          </a:p>
        </p:txBody>
      </p:sp>
    </p:spTree>
    <p:extLst>
      <p:ext uri="{BB962C8B-B14F-4D97-AF65-F5344CB8AC3E}">
        <p14:creationId xmlns:p14="http://schemas.microsoft.com/office/powerpoint/2010/main" val="18080812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5B15EA74-0971-4A7D-AA90-4192ECF301C7}"/>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0E147E-C049-49FE-ADDA-5C0B3122BF0F}"/>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E46BEA-97E3-4A61-B10D-82BB7BB9D0A3}"/>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33DC8004-AB35-461D-8E6F-844BDD11A3AC}"/>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FD7D8737-144A-43B4-9120-C5E1FCBA7AD9}"/>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06A11409-4A3F-4866-BF3C-1B840BCD7C3B}"/>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77177562-7801-41D6-954F-5550C375AC5C}"/>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CF2965E-6501-4504-87EA-A769917516BD}"/>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2D288A26-676B-4B2E-9A12-3CB80D01100E}"/>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6CE760DD-7816-4499-B334-F24A4440DEAB}"/>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7E852D6-7774-458B-9D6D-31D172D047B0}"/>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027ACD3-D96F-4EAF-88F7-4E5B83443B0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1F5CB3E-2A78-4819-8067-7D028FE77DD4}"/>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A24EC95-CDF4-4835-AFC5-B6F2D6412813}"/>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50063A-6461-4454-8FF0-66DD646B047F}"/>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20AFF03B-1DA0-440A-BC55-DCEA5202C3C7}"/>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5F14D4-0B2D-4596-B0C7-76561E9725F8}"/>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529345D-7926-4FB0-BBE0-196142F8AB2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02FA424-1FC8-4879-ADA7-617BA3708EFF}"/>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2D49A2CB-7248-4FBC-BC2B-6D93786797BB}"/>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FD69CF94-1347-4152-BC7A-2C3E2B856F69}"/>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537FE06-2B73-49C2-B22C-F846B1A76236}"/>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334B47B-8314-412C-8178-32AE64ECCCB1}"/>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2168CB1-E7B1-43F8-BA83-22B8630C7037}"/>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829126FA-0D21-4B19-9CA6-E62E77F5C20E}"/>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1E45B194-F50E-4228-AAFC-00885B01E3DC}"/>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13FE10E-307C-440B-BCA0-073506C3F11D}"/>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A6EAC67-735B-4941-8032-402C84332AE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7C22867-4C91-477F-A1D3-4D45450C9472}"/>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1B0EFC11-8A56-4FE3-9202-61DEF936B9B6}"/>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0EC27A40-EC36-4031-9C11-333B1B1CCAC6}"/>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4615107-3872-4BB3-B870-6AF8F882D377}"/>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CB0C903-CD84-4A5E-818A-AABFCC4B451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63939EE-5BDA-4E44-BD73-F6539B9258E2}"/>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FFBAF6C8-8216-468D-9681-F178C359197A}"/>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0E03AC38-4A91-4EA6-AB4A-E7F4F7C62179}"/>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842B258-FF56-44CA-965F-EA760EAA1DDC}"/>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F39139C-B769-4DA3-9150-E1E593ACC6E5}"/>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5E64D49-86EB-4FB7-A2C9-E03BEA68794C}"/>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B701DB41-8301-488C-9B27-B0A7135D7424}"/>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F30F37B0-32A4-4542-A559-2C0C84A045C1}"/>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0B02E3A-4FFC-4E28-842D-4105101D29F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F4F99C3-CF99-4766-9AAB-51534CCF340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CAF7BE2-88FF-47B1-978F-2357A4AB934A}"/>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503D6F83-29D9-4696-B138-CBEDA0690D25}"/>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0BA11875-0CF9-48D3-A81A-A840D69EE637}"/>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83A850A-9C69-41D5-8F5A-1A407E41C14D}"/>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9236CF2-E818-423C-AEF5-46B21A94EFF3}"/>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FE173B2-626A-4200-BFB7-3D3B7D97B37F}"/>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847E2508-96D6-44F6-9253-84D49A47A014}"/>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48B395D3-571D-4DD3-81A9-2C6BE8419C70}"/>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7312F2E4-F057-41BD-A4E8-70042AE2BD3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20대 유동과 추정매출</a:t>
            </a:r>
          </a:p>
        </p:txBody>
      </p:sp>
      <p:sp>
        <p:nvSpPr>
          <p:cNvPr id="53" name="">
            <a:extLst xmlns:a="http://schemas.openxmlformats.org/drawingml/2006/main">
              <a:ext uri="{FF2B5EF4-FFF2-40B4-BE49-F238E27FC236}">
                <a16:creationId xmlns:a16="http://schemas.microsoft.com/office/drawing/2014/main" id="{E793CD60-F65E-4D71-800B-C823BF006580}"/>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94AA36B5-3D8D-4A7E-AFC2-43E78658297E}"/>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B2A0ADF9-C8BD-4CDD-9253-5EE49D9FD53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07FD130-909B-430E-8F5D-E9D394234101}"/>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C668A3A-CAFC-4972-AAC4-A9EB84C5A299}"/>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D7C054F-7159-494A-BE96-3B2F9D8934EE}"/>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20대 유동과 추정매출</a:t>
            </a:r>
          </a:p>
        </p:txBody>
      </p:sp>
      <p:sp>
        <p:nvSpPr>
          <p:cNvPr id="59" name="">
            <a:extLst xmlns:a="http://schemas.openxmlformats.org/drawingml/2006/main">
              <a:ext uri="{FF2B5EF4-FFF2-40B4-BE49-F238E27FC236}">
                <a16:creationId xmlns:a16="http://schemas.microsoft.com/office/drawing/2014/main" id="{D09FEFC6-3B9D-42DD-A0D9-22BE6B9A7CA4}"/>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9곳의 4분기 이동평균 · 2022년 4분기 = 100</a:t>
            </a:r>
          </a:p>
        </p:txBody>
      </p:sp>
      <p:sp>
        <p:nvSpPr>
          <p:cNvPr id="60" name="">
            <a:extLst xmlns:a="http://schemas.openxmlformats.org/drawingml/2006/main">
              <a:ext uri="{FF2B5EF4-FFF2-40B4-BE49-F238E27FC236}">
                <a16:creationId xmlns:a16="http://schemas.microsoft.com/office/drawing/2014/main" id="{9BB0F2AA-7715-4591-86CD-7F5CDC2C59BE}"/>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16DF1D13-9B1C-4F52-96A6-6F242EB44AD9}"/>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02 / 11</a:t>
            </a:r>
          </a:p>
        </p:txBody>
      </p:sp>
      <p:graphicFrame>
        <p:nvGraphicFramePr>
          <p:cNvPr id="132" name="Chart"/>
          <p:cNvGraphicFramePr/>
          <p:nvPr/>
        </p:nvGraphicFramePr>
        <p:xfrm>
          <a:off xmlns:a="http://schemas.openxmlformats.org/drawingml/2006/main" x="3048000" y="3305175"/>
          <a:ext xmlns:a="http://schemas.openxmlformats.org/drawingml/2006/main" cx="7048500" cy="3238500"/>
        </p:xfrm>
        <a:graphic xmlns:a="http://schemas.openxmlformats.org/drawingml/2006/main">
          <a:graphicData uri="http://schemas.openxmlformats.org/drawingml/2006/chart">
            <c:chart xmlns:r="http://schemas.openxmlformats.org/officeDocument/2006/relationships" xmlns:c="http://schemas.openxmlformats.org/drawingml/2006/chart" r:id="Rf2480914159d48c2"/>
          </a:graphicData>
        </a:graphic>
      </p:graphicFrame>
      <p:sp>
        <p:nvSpPr>
          <p:cNvPr id="63" name="">
            <a:extLst xmlns:a="http://schemas.openxmlformats.org/drawingml/2006/main">
              <a:ext uri="{FF2B5EF4-FFF2-40B4-BE49-F238E27FC236}">
                <a16:creationId xmlns:a16="http://schemas.microsoft.com/office/drawing/2014/main" id="{EF610DE3-2CF8-43C9-8EDE-DAC94B580898}"/>
              </a:ext>
            </a:extLst>
          </p:cNvPr>
          <p:cNvSpPr>
            <a:spLocks xmlns:a="http://schemas.openxmlformats.org/drawingml/2006/main" noGrp="1"/>
          </p:cNvSpPr>
          <p:nvPr/>
        </p:nvSpPr>
        <p:spPr>
          <a:xfrm xmlns:a="http://schemas.openxmlformats.org/drawingml/2006/main">
            <a:off x="10572750" y="3352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487CA5"/>
                </a:solidFill>
                <a:latin typeface="Malgun Gothic"/>
                <a:ea typeface="Malgun Gothic"/>
                <a:cs typeface="Malgun Gothic"/>
              </a:defRPr>
            </a:pPr>
            <a:r>
              <a:rPr sz="4650" b="1">
                <a:solidFill>
                  <a:srgbClr val="487CA5"/>
                </a:solidFill>
                <a:latin typeface="Malgun Gothic"/>
                <a:ea typeface="Malgun Gothic"/>
                <a:cs typeface="Malgun Gothic"/>
              </a:rPr>
              <a:t>100.7</a:t>
            </a:r>
          </a:p>
        </p:txBody>
      </p:sp>
      <p:sp>
        <p:nvSpPr>
          <p:cNvPr id="64" name="">
            <a:extLst xmlns:a="http://schemas.openxmlformats.org/drawingml/2006/main">
              <a:ext uri="{FF2B5EF4-FFF2-40B4-BE49-F238E27FC236}">
                <a16:creationId xmlns:a16="http://schemas.microsoft.com/office/drawing/2014/main" id="{4967B413-D1C7-4A28-91A4-52AC56BD3963}"/>
              </a:ext>
            </a:extLst>
          </p:cNvPr>
          <p:cNvSpPr>
            <a:spLocks xmlns:a="http://schemas.openxmlformats.org/drawingml/2006/main" noGrp="1"/>
          </p:cNvSpPr>
          <p:nvPr/>
        </p:nvSpPr>
        <p:spPr>
          <a:xfrm xmlns:a="http://schemas.openxmlformats.org/drawingml/2006/main">
            <a:off x="10572750" y="41624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유동 · 원자료 재현</a:t>
            </a:r>
          </a:p>
        </p:txBody>
      </p:sp>
      <p:sp>
        <p:nvSpPr>
          <p:cNvPr id="65" name="">
            <a:extLst xmlns:a="http://schemas.openxmlformats.org/drawingml/2006/main">
              <a:ext uri="{FF2B5EF4-FFF2-40B4-BE49-F238E27FC236}">
                <a16:creationId xmlns:a16="http://schemas.microsoft.com/office/drawing/2014/main" id="{2BFC3C37-F71E-4ADB-9EBB-0533AB722E89}"/>
              </a:ext>
            </a:extLst>
          </p:cNvPr>
          <p:cNvSpPr>
            <a:spLocks xmlns:a="http://schemas.openxmlformats.org/drawingml/2006/main" noGrp="1"/>
          </p:cNvSpPr>
          <p:nvPr/>
        </p:nvSpPr>
        <p:spPr>
          <a:xfrm xmlns:a="http://schemas.openxmlformats.org/drawingml/2006/main">
            <a:off x="10572750" y="48863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37352F"/>
                </a:solidFill>
                <a:latin typeface="Malgun Gothic"/>
                <a:ea typeface="Malgun Gothic"/>
                <a:cs typeface="Malgun Gothic"/>
              </a:defRPr>
            </a:pPr>
            <a:r>
              <a:rPr sz="2925" b="1">
                <a:solidFill>
                  <a:srgbClr val="37352F"/>
                </a:solidFill>
                <a:latin typeface="Malgun Gothic"/>
                <a:ea typeface="Malgun Gothic"/>
                <a:cs typeface="Malgun Gothic"/>
              </a:rPr>
              <a:t>73.4 / 93.0</a:t>
            </a:r>
          </a:p>
        </p:txBody>
      </p:sp>
      <p:sp>
        <p:nvSpPr>
          <p:cNvPr id="66" name="">
            <a:extLst xmlns:a="http://schemas.openxmlformats.org/drawingml/2006/main">
              <a:ext uri="{FF2B5EF4-FFF2-40B4-BE49-F238E27FC236}">
                <a16:creationId xmlns:a16="http://schemas.microsoft.com/office/drawing/2014/main" id="{922E68AA-C0E8-4519-8B90-FECBD92D1223}"/>
              </a:ext>
            </a:extLst>
          </p:cNvPr>
          <p:cNvSpPr>
            <a:spLocks xmlns:a="http://schemas.openxmlformats.org/drawingml/2006/main" noGrp="1"/>
          </p:cNvSpPr>
          <p:nvPr/>
        </p:nvSpPr>
        <p:spPr>
          <a:xfrm xmlns:a="http://schemas.openxmlformats.org/drawingml/2006/main">
            <a:off x="10572750" y="5638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 전체 추정매출</a:t>
            </a:r>
          </a:p>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구성안 기록값</a:t>
            </a:r>
          </a:p>
        </p:txBody>
      </p:sp>
      <p:sp>
        <p:nvSpPr>
          <p:cNvPr id="67" name="">
            <a:extLst xmlns:a="http://schemas.openxmlformats.org/drawingml/2006/main">
              <a:ext uri="{FF2B5EF4-FFF2-40B4-BE49-F238E27FC236}">
                <a16:creationId xmlns:a16="http://schemas.microsoft.com/office/drawing/2014/main" id="{9F206176-4E65-404C-AAE9-73C0D9ACAAB3}"/>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CDF9F742-CC6D-4604-B0F3-C410A7B5E138}"/>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DC1912DD-F746-444C-8160-0588DB90D7AD}"/>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방문을 지역 소비로 연결하는 운영 장치를 검토</a:t>
            </a:r>
          </a:p>
        </p:txBody>
      </p:sp>
      <p:sp>
        <p:nvSpPr>
          <p:cNvPr id="70" name="">
            <a:extLst xmlns:a="http://schemas.openxmlformats.org/drawingml/2006/main">
              <a:ext uri="{FF2B5EF4-FFF2-40B4-BE49-F238E27FC236}">
                <a16:creationId xmlns:a16="http://schemas.microsoft.com/office/drawing/2014/main" id="{1EC52DCF-3F87-45D7-AA33-000EFB95ACCA}"/>
              </a:ext>
            </a:extLst>
          </p:cNvPr>
          <p:cNvSpPr>
            <a:spLocks xmlns:a="http://schemas.openxmlformats.org/drawingml/2006/main" noGrp="1"/>
          </p:cNvSpPr>
          <p:nvPr/>
        </p:nvSpPr>
        <p:spPr>
          <a:xfrm xmlns:a="http://schemas.openxmlformats.org/drawingml/2006/main">
            <a:off x="3048000" y="7829550"/>
            <a:ext cx="11506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매출 CSV는 2025년 1분기 이후만 제공되어 장기 추이는 미복원. 축제 전후 효과 분석이 아님</a:t>
            </a:r>
          </a:p>
        </p:txBody>
      </p:sp>
    </p:spTree>
    <p:extLst>
      <p:ext uri="{BB962C8B-B14F-4D97-AF65-F5344CB8AC3E}">
        <p14:creationId xmlns:p14="http://schemas.microsoft.com/office/powerpoint/2010/main" val="16127162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190B7817-C325-43DE-B39F-26E743079808}"/>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4172D4-CC8A-41CD-8895-EA155DB67793}"/>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7FCAA6-ADA2-4571-866F-F4428F901E43}"/>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690653B0-E758-425C-BD6A-38E8D94B2D72}"/>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9A6E24A4-24AF-4C76-AA23-A0DBC098FD82}"/>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9259C94B-F7FF-406B-A4E6-59FB5B8E647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CDCEDBE5-25AF-4762-989C-0B36B9600B6D}"/>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69D409C6-0473-4CC5-870A-1A2E4B0F1FAA}"/>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7146125-310A-469D-9C3D-6B9D28EBAE5F}"/>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473488D9-134F-487B-B066-D748B8965C1A}"/>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D7A1F2A-E11C-460C-AAC5-19215ACC6BE1}"/>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51EAEB2-AD78-40DD-B0E8-F2A058DD5D54}"/>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2602E3E-5853-40C9-9E14-A151D04C3293}"/>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509E45E2-B619-41B7-9177-80284E63A6B5}"/>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F0DBF7F-E531-4A69-88E1-B91173C8DF16}"/>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DE768CFB-2697-4466-ADE7-57318C710281}"/>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45FE371-A0E2-4097-97E9-A8128B05113C}"/>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4547047-39C9-42BE-8C74-648CF9946583}"/>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4C30292-C786-4BAD-A3C3-2A67DE1AB0B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61D971E6-3253-45BC-B250-4F525B897F59}"/>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6C564AE9-1CF5-4971-A003-4B15BD110D53}"/>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B22B8FF-BAC8-476C-B111-189600493BDC}"/>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E461DBE-5519-4F37-B81E-70B7CD420F6D}"/>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215183F-3347-4174-A398-FFBE57AD48C7}"/>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EFF59DEE-74A1-4065-83F5-22480F223DE4}"/>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4A61F883-6D75-4E16-8B15-0AFB13CE188C}"/>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C45B033-E9AE-4F02-8757-3370A88A40C4}"/>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BC94B05-F4DC-4CC5-BF7A-DA481323C7FD}"/>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ACA834F-1CB8-4DFB-A529-9267A975D22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22C8511C-B406-4D64-B3A2-F596E3D83A0F}"/>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F55F0CF8-9F2F-4CF5-AEBC-80C76A02DEFE}"/>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59AF283-3685-48DB-B00C-9EBD9F75B808}"/>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7C05ED0-393C-4112-B871-868B6C75EFED}"/>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29A188B-4A80-475F-9A20-9A9C11A8F314}"/>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AC8BEA20-813E-4940-B672-4C315C3158ED}"/>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5E452F38-0251-4673-BA5F-36779E321226}"/>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DC2C2C5-5BBB-4405-9946-8D8F995893BC}"/>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4FE7DD8-0981-4107-AFD5-B7710D54C285}"/>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23B7D8B-1A3C-454C-AF24-58CFCA1076C5}"/>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00B51491-8F83-492D-BC65-775A77BF62C1}"/>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965564CD-C2D5-4F69-821A-7DE9C5B7B3C8}"/>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45CE712-42F9-4423-BE86-C98FA5DA9661}"/>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49B288A-C776-4DC8-9186-042244E164CC}"/>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76768A4-90FC-407E-AB0C-E330BE0F99F4}"/>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C99E1729-7622-44DB-8573-3494F2AB22EF}"/>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6DBE9AF7-F7C9-4F46-9A11-E7F53973232A}"/>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9766014-5286-4751-9ED4-C9B399F1202A}"/>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DEB116F-3336-4F67-9C2E-FA924662ECAE}"/>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01D4564-6F59-41EA-83E9-FCC6338C34ED}"/>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C22F4525-CCA8-4932-BC65-7F7D9C686963}"/>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69A55387-5A64-44D9-AFEC-BDEA1C2BF78E}"/>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13271483-8501-4405-B103-DA5029DCFC0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축제 참여 범위</a:t>
            </a:r>
          </a:p>
        </p:txBody>
      </p:sp>
      <p:sp>
        <p:nvSpPr>
          <p:cNvPr id="53" name="">
            <a:extLst xmlns:a="http://schemas.openxmlformats.org/drawingml/2006/main">
              <a:ext uri="{FF2B5EF4-FFF2-40B4-BE49-F238E27FC236}">
                <a16:creationId xmlns:a16="http://schemas.microsoft.com/office/drawing/2014/main" id="{86CE04A6-7352-4264-BB26-602E64F3D1EF}"/>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D0C6D0F-7914-49A0-ABE1-972C62459D0E}"/>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B1D6F9D5-F5E5-45A9-AE2F-A4BF24AE90B3}"/>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213B950-3047-48BF-A842-31686D191593}"/>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A026836-8494-4B9C-A49D-29C0D88E542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C35C673-BEF8-44FF-B021-73D376424279}"/>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축제 참여 범위</a:t>
            </a:r>
          </a:p>
        </p:txBody>
      </p:sp>
      <p:sp>
        <p:nvSpPr>
          <p:cNvPr id="59" name="">
            <a:extLst xmlns:a="http://schemas.openxmlformats.org/drawingml/2006/main">
              <a:ext uri="{FF2B5EF4-FFF2-40B4-BE49-F238E27FC236}">
                <a16:creationId xmlns:a16="http://schemas.microsoft.com/office/drawing/2014/main" id="{CFF972C3-7E7A-41B4-9CAE-F63C928A220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 + 참여 7곳 = 16곳 · 집계 점포 2,699곳</a:t>
            </a:r>
          </a:p>
        </p:txBody>
      </p:sp>
      <p:sp>
        <p:nvSpPr>
          <p:cNvPr id="60" name="">
            <a:extLst xmlns:a="http://schemas.openxmlformats.org/drawingml/2006/main">
              <a:ext uri="{FF2B5EF4-FFF2-40B4-BE49-F238E27FC236}">
                <a16:creationId xmlns:a16="http://schemas.microsoft.com/office/drawing/2014/main" id="{9827F5D8-25B6-468A-9F96-D4E58744AB55}"/>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9BD088F-8C2E-485D-894E-5C651609647A}"/>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03 / 11</a:t>
            </a:r>
          </a:p>
        </p:txBody>
      </p:sp>
      <p:graphicFrame>
        <p:nvGraphicFramePr>
          <p:cNvPr id="131" name="Chart"/>
          <p:cNvGraphicFramePr/>
          <p:nvPr/>
        </p:nvGraphicFramePr>
        <p:xfrm>
          <a:off xmlns:a="http://schemas.openxmlformats.org/drawingml/2006/main" x="3048000" y="3333750"/>
          <a:ext xmlns:a="http://schemas.openxmlformats.org/drawingml/2006/main" cx="5143500" cy="3486150"/>
        </p:xfrm>
        <a:graphic xmlns:a="http://schemas.openxmlformats.org/drawingml/2006/main">
          <a:graphicData uri="http://schemas.openxmlformats.org/drawingml/2006/chart">
            <c:chart xmlns:r="http://schemas.openxmlformats.org/officeDocument/2006/relationships" xmlns:c="http://schemas.openxmlformats.org/drawingml/2006/chart" r:id="Ra54a09dbd3564639"/>
          </a:graphicData>
        </a:graphic>
      </p:graphicFrame>
      <p:sp>
        <p:nvSpPr>
          <p:cNvPr id="63" name="">
            <a:extLst xmlns:a="http://schemas.openxmlformats.org/drawingml/2006/main">
              <a:ext uri="{FF2B5EF4-FFF2-40B4-BE49-F238E27FC236}">
                <a16:creationId xmlns:a16="http://schemas.microsoft.com/office/drawing/2014/main" id="{EAE0E364-712D-42B9-BDAF-B8BD62DADDCB}"/>
              </a:ext>
            </a:extLst>
          </p:cNvPr>
          <p:cNvSpPr>
            <a:spLocks xmlns:a="http://schemas.openxmlformats.org/drawingml/2006/main" noGrp="1"/>
          </p:cNvSpPr>
          <p:nvPr/>
        </p:nvSpPr>
        <p:spPr>
          <a:xfrm xmlns:a="http://schemas.openxmlformats.org/drawingml/2006/main">
            <a:off x="8667750" y="34956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① 세 대학앞 상권의 볼록껍질</a:t>
            </a:r>
          </a:p>
        </p:txBody>
      </p:sp>
      <p:sp>
        <p:nvSpPr>
          <p:cNvPr id="64" name="">
            <a:extLst xmlns:a="http://schemas.openxmlformats.org/drawingml/2006/main">
              <a:ext uri="{FF2B5EF4-FFF2-40B4-BE49-F238E27FC236}">
                <a16:creationId xmlns:a16="http://schemas.microsoft.com/office/drawing/2014/main" id="{4DB83585-0E52-4DA8-A0FB-FBF090667516}"/>
              </a:ext>
            </a:extLst>
          </p:cNvPr>
          <p:cNvSpPr>
            <a:spLocks xmlns:a="http://schemas.openxmlformats.org/drawingml/2006/main" noGrp="1"/>
          </p:cNvSpPr>
          <p:nvPr/>
        </p:nvSpPr>
        <p:spPr>
          <a:xfrm xmlns:a="http://schemas.openxmlformats.org/drawingml/2006/main">
            <a:off x="8667750" y="435292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② 외곽으로 300m 버퍼</a:t>
            </a:r>
          </a:p>
        </p:txBody>
      </p:sp>
      <p:sp>
        <p:nvSpPr>
          <p:cNvPr id="65" name="">
            <a:extLst xmlns:a="http://schemas.openxmlformats.org/drawingml/2006/main">
              <a:ext uri="{FF2B5EF4-FFF2-40B4-BE49-F238E27FC236}">
                <a16:creationId xmlns:a16="http://schemas.microsoft.com/office/drawing/2014/main" id="{B943F958-5CCD-47C7-8B2C-7FF00C4D1DD4}"/>
              </a:ext>
            </a:extLst>
          </p:cNvPr>
          <p:cNvSpPr>
            <a:spLocks xmlns:a="http://schemas.openxmlformats.org/drawingml/2006/main" noGrp="1"/>
          </p:cNvSpPr>
          <p:nvPr/>
        </p:nvSpPr>
        <p:spPr>
          <a:xfrm xmlns:a="http://schemas.openxmlformats.org/drawingml/2006/main">
            <a:off x="8667750" y="52101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③ 면적 중첩률 50% 이상 선택</a:t>
            </a:r>
          </a:p>
        </p:txBody>
      </p:sp>
      <p:sp>
        <p:nvSpPr>
          <p:cNvPr id="66" name="">
            <a:extLst xmlns:a="http://schemas.openxmlformats.org/drawingml/2006/main">
              <a:ext uri="{FF2B5EF4-FFF2-40B4-BE49-F238E27FC236}">
                <a16:creationId xmlns:a16="http://schemas.microsoft.com/office/drawing/2014/main" id="{7F28E7C9-FBF2-41C1-9797-AD7AF93436DD}"/>
              </a:ext>
            </a:extLst>
          </p:cNvPr>
          <p:cNvSpPr>
            <a:spLocks xmlns:a="http://schemas.openxmlformats.org/drawingml/2006/main" noGrp="1"/>
          </p:cNvSpPr>
          <p:nvPr/>
        </p:nvSpPr>
        <p:spPr>
          <a:xfrm xmlns:a="http://schemas.openxmlformats.org/drawingml/2006/main">
            <a:off x="8667750" y="6067425"/>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왼쪽은 공식 중심점 위치도</a:t>
            </a:r>
          </a:p>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경계·버퍼를 재현한 지도가 아님</a:t>
            </a:r>
          </a:p>
        </p:txBody>
      </p:sp>
      <p:sp>
        <p:nvSpPr>
          <p:cNvPr id="67" name="">
            <a:extLst xmlns:a="http://schemas.openxmlformats.org/drawingml/2006/main">
              <a:ext uri="{FF2B5EF4-FFF2-40B4-BE49-F238E27FC236}">
                <a16:creationId xmlns:a16="http://schemas.microsoft.com/office/drawing/2014/main" id="{F7D27FF1-0F9A-4178-9A2C-0E69E646CA53}"/>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0B0F39FD-3865-44BB-A5A1-0B8EC3F34D9A}"/>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1362F910-0185-4604-BB6E-C4F534236CC2}"/>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연계존 7곳은 스탬프 0개, 교통 연계 검토</a:t>
            </a:r>
          </a:p>
        </p:txBody>
      </p:sp>
    </p:spTree>
    <p:extLst>
      <p:ext uri="{BB962C8B-B14F-4D97-AF65-F5344CB8AC3E}">
        <p14:creationId xmlns:p14="http://schemas.microsoft.com/office/powerpoint/2010/main" val="15076642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31E501E8-8720-4DBF-8FEB-BE28F0DC23A5}"/>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E462BF-532B-463E-A391-86C5D32078B4}"/>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96A3E0-E836-40CB-88F6-9E7CD5B1B4AC}"/>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FFF3F61B-FD90-4B02-87C6-B8F2B48EC456}"/>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B198DFCD-1DF6-481F-BBBA-6B227ED661F4}"/>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E3312161-6299-4046-8B6F-A6301F41C2CA}"/>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D39C226F-27CF-40C7-BF8C-246DF240C785}"/>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F1F36C55-EFCF-40E0-BEB6-EFAAC7B29C7E}"/>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06E3FEC2-7C76-48EF-8BDC-81D2AF1D4A5B}"/>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3C25E770-CFBE-4E8B-8068-C898930C3605}"/>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C750F8-6F9E-45C5-919D-DBFD1DEEAEB9}"/>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9FFE6F-661F-4586-9999-5F641B892627}"/>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7628102-D805-48DA-A987-B126FF6685C9}"/>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FCFC5E5-E761-42E7-9CBD-DD4D71FFF83D}"/>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FD1A148C-88DF-4E15-BB93-3FD043F7935D}"/>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3E4F6C7-3725-46D2-9948-9D2D13CB92C5}"/>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B33BFF2-2039-4B9F-8F68-F2F2ED6A568B}"/>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74CAF79-0B9C-4A30-9A97-99510C46357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B92EAC33-CFE1-4C1E-A0C0-E59AD49381BF}"/>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0E8066-C425-414C-9434-6B636B68FF5F}"/>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D27C5F7D-8205-4828-82E2-21133B5C65C0}"/>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9B9FBB1-6414-416B-9E43-D5AD263F3ACB}"/>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FE9870E-4323-4CC1-BC1C-7148C906444D}"/>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7F50067-70F8-4698-94FB-2343ADB38D6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11AFF90A-DA58-4FFC-9161-3487267D98A3}"/>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44BF69DE-6738-4BB6-9B33-3519A2CFD237}"/>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644CB75-3C69-4D0A-92D1-938F46DB037A}"/>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292B257-BECE-4D06-B4F6-37CB45BA2238}"/>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A837CFD-2820-439B-97CA-F7337B133C0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6CBC302B-7FC0-463E-A5E6-89FF0038BCAE}"/>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197D1B35-711B-4A52-AA19-05220556E25F}"/>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7C5B25E-9E6D-4DE9-9CA1-C38E6541C4C6}"/>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9DAD51D-116D-4205-9209-5A56FCE45C48}"/>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1FA6192-4A77-4505-86CE-8C700C2E69D3}"/>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1251EE19-C322-408C-85BA-2BAD16467C2D}"/>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3987D177-2E78-46AA-AEF5-BCCB10B535EE}"/>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D422CDD-08C2-43D5-8054-32EC05954634}"/>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AA85F5A-BFAC-4268-A4DC-3F32B2EB1291}"/>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9A181FE-D6DC-482B-AEB2-5AC3E9B00AE7}"/>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C73287A9-9286-43CD-87A6-0394C9351237}"/>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40887831-4C05-4678-B220-A6C3E6252462}"/>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01A2F54-25DE-42F3-BF1E-F6515A7762A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46EE6BF-7559-40FB-9C22-93A80E52D2D1}"/>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C4DAC48-EE44-423E-AB62-FC07CB7DB323}"/>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DB0BD217-D292-4755-903F-4E6E534C928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95B5CA89-CC9F-474A-8A6C-D4A4CDC0096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72A09B7-809D-4B77-A2C2-0E674BADC873}"/>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FEDD253-2393-4E31-95EC-33F580DC7C54}"/>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BDDFE06-6F12-4EF5-BF48-FE5E6C78985B}"/>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A6592CE3-14C0-4A07-A620-22118ADFEE68}"/>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73A24C76-FE5E-4B2C-8BAD-8132370FCC71}"/>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DA71BB54-5A53-482A-A5F1-9A8F24365D40}"/>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평시 20대 비중의 거리감쇠</a:t>
            </a:r>
          </a:p>
        </p:txBody>
      </p:sp>
      <p:sp>
        <p:nvSpPr>
          <p:cNvPr id="53" name="">
            <a:extLst xmlns:a="http://schemas.openxmlformats.org/drawingml/2006/main">
              <a:ext uri="{FF2B5EF4-FFF2-40B4-BE49-F238E27FC236}">
                <a16:creationId xmlns:a16="http://schemas.microsoft.com/office/drawing/2014/main" id="{E9732981-B8D7-4958-9A98-99BF60BD9D97}"/>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A86DE1A7-A437-4F1C-85EF-F23EBC2C53D8}"/>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AC3BB41E-439E-47CD-827B-50E4889A80DA}"/>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8A6A50B-DD85-4DAA-8ACA-BCFEBEE68C25}"/>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1A05841-1939-4ECB-9D0B-EE784CBCA9DC}"/>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C3E2CB07-F62B-4B5D-B0B9-EA1CAC45E822}"/>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평시 20대 비중의 거리감쇠</a:t>
            </a:r>
          </a:p>
        </p:txBody>
      </p:sp>
      <p:sp>
        <p:nvSpPr>
          <p:cNvPr id="59" name="">
            <a:extLst xmlns:a="http://schemas.openxmlformats.org/drawingml/2006/main">
              <a:ext uri="{FF2B5EF4-FFF2-40B4-BE49-F238E27FC236}">
                <a16:creationId xmlns:a16="http://schemas.microsoft.com/office/drawing/2014/main" id="{FD53704A-1FE7-4942-B34B-0D0688813987}"/>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평시 유동인구 중 20대 비중과 거리의 관계</a:t>
            </a:r>
          </a:p>
        </p:txBody>
      </p:sp>
      <p:sp>
        <p:nvSpPr>
          <p:cNvPr id="60" name="">
            <a:extLst xmlns:a="http://schemas.openxmlformats.org/drawingml/2006/main">
              <a:ext uri="{FF2B5EF4-FFF2-40B4-BE49-F238E27FC236}">
                <a16:creationId xmlns:a16="http://schemas.microsoft.com/office/drawing/2014/main" id="{ECCF93F3-8C33-455B-B0EF-BA4CBF30CC33}"/>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48EDE1C-4055-41A4-B153-7F6E747D3DF6}"/>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04 / 11</a:t>
            </a:r>
          </a:p>
        </p:txBody>
      </p:sp>
      <p:graphicFrame>
        <p:nvGraphicFramePr>
          <p:cNvPr id="130" name="Chart"/>
          <p:cNvGraphicFramePr/>
          <p:nvPr/>
        </p:nvGraphicFramePr>
        <p:xfrm>
          <a:off xmlns:a="http://schemas.openxmlformats.org/drawingml/2006/main" x="3048000" y="3333750"/>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d6c3f90d728b4ba5"/>
          </a:graphicData>
        </a:graphic>
      </p:graphicFrame>
      <p:sp>
        <p:nvSpPr>
          <p:cNvPr id="63" name="">
            <a:extLst xmlns:a="http://schemas.openxmlformats.org/drawingml/2006/main">
              <a:ext uri="{FF2B5EF4-FFF2-40B4-BE49-F238E27FC236}">
                <a16:creationId xmlns:a16="http://schemas.microsoft.com/office/drawing/2014/main" id="{34E7D984-C537-465C-9205-8ACE871886C2}"/>
              </a:ext>
            </a:extLst>
          </p:cNvPr>
          <p:cNvSpPr>
            <a:spLocks xmlns:a="http://schemas.openxmlformats.org/drawingml/2006/main" noGrp="1"/>
          </p:cNvSpPr>
          <p:nvPr/>
        </p:nvSpPr>
        <p:spPr>
          <a:xfrm xmlns:a="http://schemas.openxmlformats.org/drawingml/2006/main">
            <a:off x="10668000" y="3476625"/>
            <a:ext cx="371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950" b="1">
                <a:solidFill>
                  <a:srgbClr val="37352F"/>
                </a:solidFill>
                <a:latin typeface="Malgun Gothic"/>
                <a:ea typeface="Malgun Gothic"/>
                <a:cs typeface="Malgun Gothic"/>
              </a:defRPr>
            </a:pPr>
            <a:r>
              <a:rPr sz="4950" b="1">
                <a:solidFill>
                  <a:srgbClr val="37352F"/>
                </a:solidFill>
                <a:latin typeface="Malgun Gothic"/>
                <a:ea typeface="Malgun Gothic"/>
                <a:cs typeface="Malgun Gothic"/>
              </a:rPr>
              <a:t>583m</a:t>
            </a:r>
          </a:p>
        </p:txBody>
      </p:sp>
      <p:sp>
        <p:nvSpPr>
          <p:cNvPr id="64" name="">
            <a:extLst xmlns:a="http://schemas.openxmlformats.org/drawingml/2006/main">
              <a:ext uri="{FF2B5EF4-FFF2-40B4-BE49-F238E27FC236}">
                <a16:creationId xmlns:a16="http://schemas.microsoft.com/office/drawing/2014/main" id="{DBEC1ACF-559A-48A4-9755-912B2E36369A}"/>
              </a:ext>
            </a:extLst>
          </p:cNvPr>
          <p:cNvSpPr>
            <a:spLocks xmlns:a="http://schemas.openxmlformats.org/drawingml/2006/main" noGrp="1"/>
          </p:cNvSpPr>
          <p:nvPr/>
        </p:nvSpPr>
        <p:spPr>
          <a:xfrm xmlns:a="http://schemas.openxmlformats.org/drawingml/2006/main">
            <a:off x="10668000" y="44005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반감거리</a:t>
            </a:r>
          </a:p>
        </p:txBody>
      </p:sp>
      <p:sp>
        <p:nvSpPr>
          <p:cNvPr id="65" name="">
            <a:extLst xmlns:a="http://schemas.openxmlformats.org/drawingml/2006/main">
              <a:ext uri="{FF2B5EF4-FFF2-40B4-BE49-F238E27FC236}">
                <a16:creationId xmlns:a16="http://schemas.microsoft.com/office/drawing/2014/main" id="{8122B9FF-A8DF-4E64-BB48-FDDFC9560731}"/>
              </a:ext>
            </a:extLst>
          </p:cNvPr>
          <p:cNvSpPr>
            <a:spLocks xmlns:a="http://schemas.openxmlformats.org/drawingml/2006/main" noGrp="1"/>
          </p:cNvSpPr>
          <p:nvPr/>
        </p:nvSpPr>
        <p:spPr>
          <a:xfrm xmlns:a="http://schemas.openxmlformats.org/drawingml/2006/main">
            <a:off x="10668000" y="5238750"/>
            <a:ext cx="371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β = 1.189/km</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R² = 0.533</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기존 표본 23곳</a:t>
            </a:r>
          </a:p>
        </p:txBody>
      </p:sp>
      <p:sp>
        <p:nvSpPr>
          <p:cNvPr id="66" name="">
            <a:extLst xmlns:a="http://schemas.openxmlformats.org/drawingml/2006/main">
              <a:ext uri="{FF2B5EF4-FFF2-40B4-BE49-F238E27FC236}">
                <a16:creationId xmlns:a16="http://schemas.microsoft.com/office/drawing/2014/main" id="{661A2748-DAD6-4605-9C0A-BBB2B0E4D994}"/>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BFF388C4-7015-4120-BB90-C24AB00451F5}"/>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0EC61138-7283-48E0-9C3B-A4E7500F9885}"/>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기록된 β로 그린 모형 곡선 · 축제 당일의 실측 효과가 아님</a:t>
            </a:r>
          </a:p>
        </p:txBody>
      </p:sp>
    </p:spTree>
    <p:extLst>
      <p:ext uri="{BB962C8B-B14F-4D97-AF65-F5344CB8AC3E}">
        <p14:creationId xmlns:p14="http://schemas.microsoft.com/office/powerpoint/2010/main" val="8358177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A323C975-F6DE-4C55-B6AE-FD2DB9A84156}"/>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D0FA3E-AF2C-41BE-B94D-58A8D34F1FCB}"/>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00A544-8620-4287-AE31-70E246A63B2B}"/>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001E717-692A-461C-B952-B76831C3B945}"/>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DFE99EF-5C90-43A1-A18A-35D20F28C523}"/>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F20D8DF2-3CBD-4EC9-81FF-8860EC77C023}"/>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A7939497-D1F3-4810-A00E-6B565646F36A}"/>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19121BC3-BBB5-4778-9894-525F6A7C2C20}"/>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A3572C2-CD82-492C-ABF8-4625479DD47C}"/>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4147F13D-08DB-4EDB-AA3C-E189BDE98AAC}"/>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A43E59-3614-416C-9AB1-28C334EB624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F1CD562-FE08-4F71-A07D-8874289F2831}"/>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CD518A-44DF-42CC-9FCE-3CDCA5EDB9D3}"/>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1C6600D0-2050-4ACF-9E4C-C65AF45A454C}"/>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587DF1B2-4530-4BE3-B1AC-E51C7DACCB69}"/>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700F1B2-B097-4347-8754-C70181BFB509}"/>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DC7AD47-EB49-4630-BBD6-2662F3AE202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6562DEF-AC10-48BD-922E-E49FA8666E9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18FBE4F9-0E15-4CA9-AF0F-8952C4C0AE46}"/>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C06E5A9-690B-433F-A8B6-2FF4BF739282}"/>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3B3C2E02-E623-498A-9904-0761E6F999C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4017E63-5179-4CEF-ACDB-7ADB996F8B4E}"/>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B7423D3-FD3B-46BD-B738-93325CB07B19}"/>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A97BFEF-EB8A-49FE-A82B-F45E436EFF7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C290C94F-B72C-4BF4-837F-2E85CA88380B}"/>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3AC0071D-7C61-4CA3-8C9F-A1F536211CCD}"/>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9F09A58-2EA3-4AC1-B10E-69043EFBB6A9}"/>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B96D7A2-ABE3-48BE-BC60-0BD7D1B2EA16}"/>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BC45C13-615D-4B06-B6AF-1626B69B5167}"/>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DDA0E924-2AA9-4925-AE93-C219BD5CFEA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E58EE147-DAC1-41FB-B3DD-8E56CCCB761D}"/>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26D651D-0DF2-4DE7-9609-5DC7E4A43BDA}"/>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CF2DB78-6FB2-45AE-84F7-D1BB021AC7F9}"/>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07B5143-8551-4241-9C6D-FD3E48F7C16D}"/>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DD4B037C-6B0F-41D4-B92C-1893543C23DB}"/>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B77CF861-D774-4A3E-A87E-ABEC6A8D9FF4}"/>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5B93CF4-E042-4FE0-B32C-6E50486462D8}"/>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9F3F4FE-8E89-4186-BE96-776EB3EE3D52}"/>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8ED5E9D-AAFD-48D7-880E-2CC8D6F4D56A}"/>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BF74532C-6EC2-44FB-9289-9913F7700741}"/>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B772EFE5-D2C8-4263-AE82-56AACAD67063}"/>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7C26A9F-EB79-40B3-A0AF-83AAB0C99D2B}"/>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0ABF430-83B3-4C97-928C-F11E1C6D8E2F}"/>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D587EFC-B496-4BA1-9227-E3E403B5FDCA}"/>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FFF7024D-2390-42F2-A504-559E580B8BE5}"/>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6D01FB80-8563-4C97-9377-46002E1FC731}"/>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1BCE15F-2536-4F70-8075-2341FB66753D}"/>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2253C69-2BB9-4151-9A2F-168340BA6847}"/>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28FF08D-8305-4AB3-9C3D-1EAF60659913}"/>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41391C9C-7F48-4319-AAB4-4D1146A9959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394A176F-551A-4FA0-AEFA-12785A1BD0D8}"/>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F90702D7-6872-41B6-BDA6-3C494870814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스탬프 배정 기준</a:t>
            </a:r>
          </a:p>
        </p:txBody>
      </p:sp>
      <p:sp>
        <p:nvSpPr>
          <p:cNvPr id="53" name="">
            <a:extLst xmlns:a="http://schemas.openxmlformats.org/drawingml/2006/main">
              <a:ext uri="{FF2B5EF4-FFF2-40B4-BE49-F238E27FC236}">
                <a16:creationId xmlns:a16="http://schemas.microsoft.com/office/drawing/2014/main" id="{E1331130-C576-4F59-9BDD-8B84BED4F746}"/>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3410FB5A-62A7-4DD6-B571-42F11C3FBA8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66625D4B-AA32-4E84-BBE3-F684B019AFE7}"/>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F2808EF8-EA87-4E8A-81F8-AB48176AD996}"/>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D87D2AE-08A9-4AC9-9360-710241A6A43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A6B73732-0AB6-477E-8A32-8F7DD531C7DF}"/>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스탬프 배정 기준</a:t>
            </a:r>
          </a:p>
        </p:txBody>
      </p:sp>
      <p:sp>
        <p:nvSpPr>
          <p:cNvPr id="59" name="">
            <a:extLst xmlns:a="http://schemas.openxmlformats.org/drawingml/2006/main">
              <a:ext uri="{FF2B5EF4-FFF2-40B4-BE49-F238E27FC236}">
                <a16:creationId xmlns:a16="http://schemas.microsoft.com/office/drawing/2014/main" id="{2DD337CF-5C92-430A-8EB2-D9B0E7C3145D}"/>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하락 D · 저활력 L · 거리 기반 도달 R</a:t>
            </a:r>
          </a:p>
        </p:txBody>
      </p:sp>
      <p:sp>
        <p:nvSpPr>
          <p:cNvPr id="60" name="">
            <a:extLst xmlns:a="http://schemas.openxmlformats.org/drawingml/2006/main">
              <a:ext uri="{FF2B5EF4-FFF2-40B4-BE49-F238E27FC236}">
                <a16:creationId xmlns:a16="http://schemas.microsoft.com/office/drawing/2014/main" id="{1C8B44DC-2E69-4C76-AB0A-D2E65ECA8506}"/>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E573E09-04CF-4CE0-B7EF-63E5EFBAA2DB}"/>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05 / 11</a:t>
            </a:r>
          </a:p>
        </p:txBody>
      </p:sp>
      <p:sp>
        <p:nvSpPr>
          <p:cNvPr id="62" name="">
            <a:extLst xmlns:a="http://schemas.openxmlformats.org/drawingml/2006/main">
              <a:ext uri="{FF2B5EF4-FFF2-40B4-BE49-F238E27FC236}">
                <a16:creationId xmlns:a16="http://schemas.microsoft.com/office/drawing/2014/main" id="{4DB9881A-A2B6-4D57-9F40-A3B285F644DC}"/>
              </a:ext>
            </a:extLst>
          </p:cNvPr>
          <p:cNvSpPr>
            <a:spLocks xmlns:a="http://schemas.openxmlformats.org/drawingml/2006/main" noGrp="1"/>
          </p:cNvSpPr>
          <p:nvPr/>
        </p:nvSpPr>
        <p:spPr>
          <a:xfrm xmlns:a="http://schemas.openxmlformats.org/drawingml/2006/main">
            <a:off x="3048000" y="3371850"/>
            <a:ext cx="11506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75" b="1">
                <a:solidFill>
                  <a:srgbClr val="37352F"/>
                </a:solidFill>
                <a:latin typeface="Malgun Gothic"/>
                <a:ea typeface="Malgun Gothic"/>
                <a:cs typeface="Malgun Gothic"/>
              </a:defRPr>
            </a:pPr>
            <a:r>
              <a:rPr sz="4575" b="1">
                <a:solidFill>
                  <a:srgbClr val="37352F"/>
                </a:solidFill>
                <a:latin typeface="Malgun Gothic"/>
                <a:ea typeface="Malgun Gothic"/>
                <a:cs typeface="Malgun Gothic"/>
              </a:rPr>
              <a:t>M = √(D × L) × R</a:t>
            </a:r>
          </a:p>
        </p:txBody>
      </p:sp>
      <p:graphicFrame>
        <p:nvGraphicFramePr>
          <p:cNvPr id="131" name=""/>
          <p:cNvGraphicFramePr/>
          <p:nvPr/>
        </p:nvGraphicFramePr>
        <p:xfrm>
          <a:off xmlns:a="http://schemas.openxmlformats.org/drawingml/2006/main" x="3048000" y="4543425"/>
          <a:ext xmlns:a="http://schemas.openxmlformats.org/drawingml/2006/main" cx="11506200" cy="1476375"/>
        </p:xfrm>
        <a:graphic xmlns:a="http://schemas.openxmlformats.org/drawingml/2006/main">
          <a:graphicData uri="http://schemas.openxmlformats.org/drawingml/2006/table">
            <a:tbl>
              <a:tblPr/>
              <a:tblGrid>
                <a:gridCol w="3835400"/>
                <a:gridCol w="3835400"/>
                <a:gridCol w="3835400"/>
              </a:tblGrid>
              <a:tr h="738188">
                <a:tc>
                  <a:txBody>
                    <a:bodyPr/>
                    <a:lstStyle/>
                    <a:p>
                      <a:r>
                        <a:rPr sz="1800" b="1">
                          <a:solidFill>
                            <a:srgbClr val="37352F"/>
                          </a:solidFill>
                          <a:latin typeface="Malgun Gothic"/>
                          <a:ea typeface="Malgun Gothic"/>
                          <a:cs typeface="Malgun Gothic"/>
                        </a:rPr>
                        <a:t>D 하락</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L 저활력</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R 도달</a:t>
                      </a:r>
                    </a:p>
                  </a:txBody>
                  <a:tcPr marL="85725" marR="85725" marT="28575" marB="28575">
                    <a:solidFill>
                      <a:srgbClr val="F1F1EF"/>
                    </a:solidFill>
                  </a:tcPr>
                </a:tc>
              </a:tr>
              <a:tr h="738188">
                <a:tc>
                  <a:txBody>
                    <a:bodyPr/>
                    <a:lstStyle/>
                    <a:p>
                      <a:r>
                        <a:rPr sz="1800" b="0">
                          <a:solidFill>
                            <a:srgbClr val="37352F"/>
                          </a:solidFill>
                          <a:latin typeface="Malgun Gothic"/>
                          <a:ea typeface="Malgun Gothic"/>
                          <a:cs typeface="Malgun Gothic"/>
                        </a:rPr>
                        <a:t>20대 소비강도·점포 변화</a:t>
                      </a:r>
                    </a:p>
                    <a:p>
                      <a:r>
                        <a:rPr sz="1800" b="0">
                          <a:solidFill>
                            <a:srgbClr val="37352F"/>
                          </a:solidFill>
                          <a:latin typeface="Malgun Gothic"/>
                          <a:ea typeface="Malgun Gothic"/>
                          <a:cs typeface="Malgun Gothic"/>
                        </a:rPr>
                        <a:t>폐업률·전체 매출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점포당 추정매출의</a:t>
                      </a:r>
                    </a:p>
                    <a:p>
                      <a:r>
                        <a:rPr sz="1800" b="0">
                          <a:solidFill>
                            <a:srgbClr val="37352F"/>
                          </a:solidFill>
                          <a:latin typeface="Malgun Gothic"/>
                          <a:ea typeface="Malgun Gothic"/>
                          <a:cs typeface="Malgun Gothic"/>
                        </a:rPr>
                        <a:t>역순위 백분위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exp(−1.189 × 거리[km])</a:t>
                      </a:r>
                    </a:p>
                    <a:p>
                      <a:r>
                        <a:rPr sz="1800" b="0">
                          <a:solidFill>
                            <a:srgbClr val="37352F"/>
                          </a:solidFill>
                          <a:latin typeface="Malgun Gothic"/>
                          <a:ea typeface="Malgun Gothic"/>
                          <a:cs typeface="Malgun Gothic"/>
                        </a:rPr>
                        <a:t>무대 대리점과 상권 경계</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A70ED89D-97A2-4075-8864-DB14AF522623}"/>
              </a:ext>
            </a:extLst>
          </p:cNvPr>
          <p:cNvSpPr>
            <a:spLocks xmlns:a="http://schemas.openxmlformats.org/drawingml/2006/main" noGrp="1"/>
          </p:cNvSpPr>
          <p:nvPr/>
        </p:nvSpPr>
        <p:spPr>
          <a:xfrm xmlns:a="http://schemas.openxmlformats.org/drawingml/2006/main">
            <a:off x="3048000" y="63436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487CA5"/>
                </a:solidFill>
                <a:latin typeface="Malgun Gothic"/>
                <a:ea typeface="Malgun Gothic"/>
                <a:cs typeface="Malgun Gothic"/>
              </a:defRPr>
            </a:pPr>
            <a:r>
              <a:rPr sz="2175" b="1">
                <a:solidFill>
                  <a:srgbClr val="487CA5"/>
                </a:solidFill>
                <a:latin typeface="Malgun Gothic"/>
                <a:ea typeface="Malgun Gothic"/>
                <a:cs typeface="Malgun Gothic"/>
              </a:rPr>
              <a:t>시립대앞사거리  0.669 · 6개</a:t>
            </a:r>
          </a:p>
        </p:txBody>
      </p:sp>
      <p:sp>
        <p:nvSpPr>
          <p:cNvPr id="65" name="">
            <a:extLst xmlns:a="http://schemas.openxmlformats.org/drawingml/2006/main">
              <a:ext uri="{FF2B5EF4-FFF2-40B4-BE49-F238E27FC236}">
                <a16:creationId xmlns:a16="http://schemas.microsoft.com/office/drawing/2014/main" id="{F81B1100-AA4B-486A-BCB3-0B891FACA7D6}"/>
              </a:ext>
            </a:extLst>
          </p:cNvPr>
          <p:cNvSpPr>
            <a:spLocks xmlns:a="http://schemas.openxmlformats.org/drawingml/2006/main" noGrp="1"/>
          </p:cNvSpPr>
          <p:nvPr/>
        </p:nvSpPr>
        <p:spPr>
          <a:xfrm xmlns:a="http://schemas.openxmlformats.org/drawingml/2006/main">
            <a:off x="9372600" y="634365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7352F"/>
                </a:solidFill>
                <a:latin typeface="Malgun Gothic"/>
                <a:ea typeface="Malgun Gothic"/>
                <a:cs typeface="Malgun Gothic"/>
              </a:defRPr>
            </a:pPr>
            <a:r>
              <a:rPr sz="2175" b="1">
                <a:solidFill>
                  <a:srgbClr val="37352F"/>
                </a:solidFill>
                <a:latin typeface="Malgun Gothic"/>
                <a:ea typeface="Malgun Gothic"/>
                <a:cs typeface="Malgun Gothic"/>
              </a:rPr>
              <a:t>경희대앞  0.216 · 2개</a:t>
            </a:r>
          </a:p>
        </p:txBody>
      </p:sp>
      <p:sp>
        <p:nvSpPr>
          <p:cNvPr id="66" name="">
            <a:extLst xmlns:a="http://schemas.openxmlformats.org/drawingml/2006/main">
              <a:ext uri="{FF2B5EF4-FFF2-40B4-BE49-F238E27FC236}">
                <a16:creationId xmlns:a16="http://schemas.microsoft.com/office/drawing/2014/main" id="{722B7D6C-54CF-41FF-A4CD-CF7015ABB10F}"/>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8947D0AA-8F9A-41CE-A0B0-1BDA3535245C}"/>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A3E84A78-02F2-4FFD-9CEB-FC5A9C03F879}"/>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D와 L을 대칭적으로 결합한 자체 설계 지수 · 취향 추천과 별도</a:t>
            </a:r>
          </a:p>
        </p:txBody>
      </p:sp>
    </p:spTree>
    <p:extLst>
      <p:ext uri="{BB962C8B-B14F-4D97-AF65-F5344CB8AC3E}">
        <p14:creationId xmlns:p14="http://schemas.microsoft.com/office/powerpoint/2010/main" val="6060811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25D0CC00-0F5D-4935-AC2A-25B094936718}"/>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805DB3-B8E7-4652-B6E9-E078C29499C7}"/>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3D0254-6731-4D1C-B6CC-9D37B34478B6}"/>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6E91CBD9-38E2-45AD-82CF-B435EC881310}"/>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0D74E6DB-70EC-4456-A589-AAD26575527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4D9D1BEB-0BCA-4B16-991E-E8918F52E002}"/>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E5F35AE5-CF7B-473C-9712-76CE28973EB5}"/>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37A1EB72-4CA9-466B-BB67-80156C3D5ED1}"/>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EDD961FC-A19A-4D80-A0F0-43EDE14DB310}"/>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AD9626BF-344C-4085-991C-610C9CF98F3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8ECED6-FF65-4286-A39E-58A819E15944}"/>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2942D5C-953C-4547-B67E-C25C89717718}"/>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644FB0A-D671-4484-8D15-2B6B7B58811B}"/>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A29A8B05-D2F8-4DBE-8694-DB6C5B01DBBD}"/>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126FC313-964A-4F2E-B400-8F27CF39AEA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EA075D-A20F-4795-A1F5-0D7FFFD285D8}"/>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9636008-DB57-4948-8679-EBEB856685DF}"/>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C0826E1-0256-4BC7-8B4A-E9B2618B2AD5}"/>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95138FBC-EA54-4119-860B-2D46C0990EB3}"/>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B5A5758B-7363-4F74-A46C-DC5E41ECC540}"/>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8413921-9746-43F5-9D56-AFE121CCDC28}"/>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167826F-5EB0-48DA-9EE9-445E3796B574}"/>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9EC98DA-DA98-483E-B249-F4F7641A9347}"/>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6E6A68D0-5A78-4008-8E03-304612E59330}"/>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E6C99B4-CF9E-4C3D-9E9C-B5E7A89EA51C}"/>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71472A24-FCB7-4266-ACB7-9B60A26895AA}"/>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053E40B-F142-4A11-B673-7397807567D6}"/>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0269BF3-A7AB-44E8-B701-09F39513B634}"/>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F6E6F04-82DC-47EC-A8CC-023A85161714}"/>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DEF0F1E9-E60C-4572-BB1D-272F1FA3DC54}"/>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0121B508-2966-41C3-B8E1-68955ADB92EB}"/>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D2E63F3-6CEC-4499-902B-DD76002C2E56}"/>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20F85ED-67CE-42B6-8EC3-D5DC7099AB22}"/>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EF4A6DE-50DA-40B6-8264-479D9BA5E86F}"/>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AE056B39-2B47-45DB-8519-B0B275E92ABF}"/>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8ACE7B4E-D978-44B5-AFCF-91D0B567239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FFBB3E3-00DE-4D25-BF55-068BE3CBBAB7}"/>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516C154-6AB6-4636-B713-B8DE6EE67B1D}"/>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8E42048-8F33-4037-B98D-06AC3627C37D}"/>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E0A47E4F-64A2-4769-9643-38585F9D4B1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A5BD7BC1-B365-4124-B006-55C691E0EF59}"/>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2675165-0623-4346-A1F1-CB7A8B368B03}"/>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9FE3138-038E-44A8-B076-ACD0D4681DA9}"/>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F946A63-BB8F-420E-980E-09B7349C020F}"/>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3B053391-25DD-4C0C-AA94-1C7629C810B9}"/>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EE61FC3F-923C-4701-9398-A4EA09FF93B0}"/>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F9F30E6-6EA4-459F-8892-5AE32FFE63A4}"/>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D5C0B00-DAD7-46BF-832F-A505679C530F}"/>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87E6275-CDEE-4F01-8310-2B4873A2D413}"/>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F20BF36-D724-4579-BD96-5ECAAB0BA0ED}"/>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7F3E3D15-E327-4401-BFEF-10AB2C59E24F}"/>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3C8CE025-2C5A-4541-90FE-1CF78BA1B14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16개 상권의 최종 배정</a:t>
            </a:r>
          </a:p>
        </p:txBody>
      </p:sp>
      <p:sp>
        <p:nvSpPr>
          <p:cNvPr id="53" name="">
            <a:extLst xmlns:a="http://schemas.openxmlformats.org/drawingml/2006/main">
              <a:ext uri="{FF2B5EF4-FFF2-40B4-BE49-F238E27FC236}">
                <a16:creationId xmlns:a16="http://schemas.microsoft.com/office/drawing/2014/main" id="{C4864C11-7AF6-465E-B105-09A1763C0912}"/>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44C8A20-0F80-488D-82D0-E703BB238AF5}"/>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72765CBF-4974-46AD-83A3-DDFFA08A3BE4}"/>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66FCE79-AF6E-4861-92AC-8C63FAF2CB74}"/>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6397A7D5-EEBD-409B-9B82-44144F6C3F99}"/>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30500A7-2A47-45D9-9266-C7012E7CB4E3}"/>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16개 상권의 최종 배정</a:t>
            </a:r>
          </a:p>
        </p:txBody>
      </p:sp>
      <p:sp>
        <p:nvSpPr>
          <p:cNvPr id="59" name="">
            <a:extLst xmlns:a="http://schemas.openxmlformats.org/drawingml/2006/main">
              <a:ext uri="{FF2B5EF4-FFF2-40B4-BE49-F238E27FC236}">
                <a16:creationId xmlns:a16="http://schemas.microsoft.com/office/drawing/2014/main" id="{45E27D5C-AF7E-4BD9-8E55-90BCB372C761}"/>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총 60개 · 코어 36 / 참여 24 / 연계 0</a:t>
            </a:r>
          </a:p>
        </p:txBody>
      </p:sp>
      <p:sp>
        <p:nvSpPr>
          <p:cNvPr id="60" name="">
            <a:extLst xmlns:a="http://schemas.openxmlformats.org/drawingml/2006/main">
              <a:ext uri="{FF2B5EF4-FFF2-40B4-BE49-F238E27FC236}">
                <a16:creationId xmlns:a16="http://schemas.microsoft.com/office/drawing/2014/main" id="{2BA8B8F3-4552-4622-9D3A-11B90653ABD3}"/>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D195EF5-7C35-4281-AA48-9E00CC1CF178}"/>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06 / 11</a:t>
            </a:r>
          </a:p>
        </p:txBody>
      </p:sp>
      <p:graphicFrame>
        <p:nvGraphicFramePr>
          <p:cNvPr id="130" name="Chart"/>
          <p:cNvGraphicFramePr/>
          <p:nvPr/>
        </p:nvGraphicFramePr>
        <p:xfrm>
          <a:off xmlns:a="http://schemas.openxmlformats.org/drawingml/2006/main" x="3048000" y="333375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15b70351409d48c4"/>
          </a:graphicData>
        </a:graphic>
      </p:graphicFrame>
      <p:sp>
        <p:nvSpPr>
          <p:cNvPr id="63" name="">
            <a:extLst xmlns:a="http://schemas.openxmlformats.org/drawingml/2006/main">
              <a:ext uri="{FF2B5EF4-FFF2-40B4-BE49-F238E27FC236}">
                <a16:creationId xmlns:a16="http://schemas.microsoft.com/office/drawing/2014/main" id="{C3A7E369-1760-4C79-89BC-BB4433DF9267}"/>
              </a:ext>
            </a:extLst>
          </p:cNvPr>
          <p:cNvSpPr>
            <a:spLocks xmlns:a="http://schemas.openxmlformats.org/drawingml/2006/main" noGrp="1"/>
          </p:cNvSpPr>
          <p:nvPr/>
        </p:nvSpPr>
        <p:spPr>
          <a:xfrm xmlns:a="http://schemas.openxmlformats.org/drawingml/2006/main">
            <a:off x="10572750" y="355282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최소 2개</a:t>
            </a:r>
          </a:p>
        </p:txBody>
      </p:sp>
      <p:sp>
        <p:nvSpPr>
          <p:cNvPr id="64" name="">
            <a:extLst xmlns:a="http://schemas.openxmlformats.org/drawingml/2006/main">
              <a:ext uri="{FF2B5EF4-FFF2-40B4-BE49-F238E27FC236}">
                <a16:creationId xmlns:a16="http://schemas.microsoft.com/office/drawing/2014/main" id="{4F10E52B-3920-4DE0-8F46-57B38DB7845A}"/>
              </a:ext>
            </a:extLst>
          </p:cNvPr>
          <p:cNvSpPr>
            <a:spLocks xmlns:a="http://schemas.openxmlformats.org/drawingml/2006/main" noGrp="1"/>
          </p:cNvSpPr>
          <p:nvPr/>
        </p:nvSpPr>
        <p:spPr>
          <a:xfrm xmlns:a="http://schemas.openxmlformats.org/drawingml/2006/main">
            <a:off x="10572750" y="43815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최대 6개</a:t>
            </a:r>
          </a:p>
        </p:txBody>
      </p:sp>
      <p:sp>
        <p:nvSpPr>
          <p:cNvPr id="65" name="">
            <a:extLst xmlns:a="http://schemas.openxmlformats.org/drawingml/2006/main">
              <a:ext uri="{FF2B5EF4-FFF2-40B4-BE49-F238E27FC236}">
                <a16:creationId xmlns:a16="http://schemas.microsoft.com/office/drawing/2014/main" id="{02F5B6C6-F1C9-4E4A-9F6D-2EA35AA532BF}"/>
              </a:ext>
            </a:extLst>
          </p:cNvPr>
          <p:cNvSpPr>
            <a:spLocks xmlns:a="http://schemas.openxmlformats.org/drawingml/2006/main" noGrp="1"/>
          </p:cNvSpPr>
          <p:nvPr/>
        </p:nvSpPr>
        <p:spPr>
          <a:xfrm xmlns:a="http://schemas.openxmlformats.org/drawingml/2006/main">
            <a:off x="10572750" y="5257800"/>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점포 수의 20% 이내</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정수 상한은 내림</a:t>
            </a:r>
          </a:p>
        </p:txBody>
      </p:sp>
      <p:sp>
        <p:nvSpPr>
          <p:cNvPr id="66" name="">
            <a:extLst xmlns:a="http://schemas.openxmlformats.org/drawingml/2006/main">
              <a:ext uri="{FF2B5EF4-FFF2-40B4-BE49-F238E27FC236}">
                <a16:creationId xmlns:a16="http://schemas.microsoft.com/office/drawing/2014/main" id="{4E95372F-5C9C-4234-BC17-2572708AB259}"/>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9C4E409A-0C3B-431B-B583-09B8E49DC16A}"/>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156A7D30-4499-4189-A399-1105BBFFA653}"/>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이경시장: 19점포 × 20%를 내림하여 최대 3개</a:t>
            </a:r>
          </a:p>
        </p:txBody>
      </p:sp>
    </p:spTree>
    <p:extLst>
      <p:ext uri="{BB962C8B-B14F-4D97-AF65-F5344CB8AC3E}">
        <p14:creationId xmlns:p14="http://schemas.microsoft.com/office/powerpoint/2010/main" val="18923662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D8313BB1-6D20-4B22-A3A2-AF9A544FB4B9}"/>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718838-5027-4EB3-A5DA-8117F7DB6E63}"/>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56BBCB-575A-4B31-AD20-40FD81A3ABD3}"/>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313449A2-FF10-4A9B-932C-A92319D3E315}"/>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6D7FB75F-FC6D-4845-AF70-105038E51A35}"/>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42D192B4-9B94-4041-8ECB-23BF6CF0E1C0}"/>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060543F7-F0AB-42B4-857F-0AD0AA36AB87}"/>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06741C2-9679-443C-8838-87FE18C34319}"/>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BBCBAE0C-42EB-4EE7-B84C-AB47ECA8315D}"/>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8CD61E69-EB54-4281-886B-75222847A91A}"/>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1C6033-FA52-4942-9855-01F5EA581E53}"/>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31EB026-1E2A-4E2B-A080-A1E0DFCF25F2}"/>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DA5FA0-FE87-4A7E-8A68-89422018BCEC}"/>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B3AFB12-6ECF-454B-9881-C07AA9B62977}"/>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29236D05-2078-4D26-8008-ABB7A4808097}"/>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9848D5-86F6-4ADC-ACBF-D17DE72B85C6}"/>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4FBD03E-4B81-43ED-9E4C-C81615392303}"/>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A2FC8A6-6F36-4B8C-AA48-4EC0773651F7}"/>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479200AF-02E3-45FC-A8CF-A97FC5D5C457}"/>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3DD32505-1557-4EE7-BE41-35644C43342E}"/>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F4E7049-C600-4626-8454-A7D5FDD4F74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11818D0-069B-473B-B954-BE7B05CD1CFF}"/>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F2DDFA2-1932-40EE-884E-B9DBB08F0319}"/>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5967C517-EC0B-4C45-A939-94EC77DCCFE6}"/>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5421845-5B31-4156-BD15-4CAB76C7E7B2}"/>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EDC63ED5-D9E4-4F00-97BA-153527E7AA36}"/>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E7CC646-407A-4F05-AB45-D8634FB40E00}"/>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87C1583-6FF4-4AFE-BF80-8815CE584AAB}"/>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E4FEA51-35F6-4088-8E85-218513AC0511}"/>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9876FE19-E265-4BCC-B8C0-E57696D5E695}"/>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6B119D0F-BEF3-40AE-9971-3D85CD4C1572}"/>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9005C5C-541B-4E35-933B-CB15CBC9D39A}"/>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5AF3530-C0DF-4A4D-A53E-950C7575BFB5}"/>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D07B521-6A8C-4177-8AD8-52513B08ED4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9A71F9DF-593C-4339-9701-D5D833CD0A39}"/>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A549DA2D-E7A6-4BFA-800B-2C55B4EBC027}"/>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83CBA7D-7AC1-4A02-BE1F-6DD7FDC7732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0129FFE-CB46-486F-88D8-4325441F4C64}"/>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8A3C9F0-EDD7-423A-8DE7-0144DB817CEB}"/>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5C541893-154A-4EDE-BBD2-82BC3BB34EBD}"/>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1A4BA104-4A54-4C99-9C52-48DDF1B320A5}"/>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4BD2F7A-6FF9-49AE-BC66-CC730327DC75}"/>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DA5CB36-14FF-4CF8-829D-3B372527F185}"/>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C32CCD6-376B-430C-8259-8345056B387D}"/>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98E67973-9752-4DE1-B15A-015B09BAA10A}"/>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40D4E159-4022-4758-8C50-21FBD54BD746}"/>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549E0AF-489E-47D6-BD2A-60CF3C82F671}"/>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FADB884-91A8-4903-8C63-FE1D2CA8041F}"/>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815EE70-7F07-4C84-8574-48E169DFB3EA}"/>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B93F5994-C157-46AC-95EA-66B432F37B33}"/>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F94C0903-9489-46CB-9BFB-63F5B508F688}"/>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D2060718-5ACC-4757-A1A8-D210198A4D25}"/>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상위 5곳 배정 변화</a:t>
            </a:r>
          </a:p>
        </p:txBody>
      </p:sp>
      <p:sp>
        <p:nvSpPr>
          <p:cNvPr id="53" name="">
            <a:extLst xmlns:a="http://schemas.openxmlformats.org/drawingml/2006/main">
              <a:ext uri="{FF2B5EF4-FFF2-40B4-BE49-F238E27FC236}">
                <a16:creationId xmlns:a16="http://schemas.microsoft.com/office/drawing/2014/main" id="{A6B48463-B9D8-4596-87BB-6381581363C1}"/>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909EE77F-BDE9-47CD-A150-EEB7930E9C4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A1228B13-46B1-4E30-8A6F-CAA9C72C3377}"/>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CC3F8E23-A583-4AE5-AE50-D2FC5957F1CE}"/>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6C93C3E-2A38-489C-894B-7814784193CD}"/>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BA37E27E-830B-4A6D-8579-C3D6D462AAB2}"/>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상위 5곳 배정 변화</a:t>
            </a:r>
          </a:p>
        </p:txBody>
      </p:sp>
      <p:sp>
        <p:nvSpPr>
          <p:cNvPr id="59" name="">
            <a:extLst xmlns:a="http://schemas.openxmlformats.org/drawingml/2006/main">
              <a:ext uri="{FF2B5EF4-FFF2-40B4-BE49-F238E27FC236}">
                <a16:creationId xmlns:a16="http://schemas.microsoft.com/office/drawing/2014/main" id="{C5B92687-4A80-4F35-A847-A6796CA37E52}"/>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전후 모두 전체 60개를 분모로 비교</a:t>
            </a:r>
          </a:p>
        </p:txBody>
      </p:sp>
      <p:sp>
        <p:nvSpPr>
          <p:cNvPr id="60" name="">
            <a:extLst xmlns:a="http://schemas.openxmlformats.org/drawingml/2006/main">
              <a:ext uri="{FF2B5EF4-FFF2-40B4-BE49-F238E27FC236}">
                <a16:creationId xmlns:a16="http://schemas.microsoft.com/office/drawing/2014/main" id="{8A6F002B-6AB9-41C1-BA06-1C0C82209EB3}"/>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71FF3BB-E255-4C20-BEE4-499E1D96B3AF}"/>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07 / 11</a:t>
            </a:r>
          </a:p>
        </p:txBody>
      </p:sp>
      <p:graphicFrame>
        <p:nvGraphicFramePr>
          <p:cNvPr id="129" name="Chart"/>
          <p:cNvGraphicFramePr/>
          <p:nvPr/>
        </p:nvGraphicFramePr>
        <p:xfrm>
          <a:off xmlns:a="http://schemas.openxmlformats.org/drawingml/2006/main" x="3048000" y="3381375"/>
          <a:ext xmlns:a="http://schemas.openxmlformats.org/drawingml/2006/main" cx="11506200" cy="2781300"/>
        </p:xfrm>
        <a:graphic xmlns:a="http://schemas.openxmlformats.org/drawingml/2006/main">
          <a:graphicData uri="http://schemas.openxmlformats.org/drawingml/2006/chart">
            <c:chart xmlns:r="http://schemas.openxmlformats.org/officeDocument/2006/relationships" xmlns:c="http://schemas.openxmlformats.org/drawingml/2006/chart" r:id="Rdb7a1d375d8245ae"/>
          </a:graphicData>
        </a:graphic>
      </p:graphicFrame>
      <p:sp>
        <p:nvSpPr>
          <p:cNvPr id="63" name="">
            <a:extLst xmlns:a="http://schemas.openxmlformats.org/drawingml/2006/main">
              <a:ext uri="{FF2B5EF4-FFF2-40B4-BE49-F238E27FC236}">
                <a16:creationId xmlns:a16="http://schemas.microsoft.com/office/drawing/2014/main" id="{B5E22996-8689-488C-AC73-E289C3FAEF71}"/>
              </a:ext>
            </a:extLst>
          </p:cNvPr>
          <p:cNvSpPr>
            <a:spLocks xmlns:a="http://schemas.openxmlformats.org/drawingml/2006/main" noGrp="1"/>
          </p:cNvSpPr>
          <p:nvPr/>
        </p:nvSpPr>
        <p:spPr>
          <a:xfrm xmlns:a="http://schemas.openxmlformats.org/drawingml/2006/main">
            <a:off x="3048000" y="630555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37352F"/>
                </a:solidFill>
                <a:latin typeface="Malgun Gothic"/>
                <a:ea typeface="Malgun Gothic"/>
                <a:cs typeface="Malgun Gothic"/>
              </a:defRPr>
            </a:pPr>
            <a:r>
              <a:rPr sz="2775" b="1">
                <a:solidFill>
                  <a:srgbClr val="37352F"/>
                </a:solidFill>
                <a:latin typeface="Malgun Gothic"/>
                <a:ea typeface="Malgun Gothic"/>
                <a:cs typeface="Malgun Gothic"/>
              </a:rPr>
              <a:t>13개 (21.7%)</a:t>
            </a:r>
          </a:p>
        </p:txBody>
      </p:sp>
      <p:sp>
        <p:nvSpPr>
          <p:cNvPr id="64" name="">
            <a:extLst xmlns:a="http://schemas.openxmlformats.org/drawingml/2006/main">
              <a:ext uri="{FF2B5EF4-FFF2-40B4-BE49-F238E27FC236}">
                <a16:creationId xmlns:a16="http://schemas.microsoft.com/office/drawing/2014/main" id="{75D23CF1-1CB0-4D4E-83A3-3A3EFCB41CED}"/>
              </a:ext>
            </a:extLst>
          </p:cNvPr>
          <p:cNvSpPr>
            <a:spLocks xmlns:a="http://schemas.openxmlformats.org/drawingml/2006/main" noGrp="1"/>
          </p:cNvSpPr>
          <p:nvPr/>
        </p:nvSpPr>
        <p:spPr>
          <a:xfrm xmlns:a="http://schemas.openxmlformats.org/drawingml/2006/main">
            <a:off x="9315450" y="63055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487CA5"/>
                </a:solidFill>
                <a:latin typeface="Malgun Gothic"/>
                <a:ea typeface="Malgun Gothic"/>
                <a:cs typeface="Malgun Gothic"/>
              </a:defRPr>
            </a:pPr>
            <a:r>
              <a:rPr sz="2775" b="1">
                <a:solidFill>
                  <a:srgbClr val="487CA5"/>
                </a:solidFill>
                <a:latin typeface="Malgun Gothic"/>
                <a:ea typeface="Malgun Gothic"/>
                <a:cs typeface="Malgun Gothic"/>
              </a:rPr>
              <a:t>27개 (45.0%)</a:t>
            </a:r>
          </a:p>
        </p:txBody>
      </p:sp>
      <p:sp>
        <p:nvSpPr>
          <p:cNvPr id="65" name="">
            <a:extLst xmlns:a="http://schemas.openxmlformats.org/drawingml/2006/main">
              <a:ext uri="{FF2B5EF4-FFF2-40B4-BE49-F238E27FC236}">
                <a16:creationId xmlns:a16="http://schemas.microsoft.com/office/drawing/2014/main" id="{78896A2A-483F-4287-B5B8-DF9C8FC91269}"/>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101B85E3-E5BC-4A04-B0BD-FA6D94D9CAF9}"/>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5AA0CBA3-E872-453C-842F-ED91833D2CC3}"/>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상위 5곳에 14개 추가 배정 · 매출 증가율을 뜻하지 않음</a:t>
            </a:r>
          </a:p>
        </p:txBody>
      </p:sp>
    </p:spTree>
    <p:extLst>
      <p:ext uri="{BB962C8B-B14F-4D97-AF65-F5344CB8AC3E}">
        <p14:creationId xmlns:p14="http://schemas.microsoft.com/office/powerpoint/2010/main" val="2096531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D0CA8C3D-17BC-45AC-9D88-B1CCA15DAFA1}"/>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33E140-E231-4D2F-9684-F881B5358275}"/>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55B5AA-A8AB-4752-9360-6392DD4384AF}"/>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927DD50C-DE8A-470F-9E0A-ED515A4E4E0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99FA322A-6BCD-4F6F-B990-6E10200CEC23}"/>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5A21B3BC-4A16-4A42-8C5C-27A0CE0C6D3C}"/>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A3762D26-CE63-4615-8854-D5D23B8788EF}"/>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7D170919-DD35-4334-BA03-DB3B963F01FD}"/>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0E0DEBB-A7F5-49FC-ADC3-550BA941A71F}"/>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9A700929-5296-48A9-9FDA-AC2BED876358}"/>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A472BDD-517E-4D3D-BCF0-48918C8EFE07}"/>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8CCA15-D2F2-40D9-AF7B-F09E811E80ED}"/>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839489-8DF4-4024-A4B0-D8864839594C}"/>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2CD723CD-07CB-4820-8DF7-416847B02763}"/>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FB7AEDF0-88F5-4A1A-892C-84B7714E2429}"/>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077574D-E459-4B75-A9BA-7A7A46EC8579}"/>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F18D246-D556-4717-A870-CB590C6D0A4D}"/>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7C1BFB9-2D3E-4DE5-AC5D-98DD4206988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AB54D924-0437-4182-8E18-41D985E1F276}"/>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5D8F1A71-1A37-4465-8F3C-F60E7C2A3291}"/>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47431AB-AED4-42B3-BAEC-F44098CE05E8}"/>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C9685DE-AB34-4C07-8A4A-8FDEB03E0D19}"/>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9109BC9-BFD3-464B-98BC-0B470EB34DF3}"/>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7DEF4EDB-7B1D-4FD8-BB1F-D6C93D65A31C}"/>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E7AF0347-D6C5-431F-8DD4-AA7AE5EE1359}"/>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638B172-F605-466C-93E1-72D2B0B1CC42}"/>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96871FC-339A-4C13-8858-C646BFD1643F}"/>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82C9126-8BD7-4E9C-9BD0-BBC92B06BDAC}"/>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72D6A4A4-0D67-4D3C-99C6-BE5934A1968D}"/>
              </a:ext>
            </a:extLst>
          </p:cNvPr>
          <p:cNvSpPr>
            <a:spLocks xmlns:a="http://schemas.openxmlformats.org/drawingml/2006/main" noGrp="1"/>
          </p:cNvSpPr>
          <p:nvPr/>
        </p:nvSpPr>
        <p:spPr>
          <a:xfrm xmlns:a="http://schemas.openxmlformats.org/drawingml/2006/main">
            <a:off x="95250" y="46005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E0278AC-E1F4-4B85-8406-1DEA22D0B134}"/>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F836A165-FA94-4511-A607-61F21BA28539}"/>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A8AC6C0-54B7-4A5B-9636-F70394EFB710}"/>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3FF45D2-81B6-429D-B8D2-24960A21CB90}"/>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FCD60A8-804D-4FDF-B7F9-1844F4F0D551}"/>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6898E519-470F-467C-AD10-250E292D67AE}"/>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151630C2-BB43-4D42-996C-E0FBA7E26309}"/>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E63C144-EF5F-409A-A6C8-4E0F444AE176}"/>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78D4DB9-A25E-4A7E-B16C-E8970E62945C}"/>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DD8F477-857B-4618-BC28-15F16E5AED37}"/>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52BA6333-9AA3-456B-ADDB-2F63BA0FB251}"/>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092EE87C-D68B-4519-88A9-3C5C135568A6}"/>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692DCEB-8BF6-4C61-9C93-F6FE89BBD2FB}"/>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C69DAB1-7479-4810-9EE4-1E219862A83A}"/>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AE70F7CE-0C63-4FB9-AAF1-C1CD009555C4}"/>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62907D18-AE49-43F8-973F-4CF098879AFA}"/>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42A7CA05-6226-459A-8ED3-A4F78040D02B}"/>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1128BB4-E16B-4C3C-B627-F9F84510930A}"/>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B9E33A18-7FB2-44A7-8C55-682C43103CA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E3A8D09-24E3-42D9-98D6-09A3E4C4C5C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535D8C94-9C87-4CC6-B5FC-4C53DBAA33AB}"/>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CE7A673D-4518-4CC8-A2C0-258D2C7EDE00}"/>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E29DFFF2-AF34-47D2-BFAC-4617A8AC4EB5}"/>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3개 상권을 잇는 코스</a:t>
            </a:r>
          </a:p>
        </p:txBody>
      </p:sp>
      <p:sp>
        <p:nvSpPr>
          <p:cNvPr id="53" name="">
            <a:extLst xmlns:a="http://schemas.openxmlformats.org/drawingml/2006/main">
              <a:ext uri="{FF2B5EF4-FFF2-40B4-BE49-F238E27FC236}">
                <a16:creationId xmlns:a16="http://schemas.microsoft.com/office/drawing/2014/main" id="{FD34AD7A-5BE3-4CB4-A07D-E36313FAECDC}"/>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CD1F85F6-611B-4E37-88B2-6B87EC9691E9}"/>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B7998A6C-47AD-40B2-BA7D-082082C23D75}"/>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3BFAFA1-93ED-4FF8-BCB9-D848A267770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7F9AE588-BB00-4D8F-8A98-FB9CA86A0F5D}"/>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21EC144-E03A-4A64-9527-66352CD7CBF9}"/>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3개 상권을 잇는 코스</a:t>
            </a:r>
          </a:p>
        </p:txBody>
      </p:sp>
      <p:sp>
        <p:nvSpPr>
          <p:cNvPr id="59" name="">
            <a:extLst xmlns:a="http://schemas.openxmlformats.org/drawingml/2006/main">
              <a:ext uri="{FF2B5EF4-FFF2-40B4-BE49-F238E27FC236}">
                <a16:creationId xmlns:a16="http://schemas.microsoft.com/office/drawing/2014/main" id="{95205FCC-FE4E-4105-AA83-3D89FDFF9B1D}"/>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기존 분석의 코스 제안 · 웹의 권역별 테마 목록과 구분</a:t>
            </a:r>
          </a:p>
        </p:txBody>
      </p:sp>
      <p:sp>
        <p:nvSpPr>
          <p:cNvPr id="60" name="">
            <a:extLst xmlns:a="http://schemas.openxmlformats.org/drawingml/2006/main">
              <a:ext uri="{FF2B5EF4-FFF2-40B4-BE49-F238E27FC236}">
                <a16:creationId xmlns:a16="http://schemas.microsoft.com/office/drawing/2014/main" id="{5CAC601F-B23D-498A-BE3D-9E947ED3B5C9}"/>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C85B6EC-6948-41F4-BBB4-FB8936B22E37}"/>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08 / 11</a:t>
            </a:r>
          </a:p>
        </p:txBody>
      </p:sp>
      <p:graphicFrame>
        <p:nvGraphicFramePr>
          <p:cNvPr id="129" name=""/>
          <p:cNvGraphicFramePr/>
          <p:nvPr/>
        </p:nvGraphicFramePr>
        <p:xfrm>
          <a:off xmlns:a="http://schemas.openxmlformats.org/drawingml/2006/main" x="3048000" y="3448050"/>
          <a:ext xmlns:a="http://schemas.openxmlformats.org/drawingml/2006/main" cx="11506200" cy="2476500"/>
        </p:xfrm>
        <a:graphic xmlns:a="http://schemas.openxmlformats.org/drawingml/2006/main">
          <a:graphicData uri="http://schemas.openxmlformats.org/drawingml/2006/table">
            <a:tbl>
              <a:tblPr/>
              <a:tblGrid>
                <a:gridCol w="1524000"/>
                <a:gridCol w="7524750"/>
                <a:gridCol w="2457450"/>
              </a:tblGrid>
              <a:tr h="619125">
                <a:tc>
                  <a:txBody>
                    <a:bodyPr/>
                    <a:lstStyle/>
                    <a:p>
                      <a:r>
                        <a:rPr sz="1725" b="1">
                          <a:solidFill>
                            <a:srgbClr val="37352F"/>
                          </a:solidFill>
                          <a:latin typeface="Malgun Gothic"/>
                          <a:ea typeface="Malgun Gothic"/>
                          <a:cs typeface="Malgun Gothic"/>
                        </a:rPr>
                        <a:t>권역</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포함 상권</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근사 거리·시간</a:t>
                      </a:r>
                    </a:p>
                  </a:txBody>
                  <a:tcPr marL="85725" marR="85725" marT="28575" marB="28575">
                    <a:solidFill>
                      <a:srgbClr val="F1F1EF"/>
                    </a:solidFill>
                  </a:tcPr>
                </a:tc>
              </a:tr>
              <a:tr h="619125">
                <a:tc>
                  <a:txBody>
                    <a:bodyPr/>
                    <a:lstStyle/>
                    <a:p>
                      <a:r>
                        <a:rPr sz="1725" b="0">
                          <a:solidFill>
                            <a:srgbClr val="37352F"/>
                          </a:solidFill>
                          <a:latin typeface="Malgun Gothic"/>
                          <a:ea typeface="Malgun Gothic"/>
                          <a:cs typeface="Malgun Gothic"/>
                        </a:rPr>
                        <a:t>A 회기</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회기역 1번 · 회기시장 · 시조사삼거리</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886m · 11분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B 이문</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외대앞역 1번 · 청량초등학교 · 이경시장</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1,147m · 14분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C 전농</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서울시립대 · 시립대앞사거리 · 전곡마을마당공원</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990m · 12분</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D6022944-AACD-4C4B-B6E4-97663DCDF487}"/>
              </a:ext>
            </a:extLst>
          </p:cNvPr>
          <p:cNvSpPr>
            <a:spLocks xmlns:a="http://schemas.openxmlformats.org/drawingml/2006/main" noGrp="1"/>
          </p:cNvSpPr>
          <p:nvPr/>
        </p:nvSpPr>
        <p:spPr>
          <a:xfrm xmlns:a="http://schemas.openxmlformats.org/drawingml/2006/main">
            <a:off x="3048000" y="63150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9 / 16곳 포함</a:t>
            </a:r>
          </a:p>
        </p:txBody>
      </p:sp>
      <p:sp>
        <p:nvSpPr>
          <p:cNvPr id="64" name="">
            <a:extLst xmlns:a="http://schemas.openxmlformats.org/drawingml/2006/main">
              <a:ext uri="{FF2B5EF4-FFF2-40B4-BE49-F238E27FC236}">
                <a16:creationId xmlns:a16="http://schemas.microsoft.com/office/drawing/2014/main" id="{F45C4A5A-B6D6-4709-953A-35980CA83858}"/>
              </a:ext>
            </a:extLst>
          </p:cNvPr>
          <p:cNvSpPr>
            <a:spLocks xmlns:a="http://schemas.openxmlformats.org/drawingml/2006/main" noGrp="1"/>
          </p:cNvSpPr>
          <p:nvPr/>
        </p:nvSpPr>
        <p:spPr>
          <a:xfrm xmlns:a="http://schemas.openxmlformats.org/drawingml/2006/main">
            <a:off x="9001125" y="6315075"/>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소외도 합의 약 70.3%</a:t>
            </a:r>
          </a:p>
        </p:txBody>
      </p:sp>
      <p:sp>
        <p:nvSpPr>
          <p:cNvPr id="65" name="">
            <a:extLst xmlns:a="http://schemas.openxmlformats.org/drawingml/2006/main">
              <a:ext uri="{FF2B5EF4-FFF2-40B4-BE49-F238E27FC236}">
                <a16:creationId xmlns:a16="http://schemas.microsoft.com/office/drawing/2014/main" id="{EB9385D7-3058-451E-8D58-5A6E4CB3B817}"/>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6B944922-D070-4489-B9C0-70B445D54B47}"/>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6417B42E-7DE9-4C3D-88E6-BA556721D26F}"/>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대표점 직선거리 × 1.25, 보행속도 80m/분 가정 · 현장 경로 확인 필요</a:t>
            </a:r>
          </a:p>
        </p:txBody>
      </p:sp>
    </p:spTree>
    <p:extLst>
      <p:ext uri="{BB962C8B-B14F-4D97-AF65-F5344CB8AC3E}">
        <p14:creationId xmlns:p14="http://schemas.microsoft.com/office/powerpoint/2010/main" val="16457280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D8D39AD2-BC80-4E84-875C-6E6269525EB5}"/>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C278A5-DB69-4AC5-B01C-FF3235971A14}"/>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D39E03-D48A-46E8-9677-EE2D8336CB2F}"/>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16734063-3B8F-4383-8936-4220C3900945}"/>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4E99F01-9637-467D-88CF-43577F410321}"/>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8080FED6-83B9-4817-B57D-70F9F8CFC6C8}"/>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88AF4D1E-D409-423D-B839-BA4E7454FD18}"/>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43B0943C-A233-4AD9-8A00-5FDD45D95FEB}"/>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744EB323-3938-4E03-83F3-181277B7E234}"/>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D0C29097-C081-4B08-9D1F-BA342A0BE981}"/>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F4BDF4-07C5-4D87-B578-C3ADB9011D7A}"/>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97E57D2-4759-4399-850D-4F1C34E35F8F}"/>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FAF39F-5324-4602-9B44-DF376B827BCA}"/>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E8826DF0-0171-41E3-B17C-EE877A473F59}"/>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457E875E-2F2A-418E-8F03-544FAE1B760B}"/>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A9D4A2-C0DF-4C19-A141-C78C5AEA4E4F}"/>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DCFC256-4108-48BD-80CD-8F2AFD1FCE70}"/>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F27BFA3-9E58-4E8E-A5DD-6D45D5D28E17}"/>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80FD052-6DD0-43AB-BE89-99307F5043B2}"/>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E015D484-2C75-48E4-98CA-1BF2CB9483A0}"/>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358684D-4E29-4A0A-94F4-D98EB0DC9A51}"/>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5BAAAC2-2EF4-4CF3-9456-28A536F256B0}"/>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DA5CB88-269F-4253-A3B3-188ABE0DFE69}"/>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EFCA6ED7-49EB-4893-ABF8-9A5DC0CA12AD}"/>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66461691-A195-4A3E-A08D-F5FB7934F221}"/>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F012E96-29AF-42EF-B094-87F21364F489}"/>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835AC15-6AC1-4F1D-8F75-177EFD39AFFE}"/>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94723D3-251C-45B4-A413-B051700DEE34}"/>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FC70E24B-D103-44A4-8591-F57FBC357DEB}"/>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B3EA92BC-3913-4959-A15B-63AC13A4324B}"/>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A295B02-FB78-4A06-9A6C-24E195426F69}"/>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9F9C280-C2FE-4053-8A86-C51C2BBA14AC}"/>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585797D-0C83-4665-943D-F7C80535F923}"/>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5EDB59D2-21F6-4AEC-9B63-EB761A53E3AA}"/>
              </a:ext>
            </a:extLst>
          </p:cNvPr>
          <p:cNvSpPr>
            <a:spLocks xmlns:a="http://schemas.openxmlformats.org/drawingml/2006/main" noGrp="1"/>
          </p:cNvSpPr>
          <p:nvPr/>
        </p:nvSpPr>
        <p:spPr>
          <a:xfrm xmlns:a="http://schemas.openxmlformats.org/drawingml/2006/main">
            <a:off x="95250" y="50101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780A647-6C1B-4654-AB7A-C7076ABC0147}"/>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02C9D076-275C-4292-A305-EB72FF36BFDC}"/>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D00A408-0BD6-459C-ABC0-62A7C3123203}"/>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E72788C-0E6F-4CFE-A00E-B7B343D3B41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1057CCA-F55E-4478-871A-C569E0909320}"/>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536A1E35-CE0B-40D0-8FB9-62295BF436CE}"/>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F3B16ABA-969A-4201-A436-7C20D2E7B6A4}"/>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D74567F-26BD-424F-B114-16EC7BD46517}"/>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7DFDFA2-45E1-4518-877B-05E5131B104E}"/>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FCD1CAE-00AD-44E0-A14E-6776AA27E052}"/>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B3D9ABFF-162F-41F8-8908-3C2BD31CC44C}"/>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F72BF405-B898-4164-9695-DB956AC3EC68}"/>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32990EB-B152-4011-AD95-6127F3045F1D}"/>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5E4A807-EFBC-4BEA-BDEE-C0DE6FBE752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0750FA6-55AA-4CDB-89C6-FB6B1C8712BD}"/>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8BBE6935-36D0-4FD6-9C9F-37AD4DFEA3BC}"/>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CE933A4A-F81F-4FF7-B07B-A91110D1F3E6}"/>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C44819C-4FB4-404B-9585-9B0DA1DDD38C}"/>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방문객 웹 가이드</a:t>
            </a:r>
          </a:p>
        </p:txBody>
      </p:sp>
      <p:sp>
        <p:nvSpPr>
          <p:cNvPr id="53" name="">
            <a:extLst xmlns:a="http://schemas.openxmlformats.org/drawingml/2006/main">
              <a:ext uri="{FF2B5EF4-FFF2-40B4-BE49-F238E27FC236}">
                <a16:creationId xmlns:a16="http://schemas.microsoft.com/office/drawing/2014/main" id="{DE22C8E9-5D9B-4E58-8F20-7EE3A89E18D8}"/>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25AB9A7E-A443-4EF9-A923-89687B63C530}"/>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C3E74810-2147-4EED-BFC9-B434D309D4C1}"/>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3209970-3B45-44B2-841F-AA8931542FF9}"/>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76F0DD10-F637-4583-8546-5E239107121B}"/>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8CA64B11-550C-4189-985D-BC1ED9EAA1C8}"/>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방문객 웹 가이드</a:t>
            </a:r>
          </a:p>
        </p:txBody>
      </p:sp>
      <p:sp>
        <p:nvSpPr>
          <p:cNvPr id="59" name="">
            <a:extLst xmlns:a="http://schemas.openxmlformats.org/drawingml/2006/main">
              <a:ext uri="{FF2B5EF4-FFF2-40B4-BE49-F238E27FC236}">
                <a16:creationId xmlns:a16="http://schemas.microsoft.com/office/drawing/2014/main" id="{E080BCEC-DE3F-40AC-BAAF-61E5960C85DA}"/>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취향 추천에서 상권별 배정 근거까지</a:t>
            </a:r>
          </a:p>
        </p:txBody>
      </p:sp>
      <p:sp>
        <p:nvSpPr>
          <p:cNvPr id="60" name="">
            <a:extLst xmlns:a="http://schemas.openxmlformats.org/drawingml/2006/main">
              <a:ext uri="{FF2B5EF4-FFF2-40B4-BE49-F238E27FC236}">
                <a16:creationId xmlns:a16="http://schemas.microsoft.com/office/drawing/2014/main" id="{27CF66E7-4FEF-4832-8C92-AF60E6C08E3F}"/>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FF87A43-8CDC-402C-9F83-EC63357854AF}"/>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09 / 11</a:t>
            </a:r>
          </a:p>
        </p:txBody>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77a4093deb464c28"/>
          <a:stretch xmlns:a="http://schemas.openxmlformats.org/drawingml/2006/main"/>
        </p:blipFill>
        <p:spPr>
          <a:xfrm xmlns:a="http://schemas.openxmlformats.org/drawingml/2006/main">
            <a:off x="3722370" y="3371850"/>
            <a:ext cx="4937760" cy="3429000"/>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92cbe198853b4e17"/>
          <a:stretch xmlns:a="http://schemas.openxmlformats.org/drawingml/2006/main"/>
        </p:blipFill>
        <p:spPr>
          <a:xfrm xmlns:a="http://schemas.openxmlformats.org/drawingml/2006/main">
            <a:off x="9844052" y="3333750"/>
            <a:ext cx="4543495" cy="3743325"/>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5D1904FD-3FDC-499E-A424-1BF39ED4822B}"/>
              </a:ext>
            </a:extLst>
          </p:cNvPr>
          <p:cNvSpPr>
            <a:spLocks xmlns:a="http://schemas.openxmlformats.org/drawingml/2006/main" noGrp="1"/>
          </p:cNvSpPr>
          <p:nvPr/>
        </p:nvSpPr>
        <p:spPr>
          <a:xfrm xmlns:a="http://schemas.openxmlformats.org/drawingml/2006/main">
            <a:off x="3048000" y="7305675"/>
            <a:ext cx="11506200" cy="6477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7190FFE4-A030-47DE-B699-55AD6ACCB4EB}"/>
              </a:ext>
            </a:extLst>
          </p:cNvPr>
          <p:cNvSpPr>
            <a:spLocks xmlns:a="http://schemas.openxmlformats.org/drawingml/2006/main" noGrp="1"/>
          </p:cNvSpPr>
          <p:nvPr/>
        </p:nvSpPr>
        <p:spPr>
          <a:xfrm xmlns:a="http://schemas.openxmlformats.org/drawingml/2006/main">
            <a:off x="3238500" y="7429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1D3C6472-4FAA-4C0F-BE61-E4E470BD41AC}"/>
              </a:ext>
            </a:extLst>
          </p:cNvPr>
          <p:cNvSpPr>
            <a:spLocks xmlns:a="http://schemas.openxmlformats.org/drawingml/2006/main" noGrp="1"/>
          </p:cNvSpPr>
          <p:nvPr/>
        </p:nvSpPr>
        <p:spPr>
          <a:xfrm xmlns:a="http://schemas.openxmlformats.org/drawingml/2006/main">
            <a:off x="3714750" y="74199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취향 추천과 정책 배정을 구분하고, 상권 상세에서 배정 근거를 확인</a:t>
            </a:r>
          </a:p>
        </p:txBody>
      </p:sp>
    </p:spTree>
    <p:extLst>
      <p:ext uri="{BB962C8B-B14F-4D97-AF65-F5344CB8AC3E}">
        <p14:creationId xmlns:p14="http://schemas.microsoft.com/office/powerpoint/2010/main" val="19603896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5011478F-B2AD-43DA-ACF9-7383AB7556C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DEAABC-DABF-485D-8559-64739FA0875D}"/>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75E65C-EC34-4480-95C4-7FE151E9D2B2}"/>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AC45DA4-C9F8-469D-9BEC-259F82B86F9B}"/>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1D7C0E8-473E-4187-A666-CB8DC564667E}"/>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8719E9E6-D0AE-484E-8053-77D71503C024}"/>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C681E670-0A0C-4443-8EAB-E49A46DE9F03}"/>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2024B228-0309-46DF-AB03-087004FADEE8}"/>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6CF2F08-1B00-4814-B64D-3C685A72B563}"/>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77ED1AC0-20AD-41DC-8524-1D3040FCD4C8}"/>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A6AE564-356E-406E-B096-DA65EA878907}"/>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909BE9-39A9-460C-BA3B-8B8D338A6D52}"/>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14E1F29-E558-41D1-80A4-7EE258E99389}"/>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E53DCFE1-539B-4C22-8BB4-EBBF7F3A1F40}"/>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A1893E76-FF0F-4889-849B-6B86C18C7823}"/>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62C2856-C5D0-4D0E-9C2B-697464589463}"/>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C8BCAD6-E87D-471E-B4AB-FF2B1FA0F8CB}"/>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E1B9CD-2EAF-41CD-AD99-3ED574AED8ED}"/>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A93716F4-D7A3-4B2D-97F4-FED4E179E9EB}"/>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8EC8F341-74F8-43BA-BF0B-0D4D08B2ED4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DF2623A-EF85-4CA2-B933-26955C0738CD}"/>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A1F7F13-5201-48F4-9DF0-55D45BAC90A7}"/>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2455B5E-3633-4698-969E-AFBEAD3FBA39}"/>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DC485E08-85F0-43D9-8AB1-8A8F2C541549}"/>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992D2F97-4D6C-42F3-A302-8FB7F47DAB45}"/>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BE3203F-1565-4C60-9A60-03A3949D54BC}"/>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0AF8208-78BB-40AE-92B5-D46E51D71B12}"/>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CAB6AB5-AC90-40CF-905F-DF5E0104EA9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5A8C17E9-3E19-484D-A5D9-31B4243F7A46}"/>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257D96E8-9E41-46A2-8ED1-5E605DC11A48}"/>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FC11699-C552-41D4-8A2F-452CD9EF76D9}"/>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FFB08B6-7F7F-45E5-B823-31683AAA35AB}"/>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A5B4F48-9ACC-482B-91E2-464C69A60B35}"/>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6D1C8B5B-F00E-4FC4-BFB0-49427361F34E}"/>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A25C7A91-AAA5-4F2A-964A-2B958D46773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C759E7D-8DC4-41C6-99F2-4B8659DA779F}"/>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9CD2C0D-EABC-459B-BF8D-395FDA0954BC}"/>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E9E1AE3-6F90-4818-8605-6F743EE28199}"/>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F68A6067-F293-4C48-B642-7DF31116382D}"/>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0A6A82A-FB80-4A83-A95D-CC06CBE8C679}"/>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8D79C128-D06F-4EE6-932D-888F3519F6D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738ABFE-F6A8-404A-900F-AA01396D217A}"/>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8213C4D-C5A1-4926-81C7-91D091B584E6}"/>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B6CA582-10D6-473A-8A26-9B15B0076D4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5B22335A-C44C-4CB8-BFEA-4874CAA506C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53B9ACC4-BC6C-488A-A694-317250EB203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5E4EF89-FAEE-48EC-9D91-387CCB20A23F}"/>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5BE1100-67FF-4B1F-9224-138138A9CEF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5C868E3-C099-42F1-B619-72BBA5B519B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09395357-580B-468A-9E76-7020DF3BD4F4}"/>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1E6335F5-C861-4602-ADA9-13097AE87BE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EC43D4E6-9A7E-4BF3-A5F3-95B7DA0296F5}"/>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운영과 성과 측정</a:t>
            </a:r>
          </a:p>
        </p:txBody>
      </p:sp>
      <p:sp>
        <p:nvSpPr>
          <p:cNvPr id="53" name="">
            <a:extLst xmlns:a="http://schemas.openxmlformats.org/drawingml/2006/main">
              <a:ext uri="{FF2B5EF4-FFF2-40B4-BE49-F238E27FC236}">
                <a16:creationId xmlns:a16="http://schemas.microsoft.com/office/drawing/2014/main" id="{A745A992-DC6B-44D9-AD3E-84DD528D2769}"/>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6E06DD4-B3B4-463F-9F45-36A57D6DD4B9}"/>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FF70BE5-2610-4F1E-8192-42B07A4E6C7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A83E4796-269E-42E6-851A-61C385053F50}"/>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37C5DC6-2A41-4C2F-8969-6059F8A5903B}"/>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D115C170-AD2F-4F10-BC3E-49065B181215}"/>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운영과 성과 측정</a:t>
            </a:r>
          </a:p>
        </p:txBody>
      </p:sp>
      <p:sp>
        <p:nvSpPr>
          <p:cNvPr id="59" name="">
            <a:extLst xmlns:a="http://schemas.openxmlformats.org/drawingml/2006/main">
              <a:ext uri="{FF2B5EF4-FFF2-40B4-BE49-F238E27FC236}">
                <a16:creationId xmlns:a16="http://schemas.microsoft.com/office/drawing/2014/main" id="{94BFDAD2-EA3F-46A6-B3ED-B0FD416BB7AD}"/>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행사 전 협의부터 사후 평가까지의 실행 제안</a:t>
            </a:r>
          </a:p>
        </p:txBody>
      </p:sp>
      <p:sp>
        <p:nvSpPr>
          <p:cNvPr id="60" name="">
            <a:extLst xmlns:a="http://schemas.openxmlformats.org/drawingml/2006/main">
              <a:ext uri="{FF2B5EF4-FFF2-40B4-BE49-F238E27FC236}">
                <a16:creationId xmlns:a16="http://schemas.microsoft.com/office/drawing/2014/main" id="{2B302696-E9A2-4298-B554-4ACAF275F10E}"/>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DB20B7D-5FB6-4CE4-85D5-6B79E53D2122}"/>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10 / 11</a:t>
            </a:r>
          </a:p>
        </p:txBody>
      </p:sp>
      <p:graphicFrame>
        <p:nvGraphicFramePr>
          <p:cNvPr id="128" name=""/>
          <p:cNvGraphicFramePr/>
          <p:nvPr/>
        </p:nvGraphicFramePr>
        <p:xfrm>
          <a:off xmlns:a="http://schemas.openxmlformats.org/drawingml/2006/main" x="3048000" y="3343275"/>
          <a:ext xmlns:a="http://schemas.openxmlformats.org/drawingml/2006/main" cx="5286375" cy="3333750"/>
        </p:xfrm>
        <a:graphic xmlns:a="http://schemas.openxmlformats.org/drawingml/2006/main">
          <a:graphicData uri="http://schemas.openxmlformats.org/drawingml/2006/table">
            <a:tbl>
              <a:tblPr/>
              <a:tblGrid>
                <a:gridCol w="1476375"/>
                <a:gridCol w="3810000"/>
              </a:tblGrid>
              <a:tr h="666750">
                <a:tc>
                  <a:txBody>
                    <a:bodyPr/>
                    <a:lstStyle/>
                    <a:p>
                      <a:r>
                        <a:rPr sz="1800" b="1">
                          <a:solidFill>
                            <a:srgbClr val="37352F"/>
                          </a:solidFill>
                          <a:latin typeface="Malgun Gothic"/>
                          <a:ea typeface="Malgun Gothic"/>
                          <a:cs typeface="Malgun Gothic"/>
                        </a:rPr>
                        <a:t>시점</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실행</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4주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상권·상인 협의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2~3주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제휴 모집·경로 확인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1주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쿠폰·집계 점검</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당일·이후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방문 안내·운영·평가</a:t>
                      </a:r>
                    </a:p>
                  </a:txBody>
                  <a:tcPr marL="85725" marR="85725" marT="28575" marB="28575">
                    <a:solidFill>
                      <a:srgbClr val="FFFFFF"/>
                    </a:solidFill>
                  </a:tcPr>
                </a:tc>
              </a:tr>
            </a:tbl>
          </a:graphicData>
        </a:graphic>
      </p:graphicFrame>
      <p:graphicFrame>
        <p:nvGraphicFramePr>
          <p:cNvPr id="129" name=""/>
          <p:cNvGraphicFramePr/>
          <p:nvPr/>
        </p:nvGraphicFramePr>
        <p:xfrm>
          <a:off xmlns:a="http://schemas.openxmlformats.org/drawingml/2006/main" x="8686800" y="3343275"/>
          <a:ext xmlns:a="http://schemas.openxmlformats.org/drawingml/2006/main" cx="5867400" cy="3333750"/>
        </p:xfrm>
        <a:graphic xmlns:a="http://schemas.openxmlformats.org/drawingml/2006/main">
          <a:graphicData uri="http://schemas.openxmlformats.org/drawingml/2006/table">
            <a:tbl>
              <a:tblPr/>
              <a:tblGrid>
                <a:gridCol w="1809750"/>
                <a:gridCol w="4057650"/>
              </a:tblGrid>
              <a:tr h="666750">
                <a:tc>
                  <a:txBody>
                    <a:bodyPr/>
                    <a:lstStyle/>
                    <a:p>
                      <a:r>
                        <a:rPr sz="1800" b="1">
                          <a:solidFill>
                            <a:srgbClr val="37352F"/>
                          </a:solidFill>
                          <a:latin typeface="Malgun Gothic"/>
                          <a:ea typeface="Malgun Gothic"/>
                          <a:cs typeface="Malgun Gothic"/>
                        </a:rPr>
                        <a:t>지표</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측정</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모집 실적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확정 수 / 배정 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방문·완주</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중복을 구분한 인증 로그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소비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동의 매장·비교집단 검토</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재참여</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상인 설문·운영 회고</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3BFEB527-4A0A-441C-9667-3B10F3BD8D69}"/>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EA2F8653-A707-4DF9-8FB2-2AB0E90C4C70}"/>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D9A2D54E-723E-4A81-9531-D3191E095AF9}"/>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대학·상인회·관계 기관·분석팀 역할 협의 · 인력·쿠폰 등의 비용은 별도 산정</a:t>
            </a:r>
          </a:p>
        </p:txBody>
      </p:sp>
    </p:spTree>
    <p:extLst>
      <p:ext uri="{BB962C8B-B14F-4D97-AF65-F5344CB8AC3E}">
        <p14:creationId xmlns:p14="http://schemas.microsoft.com/office/powerpoint/2010/main" val="16941787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4EAB49BD-1D0A-4A29-8422-3528D5518F42}"/>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C44531-3092-4D62-A1EA-0CC1ADA06C83}"/>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390E73-74FE-4857-8935-ACF903D18029}"/>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A9C18127-6D7F-447F-9A67-55568543672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F51748DA-DD7D-4832-B838-1342FF2C93A6}"/>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7266EF38-C18A-452C-9D49-3AB36D744CEC}"/>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C699B540-B5C3-4C7A-81A7-459905FD3459}"/>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C204D8FC-72C5-40A2-93D8-0D2463BF1DDF}"/>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0E586E72-85EC-405A-9688-C9F102EA84BB}"/>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DBF165C5-5E80-4303-AEBF-AE846CFF281F}"/>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89BB13-D1FC-4862-A4A7-DD16CF53BA30}"/>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F648AC6-B107-418D-8702-44F687803FAA}"/>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DF452F7-ECF7-45B6-BD21-336405E6990C}"/>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AD913FD7-8047-467A-999F-8BF1F4D51676}"/>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D1D568A6-2848-44C0-895F-F52157169429}"/>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3D42BE-801D-4F80-A338-6EF2CB40B549}"/>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E550DD5-4D2A-40BC-B4A3-DAADCC543966}"/>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BB0191-350E-470D-840A-0EE12657ABA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95D90F90-26FF-4DE6-AA96-3CA33DF2BE14}"/>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146A92EC-86F7-4EC7-8937-29D15D7F4A84}"/>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5C8CD22-7488-4222-B6B3-B846AC51CBA1}"/>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0744127-BAC6-4CE3-B2AB-56A14B78737E}"/>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7608AE7-F4AC-430E-82FE-5AAB900D4EA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59080858-3828-47D6-9AFE-0519BDB5295C}"/>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91E0DE9E-A88E-490E-97C7-AFC97F021F5E}"/>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141DB30-F5BD-4292-B150-B03CBEC90AE9}"/>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12DB0EA-3402-4677-81AE-4FB049F2CCF4}"/>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125B472-6BC7-45F9-8C1C-4DD29868AE68}"/>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AC881C5F-B5A8-471E-9C1E-377228B13CB6}"/>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DFBB82CE-7427-4663-83C3-AE5BE0908A56}"/>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611A50C-2729-4038-AC35-E5930D4DB275}"/>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140AEA5-B3B3-4C3F-B369-DECF2A2E0EF3}"/>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CEBB48D-AF9A-42C8-BDF4-22F80818D3D8}"/>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B397C432-0696-4A37-A502-F89245AE3752}"/>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263600FD-236C-48CE-AC32-C5A95BF8BFB8}"/>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6652E36-2568-4F74-935C-C3733F959A43}"/>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AAB7787-49C7-43E6-B6C5-A4FA8727E46E}"/>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6A26B81-31EF-4455-B3C1-82F2D197596D}"/>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9595A8F6-DE97-414F-9790-B8A8AEDB8A63}"/>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D7D8409-C1F1-4C06-B483-992A98CDB607}"/>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E10F3450-580B-4AF9-A639-6E36B965E667}"/>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822B549-0FDE-4BEE-8551-B184475689B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949880A-EBDA-4D5E-9E8B-1B2870FA8EB4}"/>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0B746AD-64EB-4A38-ABE4-7B7B56B8BB44}"/>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4B4A2E69-345E-493E-B6A6-B905C7116292}"/>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C3BBDF68-5163-484B-AB9A-A19FDF42039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32432D9-DCB1-45CD-8D15-76F029635841}"/>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D00F45C-D9C1-4428-A6EB-DD601ACDE4AA}"/>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6022471-8CA2-466E-B821-9E6FD26E510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5FF12764-766E-45E8-A58D-84EDBBEED781}"/>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22171CB5-CA40-4091-BAAD-0D3B2F4CA7E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30C4BEC9-D588-4285-A6FD-3F5872FAF60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시범 운영 제안</a:t>
            </a:r>
          </a:p>
        </p:txBody>
      </p:sp>
      <p:sp>
        <p:nvSpPr>
          <p:cNvPr id="53" name="">
            <a:extLst xmlns:a="http://schemas.openxmlformats.org/drawingml/2006/main">
              <a:ext uri="{FF2B5EF4-FFF2-40B4-BE49-F238E27FC236}">
                <a16:creationId xmlns:a16="http://schemas.microsoft.com/office/drawing/2014/main" id="{09C6A3DC-2466-424E-9D30-236EB117D3E8}"/>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130AE3DE-5C21-4DBE-93B0-5F2F9E091D07}"/>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C2ACC88-B71B-45AC-B28A-A88D8548178A}"/>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C6C8F3D-6BCA-4694-946F-670470E3FC93}"/>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78FB7ED3-4159-4BB2-98E6-1CE66C78E167}"/>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446716A-284B-4252-9141-AD1CBAB52A95}"/>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시범 운영 제안</a:t>
            </a:r>
          </a:p>
        </p:txBody>
      </p:sp>
      <p:sp>
        <p:nvSpPr>
          <p:cNvPr id="59" name="">
            <a:extLst xmlns:a="http://schemas.openxmlformats.org/drawingml/2006/main">
              <a:ext uri="{FF2B5EF4-FFF2-40B4-BE49-F238E27FC236}">
                <a16:creationId xmlns:a16="http://schemas.microsoft.com/office/drawing/2014/main" id="{64899527-74ED-4BAC-871A-60B11C6C700B}"/>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현장 검증과 제휴 협의를 위한 시범 운영</a:t>
            </a:r>
          </a:p>
        </p:txBody>
      </p:sp>
      <p:sp>
        <p:nvSpPr>
          <p:cNvPr id="60" name="">
            <a:extLst xmlns:a="http://schemas.openxmlformats.org/drawingml/2006/main">
              <a:ext uri="{FF2B5EF4-FFF2-40B4-BE49-F238E27FC236}">
                <a16:creationId xmlns:a16="http://schemas.microsoft.com/office/drawing/2014/main" id="{847FA474-3A62-44D1-9CAB-32C5A1222FF9}"/>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C5AB174-6916-4480-91A6-5D08F5A1BCBD}"/>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11 / 11</a:t>
            </a:r>
          </a:p>
        </p:txBody>
      </p:sp>
      <p:sp>
        <p:nvSpPr>
          <p:cNvPr id="62" name="">
            <a:extLst xmlns:a="http://schemas.openxmlformats.org/drawingml/2006/main">
              <a:ext uri="{FF2B5EF4-FFF2-40B4-BE49-F238E27FC236}">
                <a16:creationId xmlns:a16="http://schemas.microsoft.com/office/drawing/2014/main" id="{078CFB8C-5691-462B-9B4B-EF9FDF6A6904}"/>
              </a:ext>
            </a:extLst>
          </p:cNvPr>
          <p:cNvSpPr>
            <a:spLocks xmlns:a="http://schemas.openxmlformats.org/drawingml/2006/main" noGrp="1"/>
          </p:cNvSpPr>
          <p:nvPr/>
        </p:nvSpPr>
        <p:spPr>
          <a:xfrm xmlns:a="http://schemas.openxmlformats.org/drawingml/2006/main">
            <a:off x="3048000" y="3571875"/>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16개 상권</a:t>
            </a:r>
          </a:p>
        </p:txBody>
      </p:sp>
      <p:sp>
        <p:nvSpPr>
          <p:cNvPr id="63" name="">
            <a:extLst xmlns:a="http://schemas.openxmlformats.org/drawingml/2006/main">
              <a:ext uri="{FF2B5EF4-FFF2-40B4-BE49-F238E27FC236}">
                <a16:creationId xmlns:a16="http://schemas.microsoft.com/office/drawing/2014/main" id="{577D2487-972C-4D6E-A4CD-DF203C9D7D57}"/>
              </a:ext>
            </a:extLst>
          </p:cNvPr>
          <p:cNvSpPr>
            <a:spLocks xmlns:a="http://schemas.openxmlformats.org/drawingml/2006/main" noGrp="1"/>
          </p:cNvSpPr>
          <p:nvPr/>
        </p:nvSpPr>
        <p:spPr>
          <a:xfrm xmlns:a="http://schemas.openxmlformats.org/drawingml/2006/main">
            <a:off x="9020175" y="3571875"/>
            <a:ext cx="5429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60개 배정</a:t>
            </a:r>
          </a:p>
        </p:txBody>
      </p:sp>
      <p:sp>
        <p:nvSpPr>
          <p:cNvPr id="64" name="">
            <a:extLst xmlns:a="http://schemas.openxmlformats.org/drawingml/2006/main">
              <a:ext uri="{FF2B5EF4-FFF2-40B4-BE49-F238E27FC236}">
                <a16:creationId xmlns:a16="http://schemas.microsoft.com/office/drawing/2014/main" id="{78150D40-6983-431A-8667-282ADAAE94CC}"/>
              </a:ext>
            </a:extLst>
          </p:cNvPr>
          <p:cNvSpPr>
            <a:spLocks xmlns:a="http://schemas.openxmlformats.org/drawingml/2006/main" noGrp="1"/>
          </p:cNvSpPr>
          <p:nvPr/>
        </p:nvSpPr>
        <p:spPr>
          <a:xfrm xmlns:a="http://schemas.openxmlformats.org/drawingml/2006/main">
            <a:off x="3048000" y="4953000"/>
            <a:ext cx="11506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75" b="1">
                <a:solidFill>
                  <a:srgbClr val="487CA5"/>
                </a:solidFill>
                <a:latin typeface="Malgun Gothic"/>
                <a:ea typeface="Malgun Gothic"/>
                <a:cs typeface="Malgun Gothic"/>
              </a:defRPr>
            </a:pPr>
            <a:r>
              <a:rPr sz="3375" b="1">
                <a:solidFill>
                  <a:srgbClr val="487CA5"/>
                </a:solidFill>
                <a:latin typeface="Malgun Gothic"/>
                <a:ea typeface="Malgun Gothic"/>
                <a:cs typeface="Malgun Gothic"/>
              </a:rPr>
              <a:t>소외도 상위 5곳에 27개</a:t>
            </a:r>
          </a:p>
        </p:txBody>
      </p:sp>
      <p:sp>
        <p:nvSpPr>
          <p:cNvPr id="65" name="">
            <a:extLst xmlns:a="http://schemas.openxmlformats.org/drawingml/2006/main">
              <a:ext uri="{FF2B5EF4-FFF2-40B4-BE49-F238E27FC236}">
                <a16:creationId xmlns:a16="http://schemas.microsoft.com/office/drawing/2014/main" id="{18BAEB2A-386B-4D0A-AAD1-581EB34895FA}"/>
              </a:ext>
            </a:extLst>
          </p:cNvPr>
          <p:cNvSpPr>
            <a:spLocks xmlns:a="http://schemas.openxmlformats.org/drawingml/2006/main" noGrp="1"/>
          </p:cNvSpPr>
          <p:nvPr/>
        </p:nvSpPr>
        <p:spPr>
          <a:xfrm xmlns:a="http://schemas.openxmlformats.org/drawingml/2006/main">
            <a:off x="3048000" y="6038850"/>
            <a:ext cx="11506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참여 상점을 모집하고, 실제 방문과 소비 자료를 모아</a:t>
            </a:r>
          </a:p>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다음 행사 배정에 반영하겠습니다</a:t>
            </a:r>
          </a:p>
        </p:txBody>
      </p:sp>
      <p:sp>
        <p:nvSpPr>
          <p:cNvPr id="66" name="">
            <a:extLst xmlns:a="http://schemas.openxmlformats.org/drawingml/2006/main">
              <a:ext uri="{FF2B5EF4-FFF2-40B4-BE49-F238E27FC236}">
                <a16:creationId xmlns:a16="http://schemas.microsoft.com/office/drawing/2014/main" id="{EB516E36-78B9-4CDF-B31F-01992DA55D64}"/>
              </a:ext>
            </a:extLst>
          </p:cNvPr>
          <p:cNvSpPr>
            <a:spLocks xmlns:a="http://schemas.openxmlformats.org/drawingml/2006/main" noGrp="1"/>
          </p:cNvSpPr>
          <p:nvPr/>
        </p:nvSpPr>
        <p:spPr>
          <a:xfrm xmlns:a="http://schemas.openxmlformats.org/drawingml/2006/main">
            <a:off x="3048000" y="7391400"/>
            <a:ext cx="11506200" cy="5715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9EA1EDE1-AEE2-4B54-B196-D46400E0647B}"/>
              </a:ext>
            </a:extLst>
          </p:cNvPr>
          <p:cNvSpPr>
            <a:spLocks xmlns:a="http://schemas.openxmlformats.org/drawingml/2006/main" noGrp="1"/>
          </p:cNvSpPr>
          <p:nvPr/>
        </p:nvSpPr>
        <p:spPr>
          <a:xfrm xmlns:a="http://schemas.openxmlformats.org/drawingml/2006/main">
            <a:off x="3238500" y="7515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206E5C82-1124-4995-A0BB-F33CDD8CABE4}"/>
              </a:ext>
            </a:extLst>
          </p:cNvPr>
          <p:cNvSpPr>
            <a:spLocks xmlns:a="http://schemas.openxmlformats.org/drawingml/2006/main" noGrp="1"/>
          </p:cNvSpPr>
          <p:nvPr/>
        </p:nvSpPr>
        <p:spPr>
          <a:xfrm xmlns:a="http://schemas.openxmlformats.org/drawingml/2006/main">
            <a:off x="3714750" y="75057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시범 운영 기회를 요청드립니다</a:t>
            </a:r>
          </a:p>
        </p:txBody>
      </p:sp>
    </p:spTree>
    <p:extLst>
      <p:ext uri="{BB962C8B-B14F-4D97-AF65-F5344CB8AC3E}">
        <p14:creationId xmlns:p14="http://schemas.microsoft.com/office/powerpoint/2010/main" val="1048904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2DEEBB3A-7017-41C8-8615-849F50AECC76}"/>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2D0430-F667-4962-ACF7-5D88073E2B09}"/>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909DD0-0C9A-4354-9B7C-C9E00C99C840}"/>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67379FF8-5D7C-4327-A112-1FF2FFDAA65D}"/>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7DB64659-0792-4357-A39B-F0A20C9C129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C02E7EC5-B7DC-4CEC-89A8-E07E4FCAE773}"/>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8E7C0141-73B5-4F51-B0C7-FA7C0EB3D113}"/>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0E54E4B4-F35D-4E4C-8988-99EC683D93D7}"/>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1EE2672-BD7F-488A-BE68-9A8ABA61C89A}"/>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8B4EE9E6-B3A5-44CD-B15D-F6C6FCCCF963}"/>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84E711D-BACA-450E-903F-9E8BAF437D11}"/>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C6EF04-DB93-41D7-91F0-0728898421D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D39FBD9-7490-460B-8A79-C5DFDA7F7A3C}"/>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2850159B-D4B9-4B5A-BA12-32C99FE84BF0}"/>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37D3ECAF-6577-4AFC-885D-65C915D745D3}"/>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0C45EA4-312D-4FBA-9265-52D31B4836EF}"/>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72A9D9C-1BB1-4BCE-ABD1-8419C90E17E5}"/>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2DA638C-4781-4BE9-A1BD-FA2307B3E35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72109F9F-06A6-4668-A8C8-9F0E627C1044}"/>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109A75D2-73B1-4D3C-A3F1-8EE4EA01779F}"/>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999D2CF-5A5A-4E7B-AEEB-E1AB15CC75E7}"/>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84E3079-949E-441D-B8FC-5FA0BF33B0F5}"/>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40CF427-A922-465B-90AC-D7FADC670A19}"/>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6726712D-948F-4415-B30F-C2D6774EC136}"/>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230B3D13-C299-4C74-A280-2E5976416CF8}"/>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0039527-A198-4F0D-95BF-01507539249D}"/>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037EE8C-0471-4BA2-9AA7-3A5DD2326E1D}"/>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ECB506B-F519-4A88-BA1A-A1425278D96B}"/>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4C3EC3C4-4012-45A1-9669-F035B5E26D77}"/>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ECE7D466-8E6D-4F00-83C4-8C94ECFA4667}"/>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B5B4D7B-063B-4584-A4C5-33EE7C308E15}"/>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CBE5D67-D89E-4BC9-9FD6-2FF4230F8233}"/>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0E0CD0F-2D63-4FCA-BA26-C9D0F76640C7}"/>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DB32AA23-8F76-46FB-ABB0-D2784A5847CF}"/>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EA2A369D-DCBB-475E-8B52-E8F44C2F7CD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1AA714B-97DA-44F1-ABA9-2E139197056F}"/>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542A5FC-19DE-4707-A269-CD3901377CC1}"/>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500DD2C-C754-4CDF-871E-E03D5DBF60D0}"/>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E94C3EB9-31B7-45DD-9FA1-91FE6C895A5F}"/>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2E8478FC-A203-44F3-967C-A66D201529AE}"/>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E2D145F-E8BD-4740-A5AE-DE7DDE734EF9}"/>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D2AA3A7-D35D-4138-9FC0-A67D56F45EC7}"/>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1C4CE58-A5BB-4473-BB0B-3F9882A83EB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C58B0E3E-46F3-452F-9607-DC327117A6D9}"/>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1CC6E33-F6B1-4CB0-BBB7-A8F0D4AA9FD3}"/>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666F9BC0-3068-4B86-979D-B85B2B289A1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ADCC1C6-17A0-488F-9794-26CC19884ED6}"/>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05C527D-31CB-44C5-B9FE-58901EBE96F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AEE1691-C8AE-4079-96D5-FADE72E3015F}"/>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51057BE4-7C91-4E9A-9851-E2EBB7B0405E}"/>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CAAF8D5D-3106-4D57-BFAB-3E95FAEA1BB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A48068CF-F403-41A0-8762-8C94111E4376}"/>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전체 배정표</a:t>
            </a:r>
          </a:p>
        </p:txBody>
      </p:sp>
      <p:sp>
        <p:nvSpPr>
          <p:cNvPr id="53" name="">
            <a:extLst xmlns:a="http://schemas.openxmlformats.org/drawingml/2006/main">
              <a:ext uri="{FF2B5EF4-FFF2-40B4-BE49-F238E27FC236}">
                <a16:creationId xmlns:a16="http://schemas.microsoft.com/office/drawing/2014/main" id="{AE95063B-01E2-413A-9A26-B830B2DB3A1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EC8E252-DBB6-4C42-AC4A-7251EEE83C1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942107EB-0E6E-4239-B0F2-13A007C805EA}"/>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888C96AF-B1F2-40B7-8995-C4744BB99874}"/>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6E4978BC-CF0C-49EE-AB48-870CF7F7B289}"/>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154AE37-6592-405D-9C8D-24D9AD8A8BB9}"/>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전체 배정표</a:t>
            </a:r>
          </a:p>
        </p:txBody>
      </p:sp>
      <p:sp>
        <p:nvSpPr>
          <p:cNvPr id="59" name="">
            <a:extLst xmlns:a="http://schemas.openxmlformats.org/drawingml/2006/main">
              <a:ext uri="{FF2B5EF4-FFF2-40B4-BE49-F238E27FC236}">
                <a16:creationId xmlns:a16="http://schemas.microsoft.com/office/drawing/2014/main" id="{7E4A6165-3742-4414-A6D2-62294186140B}"/>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공개값 · D·L·R·M은 소수 셋째 자리 반올림</a:t>
            </a:r>
          </a:p>
        </p:txBody>
      </p:sp>
      <p:sp>
        <p:nvSpPr>
          <p:cNvPr id="60" name="">
            <a:extLst xmlns:a="http://schemas.openxmlformats.org/drawingml/2006/main">
              <a:ext uri="{FF2B5EF4-FFF2-40B4-BE49-F238E27FC236}">
                <a16:creationId xmlns:a16="http://schemas.microsoft.com/office/drawing/2014/main" id="{37835DF1-49F2-4BCF-A2AF-76719000AC79}"/>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7FF1FDE-8E75-48BA-8B84-44811830322D}"/>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A</a:t>
            </a:r>
          </a:p>
        </p:txBody>
      </p:sp>
      <p:graphicFrame>
        <p:nvGraphicFramePr>
          <p:cNvPr id="126" name=""/>
          <p:cNvGraphicFramePr/>
          <p:nvPr/>
        </p:nvGraphicFramePr>
        <p:xfrm>
          <a:off xmlns:a="http://schemas.openxmlformats.org/drawingml/2006/main" x="3048000" y="3524250"/>
          <a:ext xmlns:a="http://schemas.openxmlformats.org/drawingml/2006/main" cx="5600700" cy="3762375"/>
        </p:xfrm>
        <a:graphic xmlns:a="http://schemas.openxmlformats.org/drawingml/2006/main">
          <a:graphicData uri="http://schemas.openxmlformats.org/drawingml/2006/table">
            <a:tbl>
              <a:tblPr/>
              <a:tblGrid>
                <a:gridCol w="1866900"/>
                <a:gridCol w="609600"/>
                <a:gridCol w="609600"/>
                <a:gridCol w="609600"/>
                <a:gridCol w="609600"/>
                <a:gridCol w="647700"/>
                <a:gridCol w="647700"/>
              </a:tblGrid>
              <a:tr h="418042">
                <a:tc>
                  <a:txBody>
                    <a:bodyPr/>
                    <a:lstStyle/>
                    <a:p>
                      <a:r>
                        <a:rPr sz="1275" b="1">
                          <a:solidFill>
                            <a:srgbClr val="37352F"/>
                          </a:solidFill>
                          <a:latin typeface="Malgun Gothic"/>
                          <a:ea typeface="Malgun Gothic"/>
                          <a:cs typeface="Malgun Gothic"/>
                        </a:rPr>
                        <a:t>상권</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D</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L</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R</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M</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전</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후</a:t>
                      </a:r>
                    </a:p>
                  </a:txBody>
                  <a:tcPr marL="85725" marR="85725" marT="28575" marB="28575">
                    <a:solidFill>
                      <a:srgbClr val="F1F1EF"/>
                    </a:solidFill>
                  </a:tcPr>
                </a:tc>
              </a:tr>
              <a:tr h="418042">
                <a:tc>
                  <a:txBody>
                    <a:bodyPr/>
                    <a:lstStyle/>
                    <a:p>
                      <a:r>
                        <a:rPr sz="1275" b="0">
                          <a:solidFill>
                            <a:srgbClr val="37352F"/>
                          </a:solidFill>
                          <a:latin typeface="Malgun Gothic"/>
                          <a:ea typeface="Malgun Gothic"/>
                          <a:cs typeface="Malgun Gothic"/>
                        </a:rPr>
                        <a:t>시립대앞사거리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0.807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시조사삼거리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0.510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전곡마을마당공원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0.448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0.351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서울시립대</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0.970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0.340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bl>
          </a:graphicData>
        </a:graphic>
      </p:graphicFrame>
      <p:graphicFrame>
        <p:nvGraphicFramePr>
          <p:cNvPr id="127" name=""/>
          <p:cNvGraphicFramePr/>
          <p:nvPr/>
        </p:nvGraphicFramePr>
        <p:xfrm>
          <a:off xmlns:a="http://schemas.openxmlformats.org/drawingml/2006/main" x="8953500" y="3524250"/>
          <a:ext xmlns:a="http://schemas.openxmlformats.org/drawingml/2006/main" cx="5600700" cy="3762375"/>
        </p:xfrm>
        <a:graphic xmlns:a="http://schemas.openxmlformats.org/drawingml/2006/main">
          <a:graphicData uri="http://schemas.openxmlformats.org/drawingml/2006/table">
            <a:tbl>
              <a:tblPr/>
              <a:tblGrid>
                <a:gridCol w="1866900"/>
                <a:gridCol w="609600"/>
                <a:gridCol w="609600"/>
                <a:gridCol w="609600"/>
                <a:gridCol w="609600"/>
                <a:gridCol w="647700"/>
                <a:gridCol w="647700"/>
              </a:tblGrid>
              <a:tr h="418042">
                <a:tc>
                  <a:txBody>
                    <a:bodyPr/>
                    <a:lstStyle/>
                    <a:p>
                      <a:r>
                        <a:rPr sz="1275" b="1">
                          <a:solidFill>
                            <a:srgbClr val="37352F"/>
                          </a:solidFill>
                          <a:latin typeface="Malgun Gothic"/>
                          <a:ea typeface="Malgun Gothic"/>
                          <a:cs typeface="Malgun Gothic"/>
                        </a:rPr>
                        <a:t>상권</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D</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L</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R</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M</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전</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후</a:t>
                      </a:r>
                    </a:p>
                  </a:txBody>
                  <a:tcPr marL="85725" marR="85725" marT="28575" marB="28575">
                    <a:solidFill>
                      <a:srgbClr val="F1F1EF"/>
                    </a:solidFill>
                  </a:tcPr>
                </a:tc>
              </a:tr>
              <a:tr h="418042">
                <a:tc>
                  <a:txBody>
                    <a:bodyPr/>
                    <a:lstStyle/>
                    <a:p>
                      <a:r>
                        <a:rPr sz="1275" b="0">
                          <a:solidFill>
                            <a:srgbClr val="37352F"/>
                          </a:solidFill>
                          <a:latin typeface="Malgun Gothic"/>
                          <a:ea typeface="Malgun Gothic"/>
                          <a:cs typeface="Malgun Gothic"/>
                        </a:rPr>
                        <a:t>회기역</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0.695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0.301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청량초등학교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0.271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경희대후문</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삼육보건대학교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0.732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0.609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0.958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외대앞역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0.208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외대앞역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25FD62A4-96F2-47A4-8CDB-7323D4D88E72}"/>
              </a:ext>
            </a:extLst>
          </p:cNvPr>
          <p:cNvSpPr>
            <a:spLocks xmlns:a="http://schemas.openxmlformats.org/drawingml/2006/main" noGrp="1"/>
          </p:cNvSpPr>
          <p:nvPr/>
        </p:nvSpPr>
        <p:spPr>
          <a:xfrm xmlns:a="http://schemas.openxmlformats.org/drawingml/2006/main">
            <a:off x="3048000" y="7743825"/>
            <a:ext cx="11506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전: 기존 / 후: 최종. 기존 대상 50개 + 연계 10개 = 전체 60개, 최종 대상 60개 + 연계 0개 = 전체 60개</a:t>
            </a:r>
          </a:p>
        </p:txBody>
      </p:sp>
    </p:spTree>
    <p:extLst>
      <p:ext uri="{BB962C8B-B14F-4D97-AF65-F5344CB8AC3E}">
        <p14:creationId xmlns:p14="http://schemas.microsoft.com/office/powerpoint/2010/main" val="1161655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45230975-D206-4872-B554-3DF14407070D}"/>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ABD60A-F081-4C5B-A3F3-F9D341A5DC66}"/>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73740A-9CDA-4F0B-8D5A-000CC41C9BEF}"/>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EFACFBA1-5173-4FFD-95F2-81BB55582061}"/>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B85DBF20-F9A7-430A-AB6A-34159D2236FE}"/>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F103BCA3-1BCC-4986-A0A2-60509FD45A61}"/>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9D7CE1AB-7C3B-4FB2-B2F7-6C64FC059BCF}"/>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D2044651-4546-4DFD-87C5-623F7032D001}"/>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54890336-94F1-45BE-9662-D213D1CBFA89}"/>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43EB7C36-B644-4238-8DB3-28D1D072496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849886-EC46-4CCB-BE68-C105F2A23057}"/>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2491745-CF51-4518-B507-AD848954FE4D}"/>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4EFCB0A-8AAD-4E68-9D06-4764BD342656}"/>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6B98F112-71CA-445E-82E0-2A2A6B63232E}"/>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E28F5D8F-90C6-4B29-A09D-CBF66EF3CF67}"/>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074199-E4FC-477C-A530-2AF2D60619B6}"/>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B558B8-0880-4AA6-AABC-3058DAA9062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D67BC8F-2790-49D0-B139-582996351898}"/>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37511D41-11A3-4DA6-8E65-BD9C93699F08}"/>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F140D9C5-E164-4DB8-BA0F-7BABF55979C8}"/>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4593A84-E3D7-4C0F-B859-DC67A3E7F75F}"/>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E2320E9-3276-459D-99FF-E268231ACB67}"/>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515F581-8C9A-475B-940A-21754EC5F479}"/>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7BBCF34D-40C2-421B-97F1-867DF4BA3A45}"/>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712AE5C1-F623-414B-A32F-098D4B29D0D7}"/>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14E1F6A-6643-484D-B846-53AE59A664A9}"/>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3F2E5FB-A10B-4AA0-8566-11B7D0C79F5F}"/>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1F815C7-3A5A-4E41-BCCF-53AE6B5447E8}"/>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AC8456E5-5D7A-45E6-BB53-928B1D5EE0C9}"/>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55FC0A20-15E8-4E53-BF33-2DA93F1E271F}"/>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97CDC2B-9D59-45A5-9FDD-5C0A5DA84A7B}"/>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385A2F0-C8FA-4EE6-989C-44FCB0562FCE}"/>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3C47C0C-FF7A-4D29-A5D8-2C9052E6A88F}"/>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B575AE61-B1E0-4A03-B485-AB619E34BFC7}"/>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11815CB1-D387-4D23-8E34-96460783F5AC}"/>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3A38D5A-45ED-4C5F-8768-FBBF3CDDB833}"/>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9AEBAC3-654E-4D04-96F9-EA4300C2E19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BE8D8BC-A759-42ED-A1A8-05BE2EFB6CB3}"/>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4E5B65D7-5A1D-40ED-B5EF-668174388F30}"/>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17918C3C-4B9C-40D8-9C86-8088C5967B1F}"/>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E179FC5-D78F-4AA1-B4DB-6E842217386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3D6F7D6-EF20-4ED4-A26D-443D7B3D37AE}"/>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D539826-B3B9-43D0-837A-0A323F143421}"/>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76C01C4C-83AC-479F-A766-DF5824522F10}"/>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6B48D92-FADD-416F-8180-B1DCB00CCDA5}"/>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3E712B8C-7F54-4445-8407-95F658D67F45}"/>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43C4F31-DA9B-498E-98AE-70CE804FF5F0}"/>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089AF11-40E9-402E-8EAB-7C7A45FC2580}"/>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C421EF1-2CB3-4957-9584-579E3922A3AB}"/>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1953488D-5678-4395-A9C8-014447A71D86}"/>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628C5745-21F2-4A98-9B02-4C7492B7A5AE}"/>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709C4997-CB17-496A-A9C5-71D63EAB316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목적함수와 검증</a:t>
            </a:r>
          </a:p>
        </p:txBody>
      </p:sp>
      <p:sp>
        <p:nvSpPr>
          <p:cNvPr id="53" name="">
            <a:extLst xmlns:a="http://schemas.openxmlformats.org/drawingml/2006/main">
              <a:ext uri="{FF2B5EF4-FFF2-40B4-BE49-F238E27FC236}">
                <a16:creationId xmlns:a16="http://schemas.microsoft.com/office/drawing/2014/main" id="{93E2DD04-6E76-44B0-8826-079D8D36188F}"/>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C791FA0E-F623-4943-A757-F92457D77AFC}"/>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180F634-499C-40E9-8DF7-51E6601A22FD}"/>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066EF8C-B905-43C1-83EE-6A00BC67D253}"/>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BC74E41-2B98-44B6-B997-2DF9004C6B69}"/>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7EA6725C-448F-4672-8BFB-CBB61E213BBA}"/>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목적함수와 검증</a:t>
            </a:r>
          </a:p>
        </p:txBody>
      </p:sp>
      <p:sp>
        <p:nvSpPr>
          <p:cNvPr id="59" name="">
            <a:extLst xmlns:a="http://schemas.openxmlformats.org/drawingml/2006/main">
              <a:ext uri="{FF2B5EF4-FFF2-40B4-BE49-F238E27FC236}">
                <a16:creationId xmlns:a16="http://schemas.microsoft.com/office/drawing/2014/main" id="{B71D4670-23F8-40E8-A915-981354E53BF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주어진 목적함수와 제약 아래의 최적해</a:t>
            </a:r>
          </a:p>
        </p:txBody>
      </p:sp>
      <p:sp>
        <p:nvSpPr>
          <p:cNvPr id="60" name="">
            <a:extLst xmlns:a="http://schemas.openxmlformats.org/drawingml/2006/main">
              <a:ext uri="{FF2B5EF4-FFF2-40B4-BE49-F238E27FC236}">
                <a16:creationId xmlns:a16="http://schemas.microsoft.com/office/drawing/2014/main" id="{C447C7F2-25BB-4226-A05C-D1A0DD960DD7}"/>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21DD337-6DA7-479E-BB20-0CF96D6189D2}"/>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B</a:t>
            </a:r>
          </a:p>
        </p:txBody>
      </p:sp>
      <p:sp>
        <p:nvSpPr>
          <p:cNvPr id="62" name="">
            <a:extLst xmlns:a="http://schemas.openxmlformats.org/drawingml/2006/main">
              <a:ext uri="{FF2B5EF4-FFF2-40B4-BE49-F238E27FC236}">
                <a16:creationId xmlns:a16="http://schemas.microsoft.com/office/drawing/2014/main" id="{36CF1CF8-A9A2-4F5F-B1BC-B610A651CC26}"/>
              </a:ext>
            </a:extLst>
          </p:cNvPr>
          <p:cNvSpPr>
            <a:spLocks xmlns:a="http://schemas.openxmlformats.org/drawingml/2006/main" noGrp="1"/>
          </p:cNvSpPr>
          <p:nvPr/>
        </p:nvSpPr>
        <p:spPr>
          <a:xfrm xmlns:a="http://schemas.openxmlformats.org/drawingml/2006/main">
            <a:off x="3048000" y="3419475"/>
            <a:ext cx="11506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max Σ Mᵢ√kᵢ</a:t>
            </a:r>
          </a:p>
        </p:txBody>
      </p:sp>
      <p:sp>
        <p:nvSpPr>
          <p:cNvPr id="63" name="">
            <a:extLst xmlns:a="http://schemas.openxmlformats.org/drawingml/2006/main">
              <a:ext uri="{FF2B5EF4-FFF2-40B4-BE49-F238E27FC236}">
                <a16:creationId xmlns:a16="http://schemas.microsoft.com/office/drawing/2014/main" id="{10985973-1194-4F52-9256-48B7DE8A223C}"/>
              </a:ext>
            </a:extLst>
          </p:cNvPr>
          <p:cNvSpPr>
            <a:spLocks xmlns:a="http://schemas.openxmlformats.org/drawingml/2006/main" noGrp="1"/>
          </p:cNvSpPr>
          <p:nvPr/>
        </p:nvSpPr>
        <p:spPr>
          <a:xfrm xmlns:a="http://schemas.openxmlformats.org/drawingml/2006/main">
            <a:off x="3048000" y="4295775"/>
            <a:ext cx="11506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Σ kᵢ = 60    2 ≤ kᵢ ≤ min(6, ⌊0.20 × 점포 수⌋)</a:t>
            </a:r>
          </a:p>
        </p:txBody>
      </p:sp>
      <p:graphicFrame>
        <p:nvGraphicFramePr>
          <p:cNvPr id="129" name=""/>
          <p:cNvGraphicFramePr/>
          <p:nvPr/>
        </p:nvGraphicFramePr>
        <p:xfrm>
          <a:off xmlns:a="http://schemas.openxmlformats.org/drawingml/2006/main" x="3048000" y="5343525"/>
          <a:ext xmlns:a="http://schemas.openxmlformats.org/drawingml/2006/main" cx="11506200" cy="1752600"/>
        </p:xfrm>
        <a:graphic xmlns:a="http://schemas.openxmlformats.org/drawingml/2006/main">
          <a:graphicData uri="http://schemas.openxmlformats.org/drawingml/2006/table">
            <a:tbl>
              <a:tblPr/>
              <a:tblGrid>
                <a:gridCol w="5753100"/>
                <a:gridCol w="5753100"/>
              </a:tblGrid>
              <a:tr h="438150">
                <a:tc>
                  <a:txBody>
                    <a:bodyPr/>
                    <a:lstStyle/>
                    <a:p>
                      <a:r>
                        <a:rPr sz="1725" b="1">
                          <a:solidFill>
                            <a:srgbClr val="37352F"/>
                          </a:solidFill>
                          <a:latin typeface="Malgun Gothic"/>
                          <a:ea typeface="Malgun Gothic"/>
                          <a:cs typeface="Malgun Gothic"/>
                        </a:rPr>
                        <a:t>기록된 검증</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결과</a:t>
                      </a:r>
                    </a:p>
                  </a:txBody>
                  <a:tcPr marL="85725" marR="85725" marT="28575" marB="28575">
                    <a:solidFill>
                      <a:srgbClr val="F1F1EF"/>
                    </a:solidFill>
                  </a:tcPr>
                </a:tc>
              </a:tr>
              <a:tr h="438150">
                <a:tc>
                  <a:txBody>
                    <a:bodyPr/>
                    <a:lstStyle/>
                    <a:p>
                      <a:r>
                        <a:rPr sz="1725" b="0">
                          <a:solidFill>
                            <a:srgbClr val="37352F"/>
                          </a:solidFill>
                          <a:latin typeface="Malgun Gothic"/>
                          <a:ea typeface="Malgun Gothic"/>
                          <a:cs typeface="Malgun Gothic"/>
                        </a:rPr>
                        <a:t>DP와 탐욕 배정</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목적값 12.14232로 일치</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β 0.6~2.0/km 민감도</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상위 5곳 중 4~5곳 유지</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원본 입력·거리 파일</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현재 폴더에 없어 재실행하지 않음</a:t>
                      </a:r>
                    </a:p>
                  </a:txBody>
                  <a:tcPr marL="85725" marR="85725" marT="28575" marB="28575">
                    <a:solidFill>
                      <a:srgbClr val="FFFFFF"/>
                    </a:solidFill>
                  </a:tcPr>
                </a:tc>
              </a:tr>
            </a:tbl>
          </a:graphicData>
        </a:graphic>
      </p:graphicFrame>
      <p:sp>
        <p:nvSpPr>
          <p:cNvPr id="65" name="">
            <a:extLst xmlns:a="http://schemas.openxmlformats.org/drawingml/2006/main">
              <a:ext uri="{FF2B5EF4-FFF2-40B4-BE49-F238E27FC236}">
                <a16:creationId xmlns:a16="http://schemas.microsoft.com/office/drawing/2014/main" id="{A2186598-252A-493A-9C81-BEDAD885E215}"/>
              </a:ext>
            </a:extLst>
          </p:cNvPr>
          <p:cNvSpPr>
            <a:spLocks xmlns:a="http://schemas.openxmlformats.org/drawingml/2006/main" noGrp="1"/>
          </p:cNvSpPr>
          <p:nvPr/>
        </p:nvSpPr>
        <p:spPr>
          <a:xfrm xmlns:a="http://schemas.openxmlformats.org/drawingml/2006/main">
            <a:off x="3048000" y="75342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검증 기록. 실제 매출 효과의 최적성을 검증한 것이 아님</a:t>
            </a:r>
          </a:p>
        </p:txBody>
      </p:sp>
    </p:spTree>
    <p:extLst>
      <p:ext uri="{BB962C8B-B14F-4D97-AF65-F5344CB8AC3E}">
        <p14:creationId xmlns:p14="http://schemas.microsoft.com/office/powerpoint/2010/main" val="12687791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4EF40428-95CD-423F-A21F-E09667E8B26C}"/>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857BD1-607D-4E69-B8BA-4E22E1837F50}"/>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703F75-E7D8-4814-9B96-23234D837ABD}"/>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83ADD4B8-FADB-4A9C-80AD-1C0CF2CC5B51}"/>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D420B873-B6DD-47C1-B66B-3550C81D46BB}"/>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A35895CB-188D-4948-8302-E9C48F8719B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745F5C42-5D73-4A39-8801-74773F37E5BE}"/>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C898E15F-21B3-44A7-9795-DFC20805ADEE}"/>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40B25FA3-7CF7-468C-9D31-DC841ACED9EB}"/>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08490BC9-37AB-48D5-B35D-647107161175}"/>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6AA95C-BC1F-404E-B75B-8C2779CC465F}"/>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3004143-3B78-4054-BD6E-C01D7069C95D}"/>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AB79BF-9C51-4BAE-B640-AEB8016C8D11}"/>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D59488E6-5455-43EF-A690-2FC1325B185D}"/>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258DFF6C-59BA-4AA1-BD02-275C5A7EBDB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866840A-770E-4841-AE51-5759BB462809}"/>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8075506-4FC4-4CA3-945F-01E652241DB7}"/>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B0DB52-96A4-42DA-B81D-4B54E9F5996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590944BA-3DC9-4FB2-AAF5-402EF0D0506B}"/>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F476E5DD-B680-45AC-A9C1-B5D8700437BC}"/>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2764A68-D8B5-43A7-AD3F-FEF023071C22}"/>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B9919DA-CA8B-403B-B72F-A5E4F44E8D0A}"/>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F1A0E94-2651-4291-8458-F5605B64157E}"/>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43A2EC0F-1B3F-434C-B628-7A9C5CC81A3E}"/>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277AB3EF-615A-4333-9EB9-C275BBB142F2}"/>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523B2B6-C971-47A0-8761-96FF988E9B64}"/>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37573A2-913F-48DA-A433-AAE98E173FCC}"/>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480B018-E4A4-40D2-B542-4B6973B22EAC}"/>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5E8BC516-09E9-4D4A-B701-B3506ABB963D}"/>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D7606780-4BC0-4E78-847D-7423794F8835}"/>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90B77A6-AF38-461D-9396-EABD10EA24AF}"/>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594008A-9272-44A8-82B7-F2DF16EB22D1}"/>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74E56F2-20E6-4403-B619-EEBA7438A331}"/>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0D41DF3B-1CD8-46F9-A94F-E7F348CA9C7A}"/>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5BE9FFF7-CBAC-4423-8BA8-73A0634C9535}"/>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CF3409D-F7D7-401F-AE1C-8B45C17DBD3E}"/>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8401C7D-DC59-41D8-96B0-AB146D4F18DE}"/>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F93D6FA-36FC-42D9-B504-012F15A71B80}"/>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013D8BC9-6C2E-436C-B7DA-F043B0ECD3C3}"/>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AA2EA10C-97B3-4313-998C-ECAF3790AD29}"/>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2C6C596-55FF-4176-A37D-26D87D0DA716}"/>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CDD4986-0649-48C6-BC04-7C29A7DDB277}"/>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770971F-9DCC-4717-84C3-823290B2A6EA}"/>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6CB141BC-81C5-43E6-8691-E5F5977AC338}"/>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0E7D4AE-7302-461A-8756-E80179FA2C09}"/>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035B363D-300D-4CE8-A571-B4998357525A}"/>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F743BF0-8126-4D74-A812-23F149BF0C8F}"/>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4406379-A9F6-4438-AA24-1991A8C7309A}"/>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647EF24-AC34-4A14-8E62-2F98F33B62E3}"/>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914FAE3D-F520-48E0-9288-7F9706EDFDD0}"/>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99DADD19-61C5-4BEA-A02E-15FD9A3F5718}"/>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5F5F47D1-E337-447E-BC9B-8A8F49A4FC30}"/>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지수의 Shapley 설명</a:t>
            </a:r>
          </a:p>
        </p:txBody>
      </p:sp>
      <p:sp>
        <p:nvSpPr>
          <p:cNvPr id="53" name="">
            <a:extLst xmlns:a="http://schemas.openxmlformats.org/drawingml/2006/main">
              <a:ext uri="{FF2B5EF4-FFF2-40B4-BE49-F238E27FC236}">
                <a16:creationId xmlns:a16="http://schemas.microsoft.com/office/drawing/2014/main" id="{181142F4-427E-43D0-BCBD-4CBD33E6A145}"/>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91DEE7A-8DD6-4D3D-98AF-427A08C44AEE}"/>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AE9E9706-20A6-4380-9C14-0DA144852B3F}"/>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D4924AE2-C378-4922-ABAA-E0F782DECB1F}"/>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E40646AB-7441-4E37-A53F-3F4FFCEABBB9}"/>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D269ADA-25AF-444F-BBF0-F09418ED424F}"/>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지수의 Shapley 설명</a:t>
            </a:r>
          </a:p>
        </p:txBody>
      </p:sp>
      <p:sp>
        <p:nvSpPr>
          <p:cNvPr id="59" name="">
            <a:extLst xmlns:a="http://schemas.openxmlformats.org/drawingml/2006/main">
              <a:ext uri="{FF2B5EF4-FFF2-40B4-BE49-F238E27FC236}">
                <a16:creationId xmlns:a16="http://schemas.microsoft.com/office/drawing/2014/main" id="{AF4AA629-2567-4DA8-B041-B333690EE5CC}"/>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평균 절대 Shapley 비중 · 기존 분석 기록</a:t>
            </a:r>
          </a:p>
        </p:txBody>
      </p:sp>
      <p:sp>
        <p:nvSpPr>
          <p:cNvPr id="60" name="">
            <a:extLst xmlns:a="http://schemas.openxmlformats.org/drawingml/2006/main">
              <a:ext uri="{FF2B5EF4-FFF2-40B4-BE49-F238E27FC236}">
                <a16:creationId xmlns:a16="http://schemas.microsoft.com/office/drawing/2014/main" id="{11070ECF-D583-4A67-B19F-5889995682B7}"/>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74E4883-A6F3-47B7-A300-971CB8CDF91A}"/>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C</a:t>
            </a:r>
          </a:p>
        </p:txBody>
      </p:sp>
      <p:graphicFrame>
        <p:nvGraphicFramePr>
          <p:cNvPr id="127" name="Chart"/>
          <p:cNvGraphicFramePr/>
          <p:nvPr/>
        </p:nvGraphicFramePr>
        <p:xfrm>
          <a:off xmlns:a="http://schemas.openxmlformats.org/drawingml/2006/main" x="3048000" y="3381375"/>
          <a:ext xmlns:a="http://schemas.openxmlformats.org/drawingml/2006/main" cx="11506200" cy="3171825"/>
        </p:xfrm>
        <a:graphic xmlns:a="http://schemas.openxmlformats.org/drawingml/2006/main">
          <a:graphicData uri="http://schemas.openxmlformats.org/drawingml/2006/chart">
            <c:chart xmlns:r="http://schemas.openxmlformats.org/officeDocument/2006/relationships" xmlns:c="http://schemas.openxmlformats.org/drawingml/2006/chart" r:id="Rd7ac0ad1ecac4bbe"/>
          </a:graphicData>
        </a:graphic>
      </p:graphicFrame>
      <p:sp>
        <p:nvSpPr>
          <p:cNvPr id="63" name="">
            <a:extLst xmlns:a="http://schemas.openxmlformats.org/drawingml/2006/main">
              <a:ext uri="{FF2B5EF4-FFF2-40B4-BE49-F238E27FC236}">
                <a16:creationId xmlns:a16="http://schemas.microsoft.com/office/drawing/2014/main" id="{C30D4D39-E3D6-4A2B-B28B-3C34F22D4B96}"/>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ABFFD5D2-8FB4-47AC-80F0-621FEE71932E}"/>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FC90AB64-C8A2-444A-A0B1-A1BA5592FB81}"/>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지수 출력의 설명이며 축제 매출에 대한 인과 기여율이 아님</a:t>
            </a:r>
          </a:p>
        </p:txBody>
      </p:sp>
    </p:spTree>
    <p:extLst>
      <p:ext uri="{BB962C8B-B14F-4D97-AF65-F5344CB8AC3E}">
        <p14:creationId xmlns:p14="http://schemas.microsoft.com/office/powerpoint/2010/main" val="12830131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2D111F84-789C-4426-9003-C3EEE14AB648}"/>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464C4C-23FE-4DEC-821B-5AEF57ED330E}"/>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CA6B5D-E5B0-495E-86C6-6BA25241B6DB}"/>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5C778E3-9A83-42E8-AA3C-1ABFFD8730F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66F076AF-95CC-4815-8A41-9EEE7E1A6B32}"/>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0592B134-3CFC-45F8-8BB5-836ECFB663B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1E010E71-7E0C-4997-8320-5CFAB0DC8D13}"/>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799324EA-BE2B-4209-A56F-C85D6E8A32FD}"/>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A5EAA683-EBD8-4835-B89F-7C6241F42B6A}"/>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D2D14550-57EA-4CB5-B899-B0A2E727610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BC179C-EEA2-4177-9210-C8B673BB026F}"/>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DFC3A85-47BE-4E2F-A821-45B1504183AD}"/>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F08D44-AEF7-4073-B756-2E74B171B735}"/>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64821EBD-2569-4C55-84BC-EAC6E67324C9}"/>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28768B29-9EF3-4375-A842-E1108D55FD7E}"/>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68B9E74-32A9-48CC-B42D-A4F8F5299BB3}"/>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B8A77DB-026B-40C2-BC02-FB32C37DC59A}"/>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204ABBF-DEBD-40C6-A3DF-3796D384D841}"/>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FD146414-5850-4A5D-973F-02C3C34DCDEF}"/>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2397A4A7-37DE-4C02-BCE7-B00F5A480338}"/>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8397648-5898-4268-9BF0-CC511EF6881C}"/>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2366FF7-744E-401F-998E-DF9BF4CB0CCF}"/>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436FBE8-5BF5-44B3-8CF1-434DAACB5B02}"/>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821F9713-09ED-4D3E-B4A3-D6F7063B54B7}"/>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B7BD500F-979A-4197-8370-BE3E3D754006}"/>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FFFA81A-34B3-4BAE-BA1A-332CE6F547C1}"/>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049F18E-8F9D-412C-AF99-0A9F1FA745BD}"/>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6C6BDBB-0BD0-4888-B1E4-66F1F4C10F99}"/>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A760943C-5536-4680-9742-DEC4B45E4ACC}"/>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9499D8B0-66E0-4E1B-9420-044E3BBA2A49}"/>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CEDDB64-A1EF-4715-B377-F280680D1D9F}"/>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F410333-EA20-46D8-9222-6F726C204DE9}"/>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B43E1AF-3500-47A3-9DC4-DC522B129DC8}"/>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0955B1CF-8B2F-4B56-951D-5A8FC5A5EE05}"/>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3225AC30-CE5A-4EEE-9C69-535ABB40B3B5}"/>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32F12F0-71FF-40E2-92E0-F078D76FD45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792F720-AA88-4E99-94F0-45A566915CCD}"/>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D4640B8-2DF4-4B8E-9977-76B187F8D66B}"/>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B9C1F67C-25E3-473C-9922-4668328222B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F117F020-91D3-4700-9393-78F624D9741A}"/>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A42D2AA-E6DD-44C9-A625-9DC40B9A4DD4}"/>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3F9A89F-630E-4D44-9C9F-CD763B009907}"/>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0C9A63B-0C12-4F2D-B3E6-64BE582DBC2B}"/>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4E98CC97-2A65-4A88-9D3B-2258724D5F1C}"/>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2C91B41-586E-4117-8E9A-57B6750B8041}"/>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2060B8BC-56DF-4D0D-A865-ED416C5AE730}"/>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C0AE253-8841-45D0-ABA6-70567083EDC2}"/>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A175C98-D73C-4E65-B0BE-AAEF832254A8}"/>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E3F687F-09FD-4F86-B998-601651D27C4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C1DF83E9-9D67-4E04-AD96-2034CA55CE4C}"/>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D2BC028B-EDC2-479E-9D1A-F4A9857757D5}"/>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EB722C74-F8CD-4F77-994A-00957E48D81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데이터 범위와 한계</a:t>
            </a:r>
          </a:p>
        </p:txBody>
      </p:sp>
      <p:sp>
        <p:nvSpPr>
          <p:cNvPr id="53" name="">
            <a:extLst xmlns:a="http://schemas.openxmlformats.org/drawingml/2006/main">
              <a:ext uri="{FF2B5EF4-FFF2-40B4-BE49-F238E27FC236}">
                <a16:creationId xmlns:a16="http://schemas.microsoft.com/office/drawing/2014/main" id="{4B9CCB33-F15F-4755-AB39-7879064FF022}"/>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5D1DC65-3F78-412D-9E94-E26F7ACFDC34}"/>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B7555F71-1C97-4241-B958-0EC12C306CAA}"/>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13F093D-A902-49E8-83A9-E5C931E32C6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AB860D3-D69A-4269-9830-E0CA5AFF6E95}"/>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09D7A9D-436A-4BF3-B4EF-0478FFC7CB00}"/>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데이터 범위와 한계</a:t>
            </a:r>
          </a:p>
        </p:txBody>
      </p:sp>
      <p:sp>
        <p:nvSpPr>
          <p:cNvPr id="59" name="">
            <a:extLst xmlns:a="http://schemas.openxmlformats.org/drawingml/2006/main">
              <a:ext uri="{FF2B5EF4-FFF2-40B4-BE49-F238E27FC236}">
                <a16:creationId xmlns:a16="http://schemas.microsoft.com/office/drawing/2014/main" id="{4E8EBF16-EDB1-4E3C-BA76-4D2355B1FF86}"/>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분기·모집 단위·대체값을 구분</a:t>
            </a:r>
          </a:p>
        </p:txBody>
      </p:sp>
      <p:sp>
        <p:nvSpPr>
          <p:cNvPr id="60" name="">
            <a:extLst xmlns:a="http://schemas.openxmlformats.org/drawingml/2006/main">
              <a:ext uri="{FF2B5EF4-FFF2-40B4-BE49-F238E27FC236}">
                <a16:creationId xmlns:a16="http://schemas.microsoft.com/office/drawing/2014/main" id="{12B95128-5636-49CA-AA5D-1728AD069DAD}"/>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404A562-0E36-477F-B92E-6EA495C5A42D}"/>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D</a:t>
            </a:r>
          </a:p>
        </p:txBody>
      </p:sp>
      <p:graphicFrame>
        <p:nvGraphicFramePr>
          <p:cNvPr id="125" name=""/>
          <p:cNvGraphicFramePr/>
          <p:nvPr/>
        </p:nvGraphicFramePr>
        <p:xfrm>
          <a:off xmlns:a="http://schemas.openxmlformats.org/drawingml/2006/main" x="3048000" y="3352800"/>
          <a:ext xmlns:a="http://schemas.openxmlformats.org/drawingml/2006/main" cx="11506200" cy="3810000"/>
        </p:xfrm>
        <a:graphic xmlns:a="http://schemas.openxmlformats.org/drawingml/2006/main">
          <a:graphicData uri="http://schemas.openxmlformats.org/drawingml/2006/table">
            <a:tbl>
              <a:tblPr/>
              <a:tblGrid>
                <a:gridCol w="2619375"/>
                <a:gridCol w="8886825"/>
              </a:tblGrid>
              <a:tr h="544286">
                <a:tc>
                  <a:txBody>
                    <a:bodyPr/>
                    <a:lstStyle/>
                    <a:p>
                      <a:r>
                        <a:rPr sz="1800" b="1">
                          <a:solidFill>
                            <a:srgbClr val="37352F"/>
                          </a:solidFill>
                          <a:latin typeface="Malgun Gothic"/>
                          <a:ea typeface="Malgun Gothic"/>
                          <a:cs typeface="Malgun Gothic"/>
                        </a:rPr>
                        <a:t>항목</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적용 기준</a:t>
                      </a:r>
                    </a:p>
                  </a:txBody>
                  <a:tcPr marL="85725" marR="85725" marT="28575" marB="28575">
                    <a:solidFill>
                      <a:srgbClr val="F1F1EF"/>
                    </a:solidFill>
                  </a:tcPr>
                </a:tc>
              </a:tr>
              <a:tr h="544286">
                <a:tc>
                  <a:txBody>
                    <a:bodyPr/>
                    <a:lstStyle/>
                    <a:p>
                      <a:r>
                        <a:rPr sz="1800" b="0">
                          <a:solidFill>
                            <a:srgbClr val="37352F"/>
                          </a:solidFill>
                          <a:latin typeface="Malgun Gothic"/>
                          <a:ea typeface="Malgun Gothic"/>
                          <a:cs typeface="Malgun Gothic"/>
                        </a:rPr>
                        <a:t>웹 전체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현재 명단 23곳 · 4,374점포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정책 대상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코어 9 + 참여 7 = 16곳 · 2,699점포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2026년 1분기 매출 대체 / 현재 점포 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D·L·R·M</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PDF 공개값 소수 셋째 자리 / 거리 재계산 아님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시계열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유동은 재현 / 장기 매출은 구성안 기록값</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배정·체험</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모집 계획 / 가상 스탬프·쿠폰은 실제 사용 불가</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DA6F3653-6260-4D03-9F0C-361045E0AA65}"/>
              </a:ext>
            </a:extLst>
          </p:cNvPr>
          <p:cNvSpPr>
            <a:spLocks xmlns:a="http://schemas.openxmlformats.org/drawingml/2006/main" noGrp="1"/>
          </p:cNvSpPr>
          <p:nvPr/>
        </p:nvSpPr>
        <p:spPr>
          <a:xfrm xmlns:a="http://schemas.openxmlformats.org/drawingml/2006/main">
            <a:off x="3048000" y="7581900"/>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787774"/>
                </a:solidFill>
                <a:latin typeface="Malgun Gothic"/>
                <a:ea typeface="Malgun Gothic"/>
                <a:cs typeface="Malgun Gothic"/>
              </a:defRPr>
            </a:pPr>
            <a:r>
              <a:rPr sz="1725" b="0">
                <a:solidFill>
                  <a:srgbClr val="787774"/>
                </a:solidFill>
                <a:latin typeface="Malgun Gothic"/>
                <a:ea typeface="Malgun Gothic"/>
                <a:cs typeface="Malgun Gothic"/>
              </a:rPr>
              <a:t>교정된 연계존 명단이 없어 구성안의 4,402점포는 적용하지 않음</a:t>
            </a:r>
          </a:p>
        </p:txBody>
      </p:sp>
    </p:spTree>
    <p:extLst>
      <p:ext uri="{BB962C8B-B14F-4D97-AF65-F5344CB8AC3E}">
        <p14:creationId xmlns:p14="http://schemas.microsoft.com/office/powerpoint/2010/main" val="1745920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317E41F5-8B04-4071-B8AD-E75A090BE78D}"/>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0C130E-FD35-4F70-9CF5-04587D3E976E}"/>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F21C13-5265-4C99-997F-0A063449C227}"/>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D8EFBD44-A47E-49BF-8856-134BED0E9E1F}"/>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E0BE603A-5665-4D0E-B807-C2C5D7209160}"/>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33C00438-5DB3-4F4C-8721-7978B5BD579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98F27936-0F69-4046-9584-9DA650EAE8DF}"/>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A0390E47-3736-4AA5-9C01-8903BDE11ACC}"/>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5FD9CC50-AC92-461D-8D2F-1F321E6F6B2C}"/>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45E0E99F-6766-4694-ACD5-8195A40AAC4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5F94D5-1FC9-42BA-9E2D-07E32B7231A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E0AC017-BEDF-48B7-90BA-5FD35CDB5187}"/>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08A2C12-7AA4-449D-B27A-1CFB38BC368D}"/>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9E6CC1C9-1551-4DD0-B89A-C74E9FAF1796}"/>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4F0D3105-2BB9-4EF5-A402-D64FB3FD9D9C}"/>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1F062C5-EC5E-4CD3-9A6A-45DB70E22A1C}"/>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41E71A1-7D55-4090-9513-ABFC8435AC4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B722744-E88C-41BC-8031-5066C423A93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CF9502C8-FE8D-482B-8080-5F022CB9039E}"/>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3AF0F049-EA30-4277-9423-20ED390CA9C4}"/>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D7D0569-3C4F-4B41-A0C7-F9B3C47A2820}"/>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56F4CA4-E239-49FD-B665-101633EEC712}"/>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76D76CE-4C69-49CB-BDF8-329829E0776C}"/>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EC0BF160-9E91-4B6F-AE58-657F2672594C}"/>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2FFB4EFE-DA17-4010-B103-B94153015B36}"/>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FF83F9E-AAA2-403E-A9B9-7B0A2FEAD61E}"/>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A9C869B-2CA2-4617-BCE7-C6FC5134ACEB}"/>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826EE89-CEC5-4505-A54F-604324FF5E24}"/>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AAD3CC4D-DCDE-43CF-8F6F-2E6A4A9D3723}"/>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1B90F96C-8515-4252-B2BF-4199916A386E}"/>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0CC457B-DF2A-438F-9963-1ED445B007E0}"/>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A49DC4F-C2EB-46C8-8375-6107AAFA320E}"/>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83ED3AF-DFB8-45E4-BB72-DAA55050185F}"/>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EF496CA8-99F3-4058-9D3A-60DE366BCBEF}"/>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501DC413-6E9A-4A77-B2B7-31401995A7F9}"/>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D147C2B-00B7-49B8-993C-B871601483AC}"/>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21B4C95-FEA1-4C54-A56E-672950BE427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4FD9A4F-D140-49F4-AC2A-5E2A5D3C57F9}"/>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ED6BA4EF-8FBE-43B7-BE19-A521A77FE3D5}"/>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CC0ED8C2-93AC-46B7-A698-37F49031E1B7}"/>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DFF0415-ACC6-4BD8-9466-614C505A0343}"/>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E3631C4-BCCA-4F65-B507-3EACF452E503}"/>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D9EFCAA-8379-475C-8C79-59F71BFD197A}"/>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1331F392-2E3A-4459-8C53-99A5E01CBE78}"/>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BA9E4BAF-0FD7-45D8-9BDC-0EBFAAD3C139}"/>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D40B51EA-2E29-4B44-A6BC-48E2BB6DB26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BDFB7C7-2426-43CF-809A-0761076A8159}"/>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03C3BC5-496E-48CA-9700-C576E4568E0E}"/>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477D01B-097A-4F09-8AC4-798E61A70C7B}"/>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72D126E8-457C-4226-96BC-F77B97E7A31A}"/>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86F43B9F-F6A4-41AE-BCA5-C9486388B91A}"/>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ADF2BC17-F0CF-4E56-B021-A2BD2695254E}"/>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거리 기준과 클리핑</a:t>
            </a:r>
          </a:p>
        </p:txBody>
      </p:sp>
      <p:sp>
        <p:nvSpPr>
          <p:cNvPr id="53" name="">
            <a:extLst xmlns:a="http://schemas.openxmlformats.org/drawingml/2006/main">
              <a:ext uri="{FF2B5EF4-FFF2-40B4-BE49-F238E27FC236}">
                <a16:creationId xmlns:a16="http://schemas.microsoft.com/office/drawing/2014/main" id="{FB35BDA8-BDA7-4363-A59F-6A9CEB3D1B62}"/>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66F47888-64A3-4D48-8550-866A25DAA4C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249697B5-6635-4B3B-B485-7F49F4045388}"/>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62103D2-2CD6-41CB-A76F-1904B2EBBB5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3AFBEE4-B480-43C5-8C20-FC38938A4EFF}"/>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4B9033B-A795-4576-86B5-ACF9E2FC00C7}"/>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거리 기준과 클리핑</a:t>
            </a:r>
          </a:p>
        </p:txBody>
      </p:sp>
      <p:sp>
        <p:nvSpPr>
          <p:cNvPr id="59" name="">
            <a:extLst xmlns:a="http://schemas.openxmlformats.org/drawingml/2006/main">
              <a:ext uri="{FF2B5EF4-FFF2-40B4-BE49-F238E27FC236}">
                <a16:creationId xmlns:a16="http://schemas.microsoft.com/office/drawing/2014/main" id="{414E3AF5-AB5F-49E4-8CD7-9D69EFE7BEC6}"/>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서로 다른 거리 기준과 정규화 방식</a:t>
            </a:r>
          </a:p>
        </p:txBody>
      </p:sp>
      <p:sp>
        <p:nvSpPr>
          <p:cNvPr id="60" name="">
            <a:extLst xmlns:a="http://schemas.openxmlformats.org/drawingml/2006/main">
              <a:ext uri="{FF2B5EF4-FFF2-40B4-BE49-F238E27FC236}">
                <a16:creationId xmlns:a16="http://schemas.microsoft.com/office/drawing/2014/main" id="{072AD0B1-F780-446C-BEC4-EB8F91CAAF68}"/>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8516C68-1248-4A13-88C9-19FCC8E288D3}"/>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E</a:t>
            </a:r>
          </a:p>
        </p:txBody>
      </p:sp>
      <p:graphicFrame>
        <p:nvGraphicFramePr>
          <p:cNvPr id="127" name=""/>
          <p:cNvGraphicFramePr/>
          <p:nvPr/>
        </p:nvGraphicFramePr>
        <p:xfrm>
          <a:off xmlns:a="http://schemas.openxmlformats.org/drawingml/2006/main" x="3048000" y="3362325"/>
          <a:ext xmlns:a="http://schemas.openxmlformats.org/drawingml/2006/main" cx="11506200" cy="3524250"/>
        </p:xfrm>
        <a:graphic xmlns:a="http://schemas.openxmlformats.org/drawingml/2006/main">
          <a:graphicData uri="http://schemas.openxmlformats.org/drawingml/2006/table">
            <a:tbl>
              <a:tblPr/>
              <a:tblGrid>
                <a:gridCol w="2762250"/>
                <a:gridCol w="8743950"/>
              </a:tblGrid>
              <a:tr h="587375">
                <a:tc>
                  <a:txBody>
                    <a:bodyPr/>
                    <a:lstStyle/>
                    <a:p>
                      <a:r>
                        <a:rPr sz="1875" b="1">
                          <a:solidFill>
                            <a:srgbClr val="37352F"/>
                          </a:solidFill>
                          <a:latin typeface="Malgun Gothic"/>
                          <a:ea typeface="Malgun Gothic"/>
                          <a:cs typeface="Malgun Gothic"/>
                        </a:rPr>
                        <a:t>기준</a:t>
                      </a:r>
                    </a:p>
                  </a:txBody>
                  <a:tcPr marL="85725" marR="85725" marT="28575" marB="28575">
                    <a:solidFill>
                      <a:srgbClr val="F1F1EF"/>
                    </a:solidFill>
                  </a:tcPr>
                </a:tc>
                <a:tc>
                  <a:txBody>
                    <a:bodyPr/>
                    <a:lstStyle/>
                    <a:p>
                      <a:r>
                        <a:rPr sz="1875" b="1">
                          <a:solidFill>
                            <a:srgbClr val="37352F"/>
                          </a:solidFill>
                          <a:latin typeface="Malgun Gothic"/>
                          <a:ea typeface="Malgun Gothic"/>
                          <a:cs typeface="Malgun Gothic"/>
                        </a:rPr>
                        <a:t>용도와 해석</a:t>
                      </a:r>
                    </a:p>
                  </a:txBody>
                  <a:tcPr marL="85725" marR="85725" marT="28575" marB="28575">
                    <a:solidFill>
                      <a:srgbClr val="F1F1EF"/>
                    </a:solidFill>
                  </a:tcPr>
                </a:tc>
              </a:tr>
              <a:tr h="587375">
                <a:tc>
                  <a:txBody>
                    <a:bodyPr/>
                    <a:lstStyle/>
                    <a:p>
                      <a:r>
                        <a:rPr sz="1875" b="0">
                          <a:solidFill>
                            <a:srgbClr val="37352F"/>
                          </a:solidFill>
                          <a:latin typeface="Malgun Gothic"/>
                          <a:ea typeface="Malgun Gothic"/>
                          <a:cs typeface="Malgun Gothic"/>
                        </a:rPr>
                        <a:t>300m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삼각형 외곽 참여 범위 규칙</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583m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평시 20대 비중 모형의 반감거리</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425m 분절점</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추가 설명력 유의하지 않음 · F=1.51</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500점포 클리핑</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옛 min-max 점포 항의 방어 장치</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현재 배정</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16곳 내 백분위·비율 지표와 최대6개 상한</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9D5E775E-BB81-482C-985C-939257D55714}"/>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7C07B682-C4EB-4090-B7A6-250E4DD72252}"/>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73C586BE-372E-42D0-A59C-9E1FA2B8CC00}"/>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“400m에서 확실히 급감” 또는 “추가 예산 0원”으로 설명하지 않음</a:t>
            </a:r>
          </a:p>
        </p:txBody>
      </p:sp>
    </p:spTree>
    <p:extLst>
      <p:ext uri="{BB962C8B-B14F-4D97-AF65-F5344CB8AC3E}">
        <p14:creationId xmlns:p14="http://schemas.microsoft.com/office/powerpoint/2010/main" val="123223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2026-09-13T07:42:05.8190000Z</dcterms:created>
  <dcterms:modified xsi:type="dcterms:W3CDTF">2026-09-13T07:42:05.8190000Z</dcterms:modified>
</coreProperties>
</file>