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5.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9ab384ccf014a4a" /><Relationship Type="http://schemas.openxmlformats.org/officeDocument/2006/relationships/extended-properties" Target="/docProps/app.xml" Id="Rfece4b56be944378" /><Relationship Type="http://schemas.openxmlformats.org/officeDocument/2006/relationships/officeDocument" Target="/ppt/presentation.xml" Id="R4d078e570816487d" /></Relationships>
</file>

<file path=ppt/presentation.xml><?xml version="1.0" encoding="utf-8"?>
<p:presentation xmlns:p="http://schemas.openxmlformats.org/presentationml/2006/main">
  <p:sldMasterIdLst>
    <p:sldMasterId xmlns:r="http://schemas.openxmlformats.org/officeDocument/2006/relationships" id="2147483648" r:id="R7c436d49fc454242"/>
  </p:sldMasterIdLst>
  <p:notesMasterIdLst>
    <p:notesMasterId xmlns:r="http://schemas.openxmlformats.org/officeDocument/2006/relationships" r:id="R996a064641254811"/>
  </p:notesMasterIdLst>
  <p:sldIdLst>
    <p:sldId xmlns:r="http://schemas.openxmlformats.org/officeDocument/2006/relationships" id="256" r:id="R6729ea789d9e44bc"/>
    <p:sldId xmlns:r="http://schemas.openxmlformats.org/officeDocument/2006/relationships" id="257" r:id="R69984ecc05a943c8"/>
    <p:sldId xmlns:r="http://schemas.openxmlformats.org/officeDocument/2006/relationships" id="258" r:id="Rfe3242551a4847e7"/>
    <p:sldId xmlns:r="http://schemas.openxmlformats.org/officeDocument/2006/relationships" id="259" r:id="R171752fcd00b484f"/>
    <p:sldId xmlns:r="http://schemas.openxmlformats.org/officeDocument/2006/relationships" id="260" r:id="R19df300e13d44d0b"/>
    <p:sldId xmlns:r="http://schemas.openxmlformats.org/officeDocument/2006/relationships" id="261" r:id="R783b90f26f3c4e3a"/>
    <p:sldId xmlns:r="http://schemas.openxmlformats.org/officeDocument/2006/relationships" id="262" r:id="R9ba5cf97ddfc433f"/>
    <p:sldId xmlns:r="http://schemas.openxmlformats.org/officeDocument/2006/relationships" id="263" r:id="R4d463a4760464c88"/>
    <p:sldId xmlns:r="http://schemas.openxmlformats.org/officeDocument/2006/relationships" id="264" r:id="R6daa31f68df1452c"/>
    <p:sldId xmlns:r="http://schemas.openxmlformats.org/officeDocument/2006/relationships" id="265" r:id="R7d303b4a81504adb"/>
    <p:sldId xmlns:r="http://schemas.openxmlformats.org/officeDocument/2006/relationships" id="266" r:id="R412d9cdbff6f4a54"/>
    <p:sldId xmlns:r="http://schemas.openxmlformats.org/officeDocument/2006/relationships" id="267" r:id="R5485b8b5848e4347"/>
    <p:sldId xmlns:r="http://schemas.openxmlformats.org/officeDocument/2006/relationships" id="268" r:id="R71ccb3a673d14099"/>
    <p:sldId xmlns:r="http://schemas.openxmlformats.org/officeDocument/2006/relationships" id="269" r:id="R76781c6d0b8f460c"/>
    <p:sldId xmlns:r="http://schemas.openxmlformats.org/officeDocument/2006/relationships" id="270" r:id="R9e69deca15c84705"/>
    <p:sldId xmlns:r="http://schemas.openxmlformats.org/officeDocument/2006/relationships" id="271" r:id="R339d69e6fb2f4599"/>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d8de3845e44de7" /><Relationship Type="http://schemas.openxmlformats.org/officeDocument/2006/relationships/slideMaster" Target="/ppt/slideMasters/slideMaster1.xml" Id="R7c436d49fc454242" /><Relationship Type="http://schemas.openxmlformats.org/officeDocument/2006/relationships/notesMaster" Target="/ppt/notesMasters/notesMaster1.xml" Id="R996a064641254811" /><Relationship Type="http://schemas.openxmlformats.org/officeDocument/2006/relationships/presProps" Target="/ppt/presProps.xml" Id="R41395d0ef32b48e6" /><Relationship Type="http://schemas.openxmlformats.org/officeDocument/2006/relationships/tableStyles" Target="/ppt/tableStyles.xml" Id="Rc92042845588435d" /><Relationship Type="http://schemas.openxmlformats.org/officeDocument/2006/relationships/slide" Target="/ppt/slides/slide1.xml" Id="R6729ea789d9e44bc" /><Relationship Type="http://schemas.openxmlformats.org/officeDocument/2006/relationships/slide" Target="/ppt/slides/slide2.xml" Id="R69984ecc05a943c8" /><Relationship Type="http://schemas.openxmlformats.org/officeDocument/2006/relationships/slide" Target="/ppt/slides/slide3.xml" Id="Rfe3242551a4847e7" /><Relationship Type="http://schemas.openxmlformats.org/officeDocument/2006/relationships/slide" Target="/ppt/slides/slide4.xml" Id="R171752fcd00b484f" /><Relationship Type="http://schemas.openxmlformats.org/officeDocument/2006/relationships/slide" Target="/ppt/slides/slide5.xml" Id="R19df300e13d44d0b" /><Relationship Type="http://schemas.openxmlformats.org/officeDocument/2006/relationships/slide" Target="/ppt/slides/slide6.xml" Id="R783b90f26f3c4e3a" /><Relationship Type="http://schemas.openxmlformats.org/officeDocument/2006/relationships/slide" Target="/ppt/slides/slide7.xml" Id="R9ba5cf97ddfc433f" /><Relationship Type="http://schemas.openxmlformats.org/officeDocument/2006/relationships/slide" Target="/ppt/slides/slide8.xml" Id="R4d463a4760464c88" /><Relationship Type="http://schemas.openxmlformats.org/officeDocument/2006/relationships/slide" Target="/ppt/slides/slide9.xml" Id="R6daa31f68df1452c" /><Relationship Type="http://schemas.openxmlformats.org/officeDocument/2006/relationships/slide" Target="/ppt/slides/slide10.xml" Id="R7d303b4a81504adb" /><Relationship Type="http://schemas.openxmlformats.org/officeDocument/2006/relationships/slide" Target="/ppt/slides/slide11.xml" Id="R412d9cdbff6f4a54" /><Relationship Type="http://schemas.openxmlformats.org/officeDocument/2006/relationships/slide" Target="/ppt/slides/slide12.xml" Id="R5485b8b5848e4347" /><Relationship Type="http://schemas.openxmlformats.org/officeDocument/2006/relationships/slide" Target="/ppt/slides/slide13.xml" Id="R71ccb3a673d14099" /><Relationship Type="http://schemas.openxmlformats.org/officeDocument/2006/relationships/slide" Target="/ppt/slides/slide14.xml" Id="R76781c6d0b8f460c" /><Relationship Type="http://schemas.openxmlformats.org/officeDocument/2006/relationships/slide" Target="/ppt/slides/slide15.xml" Id="R9e69deca15c84705" /><Relationship Type="http://schemas.openxmlformats.org/officeDocument/2006/relationships/slide" Target="/ppt/slides/slide16.xml" Id="R339d69e6fb2f459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1f5d94af254c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ce610da78bd4b02" /><Relationship Type="http://schemas.openxmlformats.org/officeDocument/2006/relationships/notesMaster" Target="/ppt/notesMasters/notesMaster1.xml" Id="R5f07cdf95cdf4f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6b6a8dde43040b1" /><Relationship Type="http://schemas.openxmlformats.org/officeDocument/2006/relationships/notesMaster" Target="/ppt/notesMasters/notesMaster1.xml" Id="R96ffc0d62a0548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24076cbe4e4e3e" /><Relationship Type="http://schemas.openxmlformats.org/officeDocument/2006/relationships/notesMaster" Target="/ppt/notesMasters/notesMaster1.xml" Id="R997a5e697ecb42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b46c4d8481c4b24" /><Relationship Type="http://schemas.openxmlformats.org/officeDocument/2006/relationships/notesMaster" Target="/ppt/notesMasters/notesMaster1.xml" Id="Ra162afd103dc4d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1c3461ac8a248b1" /><Relationship Type="http://schemas.openxmlformats.org/officeDocument/2006/relationships/notesMaster" Target="/ppt/notesMasters/notesMaster1.xml" Id="Rc072755858e746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19351c4e2f24f41" /><Relationship Type="http://schemas.openxmlformats.org/officeDocument/2006/relationships/notesMaster" Target="/ppt/notesMasters/notesMaster1.xml" Id="R73ca3f6cb8c5485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909ab318a947c7" /><Relationship Type="http://schemas.openxmlformats.org/officeDocument/2006/relationships/notesMaster" Target="/ppt/notesMasters/notesMaster1.xml" Id="R1629d37247414f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8ed7fe0999624764" /><Relationship Type="http://schemas.openxmlformats.org/officeDocument/2006/relationships/notesMaster" Target="/ppt/notesMasters/notesMaster1.xml" Id="R410211c7450240fb" /></Relationships>
</file>

<file path=ppt/notesSlides/_rels/notesSlide9.xml.rels>&#65279;<?xml version="1.0" encoding="utf-8"?><Relationships xmlns="http://schemas.openxmlformats.org/package/2006/relationships"><Relationship Type="http://schemas.openxmlformats.org/officeDocument/2006/relationships/slide" Target="/ppt/slides/slide9.xml" Id="R0ebd254922264494" /><Relationship Type="http://schemas.openxmlformats.org/officeDocument/2006/relationships/notesMaster" Target="/ppt/notesMasters/notesMaster1.xml" Id="Re30546b133f64fa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19f56f531fe47c4" /><Relationship Type="http://schemas.openxmlformats.org/officeDocument/2006/relationships/notesMaster" Target="/ppt/notesMasters/notesMaster1.xml" Id="R908a5d6c8b904db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0d23c4064964d8a" /><Relationship Type="http://schemas.openxmlformats.org/officeDocument/2006/relationships/notesMaster" Target="/ppt/notesMasters/notesMaster1.xml" Id="R15ca9aa8a22b4dc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d4ddd4a7a7c4f34" /><Relationship Type="http://schemas.openxmlformats.org/officeDocument/2006/relationships/notesMaster" Target="/ppt/notesMasters/notesMaster1.xml" Id="Rc06c95f1af6245b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3fa6d0d6a35487f" /><Relationship Type="http://schemas.openxmlformats.org/officeDocument/2006/relationships/notesMaster" Target="/ppt/notesMasters/notesMaster1.xml" Id="Re054fac3ec47486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38f7293668847a3" /><Relationship Type="http://schemas.openxmlformats.org/officeDocument/2006/relationships/notesMaster" Target="/ppt/notesMasters/notesMaster1.xml" Id="R25ab0d2a370d472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246082ed59a4248" /><Relationship Type="http://schemas.openxmlformats.org/officeDocument/2006/relationships/notesMaster" Target="/ppt/notesMasters/notesMaster1.xml" Id="Ra4668834beba4ad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d966aec19654132" /><Relationship Type="http://schemas.openxmlformats.org/officeDocument/2006/relationships/notesMaster" Target="/ppt/notesMasters/notesMaster1.xml" Id="R5180d4fe75de40a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10초</a:t>
            </a:r>
          </a:p>
          <a:p xmlns:a="http://schemas.openxmlformats.org/drawingml/2006/main">
            <a:r>
              <a:t>안녕하세요. 저희는 회기·이문·전농의 16개 상권에 스탬프 60개를 어떻게 배정할지 제안합니다.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35초</a:t>
            </a:r>
          </a:p>
          <a:p xmlns:a="http://schemas.openxmlformats.org/drawingml/2006/main">
            <a:r>
              <a:t>코어 9개 상권에서 20대 유동의 이동평균 지수는 기준 수준에 가깝습니다. 최종 구성안에 기록된 20대 추정매출 지수는 73.4로 낮아졌습니다. 이번 폴더에서 유동 추이는 재현했지만 장기 매출 원자료는 없어 기록값을 구분했습니다. 이 차이를 방문과 지역 소비를 연결하는 운영 장치의 검토 배경으로 삼았습니다. 축제의 효과나 감소 원인을 증명한 결과는 아닙니다.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35초</a:t>
            </a:r>
          </a:p>
          <a:p xmlns:a="http://schemas.openxmlformats.org/drawingml/2006/main">
            <a:r>
              <a:t>참여 범위는 세 대학앞 상권을 감싼 볼록껍질의 외곽에 300미터를 더하고, 상권 면적의 절반 이상이 들어오는 곳을 선택하는 규칙입니다. 문서상 코어 9곳과 참여 7곳, 총 16곳입니다. 여기 지도는 공식 중심점 위치도이며 실제 경계를 재현한 것은 아닙니다. 연계존 7곳은 교통 연계를 검토합니다.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35초</a:t>
            </a:r>
          </a:p>
          <a:p xmlns:a="http://schemas.openxmlformats.org/drawingml/2006/main">
            <a:r>
              <a:t>도달 지수에는 평시 20대 비중과 거리의 관계에서 추정한 감쇠계수를 사용합니다. 기록된 베타는 킬로미터당 1.189이며 반감거리는 약 583미터입니다. 이 곡선은 그 계수를 적용한 모형값입니다. 축제 당일 방문을 측정한 결과가 아니고, 앞의 300미터 참여 규칙과도 용도가 다릅니다.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45초</a:t>
            </a:r>
          </a:p>
          <a:p xmlns:a="http://schemas.openxmlformats.org/drawingml/2006/main">
            <a:r>
              <a:t>배정 기준은 소외도 M입니다. D는 최근의 하락, L은 낮은 점포당 매출, R은 거리 기반 도달을 뜻합니다. D는 네 지표를 백분위화해 평균한 뒤 다시 백분위화합니다. D와 L을 대칭적으로 결합하고 R을 곱합니다. 시립대앞사거리는 M이 0.669로 6개, 경희대앞은 0.216으로 최소 참여 2개를 배정합니다. 취향 추천 점수와는 별개의 정책 지수입니다.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45초</a:t>
            </a:r>
          </a:p>
          <a:p xmlns:a="http://schemas.openxmlformats.org/drawingml/2006/main">
            <a:r>
              <a:t>60개 총량 안에서 코어에 36개, 참여에 24개를 배정했습니다. 연계존은 0개입니다. 상권별 최소 2개를 보장하고, 최대 6개 또는 전체 점포 수의 20퍼센트 중 작은 값을 상한으로 둡니다. 시조사삼거리와 회기역 1번은 2개에서 6개로 늘었습니다. 이경시장은 점포 19곳의 20퍼센트를 내림한 상한 때문에 3개입니다. 확정 제휴 매장 수가 아닌 모집 배정안입니다.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40초</a:t>
            </a:r>
          </a:p>
          <a:p xmlns:a="http://schemas.openxmlformats.org/drawingml/2006/main">
            <a:r>
              <a:t>전체 60개로 분모를 통일하면 소외도 상위 다섯 곳의 몫은 13개, 21.7퍼센트에서 27개, 45퍼센트로 늘어납니다. 같은 총량에서 14개를 더 배정하는 방향으로 바뀐 것입니다. 배정과 점포당 매출의 상관도 양에서 음으로 전환했습니다. 이 숫자는 매출 증가 효과가 아니라 계획상 배정량의 변화입니다.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35초</a:t>
            </a:r>
          </a:p>
          <a:p xmlns:a="http://schemas.openxmlformats.org/drawingml/2006/main">
            <a:r>
              <a:t>분석에서는 세 상권을 묶는 코스도 제안했습니다. 회기권은 회기역 1번, 회기시장, 시조사삼거리입니다. 이문권과 전농권도 각각 세 곳을 연결합니다. 세 코스는 소외도 상위 다섯 곳을 모두 포함합니다. 거리는 대표점 직선거리에 우회계수를 적용한 가정값이므로 실제 보행경로와 방문 순서는 현장 확인이 필요합니다. 웹의 기존 테마 코스와는 구분합니다.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45초</a:t>
            </a:r>
          </a:p>
          <a:p xmlns:a="http://schemas.openxmlformats.org/drawingml/2006/main">
            <a:r>
              <a:t>[추천 화면 10초] 방문객은 취향에 맞는 상권을 찾습니다. [지도 목록에서 시립대앞사거리 열기 15초] 상세 화면에서 스탬프 6개와 소외도 0.669를 확인합니다. [근거 설명 15초] D·L·R과 상한, 출처를 함께 보여주어 배정 이유를 설명합니다. 방문객 추천과 운영자 배정은 목적이 다릅니다. [발표 복귀 5초] 네트워크가 끊기면 동일한 캡처로 설명합니다.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50초</a:t>
            </a:r>
          </a:p>
          <a:p xmlns:a="http://schemas.openxmlformats.org/drawingml/2006/main">
            <a:r>
              <a:t>실행은 행사 4주 전 협의부터 시작합니다. 2~3주 전에는 제휴 모집과 경로를 확인하고, 1주 전에는 쿠폰과 집계를 점검합니다. 대학 운영진은 방문 안내, 상인회와 상점은 모집과 쿠폰, 관계 기관은 현장 지원, 분석팀은 배정과 평가를 담당하도록 제안합니다. 모집 실적과 완주율을 집계하고, 동의한 매장의 매출과 객수를 비교합니다. 요일과 날씨, 학사일정도 고려해야 합니다. 인력과 제작물, 쿠폰 재원은 별도 산정합니다.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25초</a:t>
            </a:r>
          </a:p>
          <a:p xmlns:a="http://schemas.openxmlformats.org/drawingml/2006/main">
            <a:r>
              <a:t>제안의 규모는 16개 상권과 60개 배정입니다. 그중 소외도 상위 다섯 곳에 27개를 배정했습니다. 이 배정안으로 참여 상점을 모집하고 실제 방문과 소비 자료를 모아 다음 행사에 반영하겠습니다. 현장 검증과 제휴 협의를 진행할 시범 운영 기회를 요청드립니다.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a:t>
            </a:r>
          </a:p>
          <a:p xmlns:a="http://schemas.openxmlformats.org/drawingml/2006/main">
            <a:r>
              <a:t>B10-14 PDF 7–8쪽의 공개 배정표. 소수 셋째 자리 반올림 값이며 재계산 결과가 아닙니다.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a:t>
            </a:r>
          </a:p>
          <a:p xmlns:a="http://schemas.openxmlformats.org/drawingml/2006/main">
            <a:r>
              <a:t>목적함수와 제약 아래의 최적성입니다. 실제 매출 증가를 최대화한다고 검증한 것은 아닙니다. DP 결과와 민감도는 B10-14에 기록된 검증이며 이번 폴더에서 원본 입력으로 재실행하지 않았습니다.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a:t>
            </a:r>
          </a:p>
          <a:p xmlns:a="http://schemas.openxmlformats.org/drawingml/2006/main">
            <a:r>
              <a:t>D 41.5%, L 41.6%, R 16.9%는 기록된 평균 절대 Shapley 비중입니다. 지수 출력의 설명이며 인과적 매출 기여율이 아닙니다.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a:t>
            </a:r>
          </a:p>
          <a:p xmlns:a="http://schemas.openxmlformats.org/drawingml/2006/main">
            <a:r>
              <a:t>전체 웹 명단은 현재 로컬 데이터를 유지합니다. 구성안의 4,402점포는 교정 명단이 없어 적용하지 않습니다. 자료가 없다고 0으로 바꾸거나 임의의 관측치를 만들지 않습니다.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a:t>
            </a:r>
          </a:p>
          <a:p xmlns:a="http://schemas.openxmlformats.org/drawingml/2006/main">
            <a:r>
              <a:t>300m는 범위 규칙이고 583m는 감쇠모형의 반감거리입니다. 425m 분절점의 추가 설명력은 유의하지 않습니다. 새 지수에 옛 점포 수 min-max 항이 없으므로 500개 클리핑을 복원하지 않습니다.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261e73e53149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667227a21e642f8" /><Relationship Type="http://schemas.openxmlformats.org/officeDocument/2006/relationships/slideLayout" Target="/ppt/slideLayouts/slideLayout1.xml" Id="R5e0e49c5e963456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0e49c5e963456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4fc46fd2cd1428a" /><Relationship Type="http://schemas.openxmlformats.org/officeDocument/2006/relationships/notesSlide" Target="/ppt/notesSlides/notesSlide1.xml" Id="Rfc21e38c732a469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ab4d4f317f84ecb" /><Relationship Type="http://schemas.openxmlformats.org/officeDocument/2006/relationships/chart" Target="/ppt/slides/charts/chart1.xml" Id="R55ce37d5b6c849ff" /><Relationship Type="http://schemas.openxmlformats.org/officeDocument/2006/relationships/notesSlide" Target="/ppt/notesSlides/notesSlide2.xml" Id="Rf904985dff914d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966cff7b8714566" /><Relationship Type="http://schemas.openxmlformats.org/officeDocument/2006/relationships/chart" Target="/ppt/slides/charts/chart2.xml" Id="Rb2b94f695d004a03" /><Relationship Type="http://schemas.openxmlformats.org/officeDocument/2006/relationships/notesSlide" Target="/ppt/notesSlides/notesSlide3.xml" Id="Re55c7f22d98d48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6bf4baa6ea1473e" /><Relationship Type="http://schemas.openxmlformats.org/officeDocument/2006/relationships/chart" Target="/ppt/slides/charts/chart3.xml" Id="R8e1033c722184981" /><Relationship Type="http://schemas.openxmlformats.org/officeDocument/2006/relationships/notesSlide" Target="/ppt/notesSlides/notesSlide4.xml" Id="R127e5bddcf7f460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dc9620207464794" /><Relationship Type="http://schemas.openxmlformats.org/officeDocument/2006/relationships/notesSlide" Target="/ppt/notesSlides/notesSlide5.xml" Id="R173bad9295c54dc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aa01c5296b7470d" /><Relationship Type="http://schemas.openxmlformats.org/officeDocument/2006/relationships/chart" Target="/ppt/slides/charts/chart4.xml" Id="R4bdb22ae7ff549f3" /><Relationship Type="http://schemas.openxmlformats.org/officeDocument/2006/relationships/notesSlide" Target="/ppt/notesSlides/notesSlide6.xml" Id="R813e910f491645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92bb62032844caa" /><Relationship Type="http://schemas.openxmlformats.org/officeDocument/2006/relationships/chart" Target="/ppt/slides/charts/chart5.xml" Id="R57f0b5f2351c4a83" /><Relationship Type="http://schemas.openxmlformats.org/officeDocument/2006/relationships/notesSlide" Target="/ppt/notesSlides/notesSlide7.xml" Id="Raee849b6bd3646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1b15a2c6fed463e" /><Relationship Type="http://schemas.openxmlformats.org/officeDocument/2006/relationships/notesSlide" Target="/ppt/notesSlides/notesSlide8.xml" Id="Rcedbd45800cc494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13bd314667c4a70" /><Relationship Type="http://schemas.openxmlformats.org/officeDocument/2006/relationships/image" Target="/ppt/media/image.png" Id="R3538a865928b4379" /><Relationship Type="http://schemas.openxmlformats.org/officeDocument/2006/relationships/image" Target="/ppt/media/image2.png" Id="Ra59f677859a04f83" /><Relationship Type="http://schemas.openxmlformats.org/officeDocument/2006/relationships/notesSlide" Target="/ppt/notesSlides/notesSlide9.xml" Id="Rbd5f77eebaf54c9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669469695914d20" /><Relationship Type="http://schemas.openxmlformats.org/officeDocument/2006/relationships/notesSlide" Target="/ppt/notesSlides/notesSlide10.xml" Id="R755870081db6434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cdda62fffb9447e" /><Relationship Type="http://schemas.openxmlformats.org/officeDocument/2006/relationships/notesSlide" Target="/ppt/notesSlides/notesSlide11.xml" Id="Rbdfd97be22644d0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acb7c7402dd4405" /><Relationship Type="http://schemas.openxmlformats.org/officeDocument/2006/relationships/notesSlide" Target="/ppt/notesSlides/notesSlide12.xml" Id="Rf8cfe7fc90d9460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bd6a45851c94a41" /><Relationship Type="http://schemas.openxmlformats.org/officeDocument/2006/relationships/notesSlide" Target="/ppt/notesSlides/notesSlide13.xml" Id="Rb9ada5f1025c48b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228bc8e65764268" /><Relationship Type="http://schemas.openxmlformats.org/officeDocument/2006/relationships/chart" Target="/ppt/slides/charts/chart6.xml" Id="R88851beb83134dfa" /><Relationship Type="http://schemas.openxmlformats.org/officeDocument/2006/relationships/notesSlide" Target="/ppt/notesSlides/notesSlide14.xml" Id="R143bd4a911ba48a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32fc23019b34d0d" /><Relationship Type="http://schemas.openxmlformats.org/officeDocument/2006/relationships/notesSlide" Target="/ppt/notesSlides/notesSlide15.xml" Id="R66c0d573e38040f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baa9d0f579f4844" /><Relationship Type="http://schemas.openxmlformats.org/officeDocument/2006/relationships/notesSlide" Target="/ppt/notesSlides/notesSlide16.xml" Id="Rcd3ef84916d1400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20대 유동</c:v>
          </c:tx>
          <c:spPr>
            <a:ln xmlns:a="http://schemas.openxmlformats.org/drawingml/2006/main" w="28575">
              <a:solidFill>
                <a:srgbClr val="487CA5"/>
              </a:solidFill>
            </a:ln>
          </c:spPr>
          <c:marker>
            <c:symbol val="none"/>
          </c:marker>
          <c:cat>
            <c:strRef>
              <c:f>'Chart Data'!$A$2:$A$16</c:f>
              <c:strCache>
                <c:ptCount val="15"/>
                <c:pt idx="0">
                  <c:v>22.4Q</c:v>
                </c:pt>
                <c:pt idx="1">
                  <c:v>23.1Q</c:v>
                </c:pt>
                <c:pt idx="2">
                  <c:v>23.2Q</c:v>
                </c:pt>
                <c:pt idx="3">
                  <c:v>23.3Q</c:v>
                </c:pt>
                <c:pt idx="4">
                  <c:v>23.4Q</c:v>
                </c:pt>
                <c:pt idx="5">
                  <c:v>24.1Q</c:v>
                </c:pt>
                <c:pt idx="6">
                  <c:v>24.2Q</c:v>
                </c:pt>
                <c:pt idx="7">
                  <c:v>24.3Q</c:v>
                </c:pt>
                <c:pt idx="8">
                  <c:v>24.4Q</c:v>
                </c:pt>
                <c:pt idx="9">
                  <c:v>25.1Q</c:v>
                </c:pt>
                <c:pt idx="10">
                  <c:v>25.2Q</c:v>
                </c:pt>
                <c:pt idx="11">
                  <c:v>25.3Q</c:v>
                </c:pt>
                <c:pt idx="12">
                  <c:v>25.4Q</c:v>
                </c:pt>
                <c:pt idx="13">
                  <c:v>26.1Q</c:v>
                </c:pt>
                <c:pt idx="14">
                  <c:v>26.2Q</c:v>
                </c:pt>
              </c:strCache>
            </c:strRef>
          </c:cat>
          <c:val>
            <c:numRef>
              <c:f>'Chart Data'!$B$2:$B$16</c:f>
              <c:numCache>
                <c:formatCode>0</c:formatCode>
                <c:ptCount val="15"/>
                <c:pt idx="0">
                  <c:v>100</c:v>
                </c:pt>
                <c:pt idx="1">
                  <c:v>103.682533</c:v>
                </c:pt>
                <c:pt idx="2">
                  <c:v>107.369128</c:v>
                </c:pt>
                <c:pt idx="3">
                  <c:v>106.884237</c:v>
                </c:pt>
                <c:pt idx="4">
                  <c:v>107.919965</c:v>
                </c:pt>
                <c:pt idx="5">
                  <c:v>106.247696</c:v>
                </c:pt>
                <c:pt idx="6">
                  <c:v>105.63071</c:v>
                </c:pt>
                <c:pt idx="7">
                  <c:v>104.34615</c:v>
                </c:pt>
                <c:pt idx="8">
                  <c:v>102.699915</c:v>
                </c:pt>
                <c:pt idx="9">
                  <c:v>102.146107</c:v>
                </c:pt>
                <c:pt idx="10">
                  <c:v>101.425705</c:v>
                </c:pt>
                <c:pt idx="11">
                  <c:v>101.198844</c:v>
                </c:pt>
                <c:pt idx="12">
                  <c:v>100.128618</c:v>
                </c:pt>
                <c:pt idx="13">
                  <c:v>99.80175</c:v>
                </c:pt>
                <c:pt idx="14">
                  <c:v>100.665485</c:v>
                </c:pt>
              </c:numCache>
            </c:numRef>
          </c: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72768"/>
      </c:catAx>
      <c:valAx>
        <c:axId val="48672768"/>
        <c:scaling>
          <c:orientation val="minMax"/>
          <c:max val="115"/>
          <c:min val="85"/>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50112"/>
        <c:crossBetween val="between"/>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marker"/>
        <c:ser>
          <c:idx val="0"/>
          <c:order val="0"/>
          <c:tx>
            <c:v>코어</c:v>
          </c:tx>
          <c:spPr>
            <a:solidFill xmlns:a="http://schemas.openxmlformats.org/drawingml/2006/main">
              <a:srgbClr val="487CA5"/>
            </a:solidFill>
          </c:spPr>
          <c:marker>
            <c:symbol val="circle"/>
            <c:size val="9"/>
          </c:marker>
          <c:xVal>
            <c:numRef>
              <c:f>'Chart Data'!$A$2:$A$10</c:f>
              <c:numCache>
                <c:formatCode>General</c:formatCode>
                <c:ptCount val="9"/>
                <c:pt idx="0">
                  <c:v>204632</c:v>
                </c:pt>
                <c:pt idx="1">
                  <c:v>204533</c:v>
                </c:pt>
                <c:pt idx="2">
                  <c:v>205089</c:v>
                </c:pt>
                <c:pt idx="3">
                  <c:v>205403</c:v>
                </c:pt>
                <c:pt idx="4">
                  <c:v>205156</c:v>
                </c:pt>
                <c:pt idx="5">
                  <c:v>204907</c:v>
                </c:pt>
                <c:pt idx="6">
                  <c:v>204784</c:v>
                </c:pt>
                <c:pt idx="7">
                  <c:v>205004</c:v>
                </c:pt>
                <c:pt idx="8">
                  <c:v>204642</c:v>
                </c:pt>
              </c:numCache>
            </c:numRef>
          </c:xVal>
          <c:yVal>
            <c:numRef>
              <c:f>'Chart Data'!$B$2:$B$10</c:f>
              <c:numCache>
                <c:formatCode>0</c:formatCode>
                <c:ptCount val="9"/>
                <c:pt idx="0">
                  <c:v>454773</c:v>
                </c:pt>
                <c:pt idx="1">
                  <c:v>454605</c:v>
                </c:pt>
                <c:pt idx="2">
                  <c:v>454430</c:v>
                </c:pt>
                <c:pt idx="3">
                  <c:v>455074</c:v>
                </c:pt>
                <c:pt idx="4">
                  <c:v>454641</c:v>
                </c:pt>
                <c:pt idx="5">
                  <c:v>454615</c:v>
                </c:pt>
                <c:pt idx="6">
                  <c:v>454008</c:v>
                </c:pt>
                <c:pt idx="7">
                  <c:v>454831</c:v>
                </c:pt>
                <c:pt idx="8">
                  <c:v>454283</c:v>
                </c:pt>
              </c:numCache>
            </c:numRef>
          </c:yVal>
        </c:ser>
        <c:ser>
          <c:idx val="1"/>
          <c:order val="1"/>
          <c:tx>
            <c:v>참여</c:v>
          </c:tx>
          <c:spPr>
            <a:solidFill xmlns:a="http://schemas.openxmlformats.org/drawingml/2006/main">
              <a:srgbClr val="B59369"/>
            </a:solidFill>
          </c:spPr>
          <c:marker>
            <c:symbol val="circle"/>
            <c:size val="9"/>
          </c:marker>
          <c:xVal>
            <c:numRef>
              <c:f>'Chart Data'!$C$2:$C$8</c:f>
              <c:numCache>
                <c:formatCode>General</c:formatCode>
                <c:ptCount val="7"/>
                <c:pt idx="0">
                  <c:v>204987</c:v>
                </c:pt>
                <c:pt idx="1">
                  <c:v>205315</c:v>
                </c:pt>
                <c:pt idx="2">
                  <c:v>205611</c:v>
                </c:pt>
                <c:pt idx="3">
                  <c:v>205838</c:v>
                </c:pt>
                <c:pt idx="4">
                  <c:v>204615</c:v>
                </c:pt>
                <c:pt idx="5">
                  <c:v>204828</c:v>
                </c:pt>
                <c:pt idx="6">
                  <c:v>205428</c:v>
                </c:pt>
              </c:numCache>
            </c:numRef>
          </c:xVal>
          <c:yVal>
            <c:numRef>
              <c:f>'Chart Data'!$D$2:$D$8</c:f>
              <c:numCache>
                <c:formatCode>0</c:formatCode>
                <c:ptCount val="7"/>
                <c:pt idx="0">
                  <c:v>455329</c:v>
                </c:pt>
                <c:pt idx="1">
                  <c:v>454241</c:v>
                </c:pt>
                <c:pt idx="2">
                  <c:v>454967</c:v>
                </c:pt>
                <c:pt idx="3">
                  <c:v>455017</c:v>
                </c:pt>
                <c:pt idx="4">
                  <c:v>453829</c:v>
                </c:pt>
                <c:pt idx="5">
                  <c:v>453365</c:v>
                </c:pt>
                <c:pt idx="6">
                  <c:v>454564</c:v>
                </c:pt>
              </c:numCache>
            </c:numRef>
          </c:yVal>
        </c:ser>
        <c:ser>
          <c:idx val="2"/>
          <c:order val="2"/>
          <c:tx>
            <c:v>연계</c:v>
          </c:tx>
          <c:spPr>
            <a:solidFill xmlns:a="http://schemas.openxmlformats.org/drawingml/2006/main">
              <a:srgbClr val="C9C9C6"/>
            </a:solidFill>
          </c:spPr>
          <c:marker>
            <c:symbol val="circle"/>
            <c:size val="9"/>
          </c:marker>
          <c:xVal>
            <c:numRef>
              <c:f>'Chart Data'!$E$2:$E$8</c:f>
              <c:numCache>
                <c:formatCode>General</c:formatCode>
                <c:ptCount val="7"/>
                <c:pt idx="0">
                  <c:v>204223</c:v>
                </c:pt>
                <c:pt idx="1">
                  <c:v>205511</c:v>
                </c:pt>
                <c:pt idx="2">
                  <c:v>205012</c:v>
                </c:pt>
                <c:pt idx="3">
                  <c:v>205156</c:v>
                </c:pt>
                <c:pt idx="4">
                  <c:v>204076</c:v>
                </c:pt>
                <c:pt idx="5">
                  <c:v>204193</c:v>
                </c:pt>
                <c:pt idx="6">
                  <c:v>204578</c:v>
                </c:pt>
              </c:numCache>
            </c:numRef>
          </c:xVal>
          <c:yVal>
            <c:numRef>
              <c:f>'Chart Data'!$F$2:$F$8</c:f>
              <c:numCache>
                <c:formatCode>0</c:formatCode>
                <c:ptCount val="7"/>
                <c:pt idx="0">
                  <c:v>453496</c:v>
                </c:pt>
                <c:pt idx="1">
                  <c:v>456109</c:v>
                </c:pt>
                <c:pt idx="2">
                  <c:v>453131</c:v>
                </c:pt>
                <c:pt idx="3">
                  <c:v>453263</c:v>
                </c:pt>
                <c:pt idx="4">
                  <c:v>452936</c:v>
                </c:pt>
                <c:pt idx="5">
                  <c:v>453064</c:v>
                </c:pt>
                <c:pt idx="6">
                  <c:v>453280</c:v>
                </c:pt>
              </c:numCache>
            </c:numRef>
          </c:y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50112"/>
      </c:valAx>
      <c:valAx>
        <c:axId val="48650112"/>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ser>
          <c:idx val="0"/>
          <c:order val="0"/>
          <c:tx>
            <c:v>상대 도달 지수 R</c:v>
          </c:tx>
          <c:spPr>
            <a:ln xmlns:a="http://schemas.openxmlformats.org/drawingml/2006/main" w="28575">
              <a:solidFill>
                <a:srgbClr val="487CA5"/>
              </a:solidFill>
            </a:ln>
          </c:spPr>
          <c:marker>
            <c:symbol val="none"/>
          </c:marker>
          <c:cat>
            <c:strRef>
              <c:f>'Chart Data'!$A$2:$A$7</c:f>
              <c:strCache>
                <c:ptCount val="6"/>
                <c:pt idx="0">
                  <c:v>0</c:v>
                </c:pt>
                <c:pt idx="1">
                  <c:v>200</c:v>
                </c:pt>
                <c:pt idx="2">
                  <c:v>400</c:v>
                </c:pt>
                <c:pt idx="3">
                  <c:v>600</c:v>
                </c:pt>
                <c:pt idx="4">
                  <c:v>800</c:v>
                </c:pt>
                <c:pt idx="5">
                  <c:v>1,000</c:v>
                </c:pt>
              </c:strCache>
            </c:strRef>
          </c:cat>
          <c:val>
            <c:numRef>
              <c:f>'Chart Data'!$B$2:$B$7</c:f>
              <c:numCache>
                <c:formatCode>0.00</c:formatCode>
                <c:ptCount val="6"/>
                <c:pt idx="0">
                  <c:v>1</c:v>
                </c:pt>
                <c:pt idx="1">
                  <c:v>0.78836</c:v>
                </c:pt>
                <c:pt idx="2">
                  <c:v>0.621512</c:v>
                </c:pt>
                <c:pt idx="3">
                  <c:v>0.489975</c:v>
                </c:pt>
                <c:pt idx="4">
                  <c:v>0.386277</c:v>
                </c:pt>
                <c:pt idx="5">
                  <c:v>0.304526</c:v>
                </c:pt>
              </c:numCache>
            </c:numRef>
          </c: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거리 (m)</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72768"/>
      </c:catAx>
      <c:valAx>
        <c:axId val="48672768"/>
        <c:scaling>
          <c:orientation val="minMax"/>
          <c:max val="1"/>
          <c:min val="0"/>
        </c:scaling>
        <c:delete val="0"/>
        <c:axPos val="l"/>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상대 도달 지수 R</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50112"/>
        <c:crossBetween val="between"/>
        <c:majorUnit val="0.2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기존</c:v>
          </c:tx>
          <c:spPr>
            <a:solidFill xmlns:a="http://schemas.openxmlformats.org/drawingml/2006/main">
              <a:srgbClr val="D9D9D6"/>
            </a:solidFill>
          </c:spPr>
          <c:cat>
            <c:strRef>
              <c:f>'Chart Data'!$A$2:$A$5</c:f>
              <c:strCache>
                <c:ptCount val="4"/>
                <c:pt idx="0">
                  <c:v>시립대앞사거리</c:v>
                </c:pt>
                <c:pt idx="1">
                  <c:v>회기역 1번</c:v>
                </c:pt>
                <c:pt idx="2">
                  <c:v>시조사삼거리</c:v>
                </c:pt>
                <c:pt idx="3">
                  <c:v>이경시장</c:v>
                </c:pt>
              </c:strCache>
            </c:strRef>
          </c:cat>
          <c:val>
            <c:numRef>
              <c:f>'Chart Data'!$B$2:$B$5</c:f>
              <c:numCache>
                <c:formatCode>0</c:formatCode>
                <c:ptCount val="4"/>
                <c:pt idx="0">
                  <c:v>3</c:v>
                </c:pt>
                <c:pt idx="1">
                  <c:v>2</c:v>
                </c:pt>
                <c:pt idx="2">
                  <c:v>2</c:v>
                </c:pt>
                <c:pt idx="3">
                  <c:v>3</c:v>
                </c:pt>
              </c:numCache>
            </c:numRef>
          </c:val>
        </c:ser>
        <c:ser>
          <c:idx val="1"/>
          <c:order val="1"/>
          <c:tx>
            <c:v>최종</c:v>
          </c:tx>
          <c:spPr>
            <a:solidFill xmlns:a="http://schemas.openxmlformats.org/drawingml/2006/main">
              <a:srgbClr val="487CA5"/>
            </a:solidFill>
          </c:spPr>
          <c:cat>
            <c:strRef>
              <c:f>'Chart Data'!$C$2:$C$5</c:f>
              <c:strCache>
                <c:ptCount val="4"/>
                <c:pt idx="0">
                  <c:v>시립대앞사거리</c:v>
                </c:pt>
                <c:pt idx="1">
                  <c:v>회기역 1번</c:v>
                </c:pt>
                <c:pt idx="2">
                  <c:v>시조사삼거리</c:v>
                </c:pt>
                <c:pt idx="3">
                  <c:v>이경시장</c:v>
                </c:pt>
              </c:strCache>
            </c:strRef>
          </c:cat>
          <c:val>
            <c:numRef>
              <c:f>'Chart Data'!$D$2:$D$5</c:f>
              <c:numCache>
                <c:formatCode>0</c:formatCode>
                <c:ptCount val="4"/>
                <c:pt idx="0">
                  <c:v>6</c:v>
                </c:pt>
                <c:pt idx="1">
                  <c:v>6</c:v>
                </c:pt>
                <c:pt idx="2">
                  <c:v>6</c:v>
                </c:pt>
                <c:pt idx="3">
                  <c:v>3</c:v>
                </c:pt>
              </c:numCache>
            </c:numRef>
          </c:val>
        </c:ser>
        <c:dLbls>
          <c:txPr>
            <a:bodyPr xmlns:a="http://schemas.openxmlformats.org/drawingml/2006/main" anchorCtr="1"/>
            <a:lstStyle xmlns:a="http://schemas.openxmlformats.org/drawingml/2006/main"/>
            <a:p xmlns:a="http://schemas.openxmlformats.org/drawingml/2006/main">
              <a:pPr>
                <a:defRPr sz="1575">
                  <a:latin typeface="Malgun Gothic"/>
                  <a:ea typeface="Malgun Gothic"/>
                  <a:cs typeface="Malgun Gothic"/>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72768"/>
      </c:catAx>
      <c:valAx>
        <c:axId val="48672768"/>
        <c:scaling>
          <c:orientation val="minMax"/>
          <c:max val="7"/>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50112"/>
        <c:crossBetween val="between"/>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소외도 상위 5곳</c:v>
          </c:tx>
          <c:spPr>
            <a:solidFill xmlns:a="http://schemas.openxmlformats.org/drawingml/2006/main">
              <a:srgbClr val="487CA5"/>
            </a:solidFill>
          </c:spPr>
          <c:cat>
            <c:strRef>
              <c:f>'Chart Data'!$A$2:$A$3</c:f>
              <c:strCache>
                <c:ptCount val="2"/>
                <c:pt idx="0">
                  <c:v>기존 배정</c:v>
                </c:pt>
                <c:pt idx="1">
                  <c:v>최종 배정</c:v>
                </c:pt>
              </c:strCache>
            </c:strRef>
          </c:cat>
          <c:val>
            <c:numRef>
              <c:f>'Chart Data'!$B$2:$B$3</c:f>
              <c:numCache>
                <c:formatCode>0</c:formatCode>
                <c:ptCount val="2"/>
                <c:pt idx="0">
                  <c:v>13</c:v>
                </c:pt>
                <c:pt idx="1">
                  <c:v>27</c:v>
                </c:pt>
              </c:numCache>
            </c:numRef>
          </c:val>
        </c:ser>
        <c:ser>
          <c:idx val="1"/>
          <c:order val="1"/>
          <c:tx>
            <c:v>나머지 대상 11곳</c:v>
          </c:tx>
          <c:spPr>
            <a:solidFill xmlns:a="http://schemas.openxmlformats.org/drawingml/2006/main">
              <a:srgbClr val="CBCBC7"/>
            </a:solidFill>
          </c:spPr>
          <c:cat>
            <c:strRef>
              <c:f>'Chart Data'!$C$2:$C$3</c:f>
              <c:strCache>
                <c:ptCount val="2"/>
                <c:pt idx="0">
                  <c:v>기존 배정</c:v>
                </c:pt>
                <c:pt idx="1">
                  <c:v>최종 배정</c:v>
                </c:pt>
              </c:strCache>
            </c:strRef>
          </c:cat>
          <c:val>
            <c:numRef>
              <c:f>'Chart Data'!$D$2:$D$3</c:f>
              <c:numCache>
                <c:formatCode>0</c:formatCode>
                <c:ptCount val="2"/>
                <c:pt idx="0">
                  <c:v>37</c:v>
                </c:pt>
                <c:pt idx="1">
                  <c:v>33</c:v>
                </c:pt>
              </c:numCache>
            </c:numRef>
          </c:val>
        </c:ser>
        <c:ser>
          <c:idx val="2"/>
          <c:order val="2"/>
          <c:tx>
            <c:v>연계 7곳</c:v>
          </c:tx>
          <c:spPr>
            <a:solidFill xmlns:a="http://schemas.openxmlformats.org/drawingml/2006/main">
              <a:srgbClr val="EAEAE7"/>
            </a:solidFill>
          </c:spPr>
          <c:dLbls>
            <c:dLbl>
              <c:idx val="1"/>
              <c:showLegendKey val="0"/>
              <c:showVal val="0"/>
              <c:showCatName val="0"/>
              <c:showSerName val="0"/>
              <c:showPercent val="0"/>
              <c:showBubbleSize val="0"/>
            </c:dLbl>
          </c:dLbls>
          <c:cat>
            <c:strRef>
              <c:f>'Chart Data'!$E$2:$E$3</c:f>
              <c:strCache>
                <c:ptCount val="2"/>
                <c:pt idx="0">
                  <c:v>기존 배정</c:v>
                </c:pt>
                <c:pt idx="1">
                  <c:v>최종 배정</c:v>
                </c:pt>
              </c:strCache>
            </c:strRef>
          </c:cat>
          <c:val>
            <c:numRef>
              <c:f>'Chart Data'!$F$2:$F$3</c:f>
              <c:numCache>
                <c:formatCode>0</c:formatCode>
                <c:ptCount val="2"/>
                <c:pt idx="0">
                  <c:v>10</c:v>
                </c:pt>
                <c:pt idx="1">
                  <c:v>0</c:v>
                </c:pt>
              </c:numCache>
            </c:numRef>
          </c:val>
        </c:ser>
        <c:dLbls>
          <c:txPr>
            <a:bodyPr xmlns:a="http://schemas.openxmlformats.org/drawingml/2006/main" anchorCtr="1"/>
            <a:lstStyle xmlns:a="http://schemas.openxmlformats.org/drawingml/2006/main"/>
            <a:p xmlns:a="http://schemas.openxmlformats.org/drawingml/2006/main">
              <a:pPr>
                <a:defRPr sz="1575">
                  <a:latin typeface="Malgun Gothic"/>
                  <a:ea typeface="Malgun Gothic"/>
                  <a:cs typeface="Malgun Gothic"/>
                </a:defRPr>
              </a:pPr>
            </a:p>
          </c:txPr>
          <c:dLblPos val="ctr"/>
          <c:showLegendKey val="0"/>
          <c:showVal val="1"/>
          <c:showCatName val="0"/>
          <c:showSerName val="0"/>
          <c:showPercent val="0"/>
          <c:showBubbleSize val="0"/>
          <c:showLeaderLines val="0"/>
        </c:dLbls>
        <c:overlap val="100"/>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72768"/>
      </c:catAx>
      <c:valAx>
        <c:axId val="48672768"/>
        <c:scaling>
          <c:orientation val="minMax"/>
          <c:max val="60"/>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50112"/>
        <c:crossBetween val="between"/>
        <c:majorUnit val="2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평균 절대 Shapley 비중 (%)</c:v>
          </c:tx>
          <c:spPr>
            <a:solidFill xmlns:a="http://schemas.openxmlformats.org/drawingml/2006/main">
              <a:srgbClr val="487CA5"/>
            </a:solidFill>
          </c:spPr>
          <c:cat>
            <c:strRef>
              <c:f>'Chart Data'!$A$2:$A$4</c:f>
              <c:strCache>
                <c:ptCount val="3"/>
                <c:pt idx="0">
                  <c:v>D 하락</c:v>
                </c:pt>
                <c:pt idx="1">
                  <c:v>L 저활력</c:v>
                </c:pt>
                <c:pt idx="2">
                  <c:v>R 도달</c:v>
                </c:pt>
              </c:strCache>
            </c:strRef>
          </c:cat>
          <c:val>
            <c:numRef>
              <c:f>'Chart Data'!$B$2:$B$4</c:f>
              <c:numCache>
                <c:formatCode>0</c:formatCode>
                <c:ptCount val="3"/>
                <c:pt idx="0">
                  <c:v>41.5</c:v>
                </c:pt>
                <c:pt idx="1">
                  <c:v>41.6</c:v>
                </c:pt>
                <c:pt idx="2">
                  <c:v>16.9</c:v>
                </c:pt>
              </c:numCache>
            </c:numRef>
          </c:val>
        </c:ser>
        <c:dLbls>
          <c:txPr>
            <a:bodyPr xmlns:a="http://schemas.openxmlformats.org/drawingml/2006/main" anchorCtr="1"/>
            <a:lstStyle xmlns:a="http://schemas.openxmlformats.org/drawingml/2006/main"/>
            <a:p xmlns:a="http://schemas.openxmlformats.org/drawingml/2006/main">
              <a:pPr>
                <a:defRPr sz="1575">
                  <a:latin typeface="Malgun Gothic"/>
                  <a:ea typeface="Malgun Gothic"/>
                  <a:cs typeface="Malgun Gothic"/>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72768"/>
      </c:catAx>
      <c:valAx>
        <c:axId val="48672768"/>
        <c:scaling>
          <c:orientation val="minMax"/>
          <c:max val="50"/>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50112"/>
        <c:crossBetween val="between"/>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DCD4EB46-3794-41D1-8BEA-F382B0D01DB7}"/>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DF62EA-1979-4DA6-A645-683DBB0BFE87}"/>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D80F5BF-6DDD-4E5F-A032-53C789BB55F1}"/>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4C129BD1-26D0-42C5-8EB6-D3979ED3F543}"/>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CEC45A9B-D1F6-4E71-8797-685025953273}"/>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1697E127-FC00-41A0-B98A-B733F2C3A865}"/>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F2890606-E2C0-4803-B028-5F15C10227E9}"/>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BB88C578-E930-4CE9-BC6B-27679AEFE5EC}"/>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62BC1333-BDB2-4900-B688-887932BF52AE}"/>
              </a:ext>
            </a:extLst>
          </p:cNvPr>
          <p:cNvSpPr>
            <a:spLocks xmlns:a="http://schemas.openxmlformats.org/drawingml/2006/main" noGrp="1"/>
          </p:cNvSpPr>
          <p:nvPr/>
        </p:nvSpPr>
        <p:spPr>
          <a:xfrm xmlns:a="http://schemas.openxmlformats.org/drawingml/2006/main">
            <a:off x="95250" y="2962275"/>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2EA7EB0-F444-48BD-9AD5-99EFF94547B1}"/>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1" name="">
            <a:extLst xmlns:a="http://schemas.openxmlformats.org/drawingml/2006/main">
              <a:ext uri="{FF2B5EF4-FFF2-40B4-BE49-F238E27FC236}">
                <a16:creationId xmlns:a16="http://schemas.microsoft.com/office/drawing/2014/main" id="{492D37A4-E31F-4D1E-82AF-B8430A5DD8A8}"/>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486AB3D-BB79-4846-9007-F91B03578143}"/>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9D408A4-5659-4952-8C59-7AA78E6ED2E0}"/>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50E0E79-3675-4622-9C4E-4F3AF2878D2C}"/>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프로젝트 개요</a:t>
            </a:r>
          </a:p>
        </p:txBody>
      </p:sp>
      <p:sp>
        <p:nvSpPr>
          <p:cNvPr id="15" name="">
            <a:extLst xmlns:a="http://schemas.openxmlformats.org/drawingml/2006/main">
              <a:ext uri="{FF2B5EF4-FFF2-40B4-BE49-F238E27FC236}">
                <a16:creationId xmlns:a16="http://schemas.microsoft.com/office/drawing/2014/main" id="{B241B252-B88A-49C3-B70F-4420611D1531}"/>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6" name="">
            <a:extLst xmlns:a="http://schemas.openxmlformats.org/drawingml/2006/main">
              <a:ext uri="{FF2B5EF4-FFF2-40B4-BE49-F238E27FC236}">
                <a16:creationId xmlns:a16="http://schemas.microsoft.com/office/drawing/2014/main" id="{915C7D46-F581-4478-94F1-1FC0387A5C37}"/>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4357FE8-C2FA-4594-A27B-1BFE8BB7BADB}"/>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A60F79E-E64B-4AF3-8C66-1E24029561D8}"/>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B3711B7-CE04-4867-955B-67FDD78BE60A}"/>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20" name="">
            <a:extLst xmlns:a="http://schemas.openxmlformats.org/drawingml/2006/main">
              <a:ext uri="{FF2B5EF4-FFF2-40B4-BE49-F238E27FC236}">
                <a16:creationId xmlns:a16="http://schemas.microsoft.com/office/drawing/2014/main" id="{080B7884-88E3-42E6-ABC0-28EF9EA1FE5D}"/>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1" name="">
            <a:extLst xmlns:a="http://schemas.openxmlformats.org/drawingml/2006/main">
              <a:ext uri="{FF2B5EF4-FFF2-40B4-BE49-F238E27FC236}">
                <a16:creationId xmlns:a16="http://schemas.microsoft.com/office/drawing/2014/main" id="{7771BF2D-4C8F-4032-9087-AEB9FF02AC65}"/>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153AAA6-5B22-42AA-87F2-B08FFEF3888D}"/>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6B056B2-E7D3-47D5-893E-B240BEC04389}"/>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8759954-1672-4EEF-B8F3-B06F39C04D52}"/>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5" name="">
            <a:extLst xmlns:a="http://schemas.openxmlformats.org/drawingml/2006/main">
              <a:ext uri="{FF2B5EF4-FFF2-40B4-BE49-F238E27FC236}">
                <a16:creationId xmlns:a16="http://schemas.microsoft.com/office/drawing/2014/main" id="{D0964E42-354F-4A62-84D9-2CFF35FC3840}"/>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2440C28E-7531-42A5-AFE7-58ABFB7573A4}"/>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677B83A-B6B4-4A3C-BC60-6F4AE18F2697}"/>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D6C5BD48-FF90-4E82-BA39-AA4838075E63}"/>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8DB17C3-CCDB-4B05-B468-63B89B8009BC}"/>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3754B6F5-6DB2-42C6-8D47-C57E6A511A6B}"/>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CDADF3D5-9F78-42C5-9EBF-A9F34034AC91}"/>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D9392E93-7903-4241-B80C-E0A326C7C202}"/>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DBFA26E9-A3A1-4CF8-B0C5-B150C874FE37}"/>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52C109E2-2CEE-463A-B957-4225E7B889D6}"/>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B6E5433A-5AEB-4C23-B12D-F41461AC448F}"/>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027B0FC9-C224-48B1-9E4B-926B52FEB5C3}"/>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E3B0504D-71FA-4167-B230-0849F46A835C}"/>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45B61134-7FFB-4A05-B8FD-7F339D4A1AA8}"/>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462587FB-BB82-4602-B309-70C2119E75EC}"/>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80EF1DF4-BF72-4CAB-8413-6C38349C10C0}"/>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8E653367-7D71-42C3-9209-B777E4DFC20B}"/>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1FD37169-90DD-44ED-B0A8-CFD632FE8A6A}"/>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85FC7900-B48C-40C9-8652-20D18DF4682A}"/>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74C01F5F-396F-41E6-9ABB-A134561BCAC5}"/>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6D45E8FF-8005-4B99-8371-C8B90CDB387E}"/>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BE880D99-1024-4CDB-8C59-21E4DFEE57F4}"/>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1BC98CC3-A090-46CD-B30B-1823789FE20F}"/>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73C39485-E802-4ED2-B036-99969F885F20}"/>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99ADEA6B-E0E3-474E-BD4A-4F2D78636F56}"/>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0A5FC196-2FB7-4428-8E12-20C7D5897492}"/>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885FC81A-B18E-489E-B7EF-2C4204D534A8}"/>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22CF4EAB-1A19-4AA0-8EE1-083039E8A018}"/>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TROIKA 스탬프 배정안</a:t>
            </a:r>
          </a:p>
        </p:txBody>
      </p:sp>
      <p:sp>
        <p:nvSpPr>
          <p:cNvPr id="53" name="">
            <a:extLst xmlns:a="http://schemas.openxmlformats.org/drawingml/2006/main">
              <a:ext uri="{FF2B5EF4-FFF2-40B4-BE49-F238E27FC236}">
                <a16:creationId xmlns:a16="http://schemas.microsoft.com/office/drawing/2014/main" id="{FDEB7773-8612-4A21-ACD6-161E71F865D7}"/>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2A517000-EC0A-44D6-9519-7225172F570C}"/>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CC5FDCAD-B685-4A11-9858-0BCC515BCE34}"/>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54835F8B-0BE3-4EC6-AAC5-BE6E724CA0E4}"/>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F1A842B1-118E-40B2-A419-15E080F4F6ED}"/>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27F6A3AC-6DF5-42FC-8369-E4B2C1942AB4}"/>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TROIKA 스탬프 배정안</a:t>
            </a:r>
          </a:p>
        </p:txBody>
      </p:sp>
      <p:sp>
        <p:nvSpPr>
          <p:cNvPr id="59" name="">
            <a:extLst xmlns:a="http://schemas.openxmlformats.org/drawingml/2006/main">
              <a:ext uri="{FF2B5EF4-FFF2-40B4-BE49-F238E27FC236}">
                <a16:creationId xmlns:a16="http://schemas.microsoft.com/office/drawing/2014/main" id="{41DA8595-8806-4BE1-9BA3-6B5F59165521}"/>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서울시 상권 자료 기반 정책제안</a:t>
            </a:r>
          </a:p>
        </p:txBody>
      </p:sp>
      <p:sp>
        <p:nvSpPr>
          <p:cNvPr id="60" name="">
            <a:extLst xmlns:a="http://schemas.openxmlformats.org/drawingml/2006/main">
              <a:ext uri="{FF2B5EF4-FFF2-40B4-BE49-F238E27FC236}">
                <a16:creationId xmlns:a16="http://schemas.microsoft.com/office/drawing/2014/main" id="{E119A0EA-8870-471E-957B-3578D2FBE737}"/>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7671A40C-45F2-4283-BB37-501859DA6C2A}"/>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01 / 11</a:t>
            </a:r>
          </a:p>
        </p:txBody>
      </p:sp>
      <p:sp>
        <p:nvSpPr>
          <p:cNvPr id="62" name="">
            <a:extLst xmlns:a="http://schemas.openxmlformats.org/drawingml/2006/main">
              <a:ext uri="{FF2B5EF4-FFF2-40B4-BE49-F238E27FC236}">
                <a16:creationId xmlns:a16="http://schemas.microsoft.com/office/drawing/2014/main" id="{CA7B5D1B-4081-4603-BE3E-D0A2DEC68E83}"/>
              </a:ext>
            </a:extLst>
          </p:cNvPr>
          <p:cNvSpPr>
            <a:spLocks xmlns:a="http://schemas.openxmlformats.org/drawingml/2006/main" noGrp="1"/>
          </p:cNvSpPr>
          <p:nvPr/>
        </p:nvSpPr>
        <p:spPr>
          <a:xfrm xmlns:a="http://schemas.openxmlformats.org/drawingml/2006/main">
            <a:off x="3048000" y="3419475"/>
            <a:ext cx="1123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525" b="1">
                <a:solidFill>
                  <a:srgbClr val="37352F"/>
                </a:solidFill>
                <a:latin typeface="Malgun Gothic"/>
                <a:ea typeface="Malgun Gothic"/>
                <a:cs typeface="Malgun Gothic"/>
              </a:defRPr>
            </a:pPr>
            <a:r>
              <a:rPr sz="3525" b="1">
                <a:solidFill>
                  <a:srgbClr val="37352F"/>
                </a:solidFill>
                <a:latin typeface="Malgun Gothic"/>
                <a:ea typeface="Malgun Gothic"/>
                <a:cs typeface="Malgun Gothic"/>
              </a:rPr>
              <a:t>회기·이문·전농 상권을 잇는</a:t>
            </a:r>
          </a:p>
          <a:p xmlns:a="http://schemas.openxmlformats.org/drawingml/2006/main">
            <a:pPr>
              <a:defRPr sz="3525" b="1">
                <a:solidFill>
                  <a:srgbClr val="37352F"/>
                </a:solidFill>
                <a:latin typeface="Malgun Gothic"/>
                <a:ea typeface="Malgun Gothic"/>
                <a:cs typeface="Malgun Gothic"/>
              </a:defRPr>
            </a:pPr>
            <a:r>
              <a:rPr sz="3525" b="1">
                <a:solidFill>
                  <a:srgbClr val="37352F"/>
                </a:solidFill>
                <a:latin typeface="Malgun Gothic"/>
                <a:ea typeface="Malgun Gothic"/>
                <a:cs typeface="Malgun Gothic"/>
              </a:rPr>
              <a:t>스탬프 모집 배정</a:t>
            </a:r>
          </a:p>
        </p:txBody>
      </p:sp>
      <p:sp>
        <p:nvSpPr>
          <p:cNvPr id="63" name="">
            <a:extLst xmlns:a="http://schemas.openxmlformats.org/drawingml/2006/main">
              <a:ext uri="{FF2B5EF4-FFF2-40B4-BE49-F238E27FC236}">
                <a16:creationId xmlns:a16="http://schemas.microsoft.com/office/drawing/2014/main" id="{AB2136F7-B6FC-44C1-A944-73C4692B766F}"/>
              </a:ext>
            </a:extLst>
          </p:cNvPr>
          <p:cNvSpPr>
            <a:spLocks xmlns:a="http://schemas.openxmlformats.org/drawingml/2006/main" noGrp="1"/>
          </p:cNvSpPr>
          <p:nvPr/>
        </p:nvSpPr>
        <p:spPr>
          <a:xfrm xmlns:a="http://schemas.openxmlformats.org/drawingml/2006/main">
            <a:off x="3048000" y="5038725"/>
            <a:ext cx="5143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75" b="1">
                <a:solidFill>
                  <a:srgbClr val="37352F"/>
                </a:solidFill>
                <a:latin typeface="Malgun Gothic"/>
                <a:ea typeface="Malgun Gothic"/>
                <a:cs typeface="Malgun Gothic"/>
              </a:defRPr>
            </a:pPr>
            <a:r>
              <a:rPr sz="4875" b="1">
                <a:solidFill>
                  <a:srgbClr val="37352F"/>
                </a:solidFill>
                <a:latin typeface="Malgun Gothic"/>
                <a:ea typeface="Malgun Gothic"/>
                <a:cs typeface="Malgun Gothic"/>
              </a:rPr>
              <a:t>16개 상권</a:t>
            </a:r>
          </a:p>
        </p:txBody>
      </p:sp>
      <p:sp>
        <p:nvSpPr>
          <p:cNvPr id="64" name="">
            <a:extLst xmlns:a="http://schemas.openxmlformats.org/drawingml/2006/main">
              <a:ext uri="{FF2B5EF4-FFF2-40B4-BE49-F238E27FC236}">
                <a16:creationId xmlns:a16="http://schemas.microsoft.com/office/drawing/2014/main" id="{05945D05-0CB9-45B8-9712-AFED6CC950E3}"/>
              </a:ext>
            </a:extLst>
          </p:cNvPr>
          <p:cNvSpPr>
            <a:spLocks xmlns:a="http://schemas.openxmlformats.org/drawingml/2006/main" noGrp="1"/>
          </p:cNvSpPr>
          <p:nvPr/>
        </p:nvSpPr>
        <p:spPr>
          <a:xfrm xmlns:a="http://schemas.openxmlformats.org/drawingml/2006/main">
            <a:off x="8934450" y="5038725"/>
            <a:ext cx="5619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75" b="1">
                <a:solidFill>
                  <a:srgbClr val="37352F"/>
                </a:solidFill>
                <a:latin typeface="Malgun Gothic"/>
                <a:ea typeface="Malgun Gothic"/>
                <a:cs typeface="Malgun Gothic"/>
              </a:defRPr>
            </a:pPr>
            <a:r>
              <a:rPr sz="4875" b="1">
                <a:solidFill>
                  <a:srgbClr val="37352F"/>
                </a:solidFill>
                <a:latin typeface="Malgun Gothic"/>
                <a:ea typeface="Malgun Gothic"/>
                <a:cs typeface="Malgun Gothic"/>
              </a:rPr>
              <a:t>60개 배정</a:t>
            </a:r>
          </a:p>
        </p:txBody>
      </p:sp>
      <p:sp>
        <p:nvSpPr>
          <p:cNvPr id="65" name="">
            <a:extLst xmlns:a="http://schemas.openxmlformats.org/drawingml/2006/main">
              <a:ext uri="{FF2B5EF4-FFF2-40B4-BE49-F238E27FC236}">
                <a16:creationId xmlns:a16="http://schemas.microsoft.com/office/drawing/2014/main" id="{A05E3C07-F2C3-47A0-B8A6-190A5E9AF675}"/>
              </a:ext>
            </a:extLst>
          </p:cNvPr>
          <p:cNvSpPr>
            <a:spLocks xmlns:a="http://schemas.openxmlformats.org/drawingml/2006/main" noGrp="1"/>
          </p:cNvSpPr>
          <p:nvPr/>
        </p:nvSpPr>
        <p:spPr>
          <a:xfrm xmlns:a="http://schemas.openxmlformats.org/drawingml/2006/main">
            <a:off x="3048000" y="6543675"/>
            <a:ext cx="11506200" cy="790575"/>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649871DE-326B-49AC-A81A-2FBDE8675E27}"/>
              </a:ext>
            </a:extLst>
          </p:cNvPr>
          <p:cNvSpPr>
            <a:spLocks xmlns:a="http://schemas.openxmlformats.org/drawingml/2006/main" noGrp="1"/>
          </p:cNvSpPr>
          <p:nvPr/>
        </p:nvSpPr>
        <p:spPr>
          <a:xfrm xmlns:a="http://schemas.openxmlformats.org/drawingml/2006/main">
            <a:off x="3238500" y="666750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7" name="">
            <a:extLst xmlns:a="http://schemas.openxmlformats.org/drawingml/2006/main">
              <a:ext uri="{FF2B5EF4-FFF2-40B4-BE49-F238E27FC236}">
                <a16:creationId xmlns:a16="http://schemas.microsoft.com/office/drawing/2014/main" id="{20C75058-5D1D-440C-8281-4BA745060694}"/>
              </a:ext>
            </a:extLst>
          </p:cNvPr>
          <p:cNvSpPr>
            <a:spLocks xmlns:a="http://schemas.openxmlformats.org/drawingml/2006/main" noGrp="1"/>
          </p:cNvSpPr>
          <p:nvPr/>
        </p:nvSpPr>
        <p:spPr>
          <a:xfrm xmlns:a="http://schemas.openxmlformats.org/drawingml/2006/main">
            <a:off x="3714750" y="6657975"/>
            <a:ext cx="1057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지원 필요도가 높은 상권으로 방문을 연결하는 시범 운영 제안</a:t>
            </a:r>
          </a:p>
        </p:txBody>
      </p:sp>
      <p:sp>
        <p:nvSpPr>
          <p:cNvPr id="68" name="">
            <a:extLst xmlns:a="http://schemas.openxmlformats.org/drawingml/2006/main">
              <a:ext uri="{FF2B5EF4-FFF2-40B4-BE49-F238E27FC236}">
                <a16:creationId xmlns:a16="http://schemas.microsoft.com/office/drawing/2014/main" id="{34E09B12-44AC-449D-BB74-1F42810253C4}"/>
              </a:ext>
            </a:extLst>
          </p:cNvPr>
          <p:cNvSpPr>
            <a:spLocks xmlns:a="http://schemas.openxmlformats.org/drawingml/2006/main" noGrp="1"/>
          </p:cNvSpPr>
          <p:nvPr/>
        </p:nvSpPr>
        <p:spPr>
          <a:xfrm xmlns:a="http://schemas.openxmlformats.org/drawingml/2006/main">
            <a:off x="3048000" y="7743825"/>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787774"/>
                </a:solidFill>
                <a:latin typeface="Malgun Gothic"/>
                <a:ea typeface="Malgun Gothic"/>
                <a:cs typeface="Malgun Gothic"/>
              </a:defRPr>
            </a:pPr>
            <a:r>
              <a:rPr sz="1500" b="0">
                <a:solidFill>
                  <a:srgbClr val="787774"/>
                </a:solidFill>
                <a:latin typeface="Malgun Gothic"/>
                <a:ea typeface="Malgun Gothic"/>
                <a:cs typeface="Malgun Gothic"/>
              </a:rPr>
              <a:t>TROIKA  ·  2026.09</a:t>
            </a:r>
          </a:p>
        </p:txBody>
      </p:sp>
    </p:spTree>
    <p:extLst>
      <p:ext uri="{BB962C8B-B14F-4D97-AF65-F5344CB8AC3E}">
        <p14:creationId xmlns:p14="http://schemas.microsoft.com/office/powerpoint/2010/main" val="7851858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1" name="">
            <a:extLst xmlns:a="http://schemas.openxmlformats.org/drawingml/2006/main">
              <a:ext uri="{FF2B5EF4-FFF2-40B4-BE49-F238E27FC236}">
                <a16:creationId xmlns:a16="http://schemas.microsoft.com/office/drawing/2014/main" id="{0AFDF45C-1A48-412F-A220-1269E407B296}"/>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6ACEEB-7277-402A-97CB-0B2C7B54A971}"/>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0A1EEE3-47AC-4CA2-B21F-CCB25AF36E55}"/>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02643942-3ED9-4035-964D-532D218018E1}"/>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0626B322-6F5B-4781-90EE-9E7DA0C22297}"/>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D129DFE5-7AD1-4B6E-941F-3CAFAB1A242D}"/>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244A1F5C-00D2-4A1E-83F6-4A862640FB74}"/>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B0E07939-C983-41CD-9893-B01FCFF67B83}"/>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B8DCB6F1-DE13-4330-A5F2-2586C70C3539}"/>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AAD944EB-6A12-4C75-9FB3-8741CF8612AE}"/>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C366603-9C95-4A08-8E7B-8100E86E0BDC}"/>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143FE89-5EAB-4F30-AE86-C65BF4AD269C}"/>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B58E8D3-DA24-4A49-A794-260095BFD614}"/>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12235071-2B1D-4FB7-8DBB-B2D09446FBDD}"/>
              </a:ext>
            </a:extLst>
          </p:cNvPr>
          <p:cNvSpPr>
            <a:spLocks xmlns:a="http://schemas.openxmlformats.org/drawingml/2006/main" noGrp="1"/>
          </p:cNvSpPr>
          <p:nvPr/>
        </p:nvSpPr>
        <p:spPr>
          <a:xfrm xmlns:a="http://schemas.openxmlformats.org/drawingml/2006/main">
            <a:off x="95250" y="337185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989FE9A-C78B-4CF4-8343-1206D73D639F}"/>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6" name="">
            <a:extLst xmlns:a="http://schemas.openxmlformats.org/drawingml/2006/main">
              <a:ext uri="{FF2B5EF4-FFF2-40B4-BE49-F238E27FC236}">
                <a16:creationId xmlns:a16="http://schemas.microsoft.com/office/drawing/2014/main" id="{8F66A469-D45D-4C5A-876F-08A17FB7ED86}"/>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172021C-A631-40BA-92C5-3641D63AF7C7}"/>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3B4E47D-AC2F-44CF-8472-76FD0C7EE1D1}"/>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C5AB593-226E-4CEE-9722-F4BB71778FF3}"/>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문제와 참여 범위</a:t>
            </a:r>
          </a:p>
        </p:txBody>
      </p:sp>
      <p:sp>
        <p:nvSpPr>
          <p:cNvPr id="20" name="">
            <a:extLst xmlns:a="http://schemas.openxmlformats.org/drawingml/2006/main">
              <a:ext uri="{FF2B5EF4-FFF2-40B4-BE49-F238E27FC236}">
                <a16:creationId xmlns:a16="http://schemas.microsoft.com/office/drawing/2014/main" id="{202E57E9-17D7-4336-BC38-5EE7376AA66A}"/>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1" name="">
            <a:extLst xmlns:a="http://schemas.openxmlformats.org/drawingml/2006/main">
              <a:ext uri="{FF2B5EF4-FFF2-40B4-BE49-F238E27FC236}">
                <a16:creationId xmlns:a16="http://schemas.microsoft.com/office/drawing/2014/main" id="{D3AED619-A308-4386-8DAB-4F98A6F029BC}"/>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367AB00-B740-4B6E-8C03-842F774C4339}"/>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A51BDA3-3C0D-402F-8F5C-6E6A15376D66}"/>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1CE3F76-BA5D-40BC-A3ED-B9A0D2A499A8}"/>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5" name="">
            <a:extLst xmlns:a="http://schemas.openxmlformats.org/drawingml/2006/main">
              <a:ext uri="{FF2B5EF4-FFF2-40B4-BE49-F238E27FC236}">
                <a16:creationId xmlns:a16="http://schemas.microsoft.com/office/drawing/2014/main" id="{BA859727-7230-494B-BF30-1E75F9C23E78}"/>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A18FCC2D-6375-46B1-A934-433C3CFC74C7}"/>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5690B08-4F73-45DE-816A-D6FC0B89DE85}"/>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1976E7E0-4D94-4A2F-BDF5-AA7E5EEBF434}"/>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207A302C-61F3-4555-9AC4-353ADD9FE522}"/>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33F455D5-FDF5-4660-B93C-3830D1A769C8}"/>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AA91A091-45A8-425C-9943-83C8AE421AB7}"/>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E4A83513-A624-41F3-A61E-BD31290846D8}"/>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E1A7F514-1538-4106-8A83-171CEE476298}"/>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80B95F1F-93F2-4288-B6B6-3D489E2F244F}"/>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5334DED4-7A80-45DB-9A1B-7D514C27B4EA}"/>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8B736E0A-9A74-4B87-9400-924D69008D98}"/>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E30FB8D9-CBD4-48DE-A213-04766A7F3709}"/>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67D6FE95-86C9-4532-A576-2C5D88225788}"/>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7B87F936-959B-48D7-9496-5CECCB520110}"/>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3F57C53E-B453-49F4-9CD4-99303B145B72}"/>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BB8C0114-6513-4C90-A651-2B817C06E62C}"/>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1ADD9BAD-A057-4CB8-AD67-EAA3FD197738}"/>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D65CC03D-83D4-4300-90CB-2F1D0F82E795}"/>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1C340E5C-A8CD-4ED8-B3C5-A6CFFD145A5D}"/>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14D31A55-9512-4CA9-9019-E1D25E1F0852}"/>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8C9454EE-3688-4032-8BA8-F00E77500250}"/>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E8478F80-475E-4D6C-9872-D598292003DA}"/>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047B4649-A65E-4E15-A6EA-43DC225DB69C}"/>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AD43CC50-AAD9-4AE7-9C9F-CC5B07B2247E}"/>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5AAD77D4-9E7B-4D6C-BD1C-ADD2A76CEBE7}"/>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F278A112-FD5B-4228-8E35-52E122E0AA1A}"/>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CEB6E71A-20D7-4AA6-BB19-D44E70C06DAB}"/>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20대 유동과 추정매출</a:t>
            </a:r>
          </a:p>
        </p:txBody>
      </p:sp>
      <p:sp>
        <p:nvSpPr>
          <p:cNvPr id="53" name="">
            <a:extLst xmlns:a="http://schemas.openxmlformats.org/drawingml/2006/main">
              <a:ext uri="{FF2B5EF4-FFF2-40B4-BE49-F238E27FC236}">
                <a16:creationId xmlns:a16="http://schemas.microsoft.com/office/drawing/2014/main" id="{DFAB6939-94EA-4C57-ABCC-6F7643977BD4}"/>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ACA267BE-CA6D-4635-951D-DAEE1A702CC3}"/>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DDB0B023-E252-4235-86FF-41C6336671F2}"/>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3F816C75-9D2F-400A-976F-BE92AFE98903}"/>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F7E0BE12-C4AF-4099-8EE2-237253AD6D95}"/>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356B362C-B96F-4879-A825-25CC492C3EBE}"/>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20대 유동과 추정매출</a:t>
            </a:r>
          </a:p>
        </p:txBody>
      </p:sp>
      <p:sp>
        <p:nvSpPr>
          <p:cNvPr id="59" name="">
            <a:extLst xmlns:a="http://schemas.openxmlformats.org/drawingml/2006/main">
              <a:ext uri="{FF2B5EF4-FFF2-40B4-BE49-F238E27FC236}">
                <a16:creationId xmlns:a16="http://schemas.microsoft.com/office/drawing/2014/main" id="{704BEA47-0A47-48BA-93DC-79B7C2F171AF}"/>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코어 9곳의 4분기 이동평균 · 2022년 4분기 = 100</a:t>
            </a:r>
          </a:p>
        </p:txBody>
      </p:sp>
      <p:sp>
        <p:nvSpPr>
          <p:cNvPr id="60" name="">
            <a:extLst xmlns:a="http://schemas.openxmlformats.org/drawingml/2006/main">
              <a:ext uri="{FF2B5EF4-FFF2-40B4-BE49-F238E27FC236}">
                <a16:creationId xmlns:a16="http://schemas.microsoft.com/office/drawing/2014/main" id="{619DFCCC-DEE3-477A-93B9-776C728E746A}"/>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11D86722-295D-4580-A5A8-241921270064}"/>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02 / 11</a:t>
            </a:r>
          </a:p>
        </p:txBody>
      </p:sp>
      <p:graphicFrame>
        <p:nvGraphicFramePr>
          <p:cNvPr id="132" name="Chart"/>
          <p:cNvGraphicFramePr/>
          <p:nvPr/>
        </p:nvGraphicFramePr>
        <p:xfrm>
          <a:off xmlns:a="http://schemas.openxmlformats.org/drawingml/2006/main" x="3048000" y="3305175"/>
          <a:ext xmlns:a="http://schemas.openxmlformats.org/drawingml/2006/main" cx="7048500" cy="3238500"/>
        </p:xfrm>
        <a:graphic xmlns:a="http://schemas.openxmlformats.org/drawingml/2006/main">
          <a:graphicData uri="http://schemas.openxmlformats.org/drawingml/2006/chart">
            <c:chart xmlns:r="http://schemas.openxmlformats.org/officeDocument/2006/relationships" xmlns:c="http://schemas.openxmlformats.org/drawingml/2006/chart" r:id="R55ce37d5b6c849ff"/>
          </a:graphicData>
        </a:graphic>
      </p:graphicFrame>
      <p:sp>
        <p:nvSpPr>
          <p:cNvPr id="63" name="">
            <a:extLst xmlns:a="http://schemas.openxmlformats.org/drawingml/2006/main">
              <a:ext uri="{FF2B5EF4-FFF2-40B4-BE49-F238E27FC236}">
                <a16:creationId xmlns:a16="http://schemas.microsoft.com/office/drawing/2014/main" id="{5F3891D2-E720-478C-BC24-2176CBEAF338}"/>
              </a:ext>
            </a:extLst>
          </p:cNvPr>
          <p:cNvSpPr>
            <a:spLocks xmlns:a="http://schemas.openxmlformats.org/drawingml/2006/main" noGrp="1"/>
          </p:cNvSpPr>
          <p:nvPr/>
        </p:nvSpPr>
        <p:spPr>
          <a:xfrm xmlns:a="http://schemas.openxmlformats.org/drawingml/2006/main">
            <a:off x="10572750" y="3352800"/>
            <a:ext cx="371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650" b="1">
                <a:solidFill>
                  <a:srgbClr val="487CA5"/>
                </a:solidFill>
                <a:latin typeface="Malgun Gothic"/>
                <a:ea typeface="Malgun Gothic"/>
                <a:cs typeface="Malgun Gothic"/>
              </a:defRPr>
            </a:pPr>
            <a:r>
              <a:rPr sz="4650" b="1">
                <a:solidFill>
                  <a:srgbClr val="487CA5"/>
                </a:solidFill>
                <a:latin typeface="Malgun Gothic"/>
                <a:ea typeface="Malgun Gothic"/>
                <a:cs typeface="Malgun Gothic"/>
              </a:rPr>
              <a:t>100.7</a:t>
            </a:r>
          </a:p>
        </p:txBody>
      </p:sp>
      <p:sp>
        <p:nvSpPr>
          <p:cNvPr id="64" name="">
            <a:extLst xmlns:a="http://schemas.openxmlformats.org/drawingml/2006/main">
              <a:ext uri="{FF2B5EF4-FFF2-40B4-BE49-F238E27FC236}">
                <a16:creationId xmlns:a16="http://schemas.microsoft.com/office/drawing/2014/main" id="{120FA4C9-ED0E-4613-B91E-AD3CC6E3F710}"/>
              </a:ext>
            </a:extLst>
          </p:cNvPr>
          <p:cNvSpPr>
            <a:spLocks xmlns:a="http://schemas.openxmlformats.org/drawingml/2006/main" noGrp="1"/>
          </p:cNvSpPr>
          <p:nvPr/>
        </p:nvSpPr>
        <p:spPr>
          <a:xfrm xmlns:a="http://schemas.openxmlformats.org/drawingml/2006/main">
            <a:off x="10572750" y="4162425"/>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37352F"/>
                </a:solidFill>
                <a:latin typeface="Malgun Gothic"/>
                <a:ea typeface="Malgun Gothic"/>
                <a:cs typeface="Malgun Gothic"/>
              </a:defRPr>
            </a:pPr>
            <a:r>
              <a:rPr sz="1725" b="0">
                <a:solidFill>
                  <a:srgbClr val="37352F"/>
                </a:solidFill>
                <a:latin typeface="Malgun Gothic"/>
                <a:ea typeface="Malgun Gothic"/>
                <a:cs typeface="Malgun Gothic"/>
              </a:rPr>
              <a:t>20대 유동 · 원자료 재현</a:t>
            </a:r>
          </a:p>
        </p:txBody>
      </p:sp>
      <p:sp>
        <p:nvSpPr>
          <p:cNvPr id="65" name="">
            <a:extLst xmlns:a="http://schemas.openxmlformats.org/drawingml/2006/main">
              <a:ext uri="{FF2B5EF4-FFF2-40B4-BE49-F238E27FC236}">
                <a16:creationId xmlns:a16="http://schemas.microsoft.com/office/drawing/2014/main" id="{8CEC3AC3-4624-4CEF-A8FC-91DA33B4ADDC}"/>
              </a:ext>
            </a:extLst>
          </p:cNvPr>
          <p:cNvSpPr>
            <a:spLocks xmlns:a="http://schemas.openxmlformats.org/drawingml/2006/main" noGrp="1"/>
          </p:cNvSpPr>
          <p:nvPr/>
        </p:nvSpPr>
        <p:spPr>
          <a:xfrm xmlns:a="http://schemas.openxmlformats.org/drawingml/2006/main">
            <a:off x="10572750" y="488632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925" b="1">
                <a:solidFill>
                  <a:srgbClr val="37352F"/>
                </a:solidFill>
                <a:latin typeface="Malgun Gothic"/>
                <a:ea typeface="Malgun Gothic"/>
                <a:cs typeface="Malgun Gothic"/>
              </a:defRPr>
            </a:pPr>
            <a:r>
              <a:rPr sz="2925" b="1">
                <a:solidFill>
                  <a:srgbClr val="37352F"/>
                </a:solidFill>
                <a:latin typeface="Malgun Gothic"/>
                <a:ea typeface="Malgun Gothic"/>
                <a:cs typeface="Malgun Gothic"/>
              </a:rPr>
              <a:t>73.4 / 93.0</a:t>
            </a:r>
          </a:p>
        </p:txBody>
      </p:sp>
      <p:sp>
        <p:nvSpPr>
          <p:cNvPr id="66" name="">
            <a:extLst xmlns:a="http://schemas.openxmlformats.org/drawingml/2006/main">
              <a:ext uri="{FF2B5EF4-FFF2-40B4-BE49-F238E27FC236}">
                <a16:creationId xmlns:a16="http://schemas.microsoft.com/office/drawing/2014/main" id="{BB737535-9B0E-48CF-8587-CF0AF4F0590A}"/>
              </a:ext>
            </a:extLst>
          </p:cNvPr>
          <p:cNvSpPr>
            <a:spLocks xmlns:a="http://schemas.openxmlformats.org/drawingml/2006/main" noGrp="1"/>
          </p:cNvSpPr>
          <p:nvPr/>
        </p:nvSpPr>
        <p:spPr>
          <a:xfrm xmlns:a="http://schemas.openxmlformats.org/drawingml/2006/main">
            <a:off x="10572750" y="5638800"/>
            <a:ext cx="371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37352F"/>
                </a:solidFill>
                <a:latin typeface="Malgun Gothic"/>
                <a:ea typeface="Malgun Gothic"/>
                <a:cs typeface="Malgun Gothic"/>
              </a:defRPr>
            </a:pPr>
            <a:r>
              <a:rPr sz="1725" b="0">
                <a:solidFill>
                  <a:srgbClr val="37352F"/>
                </a:solidFill>
                <a:latin typeface="Malgun Gothic"/>
                <a:ea typeface="Malgun Gothic"/>
                <a:cs typeface="Malgun Gothic"/>
              </a:rPr>
              <a:t>20대 / 전체 추정매출</a:t>
            </a:r>
          </a:p>
          <a:p xmlns:a="http://schemas.openxmlformats.org/drawingml/2006/main">
            <a:pPr>
              <a:defRPr sz="1725" b="0">
                <a:solidFill>
                  <a:srgbClr val="37352F"/>
                </a:solidFill>
                <a:latin typeface="Malgun Gothic"/>
                <a:ea typeface="Malgun Gothic"/>
                <a:cs typeface="Malgun Gothic"/>
              </a:defRPr>
            </a:pPr>
            <a:r>
              <a:rPr sz="1725" b="0">
                <a:solidFill>
                  <a:srgbClr val="37352F"/>
                </a:solidFill>
                <a:latin typeface="Malgun Gothic"/>
                <a:ea typeface="Malgun Gothic"/>
                <a:cs typeface="Malgun Gothic"/>
              </a:rPr>
              <a:t>구성안 기록값</a:t>
            </a:r>
          </a:p>
        </p:txBody>
      </p:sp>
      <p:sp>
        <p:nvSpPr>
          <p:cNvPr id="67" name="">
            <a:extLst xmlns:a="http://schemas.openxmlformats.org/drawingml/2006/main">
              <a:ext uri="{FF2B5EF4-FFF2-40B4-BE49-F238E27FC236}">
                <a16:creationId xmlns:a16="http://schemas.microsoft.com/office/drawing/2014/main" id="{A2175E6E-A2D5-420A-9577-1B8D6BE925E2}"/>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57946B4D-B82E-4730-A829-B119770BCCEE}"/>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9" name="">
            <a:extLst xmlns:a="http://schemas.openxmlformats.org/drawingml/2006/main">
              <a:ext uri="{FF2B5EF4-FFF2-40B4-BE49-F238E27FC236}">
                <a16:creationId xmlns:a16="http://schemas.microsoft.com/office/drawing/2014/main" id="{3F5233B0-5196-4C65-97EA-0839E30F5DA7}"/>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방문을 지역 소비로 연결하는 운영 장치를 검토</a:t>
            </a:r>
          </a:p>
        </p:txBody>
      </p:sp>
      <p:sp>
        <p:nvSpPr>
          <p:cNvPr id="70" name="">
            <a:extLst xmlns:a="http://schemas.openxmlformats.org/drawingml/2006/main">
              <a:ext uri="{FF2B5EF4-FFF2-40B4-BE49-F238E27FC236}">
                <a16:creationId xmlns:a16="http://schemas.microsoft.com/office/drawing/2014/main" id="{72D381B0-6367-4E6B-BB7C-468D1E2151AD}"/>
              </a:ext>
            </a:extLst>
          </p:cNvPr>
          <p:cNvSpPr>
            <a:spLocks xmlns:a="http://schemas.openxmlformats.org/drawingml/2006/main" noGrp="1"/>
          </p:cNvSpPr>
          <p:nvPr/>
        </p:nvSpPr>
        <p:spPr>
          <a:xfrm xmlns:a="http://schemas.openxmlformats.org/drawingml/2006/main">
            <a:off x="3048000" y="7829550"/>
            <a:ext cx="11506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매출 CSV는 2025년 1분기 이후만 제공되어 장기 추이는 미복원. 축제 전후 효과 분석이 아님</a:t>
            </a:r>
          </a:p>
        </p:txBody>
      </p:sp>
    </p:spTree>
    <p:extLst>
      <p:ext uri="{BB962C8B-B14F-4D97-AF65-F5344CB8AC3E}">
        <p14:creationId xmlns:p14="http://schemas.microsoft.com/office/powerpoint/2010/main" val="19478715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0" name="">
            <a:extLst xmlns:a="http://schemas.openxmlformats.org/drawingml/2006/main">
              <a:ext uri="{FF2B5EF4-FFF2-40B4-BE49-F238E27FC236}">
                <a16:creationId xmlns:a16="http://schemas.microsoft.com/office/drawing/2014/main" id="{50B619B2-A08F-4BDD-888D-503D7068B6FF}"/>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B8EB855-3DE0-4E45-9AA4-3C8774E39CD8}"/>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E8CD596-E603-4B43-8F0F-A0E0805ACD06}"/>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A75EF8CD-2F54-48CE-BF06-DBC25C731620}"/>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895FA605-A075-4016-8BA6-4F9ACA85F599}"/>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94B15280-AA5F-4F06-8CED-79FDD77D1363}"/>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DBAD9E03-6403-4552-BCCA-CD97D00A5D07}"/>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6199F9E8-96AA-4AD3-8773-D8494140B183}"/>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9C67E852-43D4-4CFA-A61C-0EABA5656CD8}"/>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2E1C4277-FB93-4AF4-8F94-3469DBC46D4E}"/>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37193DE-7043-4F14-B0AB-1A8C08C17117}"/>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2AE0873-E011-47B8-9BFB-6B27F71D1B11}"/>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2174F05-64DE-4DFC-9C56-50FFA0DC9A51}"/>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FC205455-2B7E-4239-84B5-831610053698}"/>
              </a:ext>
            </a:extLst>
          </p:cNvPr>
          <p:cNvSpPr>
            <a:spLocks xmlns:a="http://schemas.openxmlformats.org/drawingml/2006/main" noGrp="1"/>
          </p:cNvSpPr>
          <p:nvPr/>
        </p:nvSpPr>
        <p:spPr>
          <a:xfrm xmlns:a="http://schemas.openxmlformats.org/drawingml/2006/main">
            <a:off x="95250" y="337185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0B5E4D5-F405-43DB-A559-51ED47C4F4FC}"/>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6" name="">
            <a:extLst xmlns:a="http://schemas.openxmlformats.org/drawingml/2006/main">
              <a:ext uri="{FF2B5EF4-FFF2-40B4-BE49-F238E27FC236}">
                <a16:creationId xmlns:a16="http://schemas.microsoft.com/office/drawing/2014/main" id="{312D0C10-553C-4929-9602-0FD25F3FE548}"/>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1249093-6426-473D-A2C1-7C2782957876}"/>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725C49C-3BD8-41A4-98FD-D296A6F335B2}"/>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4882FA0-B1D5-465F-A619-232D4D440B66}"/>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문제와 참여 범위</a:t>
            </a:r>
          </a:p>
        </p:txBody>
      </p:sp>
      <p:sp>
        <p:nvSpPr>
          <p:cNvPr id="20" name="">
            <a:extLst xmlns:a="http://schemas.openxmlformats.org/drawingml/2006/main">
              <a:ext uri="{FF2B5EF4-FFF2-40B4-BE49-F238E27FC236}">
                <a16:creationId xmlns:a16="http://schemas.microsoft.com/office/drawing/2014/main" id="{4BAA5243-D297-4178-AFAE-879EC8F2B6E4}"/>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1" name="">
            <a:extLst xmlns:a="http://schemas.openxmlformats.org/drawingml/2006/main">
              <a:ext uri="{FF2B5EF4-FFF2-40B4-BE49-F238E27FC236}">
                <a16:creationId xmlns:a16="http://schemas.microsoft.com/office/drawing/2014/main" id="{A9C2BFB4-2505-4767-A66B-8EECB7DF581D}"/>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60F7E51-78D4-4999-885C-D1DDDA4748C8}"/>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F688CF6-3A69-4AF8-A587-FA1ED0A61AAA}"/>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8A5BE3B-13A8-4137-A751-12A2E0211B42}"/>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5" name="">
            <a:extLst xmlns:a="http://schemas.openxmlformats.org/drawingml/2006/main">
              <a:ext uri="{FF2B5EF4-FFF2-40B4-BE49-F238E27FC236}">
                <a16:creationId xmlns:a16="http://schemas.microsoft.com/office/drawing/2014/main" id="{7DACB24E-9B1B-4207-BD61-23B72FF348EE}"/>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35F6B32A-1436-454E-91BF-84664A0894CA}"/>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E6C88CD-5CD1-43C3-A115-17BD5918232F}"/>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118B4F9-2AEA-4A30-BE04-01353BACA091}"/>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F3DE1A29-1D3D-41A7-81D8-1BE0661BDB0E}"/>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DAAA1EFE-4A73-4C1E-8772-DD57C386DB3A}"/>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D31BDFB1-9C23-4605-91FB-A13946DC4EE0}"/>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447EC00-35A7-425C-A60B-D8BF4736DC67}"/>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273D4417-D6FC-48A2-8DFA-DF659416E34E}"/>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86D1A6FB-A1C7-4CB6-A405-12F7633FAD76}"/>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BE40C5F3-45D9-49CF-9D71-67B1809D16FB}"/>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AF260392-2068-4A44-A5B0-A9B1A564366A}"/>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D1CA1B36-24D5-49EB-9A94-3BAC79944516}"/>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0C17F809-9A14-42CC-AFFC-8930F44258F3}"/>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E3AED629-535C-4D80-A520-D2B74480CEAA}"/>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7C64B7A2-3199-4452-89A7-1AAB08BA211B}"/>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C4286496-7C05-4FD7-A4A6-4BC0D5A80B7A}"/>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C88792FB-256A-4EBE-86C3-A9797FE68627}"/>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21C3C069-F6EE-4B52-9670-F872944A0051}"/>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B39FC9E0-6DC9-4AA5-AAF0-5BDF8FF73BA7}"/>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BEB8F022-C3BE-4229-A29C-4D53DA9F992A}"/>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3B77F72C-4055-4CB3-B1C0-367387DE60ED}"/>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886BD9A1-5F30-44BC-BAC6-24C2733B8D2C}"/>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67E91AA4-DCC6-45B4-B973-8B5E57371AFE}"/>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62CD04D5-5D9D-40D8-8D49-04967FB5331F}"/>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7A2A856F-8510-4EFF-9C16-694FE5C8935C}"/>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1CD13AAF-6823-4693-BEB4-E424A9742252}"/>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530B25F4-14DF-4338-9527-B5206A2B1D6C}"/>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축제 참여 범위</a:t>
            </a:r>
          </a:p>
        </p:txBody>
      </p:sp>
      <p:sp>
        <p:nvSpPr>
          <p:cNvPr id="53" name="">
            <a:extLst xmlns:a="http://schemas.openxmlformats.org/drawingml/2006/main">
              <a:ext uri="{FF2B5EF4-FFF2-40B4-BE49-F238E27FC236}">
                <a16:creationId xmlns:a16="http://schemas.microsoft.com/office/drawing/2014/main" id="{B5F2AA42-5425-4F83-AAE9-5233F74DFCFC}"/>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E34353E9-8C32-4CB2-B0AD-809440D92C52}"/>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DE921362-4756-44E0-9B3C-8A104CB4EB75}"/>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D05C3B94-2BB5-49F8-8558-4C940CF6F44F}"/>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1CD53CD5-78C2-41C9-80EB-2403B5C368CE}"/>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653BD05B-4707-4DA0-BED3-226E9A86932A}"/>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축제 참여 범위</a:t>
            </a:r>
          </a:p>
        </p:txBody>
      </p:sp>
      <p:sp>
        <p:nvSpPr>
          <p:cNvPr id="59" name="">
            <a:extLst xmlns:a="http://schemas.openxmlformats.org/drawingml/2006/main">
              <a:ext uri="{FF2B5EF4-FFF2-40B4-BE49-F238E27FC236}">
                <a16:creationId xmlns:a16="http://schemas.microsoft.com/office/drawing/2014/main" id="{09853F66-0B80-43C7-8EFF-DFD01ABB5F9F}"/>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코어 9곳 + 참여 7곳 = 16곳 · 집계 점포 2,699곳</a:t>
            </a:r>
          </a:p>
        </p:txBody>
      </p:sp>
      <p:sp>
        <p:nvSpPr>
          <p:cNvPr id="60" name="">
            <a:extLst xmlns:a="http://schemas.openxmlformats.org/drawingml/2006/main">
              <a:ext uri="{FF2B5EF4-FFF2-40B4-BE49-F238E27FC236}">
                <a16:creationId xmlns:a16="http://schemas.microsoft.com/office/drawing/2014/main" id="{EE4609CE-A9E8-4F62-B971-50C461C0707F}"/>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84FF432A-A7CE-424F-9F5F-9A8B613AC273}"/>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03 / 11</a:t>
            </a:r>
          </a:p>
        </p:txBody>
      </p:sp>
      <p:graphicFrame>
        <p:nvGraphicFramePr>
          <p:cNvPr id="131" name="Chart"/>
          <p:cNvGraphicFramePr/>
          <p:nvPr/>
        </p:nvGraphicFramePr>
        <p:xfrm>
          <a:off xmlns:a="http://schemas.openxmlformats.org/drawingml/2006/main" x="3048000" y="3333750"/>
          <a:ext xmlns:a="http://schemas.openxmlformats.org/drawingml/2006/main" cx="5143500" cy="3486150"/>
        </p:xfrm>
        <a:graphic xmlns:a="http://schemas.openxmlformats.org/drawingml/2006/main">
          <a:graphicData uri="http://schemas.openxmlformats.org/drawingml/2006/chart">
            <c:chart xmlns:r="http://schemas.openxmlformats.org/officeDocument/2006/relationships" xmlns:c="http://schemas.openxmlformats.org/drawingml/2006/chart" r:id="Rb2b94f695d004a03"/>
          </a:graphicData>
        </a:graphic>
      </p:graphicFrame>
      <p:sp>
        <p:nvSpPr>
          <p:cNvPr id="63" name="">
            <a:extLst xmlns:a="http://schemas.openxmlformats.org/drawingml/2006/main">
              <a:ext uri="{FF2B5EF4-FFF2-40B4-BE49-F238E27FC236}">
                <a16:creationId xmlns:a16="http://schemas.microsoft.com/office/drawing/2014/main" id="{50CFC62D-C790-4A63-BE35-969B1DE0AADB}"/>
              </a:ext>
            </a:extLst>
          </p:cNvPr>
          <p:cNvSpPr>
            <a:spLocks xmlns:a="http://schemas.openxmlformats.org/drawingml/2006/main" noGrp="1"/>
          </p:cNvSpPr>
          <p:nvPr/>
        </p:nvSpPr>
        <p:spPr>
          <a:xfrm xmlns:a="http://schemas.openxmlformats.org/drawingml/2006/main">
            <a:off x="8667750" y="3495675"/>
            <a:ext cx="581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37352F"/>
                </a:solidFill>
                <a:latin typeface="Malgun Gothic"/>
                <a:ea typeface="Malgun Gothic"/>
                <a:cs typeface="Malgun Gothic"/>
              </a:defRPr>
            </a:pPr>
            <a:r>
              <a:rPr sz="2100" b="1">
                <a:solidFill>
                  <a:srgbClr val="37352F"/>
                </a:solidFill>
                <a:latin typeface="Malgun Gothic"/>
                <a:ea typeface="Malgun Gothic"/>
                <a:cs typeface="Malgun Gothic"/>
              </a:rPr>
              <a:t>① 세 대학앞 상권의 볼록껍질</a:t>
            </a:r>
          </a:p>
        </p:txBody>
      </p:sp>
      <p:sp>
        <p:nvSpPr>
          <p:cNvPr id="64" name="">
            <a:extLst xmlns:a="http://schemas.openxmlformats.org/drawingml/2006/main">
              <a:ext uri="{FF2B5EF4-FFF2-40B4-BE49-F238E27FC236}">
                <a16:creationId xmlns:a16="http://schemas.microsoft.com/office/drawing/2014/main" id="{08BB9F37-F6AA-44CF-8A91-BDF929230CD2}"/>
              </a:ext>
            </a:extLst>
          </p:cNvPr>
          <p:cNvSpPr>
            <a:spLocks xmlns:a="http://schemas.openxmlformats.org/drawingml/2006/main" noGrp="1"/>
          </p:cNvSpPr>
          <p:nvPr/>
        </p:nvSpPr>
        <p:spPr>
          <a:xfrm xmlns:a="http://schemas.openxmlformats.org/drawingml/2006/main">
            <a:off x="8667750" y="4352925"/>
            <a:ext cx="581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37352F"/>
                </a:solidFill>
                <a:latin typeface="Malgun Gothic"/>
                <a:ea typeface="Malgun Gothic"/>
                <a:cs typeface="Malgun Gothic"/>
              </a:defRPr>
            </a:pPr>
            <a:r>
              <a:rPr sz="2100" b="1">
                <a:solidFill>
                  <a:srgbClr val="37352F"/>
                </a:solidFill>
                <a:latin typeface="Malgun Gothic"/>
                <a:ea typeface="Malgun Gothic"/>
                <a:cs typeface="Malgun Gothic"/>
              </a:rPr>
              <a:t>② 외곽으로 300m 버퍼</a:t>
            </a:r>
          </a:p>
        </p:txBody>
      </p:sp>
      <p:sp>
        <p:nvSpPr>
          <p:cNvPr id="65" name="">
            <a:extLst xmlns:a="http://schemas.openxmlformats.org/drawingml/2006/main">
              <a:ext uri="{FF2B5EF4-FFF2-40B4-BE49-F238E27FC236}">
                <a16:creationId xmlns:a16="http://schemas.microsoft.com/office/drawing/2014/main" id="{71ADBFD2-4524-451C-BFF9-934F70AA209E}"/>
              </a:ext>
            </a:extLst>
          </p:cNvPr>
          <p:cNvSpPr>
            <a:spLocks xmlns:a="http://schemas.openxmlformats.org/drawingml/2006/main" noGrp="1"/>
          </p:cNvSpPr>
          <p:nvPr/>
        </p:nvSpPr>
        <p:spPr>
          <a:xfrm xmlns:a="http://schemas.openxmlformats.org/drawingml/2006/main">
            <a:off x="8667750" y="5210175"/>
            <a:ext cx="581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37352F"/>
                </a:solidFill>
                <a:latin typeface="Malgun Gothic"/>
                <a:ea typeface="Malgun Gothic"/>
                <a:cs typeface="Malgun Gothic"/>
              </a:defRPr>
            </a:pPr>
            <a:r>
              <a:rPr sz="2100" b="1">
                <a:solidFill>
                  <a:srgbClr val="37352F"/>
                </a:solidFill>
                <a:latin typeface="Malgun Gothic"/>
                <a:ea typeface="Malgun Gothic"/>
                <a:cs typeface="Malgun Gothic"/>
              </a:rPr>
              <a:t>③ 면적 중첩률 50% 이상 선택</a:t>
            </a:r>
          </a:p>
        </p:txBody>
      </p:sp>
      <p:sp>
        <p:nvSpPr>
          <p:cNvPr id="66" name="">
            <a:extLst xmlns:a="http://schemas.openxmlformats.org/drawingml/2006/main">
              <a:ext uri="{FF2B5EF4-FFF2-40B4-BE49-F238E27FC236}">
                <a16:creationId xmlns:a16="http://schemas.microsoft.com/office/drawing/2014/main" id="{D88B4D83-A2AF-4A05-8971-A9036FC6F1BD}"/>
              </a:ext>
            </a:extLst>
          </p:cNvPr>
          <p:cNvSpPr>
            <a:spLocks xmlns:a="http://schemas.openxmlformats.org/drawingml/2006/main" noGrp="1"/>
          </p:cNvSpPr>
          <p:nvPr/>
        </p:nvSpPr>
        <p:spPr>
          <a:xfrm xmlns:a="http://schemas.openxmlformats.org/drawingml/2006/main">
            <a:off x="8667750" y="6067425"/>
            <a:ext cx="5810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787774"/>
                </a:solidFill>
                <a:latin typeface="Malgun Gothic"/>
                <a:ea typeface="Malgun Gothic"/>
                <a:cs typeface="Malgun Gothic"/>
              </a:defRPr>
            </a:pPr>
            <a:r>
              <a:rPr sz="1650" b="0">
                <a:solidFill>
                  <a:srgbClr val="787774"/>
                </a:solidFill>
                <a:latin typeface="Malgun Gothic"/>
                <a:ea typeface="Malgun Gothic"/>
                <a:cs typeface="Malgun Gothic"/>
              </a:rPr>
              <a:t>왼쪽은 공식 중심점 위치도</a:t>
            </a:r>
          </a:p>
          <a:p xmlns:a="http://schemas.openxmlformats.org/drawingml/2006/main">
            <a:pPr>
              <a:defRPr sz="1650" b="0">
                <a:solidFill>
                  <a:srgbClr val="787774"/>
                </a:solidFill>
                <a:latin typeface="Malgun Gothic"/>
                <a:ea typeface="Malgun Gothic"/>
                <a:cs typeface="Malgun Gothic"/>
              </a:defRPr>
            </a:pPr>
            <a:r>
              <a:rPr sz="1650" b="0">
                <a:solidFill>
                  <a:srgbClr val="787774"/>
                </a:solidFill>
                <a:latin typeface="Malgun Gothic"/>
                <a:ea typeface="Malgun Gothic"/>
                <a:cs typeface="Malgun Gothic"/>
              </a:rPr>
              <a:t>경계·버퍼를 재현한 지도가 아님</a:t>
            </a:r>
          </a:p>
        </p:txBody>
      </p:sp>
      <p:sp>
        <p:nvSpPr>
          <p:cNvPr id="67" name="">
            <a:extLst xmlns:a="http://schemas.openxmlformats.org/drawingml/2006/main">
              <a:ext uri="{FF2B5EF4-FFF2-40B4-BE49-F238E27FC236}">
                <a16:creationId xmlns:a16="http://schemas.microsoft.com/office/drawing/2014/main" id="{69DD2D8D-4037-4C3B-9536-6A96343769E9}"/>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4362B90D-659B-47E0-81C4-9B80EE522F5D}"/>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9" name="">
            <a:extLst xmlns:a="http://schemas.openxmlformats.org/drawingml/2006/main">
              <a:ext uri="{FF2B5EF4-FFF2-40B4-BE49-F238E27FC236}">
                <a16:creationId xmlns:a16="http://schemas.microsoft.com/office/drawing/2014/main" id="{6F387AE8-CD78-4D7E-AAFA-BA79287E5083}"/>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연계존 7곳은 스탬프 0개, 교통 연계 검토</a:t>
            </a:r>
          </a:p>
        </p:txBody>
      </p:sp>
    </p:spTree>
    <p:extLst>
      <p:ext uri="{BB962C8B-B14F-4D97-AF65-F5344CB8AC3E}">
        <p14:creationId xmlns:p14="http://schemas.microsoft.com/office/powerpoint/2010/main" val="12673127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DD385E7B-3584-4F37-94E4-1A84273CB708}"/>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3F2BC15-647D-44C0-B683-ACEBD9C79EBE}"/>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07BF77A-30A5-4381-8EAF-9EC70C085096}"/>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73806D4B-E966-440C-8912-A0A672E7ADC3}"/>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E620E74E-EEE5-4FF0-A0DF-18D5B12F28BF}"/>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9E8A80A4-687E-4A3A-864F-1B6982D2EBE7}"/>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61BD48FD-DA22-46F7-8C9A-89DF685B86AB}"/>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404B0BF4-02E8-4FAF-900E-05CB7A97617B}"/>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C6C914AC-BC03-4209-A671-6F289B38E815}"/>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276D63DF-8CE0-4A1A-A795-4A6134614D4E}"/>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CABC284-32EF-4CE2-95E9-C4DB28668222}"/>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836F88E-816C-4644-A52E-29EA7BDEFB0D}"/>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670A68F-F952-4DF1-B611-8A2B7FA1EF74}"/>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458E86F0-AEF8-42A7-9EAC-EEFF48908994}"/>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FF8D2842-6C4C-49B7-97CB-1A3545571241}"/>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13F2F10-3F59-4775-AE66-D371303D3665}"/>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01F4A5B-8BC1-4A34-88E5-669559CF863B}"/>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938861C-0925-481D-9DD5-813EF0779F30}"/>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85C8E428-5285-4634-A947-94D0C258492B}"/>
              </a:ext>
            </a:extLst>
          </p:cNvPr>
          <p:cNvSpPr>
            <a:spLocks xmlns:a="http://schemas.openxmlformats.org/drawingml/2006/main" noGrp="1"/>
          </p:cNvSpPr>
          <p:nvPr/>
        </p:nvSpPr>
        <p:spPr>
          <a:xfrm xmlns:a="http://schemas.openxmlformats.org/drawingml/2006/main">
            <a:off x="95250" y="3781425"/>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ED5F461-81C6-431D-A384-541D2DBB31C2}"/>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1" name="">
            <a:extLst xmlns:a="http://schemas.openxmlformats.org/drawingml/2006/main">
              <a:ext uri="{FF2B5EF4-FFF2-40B4-BE49-F238E27FC236}">
                <a16:creationId xmlns:a16="http://schemas.microsoft.com/office/drawing/2014/main" id="{E31BD5C9-B2B0-4C9D-B1CA-8F5F74AC25C9}"/>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37DEDA6-B197-47DD-81A3-4263DA60D180}"/>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62BAA00-FA0A-4103-9676-E0D8F5AFFAA4}"/>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F3B6A42-E04E-43D6-B47E-E3E1B6B5CCFC}"/>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거리와 배정 기준</a:t>
            </a:r>
          </a:p>
        </p:txBody>
      </p:sp>
      <p:sp>
        <p:nvSpPr>
          <p:cNvPr id="25" name="">
            <a:extLst xmlns:a="http://schemas.openxmlformats.org/drawingml/2006/main">
              <a:ext uri="{FF2B5EF4-FFF2-40B4-BE49-F238E27FC236}">
                <a16:creationId xmlns:a16="http://schemas.microsoft.com/office/drawing/2014/main" id="{A5EFB1EE-8F09-4479-9885-1F7C99A4D823}"/>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02AE7B02-39D4-4A9C-AA8E-B39832476535}"/>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140E9A7-59B6-4CD7-9E5B-BCBAFC4983B9}"/>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7B2CBC70-E288-4255-9964-D32E9A07945A}"/>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089B92CE-50E3-4296-AB5C-E1ABF0342D6C}"/>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57DEFB94-2CEC-41EE-B735-6DE022343F71}"/>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43A186FF-279D-42D6-B1D6-0A363A34E641}"/>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4EF4A22C-FAD5-478A-9425-68109BEED34C}"/>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7085EE22-B59C-4FF2-9D41-802941E1FF60}"/>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8C4E2B32-F761-4E49-9904-FB44F270CF3E}"/>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E78DFF38-D31D-4C3A-BB9D-55D767329D88}"/>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AED697C2-8C4F-44D3-987C-EF01051430C1}"/>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BEF54C9B-5495-4AC7-B1A2-9238C6D0B42D}"/>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2BAF36E4-9BA5-4133-B425-E298E16E39FF}"/>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D3D40536-8243-4149-81AF-04EC826DBC69}"/>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F3FEAB76-61F1-45CC-81C9-1B3CBC005778}"/>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CAD83A22-20AD-4176-B411-623792A0ACC8}"/>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B045DF27-1D9E-4FD8-9E97-D1CAAD9D6BF8}"/>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BEFDEF07-270A-47AC-8E2B-6E9B063933D4}"/>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72466BEA-E2DA-4F93-B1CA-DBF8643F09C9}"/>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44953087-FEC4-45CC-9DBF-98B3D05B901E}"/>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136CB127-3BFB-4AB2-AF89-4DAB6F3BE872}"/>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FD84376E-6A38-4198-B6B1-F204C1920AA5}"/>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5FC7B5C7-0CED-4AE4-96EF-7E57C34B2062}"/>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28700DCF-562F-4E4C-B47D-746313E0C70C}"/>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20245EE1-F750-4D93-AAE8-4102A3649983}"/>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2219CA70-6192-489B-9324-034B02B6B295}"/>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01166E14-B0D4-4B10-B824-75E9B2689C82}"/>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평시 20대 비중의 거리감쇠</a:t>
            </a:r>
          </a:p>
        </p:txBody>
      </p:sp>
      <p:sp>
        <p:nvSpPr>
          <p:cNvPr id="53" name="">
            <a:extLst xmlns:a="http://schemas.openxmlformats.org/drawingml/2006/main">
              <a:ext uri="{FF2B5EF4-FFF2-40B4-BE49-F238E27FC236}">
                <a16:creationId xmlns:a16="http://schemas.microsoft.com/office/drawing/2014/main" id="{BF5D97DA-FB9F-48D0-BF49-4887999617DD}"/>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0A8E9218-6EA8-44D3-9CE0-E46714900346}"/>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FA791A03-8297-4426-9C9C-5F251F2DC160}"/>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CB8CE4A9-DEE4-412E-8C1A-8227E560D6EC}"/>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E50C978A-5976-46D3-94AC-05C62CF1816E}"/>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1D8BFFAB-74EA-468C-AFFA-AF79F4D7FDE0}"/>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평시 20대 비중의 거리감쇠</a:t>
            </a:r>
          </a:p>
        </p:txBody>
      </p:sp>
      <p:sp>
        <p:nvSpPr>
          <p:cNvPr id="59" name="">
            <a:extLst xmlns:a="http://schemas.openxmlformats.org/drawingml/2006/main">
              <a:ext uri="{FF2B5EF4-FFF2-40B4-BE49-F238E27FC236}">
                <a16:creationId xmlns:a16="http://schemas.microsoft.com/office/drawing/2014/main" id="{C3D200F2-D74C-4C57-98EE-460FCB4A30A7}"/>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평시 유동인구 중 20대 비중과 거리의 관계</a:t>
            </a:r>
          </a:p>
        </p:txBody>
      </p:sp>
      <p:sp>
        <p:nvSpPr>
          <p:cNvPr id="60" name="">
            <a:extLst xmlns:a="http://schemas.openxmlformats.org/drawingml/2006/main">
              <a:ext uri="{FF2B5EF4-FFF2-40B4-BE49-F238E27FC236}">
                <a16:creationId xmlns:a16="http://schemas.microsoft.com/office/drawing/2014/main" id="{3BCB5E0B-3F0C-452F-AD38-F36F370E5904}"/>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8A0283D8-C00A-4FE0-AD65-518E721C810E}"/>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04 / 11</a:t>
            </a:r>
          </a:p>
        </p:txBody>
      </p:sp>
      <p:graphicFrame>
        <p:nvGraphicFramePr>
          <p:cNvPr id="130" name="Chart"/>
          <p:cNvGraphicFramePr/>
          <p:nvPr/>
        </p:nvGraphicFramePr>
        <p:xfrm>
          <a:off xmlns:a="http://schemas.openxmlformats.org/drawingml/2006/main" x="3048000" y="3333750"/>
          <a:ext xmlns:a="http://schemas.openxmlformats.org/drawingml/2006/main" cx="7239000" cy="3476625"/>
        </p:xfrm>
        <a:graphic xmlns:a="http://schemas.openxmlformats.org/drawingml/2006/main">
          <a:graphicData uri="http://schemas.openxmlformats.org/drawingml/2006/chart">
            <c:chart xmlns:r="http://schemas.openxmlformats.org/officeDocument/2006/relationships" xmlns:c="http://schemas.openxmlformats.org/drawingml/2006/chart" r:id="R8e1033c722184981"/>
          </a:graphicData>
        </a:graphic>
      </p:graphicFrame>
      <p:sp>
        <p:nvSpPr>
          <p:cNvPr id="63" name="">
            <a:extLst xmlns:a="http://schemas.openxmlformats.org/drawingml/2006/main">
              <a:ext uri="{FF2B5EF4-FFF2-40B4-BE49-F238E27FC236}">
                <a16:creationId xmlns:a16="http://schemas.microsoft.com/office/drawing/2014/main" id="{F38E4C83-C9A8-47B0-B00C-67B8F6CB8C0F}"/>
              </a:ext>
            </a:extLst>
          </p:cNvPr>
          <p:cNvSpPr>
            <a:spLocks xmlns:a="http://schemas.openxmlformats.org/drawingml/2006/main" noGrp="1"/>
          </p:cNvSpPr>
          <p:nvPr/>
        </p:nvSpPr>
        <p:spPr>
          <a:xfrm xmlns:a="http://schemas.openxmlformats.org/drawingml/2006/main">
            <a:off x="10668000" y="3476625"/>
            <a:ext cx="371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950" b="1">
                <a:solidFill>
                  <a:srgbClr val="37352F"/>
                </a:solidFill>
                <a:latin typeface="Malgun Gothic"/>
                <a:ea typeface="Malgun Gothic"/>
                <a:cs typeface="Malgun Gothic"/>
              </a:defRPr>
            </a:pPr>
            <a:r>
              <a:rPr sz="4950" b="1">
                <a:solidFill>
                  <a:srgbClr val="37352F"/>
                </a:solidFill>
                <a:latin typeface="Malgun Gothic"/>
                <a:ea typeface="Malgun Gothic"/>
                <a:cs typeface="Malgun Gothic"/>
              </a:rPr>
              <a:t>583m</a:t>
            </a:r>
          </a:p>
        </p:txBody>
      </p:sp>
      <p:sp>
        <p:nvSpPr>
          <p:cNvPr id="64" name="">
            <a:extLst xmlns:a="http://schemas.openxmlformats.org/drawingml/2006/main">
              <a:ext uri="{FF2B5EF4-FFF2-40B4-BE49-F238E27FC236}">
                <a16:creationId xmlns:a16="http://schemas.microsoft.com/office/drawing/2014/main" id="{DB150735-D328-4FD4-9F7F-354E0F026AEF}"/>
              </a:ext>
            </a:extLst>
          </p:cNvPr>
          <p:cNvSpPr>
            <a:spLocks xmlns:a="http://schemas.openxmlformats.org/drawingml/2006/main" noGrp="1"/>
          </p:cNvSpPr>
          <p:nvPr/>
        </p:nvSpPr>
        <p:spPr>
          <a:xfrm xmlns:a="http://schemas.openxmlformats.org/drawingml/2006/main">
            <a:off x="10668000" y="440055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반감거리</a:t>
            </a:r>
          </a:p>
        </p:txBody>
      </p:sp>
      <p:sp>
        <p:nvSpPr>
          <p:cNvPr id="65" name="">
            <a:extLst xmlns:a="http://schemas.openxmlformats.org/drawingml/2006/main">
              <a:ext uri="{FF2B5EF4-FFF2-40B4-BE49-F238E27FC236}">
                <a16:creationId xmlns:a16="http://schemas.microsoft.com/office/drawing/2014/main" id="{A27FC7DD-8AE3-4E42-A6F7-F912E6786CD5}"/>
              </a:ext>
            </a:extLst>
          </p:cNvPr>
          <p:cNvSpPr>
            <a:spLocks xmlns:a="http://schemas.openxmlformats.org/drawingml/2006/main" noGrp="1"/>
          </p:cNvSpPr>
          <p:nvPr/>
        </p:nvSpPr>
        <p:spPr>
          <a:xfrm xmlns:a="http://schemas.openxmlformats.org/drawingml/2006/main">
            <a:off x="10668000" y="5238750"/>
            <a:ext cx="3714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β = 1.189/km</a:t>
            </a:r>
          </a:p>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R² = 0.533</a:t>
            </a:r>
          </a:p>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기존 표본 23곳</a:t>
            </a:r>
          </a:p>
        </p:txBody>
      </p:sp>
      <p:sp>
        <p:nvSpPr>
          <p:cNvPr id="66" name="">
            <a:extLst xmlns:a="http://schemas.openxmlformats.org/drawingml/2006/main">
              <a:ext uri="{FF2B5EF4-FFF2-40B4-BE49-F238E27FC236}">
                <a16:creationId xmlns:a16="http://schemas.microsoft.com/office/drawing/2014/main" id="{44B3B682-6072-4CFD-A0F9-EEC24E15729E}"/>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1E2B3B4E-50B5-4D98-93F7-79F4303A3ED0}"/>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8" name="">
            <a:extLst xmlns:a="http://schemas.openxmlformats.org/drawingml/2006/main">
              <a:ext uri="{FF2B5EF4-FFF2-40B4-BE49-F238E27FC236}">
                <a16:creationId xmlns:a16="http://schemas.microsoft.com/office/drawing/2014/main" id="{5E860EFA-1FE2-4CBE-A369-02DC0D356C48}"/>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기록된 β로 그린 모형 곡선 · 축제 당일의 실측 효과가 아님</a:t>
            </a:r>
          </a:p>
        </p:txBody>
      </p:sp>
    </p:spTree>
    <p:extLst>
      <p:ext uri="{BB962C8B-B14F-4D97-AF65-F5344CB8AC3E}">
        <p14:creationId xmlns:p14="http://schemas.microsoft.com/office/powerpoint/2010/main" val="167774354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025D2BF0-7AD5-4FDA-BBCA-93A8778B718B}"/>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D63234-B884-4BB5-B325-55988079C5D3}"/>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F1B2099-7026-4321-8F78-4363D7C83B01}"/>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22755D6C-CAFA-46C8-A142-2EB77E091B10}"/>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7A65D52F-6748-4A38-B9F7-E80CDCA6ABD1}"/>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6AE32189-C12B-4D6F-8C71-E16ECF0F9CAA}"/>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830E2F18-B6CD-4E84-94B2-56A367CB6ED5}"/>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03C7B2C5-AA1B-426D-83F2-78B826A21A4C}"/>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D5C7235A-20A6-4514-AF3B-545D1A194847}"/>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D244B94B-4DD5-49D3-9572-1FF262DD16AD}"/>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2DA62A5-3355-4132-9006-EC240253BD49}"/>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936BDD4-3B02-49B5-995C-ABCDD69AFE4E}"/>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A692E78-E49B-4A60-8E64-1C22E06CDD78}"/>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D765917B-6535-4EEC-A2C1-AC495BFA5226}"/>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23B3BE96-5C8A-4616-A8E8-00D793441E42}"/>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1BBC8B2-A095-4257-A722-962AF05DE9B8}"/>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D06671D-988D-4B35-AC3A-4D76CB87F4EC}"/>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475AEF4-C633-442C-889D-92A73D49C6B1}"/>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1FBF161E-F34E-47F9-8B40-9D4CCFB48D1C}"/>
              </a:ext>
            </a:extLst>
          </p:cNvPr>
          <p:cNvSpPr>
            <a:spLocks xmlns:a="http://schemas.openxmlformats.org/drawingml/2006/main" noGrp="1"/>
          </p:cNvSpPr>
          <p:nvPr/>
        </p:nvSpPr>
        <p:spPr>
          <a:xfrm xmlns:a="http://schemas.openxmlformats.org/drawingml/2006/main">
            <a:off x="95250" y="3781425"/>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8A4171A-ABC7-4628-B9EC-DF150EC8178C}"/>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1" name="">
            <a:extLst xmlns:a="http://schemas.openxmlformats.org/drawingml/2006/main">
              <a:ext uri="{FF2B5EF4-FFF2-40B4-BE49-F238E27FC236}">
                <a16:creationId xmlns:a16="http://schemas.microsoft.com/office/drawing/2014/main" id="{AD69AD33-D82F-4B35-B7A7-761378F075AE}"/>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0617F1D-305C-463A-B00A-85DEF8CC7FC7}"/>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E461B7A-99C3-4E8F-AC3A-7AD98B9DA0A7}"/>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8F45530-30B5-4B6C-B45E-7F654D1A223E}"/>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거리와 배정 기준</a:t>
            </a:r>
          </a:p>
        </p:txBody>
      </p:sp>
      <p:sp>
        <p:nvSpPr>
          <p:cNvPr id="25" name="">
            <a:extLst xmlns:a="http://schemas.openxmlformats.org/drawingml/2006/main">
              <a:ext uri="{FF2B5EF4-FFF2-40B4-BE49-F238E27FC236}">
                <a16:creationId xmlns:a16="http://schemas.microsoft.com/office/drawing/2014/main" id="{313E6F53-EE82-4FDC-AEB9-B5A41A5905CF}"/>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8776261F-C734-4206-B8D2-EB6E1E06117A}"/>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FB89E7AE-3389-4B27-9E0F-7AB6D1349FBA}"/>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0D8E85FC-937B-49BA-A19D-06A85B5F9F1C}"/>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9A37B3D-2B4A-4579-B667-1E16EC82C88E}"/>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AC53FBBD-C0A3-46F5-A164-5599BFABBCAC}"/>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A35EE644-6573-4320-90C3-AFF1C8431F85}"/>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51E258CF-ECB5-491E-AD46-A494D67196E9}"/>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379651F3-966C-4E96-A2BA-DF0BC35E572C}"/>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F15487E5-A0C9-45E6-961C-4267BEB009FB}"/>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81F2A094-CBD0-4ABF-ADEF-91F1A815EB46}"/>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A92456A7-77CC-4AA1-9DCD-8241349BC2F1}"/>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8F2378A1-F536-48CD-8C3E-31E792E95F1A}"/>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1EE02DE2-4F56-4FE8-954E-77539EE28D56}"/>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220BC4A8-1385-4A57-BF8D-DFD02CF2B171}"/>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59462F82-B231-4D56-9338-365AF91A1495}"/>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6F79A679-9BBE-4F6C-AE20-65D0A68BBCDC}"/>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FBE9680F-B548-4D53-AD98-AA4F1A392855}"/>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B5642AD5-13F8-4625-B1E0-F9F796622764}"/>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65CFD617-C896-44E6-923D-FA3F19147193}"/>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9713C26E-4709-4A74-A49D-B5F105228A0C}"/>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24BE38D2-6606-4CA1-A803-C75A9A129F99}"/>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1238486F-C80F-4E5B-9908-94F11F8604A6}"/>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D60C2DA6-9BFE-4F78-B975-B510BAA3B766}"/>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3B9EA8CE-8142-4AAF-A16B-654B338DF441}"/>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29CF089F-1FED-4EC0-B184-1FA15273001F}"/>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33301A12-CAA9-447A-B9F7-E730AEA02E53}"/>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29932A7E-5DF8-4928-9557-11DF0472C90C}"/>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스탬프 배정 기준</a:t>
            </a:r>
          </a:p>
        </p:txBody>
      </p:sp>
      <p:sp>
        <p:nvSpPr>
          <p:cNvPr id="53" name="">
            <a:extLst xmlns:a="http://schemas.openxmlformats.org/drawingml/2006/main">
              <a:ext uri="{FF2B5EF4-FFF2-40B4-BE49-F238E27FC236}">
                <a16:creationId xmlns:a16="http://schemas.microsoft.com/office/drawing/2014/main" id="{8C7F096E-0F57-4075-8931-5C5660CECAFF}"/>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08F8589A-9B39-45F3-8A93-19D2C29221E0}"/>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322E4182-D69B-47DD-A1A6-5180A9F3B969}"/>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69940554-23AE-4E2B-BC10-915633CAF8EB}"/>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01CB0549-FC73-4E47-A628-00B7CBD3495C}"/>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3480D2B1-1FDD-4040-9E72-569528BDCEEA}"/>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스탬프 배정 기준</a:t>
            </a:r>
          </a:p>
        </p:txBody>
      </p:sp>
      <p:sp>
        <p:nvSpPr>
          <p:cNvPr id="59" name="">
            <a:extLst xmlns:a="http://schemas.openxmlformats.org/drawingml/2006/main">
              <a:ext uri="{FF2B5EF4-FFF2-40B4-BE49-F238E27FC236}">
                <a16:creationId xmlns:a16="http://schemas.microsoft.com/office/drawing/2014/main" id="{848A7268-D851-4250-B17A-72171F9D17B7}"/>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하락 D · 저활력 L · 거리 기반 도달 R</a:t>
            </a:r>
          </a:p>
        </p:txBody>
      </p:sp>
      <p:sp>
        <p:nvSpPr>
          <p:cNvPr id="60" name="">
            <a:extLst xmlns:a="http://schemas.openxmlformats.org/drawingml/2006/main">
              <a:ext uri="{FF2B5EF4-FFF2-40B4-BE49-F238E27FC236}">
                <a16:creationId xmlns:a16="http://schemas.microsoft.com/office/drawing/2014/main" id="{DBE11220-9BB4-4143-9787-76C36E495B43}"/>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6E46845A-1072-47ED-9A7C-EEB2930ECBE0}"/>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05 / 11</a:t>
            </a:r>
          </a:p>
        </p:txBody>
      </p:sp>
      <p:sp>
        <p:nvSpPr>
          <p:cNvPr id="62" name="">
            <a:extLst xmlns:a="http://schemas.openxmlformats.org/drawingml/2006/main">
              <a:ext uri="{FF2B5EF4-FFF2-40B4-BE49-F238E27FC236}">
                <a16:creationId xmlns:a16="http://schemas.microsoft.com/office/drawing/2014/main" id="{ED2C3984-5271-44E9-89CE-7EB11F43795E}"/>
              </a:ext>
            </a:extLst>
          </p:cNvPr>
          <p:cNvSpPr>
            <a:spLocks xmlns:a="http://schemas.openxmlformats.org/drawingml/2006/main" noGrp="1"/>
          </p:cNvSpPr>
          <p:nvPr/>
        </p:nvSpPr>
        <p:spPr>
          <a:xfrm xmlns:a="http://schemas.openxmlformats.org/drawingml/2006/main">
            <a:off x="3048000" y="3371850"/>
            <a:ext cx="11506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575" b="1">
                <a:solidFill>
                  <a:srgbClr val="37352F"/>
                </a:solidFill>
                <a:latin typeface="Malgun Gothic"/>
                <a:ea typeface="Malgun Gothic"/>
                <a:cs typeface="Malgun Gothic"/>
              </a:defRPr>
            </a:pPr>
            <a:r>
              <a:rPr sz="4575" b="1">
                <a:solidFill>
                  <a:srgbClr val="37352F"/>
                </a:solidFill>
                <a:latin typeface="Malgun Gothic"/>
                <a:ea typeface="Malgun Gothic"/>
                <a:cs typeface="Malgun Gothic"/>
              </a:rPr>
              <a:t>M = √(D × L) × R</a:t>
            </a:r>
          </a:p>
        </p:txBody>
      </p:sp>
      <p:graphicFrame>
        <p:nvGraphicFramePr>
          <p:cNvPr id="131" name=""/>
          <p:cNvGraphicFramePr/>
          <p:nvPr/>
        </p:nvGraphicFramePr>
        <p:xfrm>
          <a:off xmlns:a="http://schemas.openxmlformats.org/drawingml/2006/main" x="3048000" y="4543425"/>
          <a:ext xmlns:a="http://schemas.openxmlformats.org/drawingml/2006/main" cx="11506200" cy="1476375"/>
        </p:xfrm>
        <a:graphic xmlns:a="http://schemas.openxmlformats.org/drawingml/2006/main">
          <a:graphicData uri="http://schemas.openxmlformats.org/drawingml/2006/table">
            <a:tbl>
              <a:tblPr/>
              <a:tblGrid>
                <a:gridCol w="3835400"/>
                <a:gridCol w="3835400"/>
                <a:gridCol w="3835400"/>
              </a:tblGrid>
              <a:tr h="738188">
                <a:tc>
                  <a:txBody>
                    <a:bodyPr/>
                    <a:lstStyle/>
                    <a:p>
                      <a:r>
                        <a:rPr sz="1800" b="1">
                          <a:solidFill>
                            <a:srgbClr val="37352F"/>
                          </a:solidFill>
                          <a:latin typeface="Malgun Gothic"/>
                          <a:ea typeface="Malgun Gothic"/>
                          <a:cs typeface="Malgun Gothic"/>
                        </a:rPr>
                        <a:t>D 하락</a:t>
                      </a:r>
                    </a:p>
                  </a:txBody>
                  <a:tcPr marL="85725" marR="85725" marT="28575" marB="28575">
                    <a:solidFill>
                      <a:srgbClr val="F1F1EF"/>
                    </a:solidFill>
                  </a:tcPr>
                </a:tc>
                <a:tc>
                  <a:txBody>
                    <a:bodyPr/>
                    <a:lstStyle/>
                    <a:p>
                      <a:r>
                        <a:rPr sz="1800" b="1">
                          <a:solidFill>
                            <a:srgbClr val="37352F"/>
                          </a:solidFill>
                          <a:latin typeface="Malgun Gothic"/>
                          <a:ea typeface="Malgun Gothic"/>
                          <a:cs typeface="Malgun Gothic"/>
                        </a:rPr>
                        <a:t>L 저활력</a:t>
                      </a:r>
                    </a:p>
                  </a:txBody>
                  <a:tcPr marL="85725" marR="85725" marT="28575" marB="28575">
                    <a:solidFill>
                      <a:srgbClr val="F1F1EF"/>
                    </a:solidFill>
                  </a:tcPr>
                </a:tc>
                <a:tc>
                  <a:txBody>
                    <a:bodyPr/>
                    <a:lstStyle/>
                    <a:p>
                      <a:r>
                        <a:rPr sz="1800" b="1">
                          <a:solidFill>
                            <a:srgbClr val="37352F"/>
                          </a:solidFill>
                          <a:latin typeface="Malgun Gothic"/>
                          <a:ea typeface="Malgun Gothic"/>
                          <a:cs typeface="Malgun Gothic"/>
                        </a:rPr>
                        <a:t>R 도달</a:t>
                      </a:r>
                    </a:p>
                  </a:txBody>
                  <a:tcPr marL="85725" marR="85725" marT="28575" marB="28575">
                    <a:solidFill>
                      <a:srgbClr val="F1F1EF"/>
                    </a:solidFill>
                  </a:tcPr>
                </a:tc>
              </a:tr>
              <a:tr h="738188">
                <a:tc>
                  <a:txBody>
                    <a:bodyPr/>
                    <a:lstStyle/>
                    <a:p>
                      <a:r>
                        <a:rPr sz="1800" b="0">
                          <a:solidFill>
                            <a:srgbClr val="37352F"/>
                          </a:solidFill>
                          <a:latin typeface="Malgun Gothic"/>
                          <a:ea typeface="Malgun Gothic"/>
                          <a:cs typeface="Malgun Gothic"/>
                        </a:rPr>
                        <a:t>20대 소비강도·점포 변화</a:t>
                      </a:r>
                    </a:p>
                    <a:p>
                      <a:r>
                        <a:rPr sz="1800" b="0">
                          <a:solidFill>
                            <a:srgbClr val="37352F"/>
                          </a:solidFill>
                          <a:latin typeface="Malgun Gothic"/>
                          <a:ea typeface="Malgun Gothic"/>
                          <a:cs typeface="Malgun Gothic"/>
                        </a:rPr>
                        <a:t>폐업률·전체 매출 변화</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점포당 추정매출의</a:t>
                      </a:r>
                    </a:p>
                    <a:p>
                      <a:r>
                        <a:rPr sz="1800" b="0">
                          <a:solidFill>
                            <a:srgbClr val="37352F"/>
                          </a:solidFill>
                          <a:latin typeface="Malgun Gothic"/>
                          <a:ea typeface="Malgun Gothic"/>
                          <a:cs typeface="Malgun Gothic"/>
                        </a:rPr>
                        <a:t>역순위 백분위</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exp(−1.189 × 거리[km])</a:t>
                      </a:r>
                    </a:p>
                    <a:p>
                      <a:r>
                        <a:rPr sz="1800" b="0">
                          <a:solidFill>
                            <a:srgbClr val="37352F"/>
                          </a:solidFill>
                          <a:latin typeface="Malgun Gothic"/>
                          <a:ea typeface="Malgun Gothic"/>
                          <a:cs typeface="Malgun Gothic"/>
                        </a:rPr>
                        <a:t>무대 대리점과 상권 경계</a:t>
                      </a:r>
                    </a:p>
                  </a:txBody>
                  <a:tcPr marL="85725" marR="85725" marT="28575" marB="28575">
                    <a:solidFill>
                      <a:srgbClr val="FFFFFF"/>
                    </a:solidFill>
                  </a:tcPr>
                </a:tc>
              </a:tr>
            </a:tbl>
          </a:graphicData>
        </a:graphic>
      </p:graphicFrame>
      <p:sp>
        <p:nvSpPr>
          <p:cNvPr id="64" name="">
            <a:extLst xmlns:a="http://schemas.openxmlformats.org/drawingml/2006/main">
              <a:ext uri="{FF2B5EF4-FFF2-40B4-BE49-F238E27FC236}">
                <a16:creationId xmlns:a16="http://schemas.microsoft.com/office/drawing/2014/main" id="{3E2B8479-3000-4E0C-AD8D-9552F4E60828}"/>
              </a:ext>
            </a:extLst>
          </p:cNvPr>
          <p:cNvSpPr>
            <a:spLocks xmlns:a="http://schemas.openxmlformats.org/drawingml/2006/main" noGrp="1"/>
          </p:cNvSpPr>
          <p:nvPr/>
        </p:nvSpPr>
        <p:spPr>
          <a:xfrm xmlns:a="http://schemas.openxmlformats.org/drawingml/2006/main">
            <a:off x="3048000" y="6343650"/>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487CA5"/>
                </a:solidFill>
                <a:latin typeface="Malgun Gothic"/>
                <a:ea typeface="Malgun Gothic"/>
                <a:cs typeface="Malgun Gothic"/>
              </a:defRPr>
            </a:pPr>
            <a:r>
              <a:rPr sz="2175" b="1">
                <a:solidFill>
                  <a:srgbClr val="487CA5"/>
                </a:solidFill>
                <a:latin typeface="Malgun Gothic"/>
                <a:ea typeface="Malgun Gothic"/>
                <a:cs typeface="Malgun Gothic"/>
              </a:rPr>
              <a:t>시립대앞사거리  0.669 · 6개</a:t>
            </a:r>
          </a:p>
        </p:txBody>
      </p:sp>
      <p:sp>
        <p:nvSpPr>
          <p:cNvPr id="65" name="">
            <a:extLst xmlns:a="http://schemas.openxmlformats.org/drawingml/2006/main">
              <a:ext uri="{FF2B5EF4-FFF2-40B4-BE49-F238E27FC236}">
                <a16:creationId xmlns:a16="http://schemas.microsoft.com/office/drawing/2014/main" id="{F2E502E3-7CFA-4375-BB7E-1B7E36D672EF}"/>
              </a:ext>
            </a:extLst>
          </p:cNvPr>
          <p:cNvSpPr>
            <a:spLocks xmlns:a="http://schemas.openxmlformats.org/drawingml/2006/main" noGrp="1"/>
          </p:cNvSpPr>
          <p:nvPr/>
        </p:nvSpPr>
        <p:spPr>
          <a:xfrm xmlns:a="http://schemas.openxmlformats.org/drawingml/2006/main">
            <a:off x="9372600" y="6343650"/>
            <a:ext cx="5191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37352F"/>
                </a:solidFill>
                <a:latin typeface="Malgun Gothic"/>
                <a:ea typeface="Malgun Gothic"/>
                <a:cs typeface="Malgun Gothic"/>
              </a:defRPr>
            </a:pPr>
            <a:r>
              <a:rPr sz="2175" b="1">
                <a:solidFill>
                  <a:srgbClr val="37352F"/>
                </a:solidFill>
                <a:latin typeface="Malgun Gothic"/>
                <a:ea typeface="Malgun Gothic"/>
                <a:cs typeface="Malgun Gothic"/>
              </a:rPr>
              <a:t>경희대앞  0.216 · 2개</a:t>
            </a:r>
          </a:p>
        </p:txBody>
      </p:sp>
      <p:sp>
        <p:nvSpPr>
          <p:cNvPr id="66" name="">
            <a:extLst xmlns:a="http://schemas.openxmlformats.org/drawingml/2006/main">
              <a:ext uri="{FF2B5EF4-FFF2-40B4-BE49-F238E27FC236}">
                <a16:creationId xmlns:a16="http://schemas.microsoft.com/office/drawing/2014/main" id="{6EAB40EE-DA65-4981-9D43-7D09E4F57B17}"/>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5B55258E-8FFE-4715-82AA-6EE72B3FD27E}"/>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8" name="">
            <a:extLst xmlns:a="http://schemas.openxmlformats.org/drawingml/2006/main">
              <a:ext uri="{FF2B5EF4-FFF2-40B4-BE49-F238E27FC236}">
                <a16:creationId xmlns:a16="http://schemas.microsoft.com/office/drawing/2014/main" id="{940A3DD9-2CEC-40BC-B210-C4D954CFCD51}"/>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D와 L을 대칭적으로 결합한 자체 설계 지수 · 취향 추천과 별도</a:t>
            </a:r>
          </a:p>
        </p:txBody>
      </p:sp>
    </p:spTree>
    <p:extLst>
      <p:ext uri="{BB962C8B-B14F-4D97-AF65-F5344CB8AC3E}">
        <p14:creationId xmlns:p14="http://schemas.microsoft.com/office/powerpoint/2010/main" val="162940841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4CFD7796-1A80-4728-8C31-BD65F4F4019C}"/>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5E4AE5D-49EE-4279-B90E-B6624A6EA35C}"/>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5B36CCC-99AA-47BD-B6DB-892A5125D231}"/>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F33C1D45-89FF-42F9-88F2-7D70101DA530}"/>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1A781205-6BE2-4FE4-8EB1-A1FB5BE0C1FF}"/>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02B72A31-F4E6-450E-A403-40A8CCF0821A}"/>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9D53A888-88AA-4215-9B00-A171EAA714D2}"/>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63E350A2-D33D-44EA-AE62-0CFDA229DEC6}"/>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26CB397C-C594-45BC-9CE4-A0FC8EA944FC}"/>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EC21548C-496E-433F-8052-D1CBAD0BDE2A}"/>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82DB1F7-2765-4F93-B81A-7D4996C47268}"/>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DAFE24E-6D9F-473B-A026-5706D76F70E6}"/>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B853262-65B8-47AF-86AE-5E5B72B37535}"/>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584D67AF-ADCA-4E57-8023-5796EFA6C2CC}"/>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4B1C6D63-4193-42B2-80C4-02EF47FAA256}"/>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E8E68AE-CF7A-4E18-9371-6B33E7999C8C}"/>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5BD790E-4790-4A28-9ACD-6C3CDEB03C63}"/>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94B698A-34EB-4D3F-BE61-CE66CE30A903}"/>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30389F30-06C5-4596-95C3-E3B2187A0EA3}"/>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739390E6-791E-4EB1-ABF8-D910F0EF240C}"/>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9FE7AB5-0835-41D2-B2C0-B68029EB814A}"/>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31D9723-AB74-49A9-A569-BDA099D4FA24}"/>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402B6E9-190A-463A-BB9D-C1725CB0A2DB}"/>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9916CFBB-E0AB-46B8-910D-814D7720BA6F}"/>
              </a:ext>
            </a:extLst>
          </p:cNvPr>
          <p:cNvSpPr>
            <a:spLocks xmlns:a="http://schemas.openxmlformats.org/drawingml/2006/main" noGrp="1"/>
          </p:cNvSpPr>
          <p:nvPr/>
        </p:nvSpPr>
        <p:spPr>
          <a:xfrm xmlns:a="http://schemas.openxmlformats.org/drawingml/2006/main">
            <a:off x="95250" y="41910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ACF8FC18-591F-4039-AD4B-EE18657A4899}"/>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CFE7270C-3C0A-49A1-8DD2-01573C7F9621}"/>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DECB1DF-DACF-4612-BF40-B2A897E76FCA}"/>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1CD1C9C1-5835-4372-AF70-EC4873DD0CE7}"/>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7ADCEBEF-F2EB-4B7A-9A96-0B3DD2F8DD21}"/>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456388D8-606D-4D66-AF77-DA52DF14AA97}"/>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4951CAB1-8142-424F-9FFD-EC7A3643C040}"/>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FF70DCB6-02BB-4C88-AB9B-F5A224F4B538}"/>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1FA27ACD-5360-4B31-AAD6-2542DA99F317}"/>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18AE184D-70E1-4EA0-A9D7-C0C978A672CD}"/>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CAFB65C5-D299-437A-B329-33A8A541820C}"/>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347C1E25-D79C-4944-A28B-98C9D0141687}"/>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D2D8873A-A236-46FD-A12B-C4B1B1EAA081}"/>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5F68EF6F-40CB-4875-BD57-829E94DB3C63}"/>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79F5793B-3BA1-47D6-BEEC-F6C90CB1D2CC}"/>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89F7D9C6-4ACF-476D-87A0-AE9115DC5088}"/>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FA168D67-B554-4A7B-839B-0DFFCB1E7765}"/>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CA938805-DCF8-4F03-823F-2AD9AA0BE2A7}"/>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C435A104-45BA-4D89-88D3-B00E4AC77AE3}"/>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50FF7C45-C271-40F3-97B0-7F4AA42167DC}"/>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31D293B2-9699-47CF-A859-8D8A7C88A923}"/>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D8385C00-2AC8-44CD-BF1B-79113E7D1022}"/>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C85A0F44-DA42-49B4-AF4D-9D0D74D2B611}"/>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E4245A5D-D383-42C4-89C8-BF8001A22022}"/>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EF48198B-478D-451B-A8BD-47AE06B41992}"/>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A4C2F920-CD8C-4985-9C9F-9C8F0EA5D379}"/>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A368A598-352B-4F33-8573-1FAC7CCDC5C1}"/>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9DF70C4A-2F14-4DA9-A097-7FF5F494C214}"/>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16개 상권의 최종 배정</a:t>
            </a:r>
          </a:p>
        </p:txBody>
      </p:sp>
      <p:sp>
        <p:nvSpPr>
          <p:cNvPr id="53" name="">
            <a:extLst xmlns:a="http://schemas.openxmlformats.org/drawingml/2006/main">
              <a:ext uri="{FF2B5EF4-FFF2-40B4-BE49-F238E27FC236}">
                <a16:creationId xmlns:a16="http://schemas.microsoft.com/office/drawing/2014/main" id="{856C79C3-B3B5-4DF6-A4CF-F81D707DB6F4}"/>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39AEC01E-E38A-4E78-B43D-CCE7DA687F5F}"/>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B04FCCDE-B88F-4CE5-8E0D-9F71F498934F}"/>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B571EFE9-5BC5-4E75-B937-2E062832079A}"/>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E37517E2-F667-48B9-9949-DF075FFE2F62}"/>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168C1B44-D2B5-46EA-A94C-A61507EEFF0B}"/>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16개 상권의 최종 배정</a:t>
            </a:r>
          </a:p>
        </p:txBody>
      </p:sp>
      <p:sp>
        <p:nvSpPr>
          <p:cNvPr id="59" name="">
            <a:extLst xmlns:a="http://schemas.openxmlformats.org/drawingml/2006/main">
              <a:ext uri="{FF2B5EF4-FFF2-40B4-BE49-F238E27FC236}">
                <a16:creationId xmlns:a16="http://schemas.microsoft.com/office/drawing/2014/main" id="{6282F547-189A-470C-8CB5-A80CACC79F0E}"/>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총 60개 · 코어 36 / 참여 24 / 연계 0</a:t>
            </a:r>
          </a:p>
        </p:txBody>
      </p:sp>
      <p:sp>
        <p:nvSpPr>
          <p:cNvPr id="60" name="">
            <a:extLst xmlns:a="http://schemas.openxmlformats.org/drawingml/2006/main">
              <a:ext uri="{FF2B5EF4-FFF2-40B4-BE49-F238E27FC236}">
                <a16:creationId xmlns:a16="http://schemas.microsoft.com/office/drawing/2014/main" id="{7507F040-F0D7-41E4-8167-A75E97B2DDED}"/>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4CCE1A1B-A985-4837-BC2A-A590A81BE544}"/>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06 / 11</a:t>
            </a:r>
          </a:p>
        </p:txBody>
      </p:sp>
      <p:graphicFrame>
        <p:nvGraphicFramePr>
          <p:cNvPr id="130" name="Chart"/>
          <p:cNvGraphicFramePr/>
          <p:nvPr/>
        </p:nvGraphicFramePr>
        <p:xfrm>
          <a:off xmlns:a="http://schemas.openxmlformats.org/drawingml/2006/main" x="3048000" y="333375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4bdb22ae7ff549f3"/>
          </a:graphicData>
        </a:graphic>
      </p:graphicFrame>
      <p:sp>
        <p:nvSpPr>
          <p:cNvPr id="63" name="">
            <a:extLst xmlns:a="http://schemas.openxmlformats.org/drawingml/2006/main">
              <a:ext uri="{FF2B5EF4-FFF2-40B4-BE49-F238E27FC236}">
                <a16:creationId xmlns:a16="http://schemas.microsoft.com/office/drawing/2014/main" id="{36DBD0CE-E7AB-44B1-A919-1455CEDF0AEF}"/>
              </a:ext>
            </a:extLst>
          </p:cNvPr>
          <p:cNvSpPr>
            <a:spLocks xmlns:a="http://schemas.openxmlformats.org/drawingml/2006/main" noGrp="1"/>
          </p:cNvSpPr>
          <p:nvPr/>
        </p:nvSpPr>
        <p:spPr>
          <a:xfrm xmlns:a="http://schemas.openxmlformats.org/drawingml/2006/main">
            <a:off x="10572750" y="3552825"/>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37352F"/>
                </a:solidFill>
                <a:latin typeface="Malgun Gothic"/>
                <a:ea typeface="Malgun Gothic"/>
                <a:cs typeface="Malgun Gothic"/>
              </a:defRPr>
            </a:pPr>
            <a:r>
              <a:rPr sz="2550" b="1">
                <a:solidFill>
                  <a:srgbClr val="37352F"/>
                </a:solidFill>
                <a:latin typeface="Malgun Gothic"/>
                <a:ea typeface="Malgun Gothic"/>
                <a:cs typeface="Malgun Gothic"/>
              </a:rPr>
              <a:t>최소 2개</a:t>
            </a:r>
          </a:p>
        </p:txBody>
      </p:sp>
      <p:sp>
        <p:nvSpPr>
          <p:cNvPr id="64" name="">
            <a:extLst xmlns:a="http://schemas.openxmlformats.org/drawingml/2006/main">
              <a:ext uri="{FF2B5EF4-FFF2-40B4-BE49-F238E27FC236}">
                <a16:creationId xmlns:a16="http://schemas.microsoft.com/office/drawing/2014/main" id="{081C6B1C-8958-44DB-89B4-90DEA9F072F6}"/>
              </a:ext>
            </a:extLst>
          </p:cNvPr>
          <p:cNvSpPr>
            <a:spLocks xmlns:a="http://schemas.openxmlformats.org/drawingml/2006/main" noGrp="1"/>
          </p:cNvSpPr>
          <p:nvPr/>
        </p:nvSpPr>
        <p:spPr>
          <a:xfrm xmlns:a="http://schemas.openxmlformats.org/drawingml/2006/main">
            <a:off x="10572750" y="438150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37352F"/>
                </a:solidFill>
                <a:latin typeface="Malgun Gothic"/>
                <a:ea typeface="Malgun Gothic"/>
                <a:cs typeface="Malgun Gothic"/>
              </a:defRPr>
            </a:pPr>
            <a:r>
              <a:rPr sz="2550" b="1">
                <a:solidFill>
                  <a:srgbClr val="37352F"/>
                </a:solidFill>
                <a:latin typeface="Malgun Gothic"/>
                <a:ea typeface="Malgun Gothic"/>
                <a:cs typeface="Malgun Gothic"/>
              </a:rPr>
              <a:t>최대 6개</a:t>
            </a:r>
          </a:p>
        </p:txBody>
      </p:sp>
      <p:sp>
        <p:nvSpPr>
          <p:cNvPr id="65" name="">
            <a:extLst xmlns:a="http://schemas.openxmlformats.org/drawingml/2006/main">
              <a:ext uri="{FF2B5EF4-FFF2-40B4-BE49-F238E27FC236}">
                <a16:creationId xmlns:a16="http://schemas.microsoft.com/office/drawing/2014/main" id="{009D97C9-7D06-4E02-A448-8443E65D0A84}"/>
              </a:ext>
            </a:extLst>
          </p:cNvPr>
          <p:cNvSpPr>
            <a:spLocks xmlns:a="http://schemas.openxmlformats.org/drawingml/2006/main" noGrp="1"/>
          </p:cNvSpPr>
          <p:nvPr/>
        </p:nvSpPr>
        <p:spPr>
          <a:xfrm xmlns:a="http://schemas.openxmlformats.org/drawingml/2006/main">
            <a:off x="10572750" y="5257800"/>
            <a:ext cx="3619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점포 수의 20% 이내</a:t>
            </a:r>
          </a:p>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정수 상한은 내림</a:t>
            </a:r>
          </a:p>
        </p:txBody>
      </p:sp>
      <p:sp>
        <p:nvSpPr>
          <p:cNvPr id="66" name="">
            <a:extLst xmlns:a="http://schemas.openxmlformats.org/drawingml/2006/main">
              <a:ext uri="{FF2B5EF4-FFF2-40B4-BE49-F238E27FC236}">
                <a16:creationId xmlns:a16="http://schemas.microsoft.com/office/drawing/2014/main" id="{5A6ACB18-C7E7-4CD4-81AE-74B46AFC3A78}"/>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46979B34-7D58-4FF4-BD05-C0A047EE1415}"/>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8" name="">
            <a:extLst xmlns:a="http://schemas.openxmlformats.org/drawingml/2006/main">
              <a:ext uri="{FF2B5EF4-FFF2-40B4-BE49-F238E27FC236}">
                <a16:creationId xmlns:a16="http://schemas.microsoft.com/office/drawing/2014/main" id="{F89F623E-B6E9-43C9-B261-B99D17617DC0}"/>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이경시장: 19점포 × 20%를 내림하여 최대 3개</a:t>
            </a:r>
          </a:p>
        </p:txBody>
      </p:sp>
    </p:spTree>
    <p:extLst>
      <p:ext uri="{BB962C8B-B14F-4D97-AF65-F5344CB8AC3E}">
        <p14:creationId xmlns:p14="http://schemas.microsoft.com/office/powerpoint/2010/main" val="168936262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28C89FAF-FA26-43C5-8AC0-26663DB6C534}"/>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B4BDE6-C6B7-43B9-8DC9-B041373DD9E5}"/>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BB3DE96-DDE4-42A0-9DA2-75EBB736B6C3}"/>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94ADF02A-7A8C-4CE8-A922-A3F7A5A0F7DD}"/>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31244EAC-91BD-43BB-911D-45B1F8A97D03}"/>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F7BF757E-95DF-4683-8091-FCA1BA53CAD6}"/>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DD6AFCB3-0F95-4091-9CDA-A311690A3691}"/>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2F1DCE4A-9E53-490F-878D-09F0C49C2149}"/>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F6BE5668-56EF-4085-922A-440125EB802E}"/>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EF27CF09-2195-4BD5-AF2A-BD2265D951ED}"/>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B784CBA-B818-4956-ADFC-FE9CC1F2F2B8}"/>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4C9071A-09AC-4DD5-95EA-D5366C3226B7}"/>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2A3CFE3-16BD-46F1-9A58-A8F761C50D89}"/>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F723DC11-79B5-4CF7-9280-CA84D3D05917}"/>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83F4AFB3-EA6E-46CD-9978-9F83A4D6D058}"/>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CC8746A-F54E-4769-8FA5-773D776D8CAE}"/>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D9470A4-0E37-40F0-B091-4508B4123598}"/>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E6188BC-3C0B-4B39-918F-10B7FBF83BB4}"/>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A035F22B-22EF-4EA0-86BA-9AB42A592182}"/>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E14079C9-8CA6-49A0-B567-7F26BE8AA652}"/>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999E420-8EE1-406F-B0AC-854E09E06C12}"/>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F97497D-8995-4EE3-8B36-AE9E3B89E96C}"/>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ED68C42-0592-4C86-862D-CD501D199BB3}"/>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A977FAF6-D539-4AA9-8ADC-261F5576F2E8}"/>
              </a:ext>
            </a:extLst>
          </p:cNvPr>
          <p:cNvSpPr>
            <a:spLocks xmlns:a="http://schemas.openxmlformats.org/drawingml/2006/main" noGrp="1"/>
          </p:cNvSpPr>
          <p:nvPr/>
        </p:nvSpPr>
        <p:spPr>
          <a:xfrm xmlns:a="http://schemas.openxmlformats.org/drawingml/2006/main">
            <a:off x="95250" y="41910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760601D7-38FF-4104-8863-375AE5D2251C}"/>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4C79D6F4-FDE7-4D0C-9EC4-334C94C824AF}"/>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EDCA302-9574-46DB-B27D-412E1F8CCCC4}"/>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7150CA1D-1793-4470-82A4-E548B670584C}"/>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689CB175-08D5-4B4E-BD67-A8D6963A994B}"/>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42832BD5-A2BF-4398-A5AC-A55F981586B8}"/>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B0B0E82D-86DC-473F-A289-278896ED18D2}"/>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05EED870-B21D-4B72-A161-BA836A30ACA1}"/>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F4E69EB8-ABA3-434E-8D91-4B32E4A2B308}"/>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296D9BFB-A126-47E6-94F4-9EE247F68E04}"/>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3AD9A60A-7F56-4EBB-951E-B324C1A7F8D9}"/>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FD443EAA-E84B-425C-876E-2F2DD90C533A}"/>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1185B6AD-5142-4782-B499-CCB96E768109}"/>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61F245A0-AEAB-45A3-B8FE-B80EC2A5DD6F}"/>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A8B744E1-58D0-4572-9BF1-3535E898B9BB}"/>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E03B4D7F-BA9D-48E5-B10D-B71E52DD9DE7}"/>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B3BAD389-C34B-4DB6-964A-41849ACC9E0E}"/>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772B560A-08A1-484B-9443-2109CA73433B}"/>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C00A39A0-BE63-430A-B66B-4B9F4EE2FAC0}"/>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C0F9114F-BE74-4050-A898-3C77664D0A2E}"/>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03F8DF72-CD82-4503-A576-EE9629E26161}"/>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A7FDDB44-861D-4E79-99EB-D48F4193D95C}"/>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93058720-E997-4611-88D6-54B9C52C7F0D}"/>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B416D373-8776-4B94-AFCD-55B46BF0270D}"/>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5B08E7DA-A740-4DEC-B598-06420B139F54}"/>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9C317DD7-C5A1-4A94-95E2-DD6ABF998FEA}"/>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90E4A4CC-C0DB-4DAA-BA2B-99F79669F7B8}"/>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214ACAE5-B262-4B31-B4F3-FE5FC988C044}"/>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상위 5곳 배정 변화</a:t>
            </a:r>
          </a:p>
        </p:txBody>
      </p:sp>
      <p:sp>
        <p:nvSpPr>
          <p:cNvPr id="53" name="">
            <a:extLst xmlns:a="http://schemas.openxmlformats.org/drawingml/2006/main">
              <a:ext uri="{FF2B5EF4-FFF2-40B4-BE49-F238E27FC236}">
                <a16:creationId xmlns:a16="http://schemas.microsoft.com/office/drawing/2014/main" id="{D6E2A92B-CD2D-4C6B-A550-3317F99BDF72}"/>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A7CC27FF-C022-4EA3-A51D-2D8891289DB7}"/>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4A79E63A-3544-427A-B8AB-02F95855D480}"/>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89A0849A-1EEB-49F1-9F70-01A2B02FCB13}"/>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BD8AAB1C-14F3-4BDE-80BC-CDF652F9A1ED}"/>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1E7F2EC4-8592-4DC9-A00D-69195112A721}"/>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상위 5곳 배정 변화</a:t>
            </a:r>
          </a:p>
        </p:txBody>
      </p:sp>
      <p:sp>
        <p:nvSpPr>
          <p:cNvPr id="59" name="">
            <a:extLst xmlns:a="http://schemas.openxmlformats.org/drawingml/2006/main">
              <a:ext uri="{FF2B5EF4-FFF2-40B4-BE49-F238E27FC236}">
                <a16:creationId xmlns:a16="http://schemas.microsoft.com/office/drawing/2014/main" id="{5ACC723D-57D2-44BF-B9B8-ACD1A68A09C2}"/>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전후 모두 전체 60개를 분모로 비교</a:t>
            </a:r>
          </a:p>
        </p:txBody>
      </p:sp>
      <p:sp>
        <p:nvSpPr>
          <p:cNvPr id="60" name="">
            <a:extLst xmlns:a="http://schemas.openxmlformats.org/drawingml/2006/main">
              <a:ext uri="{FF2B5EF4-FFF2-40B4-BE49-F238E27FC236}">
                <a16:creationId xmlns:a16="http://schemas.microsoft.com/office/drawing/2014/main" id="{28A8F748-933B-46E2-B313-ADD2BFE7D8AB}"/>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6BED541C-6D8E-4615-96F5-99C7FEFC7648}"/>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07 / 11</a:t>
            </a:r>
          </a:p>
        </p:txBody>
      </p:sp>
      <p:graphicFrame>
        <p:nvGraphicFramePr>
          <p:cNvPr id="129" name="Chart"/>
          <p:cNvGraphicFramePr/>
          <p:nvPr/>
        </p:nvGraphicFramePr>
        <p:xfrm>
          <a:off xmlns:a="http://schemas.openxmlformats.org/drawingml/2006/main" x="3048000" y="3381375"/>
          <a:ext xmlns:a="http://schemas.openxmlformats.org/drawingml/2006/main" cx="11506200" cy="2781300"/>
        </p:xfrm>
        <a:graphic xmlns:a="http://schemas.openxmlformats.org/drawingml/2006/main">
          <a:graphicData uri="http://schemas.openxmlformats.org/drawingml/2006/chart">
            <c:chart xmlns:r="http://schemas.openxmlformats.org/officeDocument/2006/relationships" xmlns:c="http://schemas.openxmlformats.org/drawingml/2006/chart" r:id="R57f0b5f2351c4a83"/>
          </a:graphicData>
        </a:graphic>
      </p:graphicFrame>
      <p:sp>
        <p:nvSpPr>
          <p:cNvPr id="63" name="">
            <a:extLst xmlns:a="http://schemas.openxmlformats.org/drawingml/2006/main">
              <a:ext uri="{FF2B5EF4-FFF2-40B4-BE49-F238E27FC236}">
                <a16:creationId xmlns:a16="http://schemas.microsoft.com/office/drawing/2014/main" id="{4B2FD33B-9230-4246-8EF4-782E0250CD41}"/>
              </a:ext>
            </a:extLst>
          </p:cNvPr>
          <p:cNvSpPr>
            <a:spLocks xmlns:a="http://schemas.openxmlformats.org/drawingml/2006/main" noGrp="1"/>
          </p:cNvSpPr>
          <p:nvPr/>
        </p:nvSpPr>
        <p:spPr>
          <a:xfrm xmlns:a="http://schemas.openxmlformats.org/drawingml/2006/main">
            <a:off x="3048000" y="6305550"/>
            <a:ext cx="542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75" b="1">
                <a:solidFill>
                  <a:srgbClr val="37352F"/>
                </a:solidFill>
                <a:latin typeface="Malgun Gothic"/>
                <a:ea typeface="Malgun Gothic"/>
                <a:cs typeface="Malgun Gothic"/>
              </a:defRPr>
            </a:pPr>
            <a:r>
              <a:rPr sz="2775" b="1">
                <a:solidFill>
                  <a:srgbClr val="37352F"/>
                </a:solidFill>
                <a:latin typeface="Malgun Gothic"/>
                <a:ea typeface="Malgun Gothic"/>
                <a:cs typeface="Malgun Gothic"/>
              </a:rPr>
              <a:t>13개 (21.7%)</a:t>
            </a:r>
          </a:p>
        </p:txBody>
      </p:sp>
      <p:sp>
        <p:nvSpPr>
          <p:cNvPr id="64" name="">
            <a:extLst xmlns:a="http://schemas.openxmlformats.org/drawingml/2006/main">
              <a:ext uri="{FF2B5EF4-FFF2-40B4-BE49-F238E27FC236}">
                <a16:creationId xmlns:a16="http://schemas.microsoft.com/office/drawing/2014/main" id="{83C88006-7821-47DA-AFDE-8C6B40EEA0CB}"/>
              </a:ext>
            </a:extLst>
          </p:cNvPr>
          <p:cNvSpPr>
            <a:spLocks xmlns:a="http://schemas.openxmlformats.org/drawingml/2006/main" noGrp="1"/>
          </p:cNvSpPr>
          <p:nvPr/>
        </p:nvSpPr>
        <p:spPr>
          <a:xfrm xmlns:a="http://schemas.openxmlformats.org/drawingml/2006/main">
            <a:off x="9315450" y="6305550"/>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75" b="1">
                <a:solidFill>
                  <a:srgbClr val="487CA5"/>
                </a:solidFill>
                <a:latin typeface="Malgun Gothic"/>
                <a:ea typeface="Malgun Gothic"/>
                <a:cs typeface="Malgun Gothic"/>
              </a:defRPr>
            </a:pPr>
            <a:r>
              <a:rPr sz="2775" b="1">
                <a:solidFill>
                  <a:srgbClr val="487CA5"/>
                </a:solidFill>
                <a:latin typeface="Malgun Gothic"/>
                <a:ea typeface="Malgun Gothic"/>
                <a:cs typeface="Malgun Gothic"/>
              </a:rPr>
              <a:t>27개 (45.0%)</a:t>
            </a:r>
          </a:p>
        </p:txBody>
      </p:sp>
      <p:sp>
        <p:nvSpPr>
          <p:cNvPr id="65" name="">
            <a:extLst xmlns:a="http://schemas.openxmlformats.org/drawingml/2006/main">
              <a:ext uri="{FF2B5EF4-FFF2-40B4-BE49-F238E27FC236}">
                <a16:creationId xmlns:a16="http://schemas.microsoft.com/office/drawing/2014/main" id="{0AA37312-D469-4E56-8EE8-60AE67748A0E}"/>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1F5676C5-CE9D-480E-A742-D5F845F455D8}"/>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7" name="">
            <a:extLst xmlns:a="http://schemas.openxmlformats.org/drawingml/2006/main">
              <a:ext uri="{FF2B5EF4-FFF2-40B4-BE49-F238E27FC236}">
                <a16:creationId xmlns:a16="http://schemas.microsoft.com/office/drawing/2014/main" id="{F66B78E3-0E3C-4C84-90EE-84118A45554E}"/>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상위 5곳에 14개 추가 배정 · 매출 증가율을 뜻하지 않음</a:t>
            </a:r>
          </a:p>
        </p:txBody>
      </p:sp>
    </p:spTree>
    <p:extLst>
      <p:ext uri="{BB962C8B-B14F-4D97-AF65-F5344CB8AC3E}">
        <p14:creationId xmlns:p14="http://schemas.microsoft.com/office/powerpoint/2010/main" val="59357678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335366CF-AC52-4542-AF13-FEBD3BD3AB40}"/>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F69D279-07C1-443F-94E5-9FFE91921D15}"/>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B7D9CE4-0292-4E29-9BEF-2BDA8A2AC647}"/>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D8313C07-4941-4D7B-8DE0-8450BB0DD487}"/>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1D724C5B-CC04-4393-BF8C-937538F07932}"/>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1780C7E0-B1AD-49CE-A65E-FCA121D27771}"/>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7A527DCC-3FB4-4AED-BA49-D920A852E63D}"/>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9B2CC3F4-229F-49AD-9782-565163E52FE7}"/>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661BDBF6-F725-4460-8150-F1EEA0EC2E04}"/>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C87EE3B5-EDA5-41B9-A060-F129BA596730}"/>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43BD2D6-E517-42BC-A929-CB7424F60218}"/>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CC950A5-7962-4444-A2DB-1AA214968B04}"/>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102D826-5DAB-46E7-9E87-A325B95A5744}"/>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41E66B71-EA8E-4D67-A16B-A88FB7AA4219}"/>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253DAE2D-2C4E-4EC9-AB7C-DA77C672B78F}"/>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60E1769-CE27-43CC-86CB-CD4C7A1AB480}"/>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9190F96-66A2-4526-BB82-33FA75977BC6}"/>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D13814A-7EAE-4214-8330-CE2ED53796DF}"/>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F5533500-C99F-405B-BD2D-C56D06F01A83}"/>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A9E877E8-EA6A-463B-9037-6C09387279F9}"/>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B2E4EB4-7BE5-4CFE-BECD-A859F0440B37}"/>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6BC93C8-26B7-43C4-9FFB-0F1E7FBB6EE5}"/>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3739F38-1CED-4D70-BDDB-86C0609F7D40}"/>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59DD5352-690E-4C39-AAEC-B7381BCC0B4E}"/>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B87FE2FD-0C8A-4AA1-9432-99B8EC581F91}"/>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E083067-BF46-43AB-93F8-94A394F25181}"/>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06962D3-73FE-4DA2-BE04-498491CA63C7}"/>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00B968A6-2244-4946-8421-51DA5C715573}"/>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ED0FD715-A33A-4FA1-A5E5-C45E6D50E27D}"/>
              </a:ext>
            </a:extLst>
          </p:cNvPr>
          <p:cNvSpPr>
            <a:spLocks xmlns:a="http://schemas.openxmlformats.org/drawingml/2006/main" noGrp="1"/>
          </p:cNvSpPr>
          <p:nvPr/>
        </p:nvSpPr>
        <p:spPr>
          <a:xfrm xmlns:a="http://schemas.openxmlformats.org/drawingml/2006/main">
            <a:off x="95250" y="4600575"/>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0173666E-9CA5-408C-B2E2-8B7D694B2825}"/>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AD3ABF3A-157B-4D5D-BF15-EC2C1C2DFEF9}"/>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D6380CEC-507E-4675-AE87-95B2B6BAB51C}"/>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940CACEB-0F06-431A-8651-2E8742720B70}"/>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5E86F1C4-81C7-44EF-9AFA-E5EA2B173FB2}"/>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397F19D6-0475-49A4-A35F-2D82FAC46DD3}"/>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BAA4E902-BF2C-4D1D-B2A9-EC5485FDB5F0}"/>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ACDB52F3-9175-49D2-83EE-6480A1996E2E}"/>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1A254146-A327-46A1-BED3-B44780529D55}"/>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C5F1D793-77A3-46A3-A1D2-6E82308E704E}"/>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5FC7DCBD-1109-4E2B-B2BD-F2D859EB3502}"/>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0FEE0D73-1A5C-42CA-A3DC-3BEC46321144}"/>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5A1AEE58-E520-4111-A566-10EB6D8BD729}"/>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EB862E02-EEE1-4C8D-9944-8554E7D48418}"/>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25617E00-6FED-4364-850A-38F3B60B834B}"/>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1F1ACAAE-CE14-4B20-9C73-E76AE565B00F}"/>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764328BF-BD51-4809-BA07-BD4B5DE0A38E}"/>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B233F701-6180-47B9-ADCF-6D75E566B19B}"/>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C8209004-9D34-4DC2-A174-E638E57F2D2B}"/>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B32791D3-B80A-4E2E-8939-31BE29D6BEDC}"/>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2A35F850-9FFF-4AB5-8623-BEFD0C482379}"/>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7A5164ED-1FD1-4091-B86F-BE781B3A33AE}"/>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83403E5F-532A-476E-97FC-C98BDED1A277}"/>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3개 상권을 잇는 코스</a:t>
            </a:r>
          </a:p>
        </p:txBody>
      </p:sp>
      <p:sp>
        <p:nvSpPr>
          <p:cNvPr id="53" name="">
            <a:extLst xmlns:a="http://schemas.openxmlformats.org/drawingml/2006/main">
              <a:ext uri="{FF2B5EF4-FFF2-40B4-BE49-F238E27FC236}">
                <a16:creationId xmlns:a16="http://schemas.microsoft.com/office/drawing/2014/main" id="{B4607DDB-1553-47F6-9777-2F1EE09AEE1A}"/>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1AF9044C-F29B-461F-B3F6-DA94B868CF2F}"/>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4164AB19-E2C9-43E2-99EF-087D6B9CFC60}"/>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996EC90A-95A3-4028-A5D1-64DA05055E48}"/>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4CC10991-1466-4718-9573-B5DDD490609E}"/>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86880917-1A9B-432C-9E1E-A48C6DB0D48A}"/>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3개 상권을 잇는 코스</a:t>
            </a:r>
          </a:p>
        </p:txBody>
      </p:sp>
      <p:sp>
        <p:nvSpPr>
          <p:cNvPr id="59" name="">
            <a:extLst xmlns:a="http://schemas.openxmlformats.org/drawingml/2006/main">
              <a:ext uri="{FF2B5EF4-FFF2-40B4-BE49-F238E27FC236}">
                <a16:creationId xmlns:a16="http://schemas.microsoft.com/office/drawing/2014/main" id="{96913DA1-1C90-496C-AD4B-ACF166B29B4D}"/>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기존 분석의 코스 제안 · 웹의 권역별 테마 목록과 구분</a:t>
            </a:r>
          </a:p>
        </p:txBody>
      </p:sp>
      <p:sp>
        <p:nvSpPr>
          <p:cNvPr id="60" name="">
            <a:extLst xmlns:a="http://schemas.openxmlformats.org/drawingml/2006/main">
              <a:ext uri="{FF2B5EF4-FFF2-40B4-BE49-F238E27FC236}">
                <a16:creationId xmlns:a16="http://schemas.microsoft.com/office/drawing/2014/main" id="{95E988C6-DE66-4A84-A6E7-6971F3544566}"/>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8201F8EB-A1A2-4575-A93E-437A5C72A0FE}"/>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08 / 11</a:t>
            </a:r>
          </a:p>
        </p:txBody>
      </p:sp>
      <p:graphicFrame>
        <p:nvGraphicFramePr>
          <p:cNvPr id="129" name=""/>
          <p:cNvGraphicFramePr/>
          <p:nvPr/>
        </p:nvGraphicFramePr>
        <p:xfrm>
          <a:off xmlns:a="http://schemas.openxmlformats.org/drawingml/2006/main" x="3048000" y="3448050"/>
          <a:ext xmlns:a="http://schemas.openxmlformats.org/drawingml/2006/main" cx="11506200" cy="2476500"/>
        </p:xfrm>
        <a:graphic xmlns:a="http://schemas.openxmlformats.org/drawingml/2006/main">
          <a:graphicData uri="http://schemas.openxmlformats.org/drawingml/2006/table">
            <a:tbl>
              <a:tblPr/>
              <a:tblGrid>
                <a:gridCol w="1524000"/>
                <a:gridCol w="7524750"/>
                <a:gridCol w="2457450"/>
              </a:tblGrid>
              <a:tr h="619125">
                <a:tc>
                  <a:txBody>
                    <a:bodyPr/>
                    <a:lstStyle/>
                    <a:p>
                      <a:r>
                        <a:rPr sz="1725" b="1">
                          <a:solidFill>
                            <a:srgbClr val="37352F"/>
                          </a:solidFill>
                          <a:latin typeface="Malgun Gothic"/>
                          <a:ea typeface="Malgun Gothic"/>
                          <a:cs typeface="Malgun Gothic"/>
                        </a:rPr>
                        <a:t>권역</a:t>
                      </a:r>
                    </a:p>
                  </a:txBody>
                  <a:tcPr marL="85725" marR="85725" marT="28575" marB="28575">
                    <a:solidFill>
                      <a:srgbClr val="F1F1EF"/>
                    </a:solidFill>
                  </a:tcPr>
                </a:tc>
                <a:tc>
                  <a:txBody>
                    <a:bodyPr/>
                    <a:lstStyle/>
                    <a:p>
                      <a:r>
                        <a:rPr sz="1725" b="1">
                          <a:solidFill>
                            <a:srgbClr val="37352F"/>
                          </a:solidFill>
                          <a:latin typeface="Malgun Gothic"/>
                          <a:ea typeface="Malgun Gothic"/>
                          <a:cs typeface="Malgun Gothic"/>
                        </a:rPr>
                        <a:t>포함 상권</a:t>
                      </a:r>
                    </a:p>
                  </a:txBody>
                  <a:tcPr marL="85725" marR="85725" marT="28575" marB="28575">
                    <a:solidFill>
                      <a:srgbClr val="F1F1EF"/>
                    </a:solidFill>
                  </a:tcPr>
                </a:tc>
                <a:tc>
                  <a:txBody>
                    <a:bodyPr/>
                    <a:lstStyle/>
                    <a:p>
                      <a:r>
                        <a:rPr sz="1725" b="1">
                          <a:solidFill>
                            <a:srgbClr val="37352F"/>
                          </a:solidFill>
                          <a:latin typeface="Malgun Gothic"/>
                          <a:ea typeface="Malgun Gothic"/>
                          <a:cs typeface="Malgun Gothic"/>
                        </a:rPr>
                        <a:t>근사 거리·시간</a:t>
                      </a:r>
                    </a:p>
                  </a:txBody>
                  <a:tcPr marL="85725" marR="85725" marT="28575" marB="28575">
                    <a:solidFill>
                      <a:srgbClr val="F1F1EF"/>
                    </a:solidFill>
                  </a:tcPr>
                </a:tc>
              </a:tr>
              <a:tr h="619125">
                <a:tc>
                  <a:txBody>
                    <a:bodyPr/>
                    <a:lstStyle/>
                    <a:p>
                      <a:r>
                        <a:rPr sz="1725" b="0">
                          <a:solidFill>
                            <a:srgbClr val="37352F"/>
                          </a:solidFill>
                          <a:latin typeface="Malgun Gothic"/>
                          <a:ea typeface="Malgun Gothic"/>
                          <a:cs typeface="Malgun Gothic"/>
                        </a:rPr>
                        <a:t>A 회기</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회기역 1번 · 회기시장 · 시조사삼거리</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886m · 11분</a:t>
                      </a:r>
                    </a:p>
                  </a:txBody>
                  <a:tcPr marL="85725" marR="85725" marT="28575" marB="28575">
                    <a:solidFill>
                      <a:srgbClr val="FFFFFF"/>
                    </a:solidFill>
                  </a:tcPr>
                </a:tc>
              </a:tr>
              <a:tr h="619125">
                <a:tc>
                  <a:txBody>
                    <a:bodyPr/>
                    <a:lstStyle/>
                    <a:p>
                      <a:r>
                        <a:rPr sz="1725" b="0">
                          <a:solidFill>
                            <a:srgbClr val="37352F"/>
                          </a:solidFill>
                          <a:latin typeface="Malgun Gothic"/>
                          <a:ea typeface="Malgun Gothic"/>
                          <a:cs typeface="Malgun Gothic"/>
                        </a:rPr>
                        <a:t>B 이문</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외대앞역 1번 · 청량초등학교 · 이경시장</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1,147m · 14분</a:t>
                      </a:r>
                    </a:p>
                  </a:txBody>
                  <a:tcPr marL="85725" marR="85725" marT="28575" marB="28575">
                    <a:solidFill>
                      <a:srgbClr val="FFFFFF"/>
                    </a:solidFill>
                  </a:tcPr>
                </a:tc>
              </a:tr>
              <a:tr h="619125">
                <a:tc>
                  <a:txBody>
                    <a:bodyPr/>
                    <a:lstStyle/>
                    <a:p>
                      <a:r>
                        <a:rPr sz="1725" b="0">
                          <a:solidFill>
                            <a:srgbClr val="37352F"/>
                          </a:solidFill>
                          <a:latin typeface="Malgun Gothic"/>
                          <a:ea typeface="Malgun Gothic"/>
                          <a:cs typeface="Malgun Gothic"/>
                        </a:rPr>
                        <a:t>C 전농</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서울시립대 · 시립대앞사거리 · 전곡마을마당공원</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990m · 12분</a:t>
                      </a:r>
                    </a:p>
                  </a:txBody>
                  <a:tcPr marL="85725" marR="85725" marT="28575" marB="28575">
                    <a:solidFill>
                      <a:srgbClr val="FFFFFF"/>
                    </a:solidFill>
                  </a:tcPr>
                </a:tc>
              </a:tr>
            </a:tbl>
          </a:graphicData>
        </a:graphic>
      </p:graphicFrame>
      <p:sp>
        <p:nvSpPr>
          <p:cNvPr id="63" name="">
            <a:extLst xmlns:a="http://schemas.openxmlformats.org/drawingml/2006/main">
              <a:ext uri="{FF2B5EF4-FFF2-40B4-BE49-F238E27FC236}">
                <a16:creationId xmlns:a16="http://schemas.microsoft.com/office/drawing/2014/main" id="{387DE18C-4EA8-47D0-B8FE-B605997577F0}"/>
              </a:ext>
            </a:extLst>
          </p:cNvPr>
          <p:cNvSpPr>
            <a:spLocks xmlns:a="http://schemas.openxmlformats.org/drawingml/2006/main" noGrp="1"/>
          </p:cNvSpPr>
          <p:nvPr/>
        </p:nvSpPr>
        <p:spPr>
          <a:xfrm xmlns:a="http://schemas.openxmlformats.org/drawingml/2006/main">
            <a:off x="3048000" y="63150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37352F"/>
                </a:solidFill>
                <a:latin typeface="Malgun Gothic"/>
                <a:ea typeface="Malgun Gothic"/>
                <a:cs typeface="Malgun Gothic"/>
              </a:defRPr>
            </a:pPr>
            <a:r>
              <a:rPr sz="2475" b="1">
                <a:solidFill>
                  <a:srgbClr val="37352F"/>
                </a:solidFill>
                <a:latin typeface="Malgun Gothic"/>
                <a:ea typeface="Malgun Gothic"/>
                <a:cs typeface="Malgun Gothic"/>
              </a:rPr>
              <a:t>9 / 16곳 포함</a:t>
            </a:r>
          </a:p>
        </p:txBody>
      </p:sp>
      <p:sp>
        <p:nvSpPr>
          <p:cNvPr id="64" name="">
            <a:extLst xmlns:a="http://schemas.openxmlformats.org/drawingml/2006/main">
              <a:ext uri="{FF2B5EF4-FFF2-40B4-BE49-F238E27FC236}">
                <a16:creationId xmlns:a16="http://schemas.microsoft.com/office/drawing/2014/main" id="{D0353BF3-88B6-4018-8303-379FE037222A}"/>
              </a:ext>
            </a:extLst>
          </p:cNvPr>
          <p:cNvSpPr>
            <a:spLocks xmlns:a="http://schemas.openxmlformats.org/drawingml/2006/main" noGrp="1"/>
          </p:cNvSpPr>
          <p:nvPr/>
        </p:nvSpPr>
        <p:spPr>
          <a:xfrm xmlns:a="http://schemas.openxmlformats.org/drawingml/2006/main">
            <a:off x="9001125" y="6315075"/>
            <a:ext cx="552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37352F"/>
                </a:solidFill>
                <a:latin typeface="Malgun Gothic"/>
                <a:ea typeface="Malgun Gothic"/>
                <a:cs typeface="Malgun Gothic"/>
              </a:defRPr>
            </a:pPr>
            <a:r>
              <a:rPr sz="2475" b="1">
                <a:solidFill>
                  <a:srgbClr val="37352F"/>
                </a:solidFill>
                <a:latin typeface="Malgun Gothic"/>
                <a:ea typeface="Malgun Gothic"/>
                <a:cs typeface="Malgun Gothic"/>
              </a:rPr>
              <a:t>소외도 합의 약 70.3%</a:t>
            </a:r>
          </a:p>
        </p:txBody>
      </p:sp>
      <p:sp>
        <p:nvSpPr>
          <p:cNvPr id="65" name="">
            <a:extLst xmlns:a="http://schemas.openxmlformats.org/drawingml/2006/main">
              <a:ext uri="{FF2B5EF4-FFF2-40B4-BE49-F238E27FC236}">
                <a16:creationId xmlns:a16="http://schemas.microsoft.com/office/drawing/2014/main" id="{34CE4B55-38EE-41C5-82F6-AB1A791BA6BC}"/>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DAB8BBC8-2593-4E45-A03B-DE5949C4285E}"/>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7" name="">
            <a:extLst xmlns:a="http://schemas.openxmlformats.org/drawingml/2006/main">
              <a:ext uri="{FF2B5EF4-FFF2-40B4-BE49-F238E27FC236}">
                <a16:creationId xmlns:a16="http://schemas.microsoft.com/office/drawing/2014/main" id="{A8F259E2-8A5C-4AF3-8728-DFEC72DF723A}"/>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대표점 직선거리 × 1.25, 보행속도 80m/분 가정 · 현장 경로 확인 필요</a:t>
            </a:r>
          </a:p>
        </p:txBody>
      </p:sp>
    </p:spTree>
    <p:extLst>
      <p:ext uri="{BB962C8B-B14F-4D97-AF65-F5344CB8AC3E}">
        <p14:creationId xmlns:p14="http://schemas.microsoft.com/office/powerpoint/2010/main" val="152516332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7" name="">
            <a:extLst xmlns:a="http://schemas.openxmlformats.org/drawingml/2006/main">
              <a:ext uri="{FF2B5EF4-FFF2-40B4-BE49-F238E27FC236}">
                <a16:creationId xmlns:a16="http://schemas.microsoft.com/office/drawing/2014/main" id="{CF5A0FCA-F826-4F5A-864A-8597C325DBC8}"/>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88463CE-A83A-49FB-BD5B-B3D74E722001}"/>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33BDA92-7D1F-4FDF-B038-67DECAE888BB}"/>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7454C57C-C59B-49F2-A23C-8C1319F59BEC}"/>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65D2B068-099B-4D00-94E0-C849165C2BF4}"/>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AE4AF5E2-80B3-439D-BBB8-1440381E358F}"/>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83511F73-2F93-4B35-BDE4-540DE915CBE0}"/>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E098B80B-C7A9-4DCB-B99F-55AB5E9A9C57}"/>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F6F4A262-358A-45F6-9D74-9FB550843356}"/>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C4AD5745-249F-4607-BC77-5B4B00193FD0}"/>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6F195CD-245D-4513-9539-E8324B45E5E6}"/>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BBC8AA5-E777-4102-B79B-034CCE11BE96}"/>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0D4A936-2806-4FA5-9E00-A6C0AB8BFA13}"/>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91BAA896-D80C-4101-AF86-D5560CA26DEF}"/>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D4A23030-8574-4948-8D17-1272078DFD78}"/>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E5603E4-B8AE-4B23-8329-F0F929730DB7}"/>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2E1B71F-D25D-409F-BAD9-97E1B9EA5D68}"/>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977C3B7-5750-4542-AE2B-934D0F26593E}"/>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3D8AD2DD-D82F-49A1-8351-2B01A0A5A90C}"/>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4E9A6244-6D6E-451F-8FFF-51F988B646E6}"/>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57B97B7-0901-490D-8932-9E4E75721B9E}"/>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CE53DDA-AE1A-40F2-A3B8-95DA100E63A9}"/>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6B85DA0-3435-421D-8491-77D2DDE7DC8F}"/>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61389937-A50B-45B4-86EF-9DFB0BDD611B}"/>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E2B1A2A9-245F-464C-A4D7-B4553359454B}"/>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7D65A673-7A88-452B-B999-3E0BA2866281}"/>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4C10F10-7153-4D8A-ABC1-4FBD734C2813}"/>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E30B479-E730-4A28-9854-9B5A8A993E9F}"/>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9862E29F-86E2-4119-9D09-279176C5C83C}"/>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12AD5E4F-9F2A-45AA-8509-47FFD8BBA28C}"/>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30D4BB6F-D5DB-4E4D-AE9F-A55419252F9A}"/>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2A714DAA-6C6B-4EDE-8124-C806D006C4CB}"/>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EF08A584-6C7B-451D-8BF1-F6D81B194393}"/>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8887FCFC-1372-4FAA-817C-7C021B7EB66F}"/>
              </a:ext>
            </a:extLst>
          </p:cNvPr>
          <p:cNvSpPr>
            <a:spLocks xmlns:a="http://schemas.openxmlformats.org/drawingml/2006/main" noGrp="1"/>
          </p:cNvSpPr>
          <p:nvPr/>
        </p:nvSpPr>
        <p:spPr>
          <a:xfrm xmlns:a="http://schemas.openxmlformats.org/drawingml/2006/main">
            <a:off x="95250" y="501015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C7E18281-9FE5-49D0-AD96-E955D3FDE96B}"/>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ACE0104C-D30B-49AE-B936-A21FE923F4ED}"/>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CAE6F62C-452C-496C-9E99-3783E03C1F81}"/>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5FD76FCB-13C4-4923-B9E1-96FA12B213E4}"/>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B02CC3FE-DA0C-46F7-9FC0-E9502C5464CD}"/>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75A4701D-F02B-40BF-8728-9C2F9554CF2A}"/>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F9C34E7D-0A9D-4044-8E9F-4567333040F8}"/>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7597A3E8-182F-4175-8AB0-CA9AC4C2F02B}"/>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512EE803-7445-4151-8C43-3A250AB7260C}"/>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31EC47F7-D311-49B9-AF93-3DE6C559CE83}"/>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3CC35F80-A37A-495C-AA46-39F8C226C1F5}"/>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17FA326D-519F-4F2B-AB1F-9AA3AD62DDD8}"/>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6CD65447-884B-4B52-82F0-4C00D748A4EB}"/>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A68EFC40-A166-4181-86FF-CC8B7E077A2E}"/>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7FEA1665-D4EF-44AC-9D14-A01359FDFE26}"/>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1F480E27-555C-40B4-80A6-970A23847767}"/>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FAF16190-1CA9-43F2-B997-48B4B5E8D99D}"/>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5519C6AB-4619-4FB5-BE45-CB5016A0D6DA}"/>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방문객 웹 가이드</a:t>
            </a:r>
          </a:p>
        </p:txBody>
      </p:sp>
      <p:sp>
        <p:nvSpPr>
          <p:cNvPr id="53" name="">
            <a:extLst xmlns:a="http://schemas.openxmlformats.org/drawingml/2006/main">
              <a:ext uri="{FF2B5EF4-FFF2-40B4-BE49-F238E27FC236}">
                <a16:creationId xmlns:a16="http://schemas.microsoft.com/office/drawing/2014/main" id="{1E8BB9D4-D310-4BBE-AD04-DC58C2D9AEC3}"/>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FA90D6DB-6623-4E60-85A3-20064D127B94}"/>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3BA12B3D-318F-4692-87BD-589DFCD999AB}"/>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E3C3D8C0-7DC3-4E1A-87A8-9EE8DB0AEF72}"/>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82B3BB12-A121-46C1-81F0-DC704906374E}"/>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A53F5F7F-27C4-4650-8142-FCD7F11C65F1}"/>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방문객 웹 가이드</a:t>
            </a:r>
          </a:p>
        </p:txBody>
      </p:sp>
      <p:sp>
        <p:nvSpPr>
          <p:cNvPr id="59" name="">
            <a:extLst xmlns:a="http://schemas.openxmlformats.org/drawingml/2006/main">
              <a:ext uri="{FF2B5EF4-FFF2-40B4-BE49-F238E27FC236}">
                <a16:creationId xmlns:a16="http://schemas.microsoft.com/office/drawing/2014/main" id="{40E14364-D701-459D-BD4E-01454E3E3F0E}"/>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취향 추천에서 상권별 배정 근거까지</a:t>
            </a:r>
          </a:p>
        </p:txBody>
      </p:sp>
      <p:sp>
        <p:nvSpPr>
          <p:cNvPr id="60" name="">
            <a:extLst xmlns:a="http://schemas.openxmlformats.org/drawingml/2006/main">
              <a:ext uri="{FF2B5EF4-FFF2-40B4-BE49-F238E27FC236}">
                <a16:creationId xmlns:a16="http://schemas.microsoft.com/office/drawing/2014/main" id="{FF12A24B-4FDD-4DBA-9A8D-F392C6DA08C8}"/>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13625132-32D6-4796-AABC-07ECE5543593}"/>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09 / 11</a:t>
            </a:r>
          </a:p>
        </p:txBody>
      </p:sp>
      <p:pic>
        <p:nvPicPr>
          <p:cNvPr id="128" name=""/>
          <p:cNvPicPr>
            <a:picLocks xmlns:a="http://schemas.openxmlformats.org/drawingml/2006/main" noChangeAspect="1"/>
          </p:cNvPicPr>
          <p:nvPr/>
        </p:nvPicPr>
        <p:blipFill>
          <a:blip xmlns:r="http://schemas.openxmlformats.org/officeDocument/2006/relationships" xmlns:a="http://schemas.openxmlformats.org/drawingml/2006/main" r:embed="R3538a865928b4379"/>
          <a:stretch xmlns:a="http://schemas.openxmlformats.org/drawingml/2006/main"/>
        </p:blipFill>
        <p:spPr>
          <a:xfrm xmlns:a="http://schemas.openxmlformats.org/drawingml/2006/main">
            <a:off x="3722370" y="3371850"/>
            <a:ext cx="4937760" cy="3429000"/>
          </a:xfrm>
          <a:prstGeom xmlns:a="http://schemas.openxmlformats.org/drawingml/2006/main" prst="rect">
            <a:avLst/>
          </a:prstGeom>
        </p:spPr>
      </p:pic>
      <p:pic>
        <p:nvPicPr>
          <p:cNvPr id="129" name=""/>
          <p:cNvPicPr>
            <a:picLocks xmlns:a="http://schemas.openxmlformats.org/drawingml/2006/main" noChangeAspect="1"/>
          </p:cNvPicPr>
          <p:nvPr/>
        </p:nvPicPr>
        <p:blipFill>
          <a:blip xmlns:r="http://schemas.openxmlformats.org/officeDocument/2006/relationships" xmlns:a="http://schemas.openxmlformats.org/drawingml/2006/main" r:embed="Ra59f677859a04f83"/>
          <a:stretch xmlns:a="http://schemas.openxmlformats.org/drawingml/2006/main"/>
        </p:blipFill>
        <p:spPr>
          <a:xfrm xmlns:a="http://schemas.openxmlformats.org/drawingml/2006/main">
            <a:off x="9844052" y="3333750"/>
            <a:ext cx="4543495" cy="3743325"/>
          </a:xfrm>
          <a:prstGeom xmlns:a="http://schemas.openxmlformats.org/drawingml/2006/main" prst="rect">
            <a:avLst/>
          </a:prstGeom>
        </p:spPr>
      </p:pic>
      <p:sp>
        <p:nvSpPr>
          <p:cNvPr id="64" name="">
            <a:extLst xmlns:a="http://schemas.openxmlformats.org/drawingml/2006/main">
              <a:ext uri="{FF2B5EF4-FFF2-40B4-BE49-F238E27FC236}">
                <a16:creationId xmlns:a16="http://schemas.microsoft.com/office/drawing/2014/main" id="{8C9DB100-94EC-411D-966B-AF9E9717F5EF}"/>
              </a:ext>
            </a:extLst>
          </p:cNvPr>
          <p:cNvSpPr>
            <a:spLocks xmlns:a="http://schemas.openxmlformats.org/drawingml/2006/main" noGrp="1"/>
          </p:cNvSpPr>
          <p:nvPr/>
        </p:nvSpPr>
        <p:spPr>
          <a:xfrm xmlns:a="http://schemas.openxmlformats.org/drawingml/2006/main">
            <a:off x="3048000" y="7305675"/>
            <a:ext cx="11506200" cy="64770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61B0145F-C7AE-4BA9-B7EC-0A697ECBC5F9}"/>
              </a:ext>
            </a:extLst>
          </p:cNvPr>
          <p:cNvSpPr>
            <a:spLocks xmlns:a="http://schemas.openxmlformats.org/drawingml/2006/main" noGrp="1"/>
          </p:cNvSpPr>
          <p:nvPr/>
        </p:nvSpPr>
        <p:spPr>
          <a:xfrm xmlns:a="http://schemas.openxmlformats.org/drawingml/2006/main">
            <a:off x="3238500" y="742950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6" name="">
            <a:extLst xmlns:a="http://schemas.openxmlformats.org/drawingml/2006/main">
              <a:ext uri="{FF2B5EF4-FFF2-40B4-BE49-F238E27FC236}">
                <a16:creationId xmlns:a16="http://schemas.microsoft.com/office/drawing/2014/main" id="{4E8AA4C6-DEB8-4299-9FBD-31077B44F9F1}"/>
              </a:ext>
            </a:extLst>
          </p:cNvPr>
          <p:cNvSpPr>
            <a:spLocks xmlns:a="http://schemas.openxmlformats.org/drawingml/2006/main" noGrp="1"/>
          </p:cNvSpPr>
          <p:nvPr/>
        </p:nvSpPr>
        <p:spPr>
          <a:xfrm xmlns:a="http://schemas.openxmlformats.org/drawingml/2006/main">
            <a:off x="3714750" y="741997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취향 추천과 정책 배정을 구분하고, 상권 상세에서 배정 근거를 확인</a:t>
            </a:r>
          </a:p>
        </p:txBody>
      </p:sp>
    </p:spTree>
    <p:extLst>
      <p:ext uri="{BB962C8B-B14F-4D97-AF65-F5344CB8AC3E}">
        <p14:creationId xmlns:p14="http://schemas.microsoft.com/office/powerpoint/2010/main" val="5374770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7" name="">
            <a:extLst xmlns:a="http://schemas.openxmlformats.org/drawingml/2006/main">
              <a:ext uri="{FF2B5EF4-FFF2-40B4-BE49-F238E27FC236}">
                <a16:creationId xmlns:a16="http://schemas.microsoft.com/office/drawing/2014/main" id="{E836A791-8161-4826-BC59-687362716074}"/>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4D58D27-2B90-4E9E-BF8F-2DFE9F79C49E}"/>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3EDA647-33AB-41E9-918B-BBE6867F1965}"/>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69E8DA8C-B9BE-44F7-B248-A39F88F72725}"/>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481686BD-1C9F-4780-A473-48DC222953E7}"/>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E3562FE2-F3DB-4891-9CF2-C21FCB80FE6F}"/>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322D2BB9-B739-4FF7-82CB-9F5CF9D7C44C}"/>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FB6A918A-25E0-4264-8C62-07367011C50C}"/>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AD0EBEBF-B09C-46FD-865E-4D14919CF8DF}"/>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678C2687-4F97-4188-9AC2-E780DAA35F3F}"/>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BFD6EAC-212C-4E4A-B3C6-9AB7FB468621}"/>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9B05FE1-42BA-4978-9420-C36422537495}"/>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2E1F8A7-DEA4-450A-9284-4720CAD90943}"/>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47577C62-B5B5-4C75-B8CE-F6C5FFF04DFC}"/>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0C9718C3-AD3A-4EB1-9B9B-09AD2A85A30F}"/>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DA48472-DCBD-4FA8-A423-45C0BF1953D5}"/>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8FEE6E7-08AD-4DE5-8B69-150E0F293494}"/>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50DB795-C45B-45D6-AD30-79AEE7E47CB6}"/>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A5477AD8-9D75-44A9-8292-C980789DD685}"/>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B0B0CF4E-CB79-4B43-8E09-54D6C67D6365}"/>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95A6543-C2BB-4FC8-8030-94F9353ED2BD}"/>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498AFB5-2BE6-491C-BE9A-536CC97AA98B}"/>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93569FC-8D08-42FE-B9B3-D71C7F04B600}"/>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CEBE6FD1-90B2-46CC-A51D-86E83B50DD8F}"/>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EB603384-9426-44F3-A768-464D72C949FD}"/>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6A7BCB8-D422-4FF9-B39D-A21672960ED6}"/>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27AE4F0-2643-40E8-834E-EF5AB13177C0}"/>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78037D4-39FC-46ED-8BCA-6276FE30AA58}"/>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775D9F97-A90F-408E-892A-C8E9BF772182}"/>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DB67AC54-38F1-4FB5-9E8B-691A92D250EB}"/>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CDA55ACA-6F1E-410F-A989-A11E0CA66832}"/>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11555036-25BA-4649-B89F-0EA69D71E530}"/>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32FEAD88-A5DF-4871-9851-AB09865D0BB6}"/>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2BBB8F40-DC55-4425-8A31-01972DEAD570}"/>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BAB570D8-FEEB-41FF-AD0F-318EC457BA72}"/>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4A981525-3538-4550-A496-55215B06ED02}"/>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73883C7E-6BD3-46C3-9F9E-4F5E97D91B1B}"/>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10A25FAF-44E1-43A5-A544-A3E63333ECD7}"/>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0EE2FFD6-BCCC-4D31-8446-4BDC9C9508E3}"/>
              </a:ext>
            </a:extLst>
          </p:cNvPr>
          <p:cNvSpPr>
            <a:spLocks xmlns:a="http://schemas.openxmlformats.org/drawingml/2006/main" noGrp="1"/>
          </p:cNvSpPr>
          <p:nvPr/>
        </p:nvSpPr>
        <p:spPr>
          <a:xfrm xmlns:a="http://schemas.openxmlformats.org/drawingml/2006/main">
            <a:off x="95250" y="5419725"/>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9CC4542D-9887-4D81-8940-ECAED179A5A8}"/>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43ACCD1B-B0E5-46DB-A2AB-8966235E67EB}"/>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F14F723F-5488-43E4-BBFB-AE4877CCCB8D}"/>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7D0949C2-E5F6-455B-9B72-9BFD7C08C547}"/>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DF18CBA0-F513-49E1-A7D2-2A9508E24D32}"/>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C100C772-B40E-4F87-B097-6E7321D068B1}"/>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85DE6720-0BA7-478B-A74F-90CD48A40D6A}"/>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FB36F48F-89FE-4B98-854A-0C4D0F9C291A}"/>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7CF8A673-3FA2-4608-A0A8-EE5B2DBB84CB}"/>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7DED9306-FF06-4108-A890-02E47202E5E3}"/>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67845AD6-D2FC-438D-A5B7-A6E5A3AFE32F}"/>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998DE5DF-1157-492B-A406-7072697DEB13}"/>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96556326-3169-4308-9988-2991773719C1}"/>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운영과 성과 측정</a:t>
            </a:r>
          </a:p>
        </p:txBody>
      </p:sp>
      <p:sp>
        <p:nvSpPr>
          <p:cNvPr id="53" name="">
            <a:extLst xmlns:a="http://schemas.openxmlformats.org/drawingml/2006/main">
              <a:ext uri="{FF2B5EF4-FFF2-40B4-BE49-F238E27FC236}">
                <a16:creationId xmlns:a16="http://schemas.microsoft.com/office/drawing/2014/main" id="{F9D738B4-67BE-4520-BCBF-D7E017082C57}"/>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782CC6A0-D1F7-442A-B128-77A79A6BAF91}"/>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EA4EE4B7-81F0-4639-A10B-B9F9C4CD8B72}"/>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19254ADD-C959-4CEB-880C-F5D7506EC3C4}"/>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BA47786C-2BE3-4951-88C4-0F9E6E1F8B7A}"/>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0DA7CD89-E676-49C9-A0AF-2B5C91DA1309}"/>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운영과 성과 측정</a:t>
            </a:r>
          </a:p>
        </p:txBody>
      </p:sp>
      <p:sp>
        <p:nvSpPr>
          <p:cNvPr id="59" name="">
            <a:extLst xmlns:a="http://schemas.openxmlformats.org/drawingml/2006/main">
              <a:ext uri="{FF2B5EF4-FFF2-40B4-BE49-F238E27FC236}">
                <a16:creationId xmlns:a16="http://schemas.microsoft.com/office/drawing/2014/main" id="{098EEF9C-08EA-4DC1-BF31-B4E67EC87A44}"/>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행사 전 협의부터 사후 평가까지의 실행 제안</a:t>
            </a:r>
          </a:p>
        </p:txBody>
      </p:sp>
      <p:sp>
        <p:nvSpPr>
          <p:cNvPr id="60" name="">
            <a:extLst xmlns:a="http://schemas.openxmlformats.org/drawingml/2006/main">
              <a:ext uri="{FF2B5EF4-FFF2-40B4-BE49-F238E27FC236}">
                <a16:creationId xmlns:a16="http://schemas.microsoft.com/office/drawing/2014/main" id="{998AA423-E60F-4687-B6D9-E5AAF7E1AD90}"/>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2A6DD6AA-6128-466C-8094-DB81EB522785}"/>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10 / 11</a:t>
            </a:r>
          </a:p>
        </p:txBody>
      </p:sp>
      <p:graphicFrame>
        <p:nvGraphicFramePr>
          <p:cNvPr id="128" name=""/>
          <p:cNvGraphicFramePr/>
          <p:nvPr/>
        </p:nvGraphicFramePr>
        <p:xfrm>
          <a:off xmlns:a="http://schemas.openxmlformats.org/drawingml/2006/main" x="3048000" y="3343275"/>
          <a:ext xmlns:a="http://schemas.openxmlformats.org/drawingml/2006/main" cx="5286375" cy="3333750"/>
        </p:xfrm>
        <a:graphic xmlns:a="http://schemas.openxmlformats.org/drawingml/2006/main">
          <a:graphicData uri="http://schemas.openxmlformats.org/drawingml/2006/table">
            <a:tbl>
              <a:tblPr/>
              <a:tblGrid>
                <a:gridCol w="1476375"/>
                <a:gridCol w="3810000"/>
              </a:tblGrid>
              <a:tr h="666750">
                <a:tc>
                  <a:txBody>
                    <a:bodyPr/>
                    <a:lstStyle/>
                    <a:p>
                      <a:r>
                        <a:rPr sz="1800" b="1">
                          <a:solidFill>
                            <a:srgbClr val="37352F"/>
                          </a:solidFill>
                          <a:latin typeface="Malgun Gothic"/>
                          <a:ea typeface="Malgun Gothic"/>
                          <a:cs typeface="Malgun Gothic"/>
                        </a:rPr>
                        <a:t>시점</a:t>
                      </a:r>
                    </a:p>
                  </a:txBody>
                  <a:tcPr marL="85725" marR="85725" marT="28575" marB="28575">
                    <a:solidFill>
                      <a:srgbClr val="F1F1EF"/>
                    </a:solidFill>
                  </a:tcPr>
                </a:tc>
                <a:tc>
                  <a:txBody>
                    <a:bodyPr/>
                    <a:lstStyle/>
                    <a:p>
                      <a:r>
                        <a:rPr sz="1800" b="1">
                          <a:solidFill>
                            <a:srgbClr val="37352F"/>
                          </a:solidFill>
                          <a:latin typeface="Malgun Gothic"/>
                          <a:ea typeface="Malgun Gothic"/>
                          <a:cs typeface="Malgun Gothic"/>
                        </a:rPr>
                        <a:t>실행</a:t>
                      </a:r>
                    </a:p>
                  </a:txBody>
                  <a:tcPr marL="85725" marR="85725" marT="28575" marB="28575">
                    <a:solidFill>
                      <a:srgbClr val="F1F1EF"/>
                    </a:solidFill>
                  </a:tcPr>
                </a:tc>
              </a:tr>
              <a:tr h="666750">
                <a:tc>
                  <a:txBody>
                    <a:bodyPr/>
                    <a:lstStyle/>
                    <a:p>
                      <a:r>
                        <a:rPr sz="1800" b="0">
                          <a:solidFill>
                            <a:srgbClr val="37352F"/>
                          </a:solidFill>
                          <a:latin typeface="Malgun Gothic"/>
                          <a:ea typeface="Malgun Gothic"/>
                          <a:cs typeface="Malgun Gothic"/>
                        </a:rPr>
                        <a:t>4주 전</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상권·상인 협의</a:t>
                      </a:r>
                    </a:p>
                  </a:txBody>
                  <a:tcPr marL="85725" marR="85725" marT="28575" marB="28575">
                    <a:solidFill>
                      <a:srgbClr val="FFFFFF"/>
                    </a:solidFill>
                  </a:tcPr>
                </a:tc>
              </a:tr>
              <a:tr h="666750">
                <a:tc>
                  <a:txBody>
                    <a:bodyPr/>
                    <a:lstStyle/>
                    <a:p>
                      <a:r>
                        <a:rPr sz="1800" b="0">
                          <a:solidFill>
                            <a:srgbClr val="37352F"/>
                          </a:solidFill>
                          <a:latin typeface="Malgun Gothic"/>
                          <a:ea typeface="Malgun Gothic"/>
                          <a:cs typeface="Malgun Gothic"/>
                        </a:rPr>
                        <a:t>2~3주 전</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제휴 모집·경로 확인</a:t>
                      </a:r>
                    </a:p>
                  </a:txBody>
                  <a:tcPr marL="85725" marR="85725" marT="28575" marB="28575">
                    <a:solidFill>
                      <a:srgbClr val="FFFFFF"/>
                    </a:solidFill>
                  </a:tcPr>
                </a:tc>
              </a:tr>
              <a:tr h="666750">
                <a:tc>
                  <a:txBody>
                    <a:bodyPr/>
                    <a:lstStyle/>
                    <a:p>
                      <a:r>
                        <a:rPr sz="1800" b="0">
                          <a:solidFill>
                            <a:srgbClr val="37352F"/>
                          </a:solidFill>
                          <a:latin typeface="Malgun Gothic"/>
                          <a:ea typeface="Malgun Gothic"/>
                          <a:cs typeface="Malgun Gothic"/>
                        </a:rPr>
                        <a:t>1주 전</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쿠폰·집계 점검</a:t>
                      </a:r>
                    </a:p>
                  </a:txBody>
                  <a:tcPr marL="85725" marR="85725" marT="28575" marB="28575">
                    <a:solidFill>
                      <a:srgbClr val="FFFFFF"/>
                    </a:solidFill>
                  </a:tcPr>
                </a:tc>
              </a:tr>
              <a:tr h="666750">
                <a:tc>
                  <a:txBody>
                    <a:bodyPr/>
                    <a:lstStyle/>
                    <a:p>
                      <a:r>
                        <a:rPr sz="1800" b="0">
                          <a:solidFill>
                            <a:srgbClr val="37352F"/>
                          </a:solidFill>
                          <a:latin typeface="Malgun Gothic"/>
                          <a:ea typeface="Malgun Gothic"/>
                          <a:cs typeface="Malgun Gothic"/>
                        </a:rPr>
                        <a:t>당일·이후</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방문 안내·운영·평가</a:t>
                      </a:r>
                    </a:p>
                  </a:txBody>
                  <a:tcPr marL="85725" marR="85725" marT="28575" marB="28575">
                    <a:solidFill>
                      <a:srgbClr val="FFFFFF"/>
                    </a:solidFill>
                  </a:tcPr>
                </a:tc>
              </a:tr>
            </a:tbl>
          </a:graphicData>
        </a:graphic>
      </p:graphicFrame>
      <p:graphicFrame>
        <p:nvGraphicFramePr>
          <p:cNvPr id="129" name=""/>
          <p:cNvGraphicFramePr/>
          <p:nvPr/>
        </p:nvGraphicFramePr>
        <p:xfrm>
          <a:off xmlns:a="http://schemas.openxmlformats.org/drawingml/2006/main" x="8686800" y="3343275"/>
          <a:ext xmlns:a="http://schemas.openxmlformats.org/drawingml/2006/main" cx="5867400" cy="3333750"/>
        </p:xfrm>
        <a:graphic xmlns:a="http://schemas.openxmlformats.org/drawingml/2006/main">
          <a:graphicData uri="http://schemas.openxmlformats.org/drawingml/2006/table">
            <a:tbl>
              <a:tblPr/>
              <a:tblGrid>
                <a:gridCol w="1809750"/>
                <a:gridCol w="4057650"/>
              </a:tblGrid>
              <a:tr h="666750">
                <a:tc>
                  <a:txBody>
                    <a:bodyPr/>
                    <a:lstStyle/>
                    <a:p>
                      <a:r>
                        <a:rPr sz="1800" b="1">
                          <a:solidFill>
                            <a:srgbClr val="37352F"/>
                          </a:solidFill>
                          <a:latin typeface="Malgun Gothic"/>
                          <a:ea typeface="Malgun Gothic"/>
                          <a:cs typeface="Malgun Gothic"/>
                        </a:rPr>
                        <a:t>지표</a:t>
                      </a:r>
                    </a:p>
                  </a:txBody>
                  <a:tcPr marL="85725" marR="85725" marT="28575" marB="28575">
                    <a:solidFill>
                      <a:srgbClr val="F1F1EF"/>
                    </a:solidFill>
                  </a:tcPr>
                </a:tc>
                <a:tc>
                  <a:txBody>
                    <a:bodyPr/>
                    <a:lstStyle/>
                    <a:p>
                      <a:r>
                        <a:rPr sz="1800" b="1">
                          <a:solidFill>
                            <a:srgbClr val="37352F"/>
                          </a:solidFill>
                          <a:latin typeface="Malgun Gothic"/>
                          <a:ea typeface="Malgun Gothic"/>
                          <a:cs typeface="Malgun Gothic"/>
                        </a:rPr>
                        <a:t>측정</a:t>
                      </a:r>
                    </a:p>
                  </a:txBody>
                  <a:tcPr marL="85725" marR="85725" marT="28575" marB="28575">
                    <a:solidFill>
                      <a:srgbClr val="F1F1EF"/>
                    </a:solidFill>
                  </a:tcPr>
                </a:tc>
              </a:tr>
              <a:tr h="666750">
                <a:tc>
                  <a:txBody>
                    <a:bodyPr/>
                    <a:lstStyle/>
                    <a:p>
                      <a:r>
                        <a:rPr sz="1800" b="0">
                          <a:solidFill>
                            <a:srgbClr val="37352F"/>
                          </a:solidFill>
                          <a:latin typeface="Malgun Gothic"/>
                          <a:ea typeface="Malgun Gothic"/>
                          <a:cs typeface="Malgun Gothic"/>
                        </a:rPr>
                        <a:t>모집 실적</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확정 수 / 배정 수</a:t>
                      </a:r>
                    </a:p>
                  </a:txBody>
                  <a:tcPr marL="85725" marR="85725" marT="28575" marB="28575">
                    <a:solidFill>
                      <a:srgbClr val="FFFFFF"/>
                    </a:solidFill>
                  </a:tcPr>
                </a:tc>
              </a:tr>
              <a:tr h="666750">
                <a:tc>
                  <a:txBody>
                    <a:bodyPr/>
                    <a:lstStyle/>
                    <a:p>
                      <a:r>
                        <a:rPr sz="1800" b="0">
                          <a:solidFill>
                            <a:srgbClr val="37352F"/>
                          </a:solidFill>
                          <a:latin typeface="Malgun Gothic"/>
                          <a:ea typeface="Malgun Gothic"/>
                          <a:cs typeface="Malgun Gothic"/>
                        </a:rPr>
                        <a:t>방문·완주</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중복을 구분한 인증 로그</a:t>
                      </a:r>
                    </a:p>
                  </a:txBody>
                  <a:tcPr marL="85725" marR="85725" marT="28575" marB="28575">
                    <a:solidFill>
                      <a:srgbClr val="FFFFFF"/>
                    </a:solidFill>
                  </a:tcPr>
                </a:tc>
              </a:tr>
              <a:tr h="666750">
                <a:tc>
                  <a:txBody>
                    <a:bodyPr/>
                    <a:lstStyle/>
                    <a:p>
                      <a:r>
                        <a:rPr sz="1800" b="0">
                          <a:solidFill>
                            <a:srgbClr val="37352F"/>
                          </a:solidFill>
                          <a:latin typeface="Malgun Gothic"/>
                          <a:ea typeface="Malgun Gothic"/>
                          <a:cs typeface="Malgun Gothic"/>
                        </a:rPr>
                        <a:t>소비 변화</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동의 매장·비교집단 검토</a:t>
                      </a:r>
                    </a:p>
                  </a:txBody>
                  <a:tcPr marL="85725" marR="85725" marT="28575" marB="28575">
                    <a:solidFill>
                      <a:srgbClr val="FFFFFF"/>
                    </a:solidFill>
                  </a:tcPr>
                </a:tc>
              </a:tr>
              <a:tr h="666750">
                <a:tc>
                  <a:txBody>
                    <a:bodyPr/>
                    <a:lstStyle/>
                    <a:p>
                      <a:r>
                        <a:rPr sz="1800" b="0">
                          <a:solidFill>
                            <a:srgbClr val="37352F"/>
                          </a:solidFill>
                          <a:latin typeface="Malgun Gothic"/>
                          <a:ea typeface="Malgun Gothic"/>
                          <a:cs typeface="Malgun Gothic"/>
                        </a:rPr>
                        <a:t>재참여</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상인 설문·운영 회고</a:t>
                      </a:r>
                    </a:p>
                  </a:txBody>
                  <a:tcPr marL="85725" marR="85725" marT="28575" marB="28575">
                    <a:solidFill>
                      <a:srgbClr val="FFFFFF"/>
                    </a:solidFill>
                  </a:tcPr>
                </a:tc>
              </a:tr>
            </a:tbl>
          </a:graphicData>
        </a:graphic>
      </p:graphicFrame>
      <p:sp>
        <p:nvSpPr>
          <p:cNvPr id="64" name="">
            <a:extLst xmlns:a="http://schemas.openxmlformats.org/drawingml/2006/main">
              <a:ext uri="{FF2B5EF4-FFF2-40B4-BE49-F238E27FC236}">
                <a16:creationId xmlns:a16="http://schemas.microsoft.com/office/drawing/2014/main" id="{5FE300EA-71D2-43BD-AB86-3F24B4BB628E}"/>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60CF618E-E185-4ED5-9D58-9A5ADA0FFA5A}"/>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6" name="">
            <a:extLst xmlns:a="http://schemas.openxmlformats.org/drawingml/2006/main">
              <a:ext uri="{FF2B5EF4-FFF2-40B4-BE49-F238E27FC236}">
                <a16:creationId xmlns:a16="http://schemas.microsoft.com/office/drawing/2014/main" id="{6AB4E484-E349-4764-9C71-F81289900CF4}"/>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대학·상인회·관계 기관·분석팀 역할 협의 · 인력·쿠폰 등의 비용은 별도 산정</a:t>
            </a:r>
          </a:p>
        </p:txBody>
      </p:sp>
    </p:spTree>
    <p:extLst>
      <p:ext uri="{BB962C8B-B14F-4D97-AF65-F5344CB8AC3E}">
        <p14:creationId xmlns:p14="http://schemas.microsoft.com/office/powerpoint/2010/main" val="22663108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02412EA0-C7E1-4A12-A31C-65A616007392}"/>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1F01262-DA84-4685-B5C1-0697C6777327}"/>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7B11491-D77C-45F2-B5F2-AF2DAF0C0DAA}"/>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DBB2968A-11BE-4798-9433-03398CBA8609}"/>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C969539B-3AB8-4D55-B5ED-4053EFB5C8B6}"/>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5CB2795C-3FFB-41B2-9A8E-E9F60480496C}"/>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51E5A8D6-6937-47CE-8119-987E42378187}"/>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B011663B-95FD-43D9-8C7E-814C0CA7DAB0}"/>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C5884A4D-82D3-4392-BCB6-5ADDA743929F}"/>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705E027B-9C3C-432F-9094-1B5303629E26}"/>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84F90B2-52B2-435E-B4EF-BFAD53E77A58}"/>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B352F81-9430-4914-90D9-E3909AC8FB46}"/>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48FDDAC-EA1A-4F92-9213-0F903CD777A7}"/>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F76CBB14-0C35-42E1-BA1D-AD63523607F3}"/>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68730859-DA01-4E0A-985D-6CC29069952B}"/>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3DD3BC5-7A32-4ABD-B7AD-BE1F75338E3B}"/>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76DD39D-FBB6-4973-8638-E97B997A9FA3}"/>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C2CAAFB-A621-4974-AED4-8FDABC4BA267}"/>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A6AEC246-A464-471E-BD0C-6A422D79B44E}"/>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532C5C52-12C2-479B-8D67-1BBF48001E47}"/>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C0AE4A8-65C3-4714-8E8B-CA9873B5EB43}"/>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C9F0755-DD8E-4344-B741-BE6D6911231F}"/>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6E22C47-7972-41F2-A1F2-0B6719715511}"/>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8DC0A695-6D27-4E93-B2A7-52186A3B30D4}"/>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09DE0B46-8EBD-47E6-8172-FFB5C94014D0}"/>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C42517F-34E7-4D05-B345-6A179DA5C42D}"/>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47A8FC3-871F-49AE-94C0-ADE7EAD2DB4F}"/>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C81B9DEB-CB07-421B-81B4-5FDAE31D35EC}"/>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9A0E4E0A-9F2F-47C0-8A0B-50F1E2291E5A}"/>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20B407E1-4012-42C0-BD42-15B02B412BC0}"/>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6849F82-497A-4C6F-A721-6CF13F92DEB0}"/>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D1C2DCEA-E591-4CF0-95C5-74BC01C79604}"/>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335BB1C3-952F-4946-AEEB-6A40EF781C28}"/>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190630FD-DB30-4570-A490-167455417841}"/>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976A0D79-CFA4-4F70-82E8-152A61474649}"/>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D20D9D08-1B6C-4554-A0A0-EE7F77ECD1A9}"/>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3898FCF2-30F5-43C7-A61E-F033CAE37E9E}"/>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49D13C92-5B9A-4BE3-A58E-85A0203A3E4B}"/>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D751DD26-0EA2-4439-BCD0-4525952F9575}"/>
              </a:ext>
            </a:extLst>
          </p:cNvPr>
          <p:cNvSpPr>
            <a:spLocks xmlns:a="http://schemas.openxmlformats.org/drawingml/2006/main" noGrp="1"/>
          </p:cNvSpPr>
          <p:nvPr/>
        </p:nvSpPr>
        <p:spPr>
          <a:xfrm xmlns:a="http://schemas.openxmlformats.org/drawingml/2006/main">
            <a:off x="95250" y="5419725"/>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3A4C21DF-B539-4549-A2C6-A86E87FD90A2}"/>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D435BB81-DDF6-4078-9055-E7FF24AAEDF4}"/>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5E1E0D8E-1CE8-4D74-B005-248B1AE597E0}"/>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46C6FCBC-1BF9-45F8-8949-448482D94888}"/>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26635B1E-39F2-4892-B982-597E56A15B8B}"/>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23031A81-DBC0-49B1-9094-DEECC889C5A4}"/>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4BB69CD0-D45A-45EC-8518-52812EFFFABD}"/>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6042AC16-DB1D-4030-BF66-D524F5D09797}"/>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2985EFD8-CE08-42D7-8A71-EC612926782F}"/>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B2A1BB07-6B6B-4738-9098-54F5DDFB5844}"/>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F73BF053-97A8-43DE-8230-5DF9C294BA4B}"/>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BE3F555F-115C-4366-9D4B-7F4612E44FDA}"/>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E75B3CF3-C981-4DB4-BDC5-B46E8951161B}"/>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시범 운영 제안</a:t>
            </a:r>
          </a:p>
        </p:txBody>
      </p:sp>
      <p:sp>
        <p:nvSpPr>
          <p:cNvPr id="53" name="">
            <a:extLst xmlns:a="http://schemas.openxmlformats.org/drawingml/2006/main">
              <a:ext uri="{FF2B5EF4-FFF2-40B4-BE49-F238E27FC236}">
                <a16:creationId xmlns:a16="http://schemas.microsoft.com/office/drawing/2014/main" id="{861A804D-F7CC-449D-9C3E-E44BA8B1D803}"/>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A7EF4955-CDC0-413D-930B-857D19D45E85}"/>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D6332CE0-24D4-4A6F-8E91-5E325790C44F}"/>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12BFB90C-70AB-4438-A67A-CBC32ADDA5D7}"/>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3B78DDE6-075F-441C-8DC5-0BA3019E01A4}"/>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4D88270E-E7C2-4B01-B885-658522BB91EE}"/>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시범 운영 제안</a:t>
            </a:r>
          </a:p>
        </p:txBody>
      </p:sp>
      <p:sp>
        <p:nvSpPr>
          <p:cNvPr id="59" name="">
            <a:extLst xmlns:a="http://schemas.openxmlformats.org/drawingml/2006/main">
              <a:ext uri="{FF2B5EF4-FFF2-40B4-BE49-F238E27FC236}">
                <a16:creationId xmlns:a16="http://schemas.microsoft.com/office/drawing/2014/main" id="{E4BB7101-04F1-495A-8C75-DFF87D255FB4}"/>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현장 검증과 제휴 협의를 위한 시범 운영</a:t>
            </a:r>
          </a:p>
        </p:txBody>
      </p:sp>
      <p:sp>
        <p:nvSpPr>
          <p:cNvPr id="60" name="">
            <a:extLst xmlns:a="http://schemas.openxmlformats.org/drawingml/2006/main">
              <a:ext uri="{FF2B5EF4-FFF2-40B4-BE49-F238E27FC236}">
                <a16:creationId xmlns:a16="http://schemas.microsoft.com/office/drawing/2014/main" id="{FBFE5086-587C-4A6E-A76F-CC653ACC8776}"/>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4707CF64-0234-47F3-B243-A2FDD525A077}"/>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11 / 11</a:t>
            </a:r>
          </a:p>
        </p:txBody>
      </p:sp>
      <p:sp>
        <p:nvSpPr>
          <p:cNvPr id="62" name="">
            <a:extLst xmlns:a="http://schemas.openxmlformats.org/drawingml/2006/main">
              <a:ext uri="{FF2B5EF4-FFF2-40B4-BE49-F238E27FC236}">
                <a16:creationId xmlns:a16="http://schemas.microsoft.com/office/drawing/2014/main" id="{EFEE9CB2-25C4-49B3-9E9E-01A5CF749483}"/>
              </a:ext>
            </a:extLst>
          </p:cNvPr>
          <p:cNvSpPr>
            <a:spLocks xmlns:a="http://schemas.openxmlformats.org/drawingml/2006/main" noGrp="1"/>
          </p:cNvSpPr>
          <p:nvPr/>
        </p:nvSpPr>
        <p:spPr>
          <a:xfrm xmlns:a="http://schemas.openxmlformats.org/drawingml/2006/main">
            <a:off x="3048000" y="3571875"/>
            <a:ext cx="53816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00" b="1">
                <a:solidFill>
                  <a:srgbClr val="37352F"/>
                </a:solidFill>
                <a:latin typeface="Malgun Gothic"/>
                <a:ea typeface="Malgun Gothic"/>
                <a:cs typeface="Malgun Gothic"/>
              </a:defRPr>
            </a:pPr>
            <a:r>
              <a:rPr sz="4800" b="1">
                <a:solidFill>
                  <a:srgbClr val="37352F"/>
                </a:solidFill>
                <a:latin typeface="Malgun Gothic"/>
                <a:ea typeface="Malgun Gothic"/>
                <a:cs typeface="Malgun Gothic"/>
              </a:rPr>
              <a:t>16개 상권</a:t>
            </a:r>
          </a:p>
        </p:txBody>
      </p:sp>
      <p:sp>
        <p:nvSpPr>
          <p:cNvPr id="63" name="">
            <a:extLst xmlns:a="http://schemas.openxmlformats.org/drawingml/2006/main">
              <a:ext uri="{FF2B5EF4-FFF2-40B4-BE49-F238E27FC236}">
                <a16:creationId xmlns:a16="http://schemas.microsoft.com/office/drawing/2014/main" id="{6F1FF4E9-BB7D-436C-A54D-8E2C916E994C}"/>
              </a:ext>
            </a:extLst>
          </p:cNvPr>
          <p:cNvSpPr>
            <a:spLocks xmlns:a="http://schemas.openxmlformats.org/drawingml/2006/main" noGrp="1"/>
          </p:cNvSpPr>
          <p:nvPr/>
        </p:nvSpPr>
        <p:spPr>
          <a:xfrm xmlns:a="http://schemas.openxmlformats.org/drawingml/2006/main">
            <a:off x="9020175" y="3571875"/>
            <a:ext cx="5429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00" b="1">
                <a:solidFill>
                  <a:srgbClr val="37352F"/>
                </a:solidFill>
                <a:latin typeface="Malgun Gothic"/>
                <a:ea typeface="Malgun Gothic"/>
                <a:cs typeface="Malgun Gothic"/>
              </a:defRPr>
            </a:pPr>
            <a:r>
              <a:rPr sz="4800" b="1">
                <a:solidFill>
                  <a:srgbClr val="37352F"/>
                </a:solidFill>
                <a:latin typeface="Malgun Gothic"/>
                <a:ea typeface="Malgun Gothic"/>
                <a:cs typeface="Malgun Gothic"/>
              </a:rPr>
              <a:t>60개 배정</a:t>
            </a:r>
          </a:p>
        </p:txBody>
      </p:sp>
      <p:sp>
        <p:nvSpPr>
          <p:cNvPr id="64" name="">
            <a:extLst xmlns:a="http://schemas.openxmlformats.org/drawingml/2006/main">
              <a:ext uri="{FF2B5EF4-FFF2-40B4-BE49-F238E27FC236}">
                <a16:creationId xmlns:a16="http://schemas.microsoft.com/office/drawing/2014/main" id="{6B91E2C5-AB36-43A8-9D2D-8792E34BBC67}"/>
              </a:ext>
            </a:extLst>
          </p:cNvPr>
          <p:cNvSpPr>
            <a:spLocks xmlns:a="http://schemas.openxmlformats.org/drawingml/2006/main" noGrp="1"/>
          </p:cNvSpPr>
          <p:nvPr/>
        </p:nvSpPr>
        <p:spPr>
          <a:xfrm xmlns:a="http://schemas.openxmlformats.org/drawingml/2006/main">
            <a:off x="3048000" y="4953000"/>
            <a:ext cx="11506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75" b="1">
                <a:solidFill>
                  <a:srgbClr val="487CA5"/>
                </a:solidFill>
                <a:latin typeface="Malgun Gothic"/>
                <a:ea typeface="Malgun Gothic"/>
                <a:cs typeface="Malgun Gothic"/>
              </a:defRPr>
            </a:pPr>
            <a:r>
              <a:rPr sz="3375" b="1">
                <a:solidFill>
                  <a:srgbClr val="487CA5"/>
                </a:solidFill>
                <a:latin typeface="Malgun Gothic"/>
                <a:ea typeface="Malgun Gothic"/>
                <a:cs typeface="Malgun Gothic"/>
              </a:rPr>
              <a:t>소외도 상위 5곳에 27개</a:t>
            </a:r>
          </a:p>
        </p:txBody>
      </p:sp>
      <p:sp>
        <p:nvSpPr>
          <p:cNvPr id="65" name="">
            <a:extLst xmlns:a="http://schemas.openxmlformats.org/drawingml/2006/main">
              <a:ext uri="{FF2B5EF4-FFF2-40B4-BE49-F238E27FC236}">
                <a16:creationId xmlns:a16="http://schemas.microsoft.com/office/drawing/2014/main" id="{B8743BF8-2D28-48B8-83D3-2B020E7E8FCA}"/>
              </a:ext>
            </a:extLst>
          </p:cNvPr>
          <p:cNvSpPr>
            <a:spLocks xmlns:a="http://schemas.openxmlformats.org/drawingml/2006/main" noGrp="1"/>
          </p:cNvSpPr>
          <p:nvPr/>
        </p:nvSpPr>
        <p:spPr>
          <a:xfrm xmlns:a="http://schemas.openxmlformats.org/drawingml/2006/main">
            <a:off x="3048000" y="6038850"/>
            <a:ext cx="11506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37352F"/>
                </a:solidFill>
                <a:latin typeface="Malgun Gothic"/>
                <a:ea typeface="Malgun Gothic"/>
                <a:cs typeface="Malgun Gothic"/>
              </a:defRPr>
            </a:pPr>
            <a:r>
              <a:rPr sz="2325" b="0">
                <a:solidFill>
                  <a:srgbClr val="37352F"/>
                </a:solidFill>
                <a:latin typeface="Malgun Gothic"/>
                <a:ea typeface="Malgun Gothic"/>
                <a:cs typeface="Malgun Gothic"/>
              </a:rPr>
              <a:t>참여 상점을 모집하고, 실제 방문과 소비 자료를 모아</a:t>
            </a:r>
          </a:p>
          <a:p xmlns:a="http://schemas.openxmlformats.org/drawingml/2006/main">
            <a:pPr>
              <a:defRPr sz="2325" b="0">
                <a:solidFill>
                  <a:srgbClr val="37352F"/>
                </a:solidFill>
                <a:latin typeface="Malgun Gothic"/>
                <a:ea typeface="Malgun Gothic"/>
                <a:cs typeface="Malgun Gothic"/>
              </a:defRPr>
            </a:pPr>
            <a:r>
              <a:rPr sz="2325" b="0">
                <a:solidFill>
                  <a:srgbClr val="37352F"/>
                </a:solidFill>
                <a:latin typeface="Malgun Gothic"/>
                <a:ea typeface="Malgun Gothic"/>
                <a:cs typeface="Malgun Gothic"/>
              </a:rPr>
              <a:t>다음 행사 배정에 반영하겠습니다</a:t>
            </a:r>
          </a:p>
        </p:txBody>
      </p:sp>
      <p:sp>
        <p:nvSpPr>
          <p:cNvPr id="66" name="">
            <a:extLst xmlns:a="http://schemas.openxmlformats.org/drawingml/2006/main">
              <a:ext uri="{FF2B5EF4-FFF2-40B4-BE49-F238E27FC236}">
                <a16:creationId xmlns:a16="http://schemas.microsoft.com/office/drawing/2014/main" id="{55D795F8-476E-42D5-B2ED-FE68EC54721B}"/>
              </a:ext>
            </a:extLst>
          </p:cNvPr>
          <p:cNvSpPr>
            <a:spLocks xmlns:a="http://schemas.openxmlformats.org/drawingml/2006/main" noGrp="1"/>
          </p:cNvSpPr>
          <p:nvPr/>
        </p:nvSpPr>
        <p:spPr>
          <a:xfrm xmlns:a="http://schemas.openxmlformats.org/drawingml/2006/main">
            <a:off x="3048000" y="7391400"/>
            <a:ext cx="11506200" cy="57150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9A770EE7-FC64-46CA-87E8-2EE05A49A98B}"/>
              </a:ext>
            </a:extLst>
          </p:cNvPr>
          <p:cNvSpPr>
            <a:spLocks xmlns:a="http://schemas.openxmlformats.org/drawingml/2006/main" noGrp="1"/>
          </p:cNvSpPr>
          <p:nvPr/>
        </p:nvSpPr>
        <p:spPr>
          <a:xfrm xmlns:a="http://schemas.openxmlformats.org/drawingml/2006/main">
            <a:off x="3238500" y="751522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8" name="">
            <a:extLst xmlns:a="http://schemas.openxmlformats.org/drawingml/2006/main">
              <a:ext uri="{FF2B5EF4-FFF2-40B4-BE49-F238E27FC236}">
                <a16:creationId xmlns:a16="http://schemas.microsoft.com/office/drawing/2014/main" id="{3FA9AF0C-6270-4B6D-AD6B-ED690154CDA2}"/>
              </a:ext>
            </a:extLst>
          </p:cNvPr>
          <p:cNvSpPr>
            <a:spLocks xmlns:a="http://schemas.openxmlformats.org/drawingml/2006/main" noGrp="1"/>
          </p:cNvSpPr>
          <p:nvPr/>
        </p:nvSpPr>
        <p:spPr>
          <a:xfrm xmlns:a="http://schemas.openxmlformats.org/drawingml/2006/main">
            <a:off x="3714750" y="75057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시범 운영 기회를 요청드립니다</a:t>
            </a:r>
          </a:p>
        </p:txBody>
      </p:sp>
    </p:spTree>
    <p:extLst>
      <p:ext uri="{BB962C8B-B14F-4D97-AF65-F5344CB8AC3E}">
        <p14:creationId xmlns:p14="http://schemas.microsoft.com/office/powerpoint/2010/main" val="24353408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1862F86F-8F33-4285-8954-7B7CD35E136C}"/>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1ECD745-CF2D-47AD-87BB-BF644C983BBF}"/>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A31D9BE-8EC8-4B13-8126-7F0E8A3EF077}"/>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B1655983-6126-413F-8DBF-33FBC6AB2C7C}"/>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F3B9EF7D-A732-4D6B-B4FB-23F9CB20A75E}"/>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A1131DEA-FB47-4943-838B-D585A0021267}"/>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044C56A2-5EA7-4DB2-9A07-C37DE54ACC15}"/>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6288F6CC-F1AD-4DA1-AB38-D354FA349942}"/>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FC07F3D3-5C90-4A62-AE6C-2D9D86E30B80}"/>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0970E5CC-9C07-4428-BE21-DBC84052191F}"/>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A38F47B-6293-46D2-B335-DA048E464770}"/>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C68B67E-57A5-437D-B035-1F3F31ABEF56}"/>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2FD7870-8752-4C0E-AF8C-FB4791654C1B}"/>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241686A7-81D8-48BB-A4F8-EFB4A064246D}"/>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EFD75BEF-B8A3-41E7-862B-1EB37D217D4A}"/>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7FA6B16-0E0C-4201-89D3-A9F55DA0687C}"/>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0B2CFCA-9A63-4B03-A28A-A435D87D2DF6}"/>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3177445-39E8-42E3-9E79-992413B36C9C}"/>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EB739D6A-BF3C-47C0-BB56-A098FEE8E542}"/>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0C06E039-EAE4-4C4A-A33D-5D1EF4055B36}"/>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A82C31C-FF86-4BC7-92FB-F169DADAF698}"/>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F913408-715A-4570-A826-341944810485}"/>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37A989B-FDBE-451F-B8B2-F58893C732F0}"/>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D28A9FE7-4107-4FC8-A110-00548DE85959}"/>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C1956F1A-E903-404C-898D-7D675486190F}"/>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5B434E5-B7B6-4FBE-96C3-B23E85E0444B}"/>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65991F7-98E6-4454-8C0A-2C7A109EDA64}"/>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E535D69-A176-4F7A-B628-A5AD449B64C2}"/>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C159CA09-5C0B-43EA-BE20-B90D8A767B3A}"/>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A9EB42E1-6AD1-4998-A0DA-4BBCAC0A22EB}"/>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4C576F31-9C28-47CD-8303-947DAC478CED}"/>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D43EADA-BAA5-4FBD-9738-A097DC530D2D}"/>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1C88A0BE-CF53-4D00-9C87-BE716CA1BD22}"/>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C01E80A4-3F9C-4166-B8E9-AAF780DDFEB8}"/>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F3EEF1D1-F368-4544-AEAF-6DF98E6578B0}"/>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8223D746-5C75-455C-90EE-27D037509F60}"/>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4A4D5EEA-8080-4A36-A19B-73D2F8863000}"/>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51C607EF-FF91-4762-A8E3-3AA36FE66EF2}"/>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D0E620F9-3524-42E2-A15B-B3A969127692}"/>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0" name="">
            <a:extLst xmlns:a="http://schemas.openxmlformats.org/drawingml/2006/main">
              <a:ext uri="{FF2B5EF4-FFF2-40B4-BE49-F238E27FC236}">
                <a16:creationId xmlns:a16="http://schemas.microsoft.com/office/drawing/2014/main" id="{00522D89-B16B-4EED-B714-CC7AA0F0C4F5}"/>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946BA7D8-3722-45C7-8772-959DCF11F914}"/>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96722E62-DA22-4F69-980D-D703AAE6E089}"/>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2A1C8566-B269-43C7-B551-6F1D38C3AB25}"/>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4" name="">
            <a:extLst xmlns:a="http://schemas.openxmlformats.org/drawingml/2006/main">
              <a:ext uri="{FF2B5EF4-FFF2-40B4-BE49-F238E27FC236}">
                <a16:creationId xmlns:a16="http://schemas.microsoft.com/office/drawing/2014/main" id="{69A1585D-B1F3-4DCF-8095-B4674C5077C5}"/>
              </a:ext>
            </a:extLst>
          </p:cNvPr>
          <p:cNvSpPr>
            <a:spLocks xmlns:a="http://schemas.openxmlformats.org/drawingml/2006/main" noGrp="1"/>
          </p:cNvSpPr>
          <p:nvPr/>
        </p:nvSpPr>
        <p:spPr>
          <a:xfrm xmlns:a="http://schemas.openxmlformats.org/drawingml/2006/main">
            <a:off x="95250" y="58293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CAD90D6A-1E08-43E3-A7B7-164B1CDEA356}"/>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0A42EAA0-51D5-434A-BACD-07FD7F3FBA42}"/>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B4E8BC76-8FE4-49E9-A0C1-7F20722A0A46}"/>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38027A6F-E57B-41C0-AC9B-CCCCFDCB0FB3}"/>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9277FC9C-1131-4AEB-BE64-C5F828296F29}"/>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A1F1AC40-2066-4CAC-936F-09989D298EF2}"/>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7E5A038A-D81C-4D38-8A5D-0E88D4FD900C}"/>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BB77A5A6-8FAC-4B7B-BDD8-7AB4B700C209}"/>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근거 자료  /  전체 배정표</a:t>
            </a:r>
          </a:p>
        </p:txBody>
      </p:sp>
      <p:sp>
        <p:nvSpPr>
          <p:cNvPr id="53" name="">
            <a:extLst xmlns:a="http://schemas.openxmlformats.org/drawingml/2006/main">
              <a:ext uri="{FF2B5EF4-FFF2-40B4-BE49-F238E27FC236}">
                <a16:creationId xmlns:a16="http://schemas.microsoft.com/office/drawing/2014/main" id="{4D65CDE7-29CF-465D-94C2-B188B27B67B3}"/>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48D89ED9-DDDD-421E-90C4-90DA58B35B33}"/>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5FAF853C-47A8-44C1-9398-A7DDF014843D}"/>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97E1423B-9545-4638-A044-5E9FA4615C92}"/>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D695B558-735B-4AA9-9FD0-0F776F42FC83}"/>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DC7C8165-1D1D-42B7-AEDA-C494F7E7423F}"/>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전체 배정표</a:t>
            </a:r>
          </a:p>
        </p:txBody>
      </p:sp>
      <p:sp>
        <p:nvSpPr>
          <p:cNvPr id="59" name="">
            <a:extLst xmlns:a="http://schemas.openxmlformats.org/drawingml/2006/main">
              <a:ext uri="{FF2B5EF4-FFF2-40B4-BE49-F238E27FC236}">
                <a16:creationId xmlns:a16="http://schemas.microsoft.com/office/drawing/2014/main" id="{DC384B3F-F9D5-40A6-84A2-03387E11C3B4}"/>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B10-14 공개값 · D·L·R·M은 소수 셋째 자리 반올림</a:t>
            </a:r>
          </a:p>
        </p:txBody>
      </p:sp>
      <p:sp>
        <p:nvSpPr>
          <p:cNvPr id="60" name="">
            <a:extLst xmlns:a="http://schemas.openxmlformats.org/drawingml/2006/main">
              <a:ext uri="{FF2B5EF4-FFF2-40B4-BE49-F238E27FC236}">
                <a16:creationId xmlns:a16="http://schemas.microsoft.com/office/drawing/2014/main" id="{AD0BF29B-F065-4A9C-BF56-E4F1F2CA85A6}"/>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214B6C73-99D8-4A7C-8C29-553DB4CEE63A}"/>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부록 A</a:t>
            </a:r>
          </a:p>
        </p:txBody>
      </p:sp>
      <p:graphicFrame>
        <p:nvGraphicFramePr>
          <p:cNvPr id="126" name=""/>
          <p:cNvGraphicFramePr/>
          <p:nvPr/>
        </p:nvGraphicFramePr>
        <p:xfrm>
          <a:off xmlns:a="http://schemas.openxmlformats.org/drawingml/2006/main" x="3048000" y="3524250"/>
          <a:ext xmlns:a="http://schemas.openxmlformats.org/drawingml/2006/main" cx="5600700" cy="3762375"/>
        </p:xfrm>
        <a:graphic xmlns:a="http://schemas.openxmlformats.org/drawingml/2006/main">
          <a:graphicData uri="http://schemas.openxmlformats.org/drawingml/2006/table">
            <a:tbl>
              <a:tblPr/>
              <a:tblGrid>
                <a:gridCol w="1866900"/>
                <a:gridCol w="609600"/>
                <a:gridCol w="609600"/>
                <a:gridCol w="609600"/>
                <a:gridCol w="609600"/>
                <a:gridCol w="647700"/>
                <a:gridCol w="647700"/>
              </a:tblGrid>
              <a:tr h="418042">
                <a:tc>
                  <a:txBody>
                    <a:bodyPr/>
                    <a:lstStyle/>
                    <a:p>
                      <a:r>
                        <a:rPr sz="1275" b="1">
                          <a:solidFill>
                            <a:srgbClr val="37352F"/>
                          </a:solidFill>
                          <a:latin typeface="Malgun Gothic"/>
                          <a:ea typeface="Malgun Gothic"/>
                          <a:cs typeface="Malgun Gothic"/>
                        </a:rPr>
                        <a:t>상권</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D</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L</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R</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M</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전</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후</a:t>
                      </a:r>
                    </a:p>
                  </a:txBody>
                  <a:tcPr marL="85725" marR="85725" marT="28575" marB="28575">
                    <a:solidFill>
                      <a:srgbClr val="F1F1EF"/>
                    </a:solidFill>
                  </a:tcPr>
                </a:tc>
              </a:tr>
              <a:tr h="418042">
                <a:tc>
                  <a:txBody>
                    <a:bodyPr/>
                    <a:lstStyle/>
                    <a:p>
                      <a:r>
                        <a:rPr sz="1275" b="0">
                          <a:solidFill>
                            <a:srgbClr val="37352F"/>
                          </a:solidFill>
                          <a:latin typeface="Malgun Gothic"/>
                          <a:ea typeface="Malgun Gothic"/>
                          <a:cs typeface="Malgun Gothic"/>
                        </a:rPr>
                        <a:t>시립대앞사거리</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1.000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0.688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0.807</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0.669</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6</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이경시장</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0.906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1.000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0.661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0.629</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회기역 1번</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0.906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0.750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0.713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0.588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6</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회기시장</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0.750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0.562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0.812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0.527</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6</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시조사삼거리</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0.625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0.812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0.716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0.510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6</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전곡마을마당공원</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0.562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0.625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0.756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0.448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6</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경희대삼거리</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0.281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0.500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0.937</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0.351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서울시립대</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0.281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0.438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0.970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0.340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r>
            </a:tbl>
          </a:graphicData>
        </a:graphic>
      </p:graphicFrame>
      <p:graphicFrame>
        <p:nvGraphicFramePr>
          <p:cNvPr id="127" name=""/>
          <p:cNvGraphicFramePr/>
          <p:nvPr/>
        </p:nvGraphicFramePr>
        <p:xfrm>
          <a:off xmlns:a="http://schemas.openxmlformats.org/drawingml/2006/main" x="8953500" y="3524250"/>
          <a:ext xmlns:a="http://schemas.openxmlformats.org/drawingml/2006/main" cx="5600700" cy="3762375"/>
        </p:xfrm>
        <a:graphic xmlns:a="http://schemas.openxmlformats.org/drawingml/2006/main">
          <a:graphicData uri="http://schemas.openxmlformats.org/drawingml/2006/table">
            <a:tbl>
              <a:tblPr/>
              <a:tblGrid>
                <a:gridCol w="1866900"/>
                <a:gridCol w="609600"/>
                <a:gridCol w="609600"/>
                <a:gridCol w="609600"/>
                <a:gridCol w="609600"/>
                <a:gridCol w="647700"/>
                <a:gridCol w="647700"/>
              </a:tblGrid>
              <a:tr h="418042">
                <a:tc>
                  <a:txBody>
                    <a:bodyPr/>
                    <a:lstStyle/>
                    <a:p>
                      <a:r>
                        <a:rPr sz="1275" b="1">
                          <a:solidFill>
                            <a:srgbClr val="37352F"/>
                          </a:solidFill>
                          <a:latin typeface="Malgun Gothic"/>
                          <a:ea typeface="Malgun Gothic"/>
                          <a:cs typeface="Malgun Gothic"/>
                        </a:rPr>
                        <a:t>상권</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D</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L</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R</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M</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전</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후</a:t>
                      </a:r>
                    </a:p>
                  </a:txBody>
                  <a:tcPr marL="85725" marR="85725" marT="28575" marB="28575">
                    <a:solidFill>
                      <a:srgbClr val="F1F1EF"/>
                    </a:solidFill>
                  </a:tcPr>
                </a:tc>
              </a:tr>
              <a:tr h="418042">
                <a:tc>
                  <a:txBody>
                    <a:bodyPr/>
                    <a:lstStyle/>
                    <a:p>
                      <a:r>
                        <a:rPr sz="1275" b="0">
                          <a:solidFill>
                            <a:srgbClr val="37352F"/>
                          </a:solidFill>
                          <a:latin typeface="Malgun Gothic"/>
                          <a:ea typeface="Malgun Gothic"/>
                          <a:cs typeface="Malgun Gothic"/>
                        </a:rPr>
                        <a:t>회기역</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0.500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0.375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0.695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0.301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청량초등학교</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0.125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0.875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0.820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0.271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경희대후문</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0.406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0.250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0.827</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0.264</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삼육보건대학교</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0.688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0.188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0.732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0.263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회기역 2번</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0.188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0.938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0.609</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0.255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경희대학교</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0.812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0.062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0.958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0.216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외대앞역 1번</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0.406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0.125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0.925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0.208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외대앞역 2번</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0.062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0.312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0.869</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0.121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r>
            </a:tbl>
          </a:graphicData>
        </a:graphic>
      </p:graphicFrame>
      <p:sp>
        <p:nvSpPr>
          <p:cNvPr id="64" name="">
            <a:extLst xmlns:a="http://schemas.openxmlformats.org/drawingml/2006/main">
              <a:ext uri="{FF2B5EF4-FFF2-40B4-BE49-F238E27FC236}">
                <a16:creationId xmlns:a16="http://schemas.microsoft.com/office/drawing/2014/main" id="{E89EB359-C1D5-403E-BA1E-36A3FEF4F04E}"/>
              </a:ext>
            </a:extLst>
          </p:cNvPr>
          <p:cNvSpPr>
            <a:spLocks xmlns:a="http://schemas.openxmlformats.org/drawingml/2006/main" noGrp="1"/>
          </p:cNvSpPr>
          <p:nvPr/>
        </p:nvSpPr>
        <p:spPr>
          <a:xfrm xmlns:a="http://schemas.openxmlformats.org/drawingml/2006/main">
            <a:off x="3048000" y="7743825"/>
            <a:ext cx="11506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전: 기존 / 후: 최종. 기존 대상 50개 + 연계 10개 = 전체 60개, 최종 대상 60개 + 연계 0개 = 전체 60개</a:t>
            </a:r>
          </a:p>
        </p:txBody>
      </p:sp>
    </p:spTree>
    <p:extLst>
      <p:ext uri="{BB962C8B-B14F-4D97-AF65-F5344CB8AC3E}">
        <p14:creationId xmlns:p14="http://schemas.microsoft.com/office/powerpoint/2010/main" val="132660264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75B3C7B0-9571-4A92-83A0-A5739B32A24B}"/>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EEA5828-6362-40B0-B592-7841F7E52D19}"/>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9615542-E858-4146-8F92-4E2250BC82BD}"/>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94F9C6C5-0478-448C-98A5-EB19E5E3BD4B}"/>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2BE55831-0541-45EA-BCB0-981780499863}"/>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7A6637F9-64E9-4911-BE74-D02943D34476}"/>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E1959988-0D72-4820-B83A-88E93599109C}"/>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BDD5CF15-49DA-4FB2-9A9F-C99D22F4E5A5}"/>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96F7814F-98B9-47A8-82F0-8B0C07817EF3}"/>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AFB0B2B1-51DF-40D2-BC98-62F99B3CC68E}"/>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5BCED49-176F-47A7-A448-830BAB353091}"/>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F0CB777-0ACD-4620-95BC-AEB68A5017B4}"/>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B72F4A9-BCF2-481A-811D-25947D3D2E68}"/>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827F5B59-B2E1-4E6F-A206-240E1C867A35}"/>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0F184BFC-5381-4712-869E-C42F733BA879}"/>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FB1F524-B977-4949-AC19-78B77450B4A3}"/>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10F2139-0AD3-445C-84A2-1EE2D8C21AA0}"/>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3F1EC3A-6125-4C8C-B226-587F402DF08A}"/>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8144AB75-D2BB-48BC-AF70-C260BA7A43A6}"/>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588DAFE3-53E5-457F-A6FA-7B4B7F105FE7}"/>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0579CAD-397F-4E2E-A0E7-670B97415BEA}"/>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F19A8F3-5B18-47E5-A725-A2B5C0F590CD}"/>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50DDD2C-9991-44F2-8831-21933129AE0B}"/>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64221055-283B-47B4-9AEF-0F838643F6CB}"/>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1FCE8574-685E-4E28-A936-59DE92FBA83A}"/>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0281C94-6377-48AD-87FD-0F199A0399D0}"/>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BB02156-93ED-4C3E-A466-C5AE3C06D483}"/>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BAF6991B-ABA8-47F7-B6ED-5573FBFEA981}"/>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1C95FC7A-EA12-4BCB-8A9B-EFFA0565F4F1}"/>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7752AA58-DC30-47DC-9ACF-FE2AAE89E2A0}"/>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3FCCDE72-A008-4CE4-A266-2366C2D3B68B}"/>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EBAF3E50-F8B0-4093-B2A4-398C24DDD364}"/>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529B60E0-E814-4873-AD98-FB038AC24452}"/>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735AC39A-8447-4FFC-B5A6-1A3CCCEF1A41}"/>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897424FE-B98A-40DF-BECE-4F3BD2998247}"/>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62B9C1BE-4ED8-4ACE-9E2A-8EE92C7D223E}"/>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9FC4EA99-C30E-49B0-B46F-2EE609517299}"/>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D9B47ABC-1FC3-4AC0-9BB1-D66507A7F9C5}"/>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1AC59D6A-2026-40F4-B254-CCE89EFF5306}"/>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0" name="">
            <a:extLst xmlns:a="http://schemas.openxmlformats.org/drawingml/2006/main">
              <a:ext uri="{FF2B5EF4-FFF2-40B4-BE49-F238E27FC236}">
                <a16:creationId xmlns:a16="http://schemas.microsoft.com/office/drawing/2014/main" id="{97BEAD8A-1619-4F5C-9DCB-F7371F5D9D83}"/>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6A1E070E-A83A-48CC-8F0D-B994B6E2C97C}"/>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3F886DFC-D584-46B8-9527-2C9A4048052C}"/>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49E92721-67FB-444D-B3AB-44901E5CECC9}"/>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4" name="">
            <a:extLst xmlns:a="http://schemas.openxmlformats.org/drawingml/2006/main">
              <a:ext uri="{FF2B5EF4-FFF2-40B4-BE49-F238E27FC236}">
                <a16:creationId xmlns:a16="http://schemas.microsoft.com/office/drawing/2014/main" id="{495B8F3D-1705-48B8-BA7A-DCAA2234B49D}"/>
              </a:ext>
            </a:extLst>
          </p:cNvPr>
          <p:cNvSpPr>
            <a:spLocks xmlns:a="http://schemas.openxmlformats.org/drawingml/2006/main" noGrp="1"/>
          </p:cNvSpPr>
          <p:nvPr/>
        </p:nvSpPr>
        <p:spPr>
          <a:xfrm xmlns:a="http://schemas.openxmlformats.org/drawingml/2006/main">
            <a:off x="95250" y="58293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B9B1394D-E8EE-4879-93C4-943F0D8E1CF7}"/>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7718C4BF-1F30-4574-996A-D5411313B9A3}"/>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C63DDD43-4BD6-4B42-B064-2A69B10EC8A5}"/>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1F29370F-1517-4E5B-99EF-3B7139BC14F9}"/>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9D82E18B-7C8F-495C-9A10-4D6BC8DC5FF9}"/>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40B56B37-8B8A-46C6-B65E-19FB20F24476}"/>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E218E8B1-F6D8-4F7C-8B7F-8A57A0B6002A}"/>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E581A9D1-6E10-4BA7-8024-DDB8A4260219}"/>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근거 자료  /  목적함수와 검증</a:t>
            </a:r>
          </a:p>
        </p:txBody>
      </p:sp>
      <p:sp>
        <p:nvSpPr>
          <p:cNvPr id="53" name="">
            <a:extLst xmlns:a="http://schemas.openxmlformats.org/drawingml/2006/main">
              <a:ext uri="{FF2B5EF4-FFF2-40B4-BE49-F238E27FC236}">
                <a16:creationId xmlns:a16="http://schemas.microsoft.com/office/drawing/2014/main" id="{C5B47BD4-5109-4D36-9577-28CA585FE62F}"/>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732CEB3A-2249-4908-932E-1C632BC6C321}"/>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773DBF2B-1F0F-40F5-8E88-DC55C950858A}"/>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79EE2CEF-C296-4457-846F-1DE7F9E3F11B}"/>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A397C34C-C18A-4F95-BBE6-72AB2B815EF5}"/>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322186B4-95D7-4987-B17C-9D6E09CC8ACE}"/>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목적함수와 검증</a:t>
            </a:r>
          </a:p>
        </p:txBody>
      </p:sp>
      <p:sp>
        <p:nvSpPr>
          <p:cNvPr id="59" name="">
            <a:extLst xmlns:a="http://schemas.openxmlformats.org/drawingml/2006/main">
              <a:ext uri="{FF2B5EF4-FFF2-40B4-BE49-F238E27FC236}">
                <a16:creationId xmlns:a16="http://schemas.microsoft.com/office/drawing/2014/main" id="{07D700CD-60F3-401B-9F44-27FF924930EA}"/>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주어진 목적함수와 제약 아래의 최적해</a:t>
            </a:r>
          </a:p>
        </p:txBody>
      </p:sp>
      <p:sp>
        <p:nvSpPr>
          <p:cNvPr id="60" name="">
            <a:extLst xmlns:a="http://schemas.openxmlformats.org/drawingml/2006/main">
              <a:ext uri="{FF2B5EF4-FFF2-40B4-BE49-F238E27FC236}">
                <a16:creationId xmlns:a16="http://schemas.microsoft.com/office/drawing/2014/main" id="{FBB05201-B8BC-4D0C-8B40-AB62C61FBCBD}"/>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03DA82BE-E826-4483-B534-F78FD525CD25}"/>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부록 B</a:t>
            </a:r>
          </a:p>
        </p:txBody>
      </p:sp>
      <p:sp>
        <p:nvSpPr>
          <p:cNvPr id="62" name="">
            <a:extLst xmlns:a="http://schemas.openxmlformats.org/drawingml/2006/main">
              <a:ext uri="{FF2B5EF4-FFF2-40B4-BE49-F238E27FC236}">
                <a16:creationId xmlns:a16="http://schemas.microsoft.com/office/drawing/2014/main" id="{518070EC-F58F-412F-9E1B-5E1FB51D50B7}"/>
              </a:ext>
            </a:extLst>
          </p:cNvPr>
          <p:cNvSpPr>
            <a:spLocks xmlns:a="http://schemas.openxmlformats.org/drawingml/2006/main" noGrp="1"/>
          </p:cNvSpPr>
          <p:nvPr/>
        </p:nvSpPr>
        <p:spPr>
          <a:xfrm xmlns:a="http://schemas.openxmlformats.org/drawingml/2006/main">
            <a:off x="3048000" y="3419475"/>
            <a:ext cx="11506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525" b="1">
                <a:solidFill>
                  <a:srgbClr val="37352F"/>
                </a:solidFill>
                <a:latin typeface="Malgun Gothic"/>
                <a:ea typeface="Malgun Gothic"/>
                <a:cs typeface="Malgun Gothic"/>
              </a:defRPr>
            </a:pPr>
            <a:r>
              <a:rPr sz="3525" b="1">
                <a:solidFill>
                  <a:srgbClr val="37352F"/>
                </a:solidFill>
                <a:latin typeface="Malgun Gothic"/>
                <a:ea typeface="Malgun Gothic"/>
                <a:cs typeface="Malgun Gothic"/>
              </a:rPr>
              <a:t>max Σ Mᵢ√kᵢ</a:t>
            </a:r>
          </a:p>
        </p:txBody>
      </p:sp>
      <p:sp>
        <p:nvSpPr>
          <p:cNvPr id="63" name="">
            <a:extLst xmlns:a="http://schemas.openxmlformats.org/drawingml/2006/main">
              <a:ext uri="{FF2B5EF4-FFF2-40B4-BE49-F238E27FC236}">
                <a16:creationId xmlns:a16="http://schemas.microsoft.com/office/drawing/2014/main" id="{E1623368-828B-4AF1-B225-4BCE4AD9FAF4}"/>
              </a:ext>
            </a:extLst>
          </p:cNvPr>
          <p:cNvSpPr>
            <a:spLocks xmlns:a="http://schemas.openxmlformats.org/drawingml/2006/main" noGrp="1"/>
          </p:cNvSpPr>
          <p:nvPr/>
        </p:nvSpPr>
        <p:spPr>
          <a:xfrm xmlns:a="http://schemas.openxmlformats.org/drawingml/2006/main">
            <a:off x="3048000" y="4295775"/>
            <a:ext cx="11506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37352F"/>
                </a:solidFill>
                <a:latin typeface="Malgun Gothic"/>
                <a:ea typeface="Malgun Gothic"/>
                <a:cs typeface="Malgun Gothic"/>
              </a:defRPr>
            </a:pPr>
            <a:r>
              <a:rPr sz="2325" b="0">
                <a:solidFill>
                  <a:srgbClr val="37352F"/>
                </a:solidFill>
                <a:latin typeface="Malgun Gothic"/>
                <a:ea typeface="Malgun Gothic"/>
                <a:cs typeface="Malgun Gothic"/>
              </a:rPr>
              <a:t>Σ kᵢ = 60    2 ≤ kᵢ ≤ min(6, ⌊0.20 × 점포 수⌋)</a:t>
            </a:r>
          </a:p>
        </p:txBody>
      </p:sp>
      <p:graphicFrame>
        <p:nvGraphicFramePr>
          <p:cNvPr id="129" name=""/>
          <p:cNvGraphicFramePr/>
          <p:nvPr/>
        </p:nvGraphicFramePr>
        <p:xfrm>
          <a:off xmlns:a="http://schemas.openxmlformats.org/drawingml/2006/main" x="3048000" y="5343525"/>
          <a:ext xmlns:a="http://schemas.openxmlformats.org/drawingml/2006/main" cx="11506200" cy="1752600"/>
        </p:xfrm>
        <a:graphic xmlns:a="http://schemas.openxmlformats.org/drawingml/2006/main">
          <a:graphicData uri="http://schemas.openxmlformats.org/drawingml/2006/table">
            <a:tbl>
              <a:tblPr/>
              <a:tblGrid>
                <a:gridCol w="5753100"/>
                <a:gridCol w="5753100"/>
              </a:tblGrid>
              <a:tr h="438150">
                <a:tc>
                  <a:txBody>
                    <a:bodyPr/>
                    <a:lstStyle/>
                    <a:p>
                      <a:r>
                        <a:rPr sz="1725" b="1">
                          <a:solidFill>
                            <a:srgbClr val="37352F"/>
                          </a:solidFill>
                          <a:latin typeface="Malgun Gothic"/>
                          <a:ea typeface="Malgun Gothic"/>
                          <a:cs typeface="Malgun Gothic"/>
                        </a:rPr>
                        <a:t>기록된 검증</a:t>
                      </a:r>
                    </a:p>
                  </a:txBody>
                  <a:tcPr marL="85725" marR="85725" marT="28575" marB="28575">
                    <a:solidFill>
                      <a:srgbClr val="F1F1EF"/>
                    </a:solidFill>
                  </a:tcPr>
                </a:tc>
                <a:tc>
                  <a:txBody>
                    <a:bodyPr/>
                    <a:lstStyle/>
                    <a:p>
                      <a:r>
                        <a:rPr sz="1725" b="1">
                          <a:solidFill>
                            <a:srgbClr val="37352F"/>
                          </a:solidFill>
                          <a:latin typeface="Malgun Gothic"/>
                          <a:ea typeface="Malgun Gothic"/>
                          <a:cs typeface="Malgun Gothic"/>
                        </a:rPr>
                        <a:t>결과</a:t>
                      </a:r>
                    </a:p>
                  </a:txBody>
                  <a:tcPr marL="85725" marR="85725" marT="28575" marB="28575">
                    <a:solidFill>
                      <a:srgbClr val="F1F1EF"/>
                    </a:solidFill>
                  </a:tcPr>
                </a:tc>
              </a:tr>
              <a:tr h="438150">
                <a:tc>
                  <a:txBody>
                    <a:bodyPr/>
                    <a:lstStyle/>
                    <a:p>
                      <a:r>
                        <a:rPr sz="1725" b="0">
                          <a:solidFill>
                            <a:srgbClr val="37352F"/>
                          </a:solidFill>
                          <a:latin typeface="Malgun Gothic"/>
                          <a:ea typeface="Malgun Gothic"/>
                          <a:cs typeface="Malgun Gothic"/>
                        </a:rPr>
                        <a:t>DP와 탐욕 배정</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목적값 12.14232로 일치</a:t>
                      </a:r>
                    </a:p>
                  </a:txBody>
                  <a:tcPr marL="85725" marR="85725" marT="28575" marB="28575">
                    <a:solidFill>
                      <a:srgbClr val="FFFFFF"/>
                    </a:solidFill>
                  </a:tcPr>
                </a:tc>
              </a:tr>
              <a:tr h="438150">
                <a:tc>
                  <a:txBody>
                    <a:bodyPr/>
                    <a:lstStyle/>
                    <a:p>
                      <a:r>
                        <a:rPr sz="1725" b="0">
                          <a:solidFill>
                            <a:srgbClr val="37352F"/>
                          </a:solidFill>
                          <a:latin typeface="Malgun Gothic"/>
                          <a:ea typeface="Malgun Gothic"/>
                          <a:cs typeface="Malgun Gothic"/>
                        </a:rPr>
                        <a:t>β 0.6~2.0/km 민감도</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상위 5곳 중 4~5곳 유지</a:t>
                      </a:r>
                    </a:p>
                  </a:txBody>
                  <a:tcPr marL="85725" marR="85725" marT="28575" marB="28575">
                    <a:solidFill>
                      <a:srgbClr val="FFFFFF"/>
                    </a:solidFill>
                  </a:tcPr>
                </a:tc>
              </a:tr>
              <a:tr h="438150">
                <a:tc>
                  <a:txBody>
                    <a:bodyPr/>
                    <a:lstStyle/>
                    <a:p>
                      <a:r>
                        <a:rPr sz="1725" b="0">
                          <a:solidFill>
                            <a:srgbClr val="37352F"/>
                          </a:solidFill>
                          <a:latin typeface="Malgun Gothic"/>
                          <a:ea typeface="Malgun Gothic"/>
                          <a:cs typeface="Malgun Gothic"/>
                        </a:rPr>
                        <a:t>원본 입력·거리 파일</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현재 폴더에 없어 재실행하지 않음</a:t>
                      </a:r>
                    </a:p>
                  </a:txBody>
                  <a:tcPr marL="85725" marR="85725" marT="28575" marB="28575">
                    <a:solidFill>
                      <a:srgbClr val="FFFFFF"/>
                    </a:solidFill>
                  </a:tcPr>
                </a:tc>
              </a:tr>
            </a:tbl>
          </a:graphicData>
        </a:graphic>
      </p:graphicFrame>
      <p:sp>
        <p:nvSpPr>
          <p:cNvPr id="65" name="">
            <a:extLst xmlns:a="http://schemas.openxmlformats.org/drawingml/2006/main">
              <a:ext uri="{FF2B5EF4-FFF2-40B4-BE49-F238E27FC236}">
                <a16:creationId xmlns:a16="http://schemas.microsoft.com/office/drawing/2014/main" id="{581C8500-9FD3-4BD0-ADEA-AFB825AC3077}"/>
              </a:ext>
            </a:extLst>
          </p:cNvPr>
          <p:cNvSpPr>
            <a:spLocks xmlns:a="http://schemas.openxmlformats.org/drawingml/2006/main" noGrp="1"/>
          </p:cNvSpPr>
          <p:nvPr/>
        </p:nvSpPr>
        <p:spPr>
          <a:xfrm xmlns:a="http://schemas.openxmlformats.org/drawingml/2006/main">
            <a:off x="3048000" y="75342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B10-14 검증 기록. 실제 매출 효과의 최적성을 검증한 것이 아님</a:t>
            </a:r>
          </a:p>
        </p:txBody>
      </p:sp>
    </p:spTree>
    <p:extLst>
      <p:ext uri="{BB962C8B-B14F-4D97-AF65-F5344CB8AC3E}">
        <p14:creationId xmlns:p14="http://schemas.microsoft.com/office/powerpoint/2010/main" val="88131479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65181389-3C62-4BE5-9C30-ED6E9D0DC0C4}"/>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3442B9D-091D-4C45-BEAB-9F71FE8074E4}"/>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55D89EF-D8A5-4263-8340-005BBDBFDF3B}"/>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7E8A8DF0-3CBD-4D92-AC8B-07E47D658A69}"/>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2687A70C-E012-4B73-A1E1-AD8CAAAF2792}"/>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332F942E-850E-4C2D-BFE9-CBC702C21D85}"/>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CA28DB19-D93A-4AC4-8C34-70367675A9DD}"/>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3E9C5F8B-46C3-4049-A506-681F16737C31}"/>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ECF3F017-8DE2-4E24-B2AD-24C2BBA1492C}"/>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0C4EC332-688F-4181-89A8-149EBBB65429}"/>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226D70E-6822-4206-9156-52B3CA4B24F8}"/>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A3F6EAD-4656-4E52-AF51-D3BFBAF84147}"/>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B962DB6-95D7-4D2D-88B2-6064626D3E9A}"/>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6C2EA80C-943D-4995-BA52-779A61A53484}"/>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71758BB0-64B1-4903-8D05-079B3D98EC86}"/>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41EC5A6-3258-40C3-8563-23C91AB401F7}"/>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F7EDA26-E2B5-44B6-9D6C-E610A6B2D9F7}"/>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966D11F-01A9-4138-901D-B9238F43070E}"/>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8AD7593F-381D-476A-993B-80BE75C5040D}"/>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0BACCDE8-D14E-4E60-B4AE-81DE52F220EC}"/>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0EA8190-4079-45F6-98F6-F58D0A353479}"/>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2CA13DF-0DF6-4278-A1D3-F403F77E82AB}"/>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ABE7703-408C-4506-9FBA-505BE194D093}"/>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3A3E2EEC-74DD-4FA2-BEB0-9223339EE0D1}"/>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4723D9E8-0254-4E7E-B02B-20EE6E36165D}"/>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C1BE570-66B6-424F-9DE3-CD0F32D4C36A}"/>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276A0FD-CFC4-40ED-A9DB-EBB4283D5B97}"/>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28BB047C-9EF3-4EAD-8E11-8BF9120D226C}"/>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7501A273-66C7-4843-AF4A-5F7DAA223420}"/>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D284BD7E-5485-42FD-8F42-FD9CC0A8DEC5}"/>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93DE0FEA-4E62-4201-B70C-A0B90E8E1E8F}"/>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9683ABE2-3D28-4E33-AF97-4958DA604ADD}"/>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52716FDD-681C-4683-BAAE-5C092BCC0DD3}"/>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A4E287AC-568F-4294-9F47-B9ADF361B7B6}"/>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91CC5F93-E0D0-4A9C-B86B-B095BD01E336}"/>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8F9CAA8B-C8C6-4653-AC31-4DE6B5D2AF16}"/>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CBB7CFCF-203F-4146-A7F0-FB1E8DDA3C66}"/>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9D33E959-A4CC-4E69-977C-F083142C07FA}"/>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17A9C7C6-8011-4223-B3E2-083C91B06379}"/>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0" name="">
            <a:extLst xmlns:a="http://schemas.openxmlformats.org/drawingml/2006/main">
              <a:ext uri="{FF2B5EF4-FFF2-40B4-BE49-F238E27FC236}">
                <a16:creationId xmlns:a16="http://schemas.microsoft.com/office/drawing/2014/main" id="{01E39B05-0EDA-4DCE-A4FF-F64E77E2F53C}"/>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E6AF4EED-2322-4CBF-BE30-F55B17FF0DFF}"/>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922FAEAE-7B8C-486B-8446-22549A1EA043}"/>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EC4875BA-5A5B-412B-9FF8-24E4C9FAC193}"/>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4" name="">
            <a:extLst xmlns:a="http://schemas.openxmlformats.org/drawingml/2006/main">
              <a:ext uri="{FF2B5EF4-FFF2-40B4-BE49-F238E27FC236}">
                <a16:creationId xmlns:a16="http://schemas.microsoft.com/office/drawing/2014/main" id="{13EFA159-68E6-43B9-9843-63BADD93C6E4}"/>
              </a:ext>
            </a:extLst>
          </p:cNvPr>
          <p:cNvSpPr>
            <a:spLocks xmlns:a="http://schemas.openxmlformats.org/drawingml/2006/main" noGrp="1"/>
          </p:cNvSpPr>
          <p:nvPr/>
        </p:nvSpPr>
        <p:spPr>
          <a:xfrm xmlns:a="http://schemas.openxmlformats.org/drawingml/2006/main">
            <a:off x="95250" y="58293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0263E958-EFCD-498F-B4EE-057B17122CA3}"/>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BC0278CD-56F2-4599-A01A-1E8ABAB2855E}"/>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E874662F-8AA2-49AD-970E-44C5780A6C3D}"/>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9DCEE637-5950-4C7C-B98F-FBC9F6E9F167}"/>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1C90EC36-D6B1-4973-94A9-7548B0FDDE13}"/>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F13C2B2C-DAB5-4AB6-8C5F-41206AD86E53}"/>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0C661082-005D-40D9-A287-C9CD35033611}"/>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A87F32AB-7A7B-47AD-A6DC-EB0CF805C8C9}"/>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근거 자료  /  지수의 Shapley 설명</a:t>
            </a:r>
          </a:p>
        </p:txBody>
      </p:sp>
      <p:sp>
        <p:nvSpPr>
          <p:cNvPr id="53" name="">
            <a:extLst xmlns:a="http://schemas.openxmlformats.org/drawingml/2006/main">
              <a:ext uri="{FF2B5EF4-FFF2-40B4-BE49-F238E27FC236}">
                <a16:creationId xmlns:a16="http://schemas.microsoft.com/office/drawing/2014/main" id="{D29D953F-3CB3-4022-A05B-121C97755209}"/>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E183F116-33C7-4D31-8CB5-27D034571801}"/>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58A9D216-5921-436F-8564-81AE7BAF9E04}"/>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E7C22889-FD48-479B-857D-D6FA075670EC}"/>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DC10E576-453C-4AA8-ABB9-E4B66543DC8E}"/>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7A0D593F-CEA6-4B20-9EAC-C0CBBAEC82B6}"/>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지수의 Shapley 설명</a:t>
            </a:r>
          </a:p>
        </p:txBody>
      </p:sp>
      <p:sp>
        <p:nvSpPr>
          <p:cNvPr id="59" name="">
            <a:extLst xmlns:a="http://schemas.openxmlformats.org/drawingml/2006/main">
              <a:ext uri="{FF2B5EF4-FFF2-40B4-BE49-F238E27FC236}">
                <a16:creationId xmlns:a16="http://schemas.microsoft.com/office/drawing/2014/main" id="{6507581F-BDB7-4E4D-A813-ED2DF65E7BF8}"/>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평균 절대 Shapley 비중 · 기존 분석 기록</a:t>
            </a:r>
          </a:p>
        </p:txBody>
      </p:sp>
      <p:sp>
        <p:nvSpPr>
          <p:cNvPr id="60" name="">
            <a:extLst xmlns:a="http://schemas.openxmlformats.org/drawingml/2006/main">
              <a:ext uri="{FF2B5EF4-FFF2-40B4-BE49-F238E27FC236}">
                <a16:creationId xmlns:a16="http://schemas.microsoft.com/office/drawing/2014/main" id="{FB766A8E-9F60-41CC-9143-C27D70F23350}"/>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40AEF330-E44A-4244-A357-470307C65290}"/>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부록 C</a:t>
            </a:r>
          </a:p>
        </p:txBody>
      </p:sp>
      <p:graphicFrame>
        <p:nvGraphicFramePr>
          <p:cNvPr id="127" name="Chart"/>
          <p:cNvGraphicFramePr/>
          <p:nvPr/>
        </p:nvGraphicFramePr>
        <p:xfrm>
          <a:off xmlns:a="http://schemas.openxmlformats.org/drawingml/2006/main" x="3048000" y="3381375"/>
          <a:ext xmlns:a="http://schemas.openxmlformats.org/drawingml/2006/main" cx="11506200" cy="3171825"/>
        </p:xfrm>
        <a:graphic xmlns:a="http://schemas.openxmlformats.org/drawingml/2006/main">
          <a:graphicData uri="http://schemas.openxmlformats.org/drawingml/2006/chart">
            <c:chart xmlns:r="http://schemas.openxmlformats.org/officeDocument/2006/relationships" xmlns:c="http://schemas.openxmlformats.org/drawingml/2006/chart" r:id="R88851beb83134dfa"/>
          </a:graphicData>
        </a:graphic>
      </p:graphicFrame>
      <p:sp>
        <p:nvSpPr>
          <p:cNvPr id="63" name="">
            <a:extLst xmlns:a="http://schemas.openxmlformats.org/drawingml/2006/main">
              <a:ext uri="{FF2B5EF4-FFF2-40B4-BE49-F238E27FC236}">
                <a16:creationId xmlns:a16="http://schemas.microsoft.com/office/drawing/2014/main" id="{2DBB4B27-93A1-4704-9DBA-3EF17F7E9229}"/>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FF3DD5E9-96FD-4A64-B77A-0059667F8868}"/>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5" name="">
            <a:extLst xmlns:a="http://schemas.openxmlformats.org/drawingml/2006/main">
              <a:ext uri="{FF2B5EF4-FFF2-40B4-BE49-F238E27FC236}">
                <a16:creationId xmlns:a16="http://schemas.microsoft.com/office/drawing/2014/main" id="{F6713CD5-70A2-4E8E-A086-41851D8B151A}"/>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지수 출력의 설명이며 축제 매출에 대한 인과 기여율이 아님</a:t>
            </a:r>
          </a:p>
        </p:txBody>
      </p:sp>
    </p:spTree>
    <p:extLst>
      <p:ext uri="{BB962C8B-B14F-4D97-AF65-F5344CB8AC3E}">
        <p14:creationId xmlns:p14="http://schemas.microsoft.com/office/powerpoint/2010/main" val="75638698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C6C80F11-08D1-47D7-A114-2C147F028720}"/>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ADDAE4-1D7C-4903-9321-76B90F56A1CD}"/>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A18C367-3D8A-4E54-99FF-7A4D2CA2ED83}"/>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347B47B1-9185-4ED5-A186-290123F34310}"/>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C7C78F80-AE71-4025-A2DE-F842BECF0E1B}"/>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47C88526-A565-4F5A-98F8-C1E7EFA69DC1}"/>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8E5A1EF0-5161-4E77-A52B-A2FFCF0756B3}"/>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9BDDCF40-7DC6-4D08-BBB5-55D3037D846A}"/>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18713B93-809E-4777-A70F-6C9A8D8E8A7E}"/>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D15464C9-31A9-49CE-ACC0-D8FF53762FA0}"/>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0F4E5B8-0780-415E-A240-053F8FA2F153}"/>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DA91C45-0244-4D40-8876-DCF38111AF51}"/>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2FE2D25-70EA-4824-BFBB-57862CD664BD}"/>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59C4E2A2-31E8-488A-AA66-D02644E73FC4}"/>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23F77F54-9272-4B53-976D-579B1BFE07CD}"/>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DA1ECC8-B54B-4C31-B283-65AD011AD0E1}"/>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934B731-5593-4950-9BFB-DA79A5E9E3B4}"/>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F098647-E0E1-4422-896C-187C37EF8353}"/>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ED712E53-94EA-464E-ACFF-D2A494D9E2ED}"/>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51FFA431-F546-40D2-A9CF-3C336D1C890B}"/>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3445CF5-AA87-4F19-A686-37233D0A36A7}"/>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27F503A-7F44-4EF5-89EC-5546B49A3763}"/>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8ECC250-3C6E-428A-8A8E-B0428B6CDA03}"/>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20724405-A67B-4392-B260-DDA60423FE88}"/>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9C0F833F-5DA3-4267-B8AC-D9DBFD929791}"/>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72A8CA7-762B-4653-93F2-6386DE13DD5D}"/>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42552F7-8397-47AA-B4EB-C9EFBE4C4C55}"/>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60588B9-0E88-4187-97D6-FD1985EAD260}"/>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C656B661-FB1F-4E35-B400-288B9684DCB5}"/>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D7FF8299-0DAD-4814-842F-D084AD72D3DF}"/>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4B26395B-63CB-4980-AECE-675528F3E2C0}"/>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4811AEAE-C8BE-4541-8F7E-85FBF179AA87}"/>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DF39C7A7-D63A-4003-900C-FC4969140A5C}"/>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2384837C-D7C7-4171-8E25-97EECC8FC8EE}"/>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EEB158E8-B486-44DF-8326-EF1C37B0B5D9}"/>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FCFE1975-F042-4850-B340-FE7B94A19C0D}"/>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AD928100-1DF1-42AA-AD1D-809DD25DD5C2}"/>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59E16764-57C7-42A0-9492-A7AD7D688BD4}"/>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EFD819EF-B1DB-4187-A348-588ECB6AACAE}"/>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0" name="">
            <a:extLst xmlns:a="http://schemas.openxmlformats.org/drawingml/2006/main">
              <a:ext uri="{FF2B5EF4-FFF2-40B4-BE49-F238E27FC236}">
                <a16:creationId xmlns:a16="http://schemas.microsoft.com/office/drawing/2014/main" id="{ADE89CA0-E817-4581-83A9-F37E2D8D68CD}"/>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A3554E70-C9E4-4CFE-A4B8-FBFB25E9D348}"/>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CFB77DBE-79F9-4157-9D32-F7FA603045F2}"/>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5149596D-0182-489B-9C27-D4A488B9AA9D}"/>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4" name="">
            <a:extLst xmlns:a="http://schemas.openxmlformats.org/drawingml/2006/main">
              <a:ext uri="{FF2B5EF4-FFF2-40B4-BE49-F238E27FC236}">
                <a16:creationId xmlns:a16="http://schemas.microsoft.com/office/drawing/2014/main" id="{8C17BFFC-E1D4-4D4C-ABDF-B5C991024B3B}"/>
              </a:ext>
            </a:extLst>
          </p:cNvPr>
          <p:cNvSpPr>
            <a:spLocks xmlns:a="http://schemas.openxmlformats.org/drawingml/2006/main" noGrp="1"/>
          </p:cNvSpPr>
          <p:nvPr/>
        </p:nvSpPr>
        <p:spPr>
          <a:xfrm xmlns:a="http://schemas.openxmlformats.org/drawingml/2006/main">
            <a:off x="95250" y="58293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464A2586-37A2-4342-9E6B-201254C718D9}"/>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5B83E3B1-E193-4B6C-B7B3-F45EC3D889E9}"/>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868EA3A2-9D4D-4D82-A59D-3E25BAE1C90B}"/>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250412A0-7CE5-4E8E-980D-E587C81928DB}"/>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53A1B0D6-3B00-4CC0-9369-343BF6129ECD}"/>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1D8F75B6-24A4-426C-973D-966A864F490D}"/>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00B96023-B4AA-4685-9E69-28DECA0A3549}"/>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275AE19A-297B-47CB-B7BB-FA0AE20D3761}"/>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근거 자료  /  데이터 범위와 한계</a:t>
            </a:r>
          </a:p>
        </p:txBody>
      </p:sp>
      <p:sp>
        <p:nvSpPr>
          <p:cNvPr id="53" name="">
            <a:extLst xmlns:a="http://schemas.openxmlformats.org/drawingml/2006/main">
              <a:ext uri="{FF2B5EF4-FFF2-40B4-BE49-F238E27FC236}">
                <a16:creationId xmlns:a16="http://schemas.microsoft.com/office/drawing/2014/main" id="{85164BE7-707B-4AB7-A2B4-3607567EDC74}"/>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4808EB86-78D8-400E-AF03-5C4B30E7D85D}"/>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0DF42D9B-A0E7-4D35-BE6C-272900EED499}"/>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866C0095-1B99-416D-8FB7-2763F107026D}"/>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F77E8104-B92C-4CFF-AD9F-7EE4EEA3BF5B}"/>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7C9169F4-BF2F-49F7-B585-C5DEE04A6335}"/>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데이터 범위와 한계</a:t>
            </a:r>
          </a:p>
        </p:txBody>
      </p:sp>
      <p:sp>
        <p:nvSpPr>
          <p:cNvPr id="59" name="">
            <a:extLst xmlns:a="http://schemas.openxmlformats.org/drawingml/2006/main">
              <a:ext uri="{FF2B5EF4-FFF2-40B4-BE49-F238E27FC236}">
                <a16:creationId xmlns:a16="http://schemas.microsoft.com/office/drawing/2014/main" id="{25C90EB0-CAFD-4614-A493-C84F39FFA4A5}"/>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분기·모집 단위·대체값을 구분</a:t>
            </a:r>
          </a:p>
        </p:txBody>
      </p:sp>
      <p:sp>
        <p:nvSpPr>
          <p:cNvPr id="60" name="">
            <a:extLst xmlns:a="http://schemas.openxmlformats.org/drawingml/2006/main">
              <a:ext uri="{FF2B5EF4-FFF2-40B4-BE49-F238E27FC236}">
                <a16:creationId xmlns:a16="http://schemas.microsoft.com/office/drawing/2014/main" id="{E8232C56-72B9-472F-9708-9A123E59C96F}"/>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CC23006B-B02A-4285-AE5D-6D73AF8C0147}"/>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부록 D</a:t>
            </a:r>
          </a:p>
        </p:txBody>
      </p:sp>
      <p:graphicFrame>
        <p:nvGraphicFramePr>
          <p:cNvPr id="125" name=""/>
          <p:cNvGraphicFramePr/>
          <p:nvPr/>
        </p:nvGraphicFramePr>
        <p:xfrm>
          <a:off xmlns:a="http://schemas.openxmlformats.org/drawingml/2006/main" x="3048000" y="3352800"/>
          <a:ext xmlns:a="http://schemas.openxmlformats.org/drawingml/2006/main" cx="11506200" cy="3810000"/>
        </p:xfrm>
        <a:graphic xmlns:a="http://schemas.openxmlformats.org/drawingml/2006/main">
          <a:graphicData uri="http://schemas.openxmlformats.org/drawingml/2006/table">
            <a:tbl>
              <a:tblPr/>
              <a:tblGrid>
                <a:gridCol w="2619375"/>
                <a:gridCol w="8886825"/>
              </a:tblGrid>
              <a:tr h="544286">
                <a:tc>
                  <a:txBody>
                    <a:bodyPr/>
                    <a:lstStyle/>
                    <a:p>
                      <a:r>
                        <a:rPr sz="1800" b="1">
                          <a:solidFill>
                            <a:srgbClr val="37352F"/>
                          </a:solidFill>
                          <a:latin typeface="Malgun Gothic"/>
                          <a:ea typeface="Malgun Gothic"/>
                          <a:cs typeface="Malgun Gothic"/>
                        </a:rPr>
                        <a:t>항목</a:t>
                      </a:r>
                    </a:p>
                  </a:txBody>
                  <a:tcPr marL="85725" marR="85725" marT="28575" marB="28575">
                    <a:solidFill>
                      <a:srgbClr val="F1F1EF"/>
                    </a:solidFill>
                  </a:tcPr>
                </a:tc>
                <a:tc>
                  <a:txBody>
                    <a:bodyPr/>
                    <a:lstStyle/>
                    <a:p>
                      <a:r>
                        <a:rPr sz="1800" b="1">
                          <a:solidFill>
                            <a:srgbClr val="37352F"/>
                          </a:solidFill>
                          <a:latin typeface="Malgun Gothic"/>
                          <a:ea typeface="Malgun Gothic"/>
                          <a:cs typeface="Malgun Gothic"/>
                        </a:rPr>
                        <a:t>적용 기준</a:t>
                      </a:r>
                    </a:p>
                  </a:txBody>
                  <a:tcPr marL="85725" marR="85725" marT="28575" marB="28575">
                    <a:solidFill>
                      <a:srgbClr val="F1F1EF"/>
                    </a:solidFill>
                  </a:tcPr>
                </a:tc>
              </a:tr>
              <a:tr h="544286">
                <a:tc>
                  <a:txBody>
                    <a:bodyPr/>
                    <a:lstStyle/>
                    <a:p>
                      <a:r>
                        <a:rPr sz="1800" b="0">
                          <a:solidFill>
                            <a:srgbClr val="37352F"/>
                          </a:solidFill>
                          <a:latin typeface="Malgun Gothic"/>
                          <a:ea typeface="Malgun Gothic"/>
                          <a:cs typeface="Malgun Gothic"/>
                        </a:rPr>
                        <a:t>웹 전체</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현재 명단 23곳 · 4,374점포</a:t>
                      </a:r>
                    </a:p>
                  </a:txBody>
                  <a:tcPr marL="85725" marR="85725" marT="28575" marB="28575">
                    <a:solidFill>
                      <a:srgbClr val="FFFFFF"/>
                    </a:solidFill>
                  </a:tcPr>
                </a:tc>
              </a:tr>
              <a:tr h="544286">
                <a:tc>
                  <a:txBody>
                    <a:bodyPr/>
                    <a:lstStyle/>
                    <a:p>
                      <a:r>
                        <a:rPr sz="1800" b="0">
                          <a:solidFill>
                            <a:srgbClr val="37352F"/>
                          </a:solidFill>
                          <a:latin typeface="Malgun Gothic"/>
                          <a:ea typeface="Malgun Gothic"/>
                          <a:cs typeface="Malgun Gothic"/>
                        </a:rPr>
                        <a:t>정책 대상</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코어 9 + 참여 7 = 16곳 · 2,699점포</a:t>
                      </a:r>
                    </a:p>
                  </a:txBody>
                  <a:tcPr marL="85725" marR="85725" marT="28575" marB="28575">
                    <a:solidFill>
                      <a:srgbClr val="FFFFFF"/>
                    </a:solidFill>
                  </a:tcPr>
                </a:tc>
              </a:tr>
              <a:tr h="544286">
                <a:tc>
                  <a:txBody>
                    <a:bodyPr/>
                    <a:lstStyle/>
                    <a:p>
                      <a:r>
                        <a:rPr sz="1800" b="0">
                          <a:solidFill>
                            <a:srgbClr val="37352F"/>
                          </a:solidFill>
                          <a:latin typeface="Malgun Gothic"/>
                          <a:ea typeface="Malgun Gothic"/>
                          <a:cs typeface="Malgun Gothic"/>
                        </a:rPr>
                        <a:t>이경시장</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2026년 1분기 매출 대체 / 현재 점포 수</a:t>
                      </a:r>
                    </a:p>
                  </a:txBody>
                  <a:tcPr marL="85725" marR="85725" marT="28575" marB="28575">
                    <a:solidFill>
                      <a:srgbClr val="FFFFFF"/>
                    </a:solidFill>
                  </a:tcPr>
                </a:tc>
              </a:tr>
              <a:tr h="544286">
                <a:tc>
                  <a:txBody>
                    <a:bodyPr/>
                    <a:lstStyle/>
                    <a:p>
                      <a:r>
                        <a:rPr sz="1800" b="0">
                          <a:solidFill>
                            <a:srgbClr val="37352F"/>
                          </a:solidFill>
                          <a:latin typeface="Malgun Gothic"/>
                          <a:ea typeface="Malgun Gothic"/>
                          <a:cs typeface="Malgun Gothic"/>
                        </a:rPr>
                        <a:t>D·L·R·M</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PDF 공개값 소수 셋째 자리 / 거리 재계산 아님</a:t>
                      </a:r>
                    </a:p>
                  </a:txBody>
                  <a:tcPr marL="85725" marR="85725" marT="28575" marB="28575">
                    <a:solidFill>
                      <a:srgbClr val="FFFFFF"/>
                    </a:solidFill>
                  </a:tcPr>
                </a:tc>
              </a:tr>
              <a:tr h="544286">
                <a:tc>
                  <a:txBody>
                    <a:bodyPr/>
                    <a:lstStyle/>
                    <a:p>
                      <a:r>
                        <a:rPr sz="1800" b="0">
                          <a:solidFill>
                            <a:srgbClr val="37352F"/>
                          </a:solidFill>
                          <a:latin typeface="Malgun Gothic"/>
                          <a:ea typeface="Malgun Gothic"/>
                          <a:cs typeface="Malgun Gothic"/>
                        </a:rPr>
                        <a:t>시계열</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유동은 재현 / 장기 매출은 구성안 기록값</a:t>
                      </a:r>
                    </a:p>
                  </a:txBody>
                  <a:tcPr marL="85725" marR="85725" marT="28575" marB="28575">
                    <a:solidFill>
                      <a:srgbClr val="FFFFFF"/>
                    </a:solidFill>
                  </a:tcPr>
                </a:tc>
              </a:tr>
              <a:tr h="544286">
                <a:tc>
                  <a:txBody>
                    <a:bodyPr/>
                    <a:lstStyle/>
                    <a:p>
                      <a:r>
                        <a:rPr sz="1800" b="0">
                          <a:solidFill>
                            <a:srgbClr val="37352F"/>
                          </a:solidFill>
                          <a:latin typeface="Malgun Gothic"/>
                          <a:ea typeface="Malgun Gothic"/>
                          <a:cs typeface="Malgun Gothic"/>
                        </a:rPr>
                        <a:t>배정·체험</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모집 계획 / 가상 스탬프·쿠폰은 실제 사용 불가</a:t>
                      </a:r>
                    </a:p>
                  </a:txBody>
                  <a:tcPr marL="85725" marR="85725" marT="28575" marB="28575">
                    <a:solidFill>
                      <a:srgbClr val="FFFFFF"/>
                    </a:solidFill>
                  </a:tcPr>
                </a:tc>
              </a:tr>
            </a:tbl>
          </a:graphicData>
        </a:graphic>
      </p:graphicFrame>
      <p:sp>
        <p:nvSpPr>
          <p:cNvPr id="63" name="">
            <a:extLst xmlns:a="http://schemas.openxmlformats.org/drawingml/2006/main">
              <a:ext uri="{FF2B5EF4-FFF2-40B4-BE49-F238E27FC236}">
                <a16:creationId xmlns:a16="http://schemas.microsoft.com/office/drawing/2014/main" id="{DE8E59CB-5FE2-441F-9787-75FB0F5F7EC8}"/>
              </a:ext>
            </a:extLst>
          </p:cNvPr>
          <p:cNvSpPr>
            <a:spLocks xmlns:a="http://schemas.openxmlformats.org/drawingml/2006/main" noGrp="1"/>
          </p:cNvSpPr>
          <p:nvPr/>
        </p:nvSpPr>
        <p:spPr>
          <a:xfrm xmlns:a="http://schemas.openxmlformats.org/drawingml/2006/main">
            <a:off x="3048000" y="7581900"/>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787774"/>
                </a:solidFill>
                <a:latin typeface="Malgun Gothic"/>
                <a:ea typeface="Malgun Gothic"/>
                <a:cs typeface="Malgun Gothic"/>
              </a:defRPr>
            </a:pPr>
            <a:r>
              <a:rPr sz="1725" b="0">
                <a:solidFill>
                  <a:srgbClr val="787774"/>
                </a:solidFill>
                <a:latin typeface="Malgun Gothic"/>
                <a:ea typeface="Malgun Gothic"/>
                <a:cs typeface="Malgun Gothic"/>
              </a:rPr>
              <a:t>교정된 연계존 명단이 없어 구성안의 4,402점포는 적용하지 않음</a:t>
            </a:r>
          </a:p>
        </p:txBody>
      </p:sp>
    </p:spTree>
    <p:extLst>
      <p:ext uri="{BB962C8B-B14F-4D97-AF65-F5344CB8AC3E}">
        <p14:creationId xmlns:p14="http://schemas.microsoft.com/office/powerpoint/2010/main" val="162155006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EF75AED2-79F9-4A16-8F15-F1B021AD96B2}"/>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3CC9F63-7AEC-4691-8513-1A63D13ABE26}"/>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6929AFC-8CE4-4CD8-8771-BF5963B40AF4}"/>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7E8574B0-A1D9-43D5-A141-BF440645556E}"/>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6FDECCF4-C70C-42A7-A686-82B8B45C2C15}"/>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5A238E68-DDA9-474E-807E-EEAB60477BCC}"/>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FA84AC9C-4514-4314-A796-114FB9AE1974}"/>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7B9B41C8-BF8D-4CDD-B178-71FCFC3413C7}"/>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AD78C918-CAA6-4B12-B7CF-B81A6999A2B7}"/>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4B4958BA-8ECC-463C-B75A-0D9832502EF5}"/>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A316C7A-CC59-453E-94DA-6A14417725EE}"/>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C61CB33-A660-4B84-9929-D085D01D15DF}"/>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D32C7F1-32ED-483E-9045-990CBE3F3B98}"/>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6E569746-1392-486E-91D6-6538F1278DF3}"/>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8D63CD2E-6E8F-4663-ACA9-1375054A043F}"/>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C3C7479-B036-4C05-AEAB-689E004A7E82}"/>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05CB68E-CD15-44C9-B163-16F9C98C8091}"/>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D94AD8D-650A-4B62-8A1C-6F26315411E6}"/>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D65A5AD5-15EB-44C9-A5AC-049CC0C46243}"/>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3B808088-1068-4282-B60E-A045004BCA83}"/>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179E993-E08C-4F20-87EB-38D73639A0FA}"/>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BB72038-CC5B-4820-8D1F-1B2CE9BB79F5}"/>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EADB3DF-CF2D-4E5B-A18E-B2071E2C05E8}"/>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948B2C9E-F8D2-40E2-A39F-01E78B8DB81B}"/>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6238A800-B531-42F2-BC83-65AFD49191CA}"/>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5C687662-A70D-4EEC-9422-AA5A8D010249}"/>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7F076A2-BCB5-40F3-A673-9308B23567E7}"/>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2FF8660-FD56-4BED-BE55-AF2CA0197491}"/>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0DE415C7-3FBA-49B2-97DA-7185BFB3986D}"/>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A05654B9-BE73-41D7-A6A6-CD3546B5C89C}"/>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04507C47-CC7C-4CD8-983B-08AC7F0ECDED}"/>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D5EF0EE4-7C78-4E60-B063-52B135700BED}"/>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E856A77D-9DE2-4845-AAEA-558638D0A90B}"/>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1BC80ADE-60FB-4CDB-AA71-847243492EC1}"/>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8EFFA707-BB5A-4F6E-AD05-334780040156}"/>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7AE61B69-F32B-4763-9569-47F5004B0AC7}"/>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7BE49409-DB78-472D-ABF6-69D4475083F6}"/>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B5BEF2FF-EDC9-4C35-A31D-7A7549B50D07}"/>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9B999693-46AE-4205-B016-58DDFF1A0C44}"/>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0" name="">
            <a:extLst xmlns:a="http://schemas.openxmlformats.org/drawingml/2006/main">
              <a:ext uri="{FF2B5EF4-FFF2-40B4-BE49-F238E27FC236}">
                <a16:creationId xmlns:a16="http://schemas.microsoft.com/office/drawing/2014/main" id="{B313A99E-2A77-42A4-85C1-858368804663}"/>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5593EF8C-966D-4A76-A004-CDAC208D99D9}"/>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B4827613-68F8-45EC-8C07-E51CE3503010}"/>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99118D18-C0D4-4AF3-9B77-B64D5EAEEC86}"/>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4" name="">
            <a:extLst xmlns:a="http://schemas.openxmlformats.org/drawingml/2006/main">
              <a:ext uri="{FF2B5EF4-FFF2-40B4-BE49-F238E27FC236}">
                <a16:creationId xmlns:a16="http://schemas.microsoft.com/office/drawing/2014/main" id="{6D81E5DE-38D9-42C6-B816-4A899B60704F}"/>
              </a:ext>
            </a:extLst>
          </p:cNvPr>
          <p:cNvSpPr>
            <a:spLocks xmlns:a="http://schemas.openxmlformats.org/drawingml/2006/main" noGrp="1"/>
          </p:cNvSpPr>
          <p:nvPr/>
        </p:nvSpPr>
        <p:spPr>
          <a:xfrm xmlns:a="http://schemas.openxmlformats.org/drawingml/2006/main">
            <a:off x="95250" y="58293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E07F256C-EA96-4D21-B441-D6365C054FE2}"/>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C41B9C80-B818-4FBA-9A93-E4D111897C82}"/>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56E637DA-80F0-45AC-812F-7EBD498AF996}"/>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31F4D3C6-E9BD-416F-9566-B8D8A629C67C}"/>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69082355-4164-4CEC-A2A2-E0BD0CD0EC84}"/>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D7F55108-11D7-4F07-B167-5C00FBEA50C8}"/>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2BCFD81E-9560-4E27-97D0-91EE056A005A}"/>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9C271CCD-2D2B-43C6-98A5-10430CF10C43}"/>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근거 자료  /  거리 기준과 클리핑</a:t>
            </a:r>
          </a:p>
        </p:txBody>
      </p:sp>
      <p:sp>
        <p:nvSpPr>
          <p:cNvPr id="53" name="">
            <a:extLst xmlns:a="http://schemas.openxmlformats.org/drawingml/2006/main">
              <a:ext uri="{FF2B5EF4-FFF2-40B4-BE49-F238E27FC236}">
                <a16:creationId xmlns:a16="http://schemas.microsoft.com/office/drawing/2014/main" id="{1EC934F6-C74B-4687-80FF-470243991029}"/>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050DE63E-907C-4AB0-8555-EE4871DECB8F}"/>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EA0544CD-038B-4713-B7D5-BAD2F457DDE0}"/>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474F359B-D686-4337-9467-0B3867510B01}"/>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8279B39D-B985-4E51-9EED-F8721FB07684}"/>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98D916B0-3AEE-479D-9C36-F8C8EBA7B48E}"/>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거리 기준과 클리핑</a:t>
            </a:r>
          </a:p>
        </p:txBody>
      </p:sp>
      <p:sp>
        <p:nvSpPr>
          <p:cNvPr id="59" name="">
            <a:extLst xmlns:a="http://schemas.openxmlformats.org/drawingml/2006/main">
              <a:ext uri="{FF2B5EF4-FFF2-40B4-BE49-F238E27FC236}">
                <a16:creationId xmlns:a16="http://schemas.microsoft.com/office/drawing/2014/main" id="{DC1F9D80-08A6-42EE-8FB9-DAD9596A2392}"/>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서로 다른 거리 기준과 정규화 방식</a:t>
            </a:r>
          </a:p>
        </p:txBody>
      </p:sp>
      <p:sp>
        <p:nvSpPr>
          <p:cNvPr id="60" name="">
            <a:extLst xmlns:a="http://schemas.openxmlformats.org/drawingml/2006/main">
              <a:ext uri="{FF2B5EF4-FFF2-40B4-BE49-F238E27FC236}">
                <a16:creationId xmlns:a16="http://schemas.microsoft.com/office/drawing/2014/main" id="{5C4BAE7C-2C26-4896-BF13-F5DFECB14688}"/>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F4007C5E-0A77-4E19-88D5-05DC34CD276E}"/>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부록 E</a:t>
            </a:r>
          </a:p>
        </p:txBody>
      </p:sp>
      <p:graphicFrame>
        <p:nvGraphicFramePr>
          <p:cNvPr id="127" name=""/>
          <p:cNvGraphicFramePr/>
          <p:nvPr/>
        </p:nvGraphicFramePr>
        <p:xfrm>
          <a:off xmlns:a="http://schemas.openxmlformats.org/drawingml/2006/main" x="3048000" y="3362325"/>
          <a:ext xmlns:a="http://schemas.openxmlformats.org/drawingml/2006/main" cx="11506200" cy="3524250"/>
        </p:xfrm>
        <a:graphic xmlns:a="http://schemas.openxmlformats.org/drawingml/2006/main">
          <a:graphicData uri="http://schemas.openxmlformats.org/drawingml/2006/table">
            <a:tbl>
              <a:tblPr/>
              <a:tblGrid>
                <a:gridCol w="2762250"/>
                <a:gridCol w="8743950"/>
              </a:tblGrid>
              <a:tr h="587375">
                <a:tc>
                  <a:txBody>
                    <a:bodyPr/>
                    <a:lstStyle/>
                    <a:p>
                      <a:r>
                        <a:rPr sz="1875" b="1">
                          <a:solidFill>
                            <a:srgbClr val="37352F"/>
                          </a:solidFill>
                          <a:latin typeface="Malgun Gothic"/>
                          <a:ea typeface="Malgun Gothic"/>
                          <a:cs typeface="Malgun Gothic"/>
                        </a:rPr>
                        <a:t>기준</a:t>
                      </a:r>
                    </a:p>
                  </a:txBody>
                  <a:tcPr marL="85725" marR="85725" marT="28575" marB="28575">
                    <a:solidFill>
                      <a:srgbClr val="F1F1EF"/>
                    </a:solidFill>
                  </a:tcPr>
                </a:tc>
                <a:tc>
                  <a:txBody>
                    <a:bodyPr/>
                    <a:lstStyle/>
                    <a:p>
                      <a:r>
                        <a:rPr sz="1875" b="1">
                          <a:solidFill>
                            <a:srgbClr val="37352F"/>
                          </a:solidFill>
                          <a:latin typeface="Malgun Gothic"/>
                          <a:ea typeface="Malgun Gothic"/>
                          <a:cs typeface="Malgun Gothic"/>
                        </a:rPr>
                        <a:t>용도와 해석</a:t>
                      </a:r>
                    </a:p>
                  </a:txBody>
                  <a:tcPr marL="85725" marR="85725" marT="28575" marB="28575">
                    <a:solidFill>
                      <a:srgbClr val="F1F1EF"/>
                    </a:solidFill>
                  </a:tcPr>
                </a:tc>
              </a:tr>
              <a:tr h="587375">
                <a:tc>
                  <a:txBody>
                    <a:bodyPr/>
                    <a:lstStyle/>
                    <a:p>
                      <a:r>
                        <a:rPr sz="1875" b="0">
                          <a:solidFill>
                            <a:srgbClr val="37352F"/>
                          </a:solidFill>
                          <a:latin typeface="Malgun Gothic"/>
                          <a:ea typeface="Malgun Gothic"/>
                          <a:cs typeface="Malgun Gothic"/>
                        </a:rPr>
                        <a:t>300m</a:t>
                      </a:r>
                    </a:p>
                  </a:txBody>
                  <a:tcPr marL="85725" marR="85725" marT="28575" marB="28575">
                    <a:solidFill>
                      <a:srgbClr val="FFFFFF"/>
                    </a:solidFill>
                  </a:tcPr>
                </a:tc>
                <a:tc>
                  <a:txBody>
                    <a:bodyPr/>
                    <a:lstStyle/>
                    <a:p>
                      <a:r>
                        <a:rPr sz="1875" b="0">
                          <a:solidFill>
                            <a:srgbClr val="37352F"/>
                          </a:solidFill>
                          <a:latin typeface="Malgun Gothic"/>
                          <a:ea typeface="Malgun Gothic"/>
                          <a:cs typeface="Malgun Gothic"/>
                        </a:rPr>
                        <a:t>삼각형 외곽 참여 범위 규칙</a:t>
                      </a:r>
                    </a:p>
                  </a:txBody>
                  <a:tcPr marL="85725" marR="85725" marT="28575" marB="28575">
                    <a:solidFill>
                      <a:srgbClr val="FFFFFF"/>
                    </a:solidFill>
                  </a:tcPr>
                </a:tc>
              </a:tr>
              <a:tr h="587375">
                <a:tc>
                  <a:txBody>
                    <a:bodyPr/>
                    <a:lstStyle/>
                    <a:p>
                      <a:r>
                        <a:rPr sz="1875" b="0">
                          <a:solidFill>
                            <a:srgbClr val="37352F"/>
                          </a:solidFill>
                          <a:latin typeface="Malgun Gothic"/>
                          <a:ea typeface="Malgun Gothic"/>
                          <a:cs typeface="Malgun Gothic"/>
                        </a:rPr>
                        <a:t>583m</a:t>
                      </a:r>
                    </a:p>
                  </a:txBody>
                  <a:tcPr marL="85725" marR="85725" marT="28575" marB="28575">
                    <a:solidFill>
                      <a:srgbClr val="FFFFFF"/>
                    </a:solidFill>
                  </a:tcPr>
                </a:tc>
                <a:tc>
                  <a:txBody>
                    <a:bodyPr/>
                    <a:lstStyle/>
                    <a:p>
                      <a:r>
                        <a:rPr sz="1875" b="0">
                          <a:solidFill>
                            <a:srgbClr val="37352F"/>
                          </a:solidFill>
                          <a:latin typeface="Malgun Gothic"/>
                          <a:ea typeface="Malgun Gothic"/>
                          <a:cs typeface="Malgun Gothic"/>
                        </a:rPr>
                        <a:t>평시 20대 비중 모형의 반감거리</a:t>
                      </a:r>
                    </a:p>
                  </a:txBody>
                  <a:tcPr marL="85725" marR="85725" marT="28575" marB="28575">
                    <a:solidFill>
                      <a:srgbClr val="FFFFFF"/>
                    </a:solidFill>
                  </a:tcPr>
                </a:tc>
              </a:tr>
              <a:tr h="587375">
                <a:tc>
                  <a:txBody>
                    <a:bodyPr/>
                    <a:lstStyle/>
                    <a:p>
                      <a:r>
                        <a:rPr sz="1875" b="0">
                          <a:solidFill>
                            <a:srgbClr val="37352F"/>
                          </a:solidFill>
                          <a:latin typeface="Malgun Gothic"/>
                          <a:ea typeface="Malgun Gothic"/>
                          <a:cs typeface="Malgun Gothic"/>
                        </a:rPr>
                        <a:t>425m 분절점</a:t>
                      </a:r>
                    </a:p>
                  </a:txBody>
                  <a:tcPr marL="85725" marR="85725" marT="28575" marB="28575">
                    <a:solidFill>
                      <a:srgbClr val="FFFFFF"/>
                    </a:solidFill>
                  </a:tcPr>
                </a:tc>
                <a:tc>
                  <a:txBody>
                    <a:bodyPr/>
                    <a:lstStyle/>
                    <a:p>
                      <a:r>
                        <a:rPr sz="1875" b="0">
                          <a:solidFill>
                            <a:srgbClr val="37352F"/>
                          </a:solidFill>
                          <a:latin typeface="Malgun Gothic"/>
                          <a:ea typeface="Malgun Gothic"/>
                          <a:cs typeface="Malgun Gothic"/>
                        </a:rPr>
                        <a:t>추가 설명력 유의하지 않음 · F=1.51</a:t>
                      </a:r>
                    </a:p>
                  </a:txBody>
                  <a:tcPr marL="85725" marR="85725" marT="28575" marB="28575">
                    <a:solidFill>
                      <a:srgbClr val="FFFFFF"/>
                    </a:solidFill>
                  </a:tcPr>
                </a:tc>
              </a:tr>
              <a:tr h="587375">
                <a:tc>
                  <a:txBody>
                    <a:bodyPr/>
                    <a:lstStyle/>
                    <a:p>
                      <a:r>
                        <a:rPr sz="1875" b="0">
                          <a:solidFill>
                            <a:srgbClr val="37352F"/>
                          </a:solidFill>
                          <a:latin typeface="Malgun Gothic"/>
                          <a:ea typeface="Malgun Gothic"/>
                          <a:cs typeface="Malgun Gothic"/>
                        </a:rPr>
                        <a:t>500점포 클리핑</a:t>
                      </a:r>
                    </a:p>
                  </a:txBody>
                  <a:tcPr marL="85725" marR="85725" marT="28575" marB="28575">
                    <a:solidFill>
                      <a:srgbClr val="FFFFFF"/>
                    </a:solidFill>
                  </a:tcPr>
                </a:tc>
                <a:tc>
                  <a:txBody>
                    <a:bodyPr/>
                    <a:lstStyle/>
                    <a:p>
                      <a:r>
                        <a:rPr sz="1875" b="0">
                          <a:solidFill>
                            <a:srgbClr val="37352F"/>
                          </a:solidFill>
                          <a:latin typeface="Malgun Gothic"/>
                          <a:ea typeface="Malgun Gothic"/>
                          <a:cs typeface="Malgun Gothic"/>
                        </a:rPr>
                        <a:t>옛 min-max 점포 항의 방어 장치</a:t>
                      </a:r>
                    </a:p>
                  </a:txBody>
                  <a:tcPr marL="85725" marR="85725" marT="28575" marB="28575">
                    <a:solidFill>
                      <a:srgbClr val="FFFFFF"/>
                    </a:solidFill>
                  </a:tcPr>
                </a:tc>
              </a:tr>
              <a:tr h="587375">
                <a:tc>
                  <a:txBody>
                    <a:bodyPr/>
                    <a:lstStyle/>
                    <a:p>
                      <a:r>
                        <a:rPr sz="1875" b="0">
                          <a:solidFill>
                            <a:srgbClr val="37352F"/>
                          </a:solidFill>
                          <a:latin typeface="Malgun Gothic"/>
                          <a:ea typeface="Malgun Gothic"/>
                          <a:cs typeface="Malgun Gothic"/>
                        </a:rPr>
                        <a:t>현재 배정</a:t>
                      </a:r>
                    </a:p>
                  </a:txBody>
                  <a:tcPr marL="85725" marR="85725" marT="28575" marB="28575">
                    <a:solidFill>
                      <a:srgbClr val="FFFFFF"/>
                    </a:solidFill>
                  </a:tcPr>
                </a:tc>
                <a:tc>
                  <a:txBody>
                    <a:bodyPr/>
                    <a:lstStyle/>
                    <a:p>
                      <a:r>
                        <a:rPr sz="1875" b="0">
                          <a:solidFill>
                            <a:srgbClr val="37352F"/>
                          </a:solidFill>
                          <a:latin typeface="Malgun Gothic"/>
                          <a:ea typeface="Malgun Gothic"/>
                          <a:cs typeface="Malgun Gothic"/>
                        </a:rPr>
                        <a:t>16곳 내 백분위·비율 지표와 최대6개 상한</a:t>
                      </a:r>
                    </a:p>
                  </a:txBody>
                  <a:tcPr marL="85725" marR="85725" marT="28575" marB="28575">
                    <a:solidFill>
                      <a:srgbClr val="FFFFFF"/>
                    </a:solidFill>
                  </a:tcPr>
                </a:tc>
              </a:tr>
            </a:tbl>
          </a:graphicData>
        </a:graphic>
      </p:graphicFrame>
      <p:sp>
        <p:nvSpPr>
          <p:cNvPr id="63" name="">
            <a:extLst xmlns:a="http://schemas.openxmlformats.org/drawingml/2006/main">
              <a:ext uri="{FF2B5EF4-FFF2-40B4-BE49-F238E27FC236}">
                <a16:creationId xmlns:a16="http://schemas.microsoft.com/office/drawing/2014/main" id="{4A8357A0-C491-46C3-AFB9-90D25F4E8BFA}"/>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5736BBA7-BD88-4EB0-9738-95B0C488A1C2}"/>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5" name="">
            <a:extLst xmlns:a="http://schemas.openxmlformats.org/drawingml/2006/main">
              <a:ext uri="{FF2B5EF4-FFF2-40B4-BE49-F238E27FC236}">
                <a16:creationId xmlns:a16="http://schemas.microsoft.com/office/drawing/2014/main" id="{FC9F3DE9-4F5D-4151-988D-61885227C295}"/>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“400m에서 확실히 급감” 또는 “추가 예산 0원”으로 설명하지 않음</a:t>
            </a:r>
          </a:p>
        </p:txBody>
      </p:sp>
    </p:spTree>
    <p:extLst>
      <p:ext uri="{BB962C8B-B14F-4D97-AF65-F5344CB8AC3E}">
        <p14:creationId xmlns:p14="http://schemas.microsoft.com/office/powerpoint/2010/main" val="8869318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2026-09-13T07:41:19.6980000Z</dcterms:created>
  <dcterms:modified xsi:type="dcterms:W3CDTF">2026-09-13T07:41:19.6980000Z</dcterms:modified>
</coreProperties>
</file>