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61767c99c944ed" /><Relationship Type="http://schemas.openxmlformats.org/officeDocument/2006/relationships/extended-properties" Target="/docProps/app.xml" Id="R93e68883c2a7491b" /><Relationship Type="http://schemas.openxmlformats.org/officeDocument/2006/relationships/officeDocument" Target="/ppt/presentation.xml" Id="R56879364bacc45e4" /></Relationships>
</file>

<file path=ppt/presentation.xml><?xml version="1.0" encoding="utf-8"?>
<p:presentation xmlns:p="http://schemas.openxmlformats.org/presentationml/2006/main">
  <p:sldMasterIdLst>
    <p:sldMasterId xmlns:r="http://schemas.openxmlformats.org/officeDocument/2006/relationships" id="2147483648" r:id="Rdee6bc7279b347f1"/>
  </p:sldMasterIdLst>
  <p:notesMasterIdLst>
    <p:notesMasterId xmlns:r="http://schemas.openxmlformats.org/officeDocument/2006/relationships" r:id="Rda13b45f4cbe4a00"/>
  </p:notesMasterIdLst>
  <p:sldIdLst>
    <p:sldId xmlns:r="http://schemas.openxmlformats.org/officeDocument/2006/relationships" id="256" r:id="Rc8eb2ca9bb974638"/>
    <p:sldId xmlns:r="http://schemas.openxmlformats.org/officeDocument/2006/relationships" id="257" r:id="R1fca95a385fd4b67"/>
    <p:sldId xmlns:r="http://schemas.openxmlformats.org/officeDocument/2006/relationships" id="258" r:id="R5e8275b7f3d74f63"/>
    <p:sldId xmlns:r="http://schemas.openxmlformats.org/officeDocument/2006/relationships" id="259" r:id="R311ac2a8db1c4e49"/>
    <p:sldId xmlns:r="http://schemas.openxmlformats.org/officeDocument/2006/relationships" id="260" r:id="Rc40797978d2b4c0b"/>
    <p:sldId xmlns:r="http://schemas.openxmlformats.org/officeDocument/2006/relationships" id="261" r:id="R71b01e2554dd45ee"/>
    <p:sldId xmlns:r="http://schemas.openxmlformats.org/officeDocument/2006/relationships" id="262" r:id="R908f171940594856"/>
    <p:sldId xmlns:r="http://schemas.openxmlformats.org/officeDocument/2006/relationships" id="263" r:id="R71a3a58bceb84f03"/>
    <p:sldId xmlns:r="http://schemas.openxmlformats.org/officeDocument/2006/relationships" id="264" r:id="R0b0eb2b075184e9b"/>
    <p:sldId xmlns:r="http://schemas.openxmlformats.org/officeDocument/2006/relationships" id="265" r:id="R76117b3cb29d413b"/>
    <p:sldId xmlns:r="http://schemas.openxmlformats.org/officeDocument/2006/relationships" id="266" r:id="R1f11c9653a13470f"/>
    <p:sldId xmlns:r="http://schemas.openxmlformats.org/officeDocument/2006/relationships" id="267" r:id="Rac14ed680fb44bc1"/>
    <p:sldId xmlns:r="http://schemas.openxmlformats.org/officeDocument/2006/relationships" id="268" r:id="R523298e7a376496a"/>
    <p:sldId xmlns:r="http://schemas.openxmlformats.org/officeDocument/2006/relationships" id="269" r:id="Rd66b3cd212654c3f"/>
    <p:sldId xmlns:r="http://schemas.openxmlformats.org/officeDocument/2006/relationships" id="270" r:id="R1a97948eded049dd"/>
    <p:sldId xmlns:r="http://schemas.openxmlformats.org/officeDocument/2006/relationships" id="271" r:id="R4b9baf12eea6477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f5e5e766d94f49" /><Relationship Type="http://schemas.openxmlformats.org/officeDocument/2006/relationships/slideMaster" Target="/ppt/slideMasters/slideMaster1.xml" Id="Rdee6bc7279b347f1" /><Relationship Type="http://schemas.openxmlformats.org/officeDocument/2006/relationships/notesMaster" Target="/ppt/notesMasters/notesMaster1.xml" Id="Rda13b45f4cbe4a00" /><Relationship Type="http://schemas.openxmlformats.org/officeDocument/2006/relationships/presProps" Target="/ppt/presProps.xml" Id="Rdcc4153667164995" /><Relationship Type="http://schemas.openxmlformats.org/officeDocument/2006/relationships/tableStyles" Target="/ppt/tableStyles.xml" Id="Ra87a6334f9e64ae2" /><Relationship Type="http://schemas.openxmlformats.org/officeDocument/2006/relationships/slide" Target="/ppt/slides/slide1.xml" Id="Rc8eb2ca9bb974638" /><Relationship Type="http://schemas.openxmlformats.org/officeDocument/2006/relationships/slide" Target="/ppt/slides/slide2.xml" Id="R1fca95a385fd4b67" /><Relationship Type="http://schemas.openxmlformats.org/officeDocument/2006/relationships/slide" Target="/ppt/slides/slide3.xml" Id="R5e8275b7f3d74f63" /><Relationship Type="http://schemas.openxmlformats.org/officeDocument/2006/relationships/slide" Target="/ppt/slides/slide4.xml" Id="R311ac2a8db1c4e49" /><Relationship Type="http://schemas.openxmlformats.org/officeDocument/2006/relationships/slide" Target="/ppt/slides/slide5.xml" Id="Rc40797978d2b4c0b" /><Relationship Type="http://schemas.openxmlformats.org/officeDocument/2006/relationships/slide" Target="/ppt/slides/slide6.xml" Id="R71b01e2554dd45ee" /><Relationship Type="http://schemas.openxmlformats.org/officeDocument/2006/relationships/slide" Target="/ppt/slides/slide7.xml" Id="R908f171940594856" /><Relationship Type="http://schemas.openxmlformats.org/officeDocument/2006/relationships/slide" Target="/ppt/slides/slide8.xml" Id="R71a3a58bceb84f03" /><Relationship Type="http://schemas.openxmlformats.org/officeDocument/2006/relationships/slide" Target="/ppt/slides/slide9.xml" Id="R0b0eb2b075184e9b" /><Relationship Type="http://schemas.openxmlformats.org/officeDocument/2006/relationships/slide" Target="/ppt/slides/slide10.xml" Id="R76117b3cb29d413b" /><Relationship Type="http://schemas.openxmlformats.org/officeDocument/2006/relationships/slide" Target="/ppt/slides/slide11.xml" Id="R1f11c9653a13470f" /><Relationship Type="http://schemas.openxmlformats.org/officeDocument/2006/relationships/slide" Target="/ppt/slides/slide12.xml" Id="Rac14ed680fb44bc1" /><Relationship Type="http://schemas.openxmlformats.org/officeDocument/2006/relationships/slide" Target="/ppt/slides/slide13.xml" Id="R523298e7a376496a" /><Relationship Type="http://schemas.openxmlformats.org/officeDocument/2006/relationships/slide" Target="/ppt/slides/slide14.xml" Id="Rd66b3cd212654c3f" /><Relationship Type="http://schemas.openxmlformats.org/officeDocument/2006/relationships/slide" Target="/ppt/slides/slide15.xml" Id="R1a97948eded049dd" /><Relationship Type="http://schemas.openxmlformats.org/officeDocument/2006/relationships/slide" Target="/ppt/slides/slide16.xml" Id="R4b9baf12eea647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6a23cade1749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d2faed00d947de" /><Relationship Type="http://schemas.openxmlformats.org/officeDocument/2006/relationships/notesMaster" Target="/ppt/notesMasters/notesMaster1.xml" Id="Rb62b450c65ad4b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c0b2739977466d" /><Relationship Type="http://schemas.openxmlformats.org/officeDocument/2006/relationships/notesMaster" Target="/ppt/notesMasters/notesMaster1.xml" Id="Rd1c4504ee17946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b8aa7493534d0b" /><Relationship Type="http://schemas.openxmlformats.org/officeDocument/2006/relationships/notesMaster" Target="/ppt/notesMasters/notesMaster1.xml" Id="R5a54f9f796904b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77add05ff14dfe" /><Relationship Type="http://schemas.openxmlformats.org/officeDocument/2006/relationships/notesMaster" Target="/ppt/notesMasters/notesMaster1.xml" Id="Rc49e9845fca241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7c05ba2fef4f91" /><Relationship Type="http://schemas.openxmlformats.org/officeDocument/2006/relationships/notesMaster" Target="/ppt/notesMasters/notesMaster1.xml" Id="R08594795832a4c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774dcdf50a48d0" /><Relationship Type="http://schemas.openxmlformats.org/officeDocument/2006/relationships/notesMaster" Target="/ppt/notesMasters/notesMaster1.xml" Id="R3852dda0c4994e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807c1409c04254" /><Relationship Type="http://schemas.openxmlformats.org/officeDocument/2006/relationships/notesMaster" Target="/ppt/notesMasters/notesMaster1.xml" Id="R0970003b155647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404777d1214e79" /><Relationship Type="http://schemas.openxmlformats.org/officeDocument/2006/relationships/notesMaster" Target="/ppt/notesMasters/notesMaster1.xml" Id="R99ebe644516c4a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20e98b6ffe4175" /><Relationship Type="http://schemas.openxmlformats.org/officeDocument/2006/relationships/notesMaster" Target="/ppt/notesMasters/notesMaster1.xml" Id="Ra542cd4aac3946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df9b24b2a3449d" /><Relationship Type="http://schemas.openxmlformats.org/officeDocument/2006/relationships/notesMaster" Target="/ppt/notesMasters/notesMaster1.xml" Id="R6cdc52fc897640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b1672709ce4721" /><Relationship Type="http://schemas.openxmlformats.org/officeDocument/2006/relationships/notesMaster" Target="/ppt/notesMasters/notesMaster1.xml" Id="Rc8196215439e44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fc7a85fa6f4cee" /><Relationship Type="http://schemas.openxmlformats.org/officeDocument/2006/relationships/notesMaster" Target="/ppt/notesMasters/notesMaster1.xml" Id="R1fcfa74f935b4a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3c9cc4a5484745" /><Relationship Type="http://schemas.openxmlformats.org/officeDocument/2006/relationships/notesMaster" Target="/ppt/notesMasters/notesMaster1.xml" Id="Rdfeb50f58b7c42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c450ffc8634c51" /><Relationship Type="http://schemas.openxmlformats.org/officeDocument/2006/relationships/notesMaster" Target="/ppt/notesMasters/notesMaster1.xml" Id="R1e611a5c42b141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2365b1673d4e53" /><Relationship Type="http://schemas.openxmlformats.org/officeDocument/2006/relationships/notesMaster" Target="/ppt/notesMasters/notesMaster1.xml" Id="Rac1eca47ff0940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5e6439e21e44b8" /><Relationship Type="http://schemas.openxmlformats.org/officeDocument/2006/relationships/notesMaster" Target="/ppt/notesMasters/notesMaster1.xml" Id="Race5c159957f4a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10초</a:t>
            </a:r>
          </a:p>
          <a:p xmlns:a="http://schemas.openxmlformats.org/drawingml/2006/main">
            <a:r>
              <a:t>안녕하세요. 저희는 회기·이문·전농의 16개 상권에 스탬프 60개를 어떻게 배정할지 제안합니다.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코어 9개 상권에서 20대 유동의 이동평균 지수는 기준 수준에 가깝습니다. 최종 구성안에 기록된 20대 추정매출 지수는 73.4로 낮아졌습니다. 이번 폴더에서 유동 추이는 재현했지만 장기 매출 원자료는 없어 기록값을 구분했습니다. 이 차이를 방문과 지역 소비를 연결하는 운영 장치의 검토 배경으로 삼았습니다. 축제의 효과나 감소 원인을 증명한 결과는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참여 범위는 세 대학앞 상권을 감싼 볼록껍질의 외곽에 300미터를 더하고, 상권 면적의 절반 이상이 들어오는 곳을 선택하는 규칙입니다. 문서상 코어 9곳과 참여 7곳, 총 16곳입니다. 여기 지도는 공식 중심점 위치도이며 실제 경계를 재현한 것은 아닙니다. 연계존 7곳은 교통 연계를 검토합니다.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도달 지수에는 평시 20대 비중과 거리의 관계에서 추정한 감쇠계수를 사용합니다. 기록된 베타는 킬로미터당 1.189이며 반감거리는 약 583미터입니다. 이 곡선은 그 계수를 적용한 모형값입니다. 축제 당일 방문을 측정한 결과가 아니고, 앞의 300미터 참여 규칙과도 용도가 다릅니다.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배정 기준은 소외도 M입니다. D는 최근의 하락, L은 낮은 점포당 매출, R은 거리 기반 도달을 뜻합니다. D는 네 지표를 백분위화해 평균한 뒤 다시 백분위화합니다. D와 L을 대칭적으로 결합하고 R을 곱합니다. 시립대앞사거리는 M이 0.669로 6개, 경희대앞은 0.216으로 최소 참여 2개를 배정합니다. 취향 추천 점수와는 별개의 정책 지수입니다.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60개 총량 안에서 코어에 36개, 참여에 24개를 배정했습니다. 연계존은 0개입니다. 상권별 최소 2개를 보장하고, 최대 6개 또는 전체 점포 수의 20퍼센트 중 작은 값을 상한으로 둡니다. 시조사삼거리와 회기역 1번은 2개에서 6개로 늘었습니다. 이경시장은 점포 19곳의 20퍼센트를 내림한 상한 때문에 3개입니다. 확정 제휴 매장 수가 아닌 모집 배정안입니다.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40초</a:t>
            </a:r>
          </a:p>
          <a:p xmlns:a="http://schemas.openxmlformats.org/drawingml/2006/main">
            <a:r>
              <a:t>전체 60개로 분모를 통일하면 소외도 상위 다섯 곳의 몫은 13개, 21.7퍼센트에서 27개, 45퍼센트로 늘어납니다. 같은 총량에서 14개를 더 배정하는 방향으로 바뀐 것입니다. 배정과 점포당 매출의 상관도 양에서 음으로 전환했습니다. 이 숫자는 매출 증가 효과가 아니라 계획상 배정량의 변화입니다.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분석에서는 세 상권을 묶는 코스도 제안했습니다. 회기권은 회기역 1번, 회기시장, 시조사삼거리입니다. 이문권과 전농권도 각각 세 곳을 연결합니다. 세 코스는 소외도 상위 다섯 곳을 모두 포함합니다. 거리는 대표점 직선거리에 우회계수를 적용한 가정값이므로 실제 보행경로와 방문 순서는 현장 확인이 필요합니다. 웹의 기존 테마 코스와는 구분합니다.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[추천 화면 10초] 방문객은 취향에 맞는 상권을 찾습니다. [지도 목록에서 시립대앞사거리 열기 15초] 상세 화면에서 스탬프 6개와 소외도 0.669를 확인합니다. [근거 설명 15초] D·L·R과 상한, 출처를 함께 보여주어 배정 이유를 설명합니다. 방문객 추천과 운영자 배정은 목적이 다릅니다. [발표 복귀 5초] 네트워크가 끊기면 동일한 캡처로 설명합니다.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50초</a:t>
            </a:r>
          </a:p>
          <a:p xmlns:a="http://schemas.openxmlformats.org/drawingml/2006/main">
            <a:r>
              <a:t>실행은 행사 4주 전 협의부터 시작합니다. 2~3주 전에는 제휴 모집과 경로를 확인하고, 1주 전에는 쿠폰과 집계를 점검합니다. 대학 운영진은 방문 안내, 상인회와 상점은 모집과 쿠폰, 관계 기관은 현장 지원, 분석팀은 배정과 평가를 담당하도록 제안합니다. 모집 실적과 완주율을 집계하고, 동의한 매장의 매출과 객수를 비교합니다. 요일과 날씨, 학사일정도 고려해야 합니다. 인력과 제작물, 쿠폰 재원은 별도 산정합니다.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25초</a:t>
            </a:r>
          </a:p>
          <a:p xmlns:a="http://schemas.openxmlformats.org/drawingml/2006/main">
            <a:r>
              <a:t>제안의 규모는 16개 상권과 60개 배정입니다. 그중 소외도 상위 다섯 곳에 27개를 배정했습니다. 이 배정안으로 참여 상점을 모집하고 실제 방문과 소비 자료를 모아 다음 행사에 반영하겠습니다. 현장 검증과 제휴 협의를 진행할 시범 운영 기회를 요청드립니다.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B10-14 PDF 7–8쪽의 공개 배정표. 소수 셋째 자리 반올림 값이며 재계산 결과가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목적함수와 제약 아래의 최적성입니다. 실제 매출 증가를 최대화한다고 검증한 것은 아닙니다. DP 결과와 민감도는 B10-14에 기록된 검증이며 이번 폴더에서 원본 입력으로 재실행하지 않았습니다.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D 41.5%, L 41.6%, R 16.9%는 기록된 평균 절대 Shapley 비중입니다. 지수 출력의 설명이며 인과적 매출 기여율이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전체 웹 명단은 현재 로컬 데이터를 유지합니다. 구성안의 4,402점포는 교정 명단이 없어 적용하지 않습니다. 자료가 없다고 0으로 바꾸거나 임의의 관측치를 만들지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300m는 범위 규칙이고 583m는 감쇠모형의 반감거리입니다. 425m 분절점의 추가 설명력은 유의하지 않습니다. 새 지수에 옛 점포 수 min-max 항이 없으므로 500개 클리핑을 복원하지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0bc0818af346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92903e8c2d4f73" /><Relationship Type="http://schemas.openxmlformats.org/officeDocument/2006/relationships/slideLayout" Target="/ppt/slideLayouts/slideLayout1.xml" Id="R4974e5aa9cc24d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74e5aa9cc24d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01c94363a74eba" /><Relationship Type="http://schemas.openxmlformats.org/officeDocument/2006/relationships/notesSlide" Target="/ppt/notesSlides/notesSlide1.xml" Id="R59da7e55a5a24b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026ba25c884085" /><Relationship Type="http://schemas.openxmlformats.org/officeDocument/2006/relationships/chart" Target="/ppt/slides/charts/chart1.xml" Id="Rd5fcd70dd5b14334" /><Relationship Type="http://schemas.openxmlformats.org/officeDocument/2006/relationships/notesSlide" Target="/ppt/notesSlides/notesSlide2.xml" Id="R4f05fdded71e49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2ebd09beab47cf" /><Relationship Type="http://schemas.openxmlformats.org/officeDocument/2006/relationships/chart" Target="/ppt/slides/charts/chart2.xml" Id="R794d9d671894490d" /><Relationship Type="http://schemas.openxmlformats.org/officeDocument/2006/relationships/notesSlide" Target="/ppt/notesSlides/notesSlide3.xml" Id="R121256ba900c42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a0235d2c8f48a2" /><Relationship Type="http://schemas.openxmlformats.org/officeDocument/2006/relationships/chart" Target="/ppt/slides/charts/chart3.xml" Id="R5580db01ea2f4957" /><Relationship Type="http://schemas.openxmlformats.org/officeDocument/2006/relationships/notesSlide" Target="/ppt/notesSlides/notesSlide4.xml" Id="R8126979bd00c4f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a005beb44e417f" /><Relationship Type="http://schemas.openxmlformats.org/officeDocument/2006/relationships/notesSlide" Target="/ppt/notesSlides/notesSlide5.xml" Id="Rb054b7382a0242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e5645a64c74411" /><Relationship Type="http://schemas.openxmlformats.org/officeDocument/2006/relationships/chart" Target="/ppt/slides/charts/chart4.xml" Id="R16c5059fa4a24c6d" /><Relationship Type="http://schemas.openxmlformats.org/officeDocument/2006/relationships/notesSlide" Target="/ppt/notesSlides/notesSlide6.xml" Id="R2efa70f416c341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eecf9b5d384522" /><Relationship Type="http://schemas.openxmlformats.org/officeDocument/2006/relationships/chart" Target="/ppt/slides/charts/chart5.xml" Id="R48caab3754984c0e" /><Relationship Type="http://schemas.openxmlformats.org/officeDocument/2006/relationships/notesSlide" Target="/ppt/notesSlides/notesSlide7.xml" Id="R79bbb30f1d7d4f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03e2cc4fff4f18" /><Relationship Type="http://schemas.openxmlformats.org/officeDocument/2006/relationships/notesSlide" Target="/ppt/notesSlides/notesSlide8.xml" Id="Raf7110b82cea4e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5f2ab874864cf2" /><Relationship Type="http://schemas.openxmlformats.org/officeDocument/2006/relationships/image" Target="/ppt/media/image.png" Id="R94b6ed9612a0434a" /><Relationship Type="http://schemas.openxmlformats.org/officeDocument/2006/relationships/image" Target="/ppt/media/image2.png" Id="R51517d97f9bd479b" /><Relationship Type="http://schemas.openxmlformats.org/officeDocument/2006/relationships/notesSlide" Target="/ppt/notesSlides/notesSlide9.xml" Id="R2a4261d7b80240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3a4dc14b5f429d" /><Relationship Type="http://schemas.openxmlformats.org/officeDocument/2006/relationships/notesSlide" Target="/ppt/notesSlides/notesSlide10.xml" Id="R64e13b616ef74c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5fe7651046c469a" /><Relationship Type="http://schemas.openxmlformats.org/officeDocument/2006/relationships/notesSlide" Target="/ppt/notesSlides/notesSlide11.xml" Id="R9d5e979391eb45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e9ffff35654454" /><Relationship Type="http://schemas.openxmlformats.org/officeDocument/2006/relationships/notesSlide" Target="/ppt/notesSlides/notesSlide12.xml" Id="Rc356f7e9102549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5055344a054b44" /><Relationship Type="http://schemas.openxmlformats.org/officeDocument/2006/relationships/notesSlide" Target="/ppt/notesSlides/notesSlide13.xml" Id="Rcc7017bf321c48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1cb45b19704e7f" /><Relationship Type="http://schemas.openxmlformats.org/officeDocument/2006/relationships/chart" Target="/ppt/slides/charts/chart6.xml" Id="Rc7a1c45bb03447b0" /><Relationship Type="http://schemas.openxmlformats.org/officeDocument/2006/relationships/notesSlide" Target="/ppt/notesSlides/notesSlide14.xml" Id="Rcb9bcf8c1af444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495a2880a4f4be4" /><Relationship Type="http://schemas.openxmlformats.org/officeDocument/2006/relationships/notesSlide" Target="/ppt/notesSlides/notesSlide15.xml" Id="R7b41ef4dc54649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558e70632f4e52" /><Relationship Type="http://schemas.openxmlformats.org/officeDocument/2006/relationships/notesSlide" Target="/ppt/notesSlides/notesSlide16.xml" Id="R338560f80c72483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20대 유동</c:v>
          </c:tx>
          <c:spPr>
            <a:ln xmlns:a="http://schemas.openxmlformats.org/drawingml/2006/main" w="28575">
              <a:solidFill>
                <a:srgbClr val="487CA5"/>
              </a:solidFill>
            </a:ln>
          </c:spPr>
          <c:marker>
            <c:symbol val="none"/>
          </c:marker>
          <c:cat>
            <c:strRef>
              <c:f>'Chart Data'!$A$2:$A$16</c:f>
              <c:strCache>
                <c:ptCount val="15"/>
                <c:pt idx="0">
                  <c:v>22.4Q</c:v>
                </c:pt>
                <c:pt idx="1">
                  <c:v>23.1Q</c:v>
                </c:pt>
                <c:pt idx="2">
                  <c:v>23.2Q</c:v>
                </c:pt>
                <c:pt idx="3">
                  <c:v>23.3Q</c:v>
                </c:pt>
                <c:pt idx="4">
                  <c:v>23.4Q</c:v>
                </c:pt>
                <c:pt idx="5">
                  <c:v>24.1Q</c:v>
                </c:pt>
                <c:pt idx="6">
                  <c:v>24.2Q</c:v>
                </c:pt>
                <c:pt idx="7">
                  <c:v>24.3Q</c:v>
                </c:pt>
                <c:pt idx="8">
                  <c:v>24.4Q</c:v>
                </c:pt>
                <c:pt idx="9">
                  <c:v>25.1Q</c:v>
                </c:pt>
                <c:pt idx="10">
                  <c:v>25.2Q</c:v>
                </c:pt>
                <c:pt idx="11">
                  <c:v>25.3Q</c:v>
                </c:pt>
                <c:pt idx="12">
                  <c:v>25.4Q</c:v>
                </c:pt>
                <c:pt idx="13">
                  <c:v>26.1Q</c:v>
                </c:pt>
                <c:pt idx="14">
                  <c:v>26.2Q</c:v>
                </c:pt>
              </c:strCache>
            </c:strRef>
          </c:cat>
          <c:val>
            <c:numRef>
              <c:f>'Chart Data'!$B$2:$B$16</c:f>
              <c:numCache>
                <c:formatCode>0</c:formatCode>
                <c:ptCount val="15"/>
                <c:pt idx="0">
                  <c:v>100</c:v>
                </c:pt>
                <c:pt idx="1">
                  <c:v>103.682533</c:v>
                </c:pt>
                <c:pt idx="2">
                  <c:v>107.369128</c:v>
                </c:pt>
                <c:pt idx="3">
                  <c:v>106.884237</c:v>
                </c:pt>
                <c:pt idx="4">
                  <c:v>107.919965</c:v>
                </c:pt>
                <c:pt idx="5">
                  <c:v>106.247696</c:v>
                </c:pt>
                <c:pt idx="6">
                  <c:v>105.63071</c:v>
                </c:pt>
                <c:pt idx="7">
                  <c:v>104.34615</c:v>
                </c:pt>
                <c:pt idx="8">
                  <c:v>102.699915</c:v>
                </c:pt>
                <c:pt idx="9">
                  <c:v>102.146107</c:v>
                </c:pt>
                <c:pt idx="10">
                  <c:v>101.425705</c:v>
                </c:pt>
                <c:pt idx="11">
                  <c:v>101.198844</c:v>
                </c:pt>
                <c:pt idx="12">
                  <c:v>100.128618</c:v>
                </c:pt>
                <c:pt idx="13">
                  <c:v>99.80175</c:v>
                </c:pt>
                <c:pt idx="14">
                  <c:v>100.665485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15"/>
          <c:min val="85"/>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코어</c:v>
          </c:tx>
          <c:spPr>
            <a:solidFill xmlns:a="http://schemas.openxmlformats.org/drawingml/2006/main">
              <a:srgbClr val="487CA5"/>
            </a:solidFill>
          </c:spPr>
          <c:marker>
            <c:symbol val="circle"/>
            <c:size val="9"/>
          </c:marker>
          <c:xVal>
            <c:numRef>
              <c:f>'Chart Data'!$A$2:$A$10</c:f>
              <c:numCache>
                <c:formatCode>General</c:formatCode>
                <c:ptCount val="9"/>
                <c:pt idx="0">
                  <c:v>204632</c:v>
                </c:pt>
                <c:pt idx="1">
                  <c:v>204533</c:v>
                </c:pt>
                <c:pt idx="2">
                  <c:v>205089</c:v>
                </c:pt>
                <c:pt idx="3">
                  <c:v>205403</c:v>
                </c:pt>
                <c:pt idx="4">
                  <c:v>205156</c:v>
                </c:pt>
                <c:pt idx="5">
                  <c:v>204907</c:v>
                </c:pt>
                <c:pt idx="6">
                  <c:v>204784</c:v>
                </c:pt>
                <c:pt idx="7">
                  <c:v>205004</c:v>
                </c:pt>
                <c:pt idx="8">
                  <c:v>204642</c:v>
                </c:pt>
              </c:numCache>
            </c:numRef>
          </c:xVal>
          <c:yVal>
            <c:numRef>
              <c:f>'Chart Data'!$B$2:$B$10</c:f>
              <c:numCache>
                <c:formatCode>0</c:formatCode>
                <c:ptCount val="9"/>
                <c:pt idx="0">
                  <c:v>454773</c:v>
                </c:pt>
                <c:pt idx="1">
                  <c:v>454605</c:v>
                </c:pt>
                <c:pt idx="2">
                  <c:v>454430</c:v>
                </c:pt>
                <c:pt idx="3">
                  <c:v>455074</c:v>
                </c:pt>
                <c:pt idx="4">
                  <c:v>454641</c:v>
                </c:pt>
                <c:pt idx="5">
                  <c:v>454615</c:v>
                </c:pt>
                <c:pt idx="6">
                  <c:v>454008</c:v>
                </c:pt>
                <c:pt idx="7">
                  <c:v>454831</c:v>
                </c:pt>
                <c:pt idx="8">
                  <c:v>454283</c:v>
                </c:pt>
              </c:numCache>
            </c:numRef>
          </c:yVal>
        </c:ser>
        <c:ser>
          <c:idx val="1"/>
          <c:order val="1"/>
          <c:tx>
            <c:v>참여</c:v>
          </c:tx>
          <c:spPr>
            <a:solidFill xmlns:a="http://schemas.openxmlformats.org/drawingml/2006/main">
              <a:srgbClr val="B59369"/>
            </a:solidFill>
          </c:spPr>
          <c:marker>
            <c:symbol val="circle"/>
            <c:size val="9"/>
          </c:marker>
          <c:xVal>
            <c:numRef>
              <c:f>'Chart Data'!$C$2:$C$8</c:f>
              <c:numCache>
                <c:formatCode>General</c:formatCode>
                <c:ptCount val="7"/>
                <c:pt idx="0">
                  <c:v>204987</c:v>
                </c:pt>
                <c:pt idx="1">
                  <c:v>205315</c:v>
                </c:pt>
                <c:pt idx="2">
                  <c:v>205611</c:v>
                </c:pt>
                <c:pt idx="3">
                  <c:v>205838</c:v>
                </c:pt>
                <c:pt idx="4">
                  <c:v>204615</c:v>
                </c:pt>
                <c:pt idx="5">
                  <c:v>204828</c:v>
                </c:pt>
                <c:pt idx="6">
                  <c:v>205428</c:v>
                </c:pt>
              </c:numCache>
            </c:numRef>
          </c:xVal>
          <c:yVal>
            <c:numRef>
              <c:f>'Chart Data'!$D$2:$D$8</c:f>
              <c:numCache>
                <c:formatCode>0</c:formatCode>
                <c:ptCount val="7"/>
                <c:pt idx="0">
                  <c:v>455329</c:v>
                </c:pt>
                <c:pt idx="1">
                  <c:v>454241</c:v>
                </c:pt>
                <c:pt idx="2">
                  <c:v>454967</c:v>
                </c:pt>
                <c:pt idx="3">
                  <c:v>455017</c:v>
                </c:pt>
                <c:pt idx="4">
                  <c:v>453829</c:v>
                </c:pt>
                <c:pt idx="5">
                  <c:v>453365</c:v>
                </c:pt>
                <c:pt idx="6">
                  <c:v>454564</c:v>
                </c:pt>
              </c:numCache>
            </c:numRef>
          </c:yVal>
        </c:ser>
        <c:ser>
          <c:idx val="2"/>
          <c:order val="2"/>
          <c:tx>
            <c:v>연계</c:v>
          </c:tx>
          <c:spPr>
            <a:solidFill xmlns:a="http://schemas.openxmlformats.org/drawingml/2006/main">
              <a:srgbClr val="C9C9C6"/>
            </a:solidFill>
          </c:spPr>
          <c:marker>
            <c:symbol val="circle"/>
            <c:size val="9"/>
          </c:marker>
          <c:xVal>
            <c:numRef>
              <c:f>'Chart Data'!$E$2:$E$8</c:f>
              <c:numCache>
                <c:formatCode>General</c:formatCode>
                <c:ptCount val="7"/>
                <c:pt idx="0">
                  <c:v>204223</c:v>
                </c:pt>
                <c:pt idx="1">
                  <c:v>205511</c:v>
                </c:pt>
                <c:pt idx="2">
                  <c:v>205012</c:v>
                </c:pt>
                <c:pt idx="3">
                  <c:v>205156</c:v>
                </c:pt>
                <c:pt idx="4">
                  <c:v>204076</c:v>
                </c:pt>
                <c:pt idx="5">
                  <c:v>204193</c:v>
                </c:pt>
                <c:pt idx="6">
                  <c:v>204578</c:v>
                </c:pt>
              </c:numCache>
            </c:numRef>
          </c:xVal>
          <c:yVal>
            <c:numRef>
              <c:f>'Chart Data'!$F$2:$F$8</c:f>
              <c:numCache>
                <c:formatCode>0</c:formatCode>
                <c:ptCount val="7"/>
                <c:pt idx="0">
                  <c:v>453496</c:v>
                </c:pt>
                <c:pt idx="1">
                  <c:v>456109</c:v>
                </c:pt>
                <c:pt idx="2">
                  <c:v>453131</c:v>
                </c:pt>
                <c:pt idx="3">
                  <c:v>453263</c:v>
                </c:pt>
                <c:pt idx="4">
                  <c:v>452936</c:v>
                </c:pt>
                <c:pt idx="5">
                  <c:v>453064</c:v>
                </c:pt>
                <c:pt idx="6">
                  <c:v>453280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valAx>
      <c:val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상대 도달 지수 R</c:v>
          </c:tx>
          <c:spPr>
            <a:ln xmlns:a="http://schemas.openxmlformats.org/drawingml/2006/main" w="28575">
              <a:solidFill>
                <a:srgbClr val="487CA5"/>
              </a:solidFill>
            </a:ln>
          </c:spPr>
          <c:marker>
            <c:symbol val="none"/>
          </c:marker>
          <c:cat>
            <c:strRef>
              <c:f>'Chart Data'!$A$2:$A$7</c:f>
              <c:strCache>
                <c:ptCount val="6"/>
                <c:pt idx="0">
                  <c:v>0</c:v>
                </c:pt>
                <c:pt idx="1">
                  <c:v>200</c:v>
                </c:pt>
                <c:pt idx="2">
                  <c:v>400</c:v>
                </c:pt>
                <c:pt idx="3">
                  <c:v>600</c:v>
                </c:pt>
                <c:pt idx="4">
                  <c:v>800</c:v>
                </c:pt>
                <c:pt idx="5">
                  <c:v>1,000</c:v>
                </c:pt>
              </c:strCache>
            </c:strRef>
          </c:cat>
          <c:val>
            <c:numRef>
              <c:f>'Chart Data'!$B$2:$B$7</c:f>
              <c:numCache>
                <c:formatCode>0.00</c:formatCode>
                <c:ptCount val="6"/>
                <c:pt idx="0">
                  <c:v>1</c:v>
                </c:pt>
                <c:pt idx="1">
                  <c:v>0.78836</c:v>
                </c:pt>
                <c:pt idx="2">
                  <c:v>0.621512</c:v>
                </c:pt>
                <c:pt idx="3">
                  <c:v>0.489975</c:v>
                </c:pt>
                <c:pt idx="4">
                  <c:v>0.386277</c:v>
                </c:pt>
                <c:pt idx="5">
                  <c:v>0.304526</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거리 (m)</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상대 도달 지수 R</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기존</c:v>
          </c:tx>
          <c:spPr>
            <a:solidFill xmlns:a="http://schemas.openxmlformats.org/drawingml/2006/main">
              <a:srgbClr val="D9D9D6"/>
            </a:solidFill>
          </c:spPr>
          <c:cat>
            <c:strRef>
              <c:f>'Chart Data'!$A$2:$A$5</c:f>
              <c:strCache>
                <c:ptCount val="4"/>
                <c:pt idx="0">
                  <c:v>시립대앞사거리</c:v>
                </c:pt>
                <c:pt idx="1">
                  <c:v>회기역 1번</c:v>
                </c:pt>
                <c:pt idx="2">
                  <c:v>시조사삼거리</c:v>
                </c:pt>
                <c:pt idx="3">
                  <c:v>이경시장</c:v>
                </c:pt>
              </c:strCache>
            </c:strRef>
          </c:cat>
          <c:val>
            <c:numRef>
              <c:f>'Chart Data'!$B$2:$B$5</c:f>
              <c:numCache>
                <c:formatCode>0</c:formatCode>
                <c:ptCount val="4"/>
                <c:pt idx="0">
                  <c:v>3</c:v>
                </c:pt>
                <c:pt idx="1">
                  <c:v>2</c:v>
                </c:pt>
                <c:pt idx="2">
                  <c:v>2</c:v>
                </c:pt>
                <c:pt idx="3">
                  <c:v>3</c:v>
                </c:pt>
              </c:numCache>
            </c:numRef>
          </c:val>
        </c:ser>
        <c:ser>
          <c:idx val="1"/>
          <c:order val="1"/>
          <c:tx>
            <c:v>최종</c:v>
          </c:tx>
          <c:spPr>
            <a:solidFill xmlns:a="http://schemas.openxmlformats.org/drawingml/2006/main">
              <a:srgbClr val="487CA5"/>
            </a:solidFill>
          </c:spPr>
          <c:cat>
            <c:strRef>
              <c:f>'Chart Data'!$C$2:$C$5</c:f>
              <c:strCache>
                <c:ptCount val="4"/>
                <c:pt idx="0">
                  <c:v>시립대앞사거리</c:v>
                </c:pt>
                <c:pt idx="1">
                  <c:v>회기역 1번</c:v>
                </c:pt>
                <c:pt idx="2">
                  <c:v>시조사삼거리</c:v>
                </c:pt>
                <c:pt idx="3">
                  <c:v>이경시장</c:v>
                </c:pt>
              </c:strCache>
            </c:strRef>
          </c:cat>
          <c:val>
            <c:numRef>
              <c:f>'Chart Data'!$D$2:$D$5</c:f>
              <c:numCache>
                <c:formatCode>0</c:formatCode>
                <c:ptCount val="4"/>
                <c:pt idx="0">
                  <c:v>6</c:v>
                </c:pt>
                <c:pt idx="1">
                  <c:v>6</c:v>
                </c:pt>
                <c:pt idx="2">
                  <c:v>6</c:v>
                </c:pt>
                <c:pt idx="3">
                  <c:v>3</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7"/>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소외도 상위 5곳</c:v>
          </c:tx>
          <c:spPr>
            <a:solidFill xmlns:a="http://schemas.openxmlformats.org/drawingml/2006/main">
              <a:srgbClr val="487CA5"/>
            </a:solidFill>
          </c:spPr>
          <c:cat>
            <c:strRef>
              <c:f>'Chart Data'!$A$2:$A$3</c:f>
              <c:strCache>
                <c:ptCount val="2"/>
                <c:pt idx="0">
                  <c:v>기존 배정</c:v>
                </c:pt>
                <c:pt idx="1">
                  <c:v>최종 배정</c:v>
                </c:pt>
              </c:strCache>
            </c:strRef>
          </c:cat>
          <c:val>
            <c:numRef>
              <c:f>'Chart Data'!$B$2:$B$3</c:f>
              <c:numCache>
                <c:formatCode>0</c:formatCode>
                <c:ptCount val="2"/>
                <c:pt idx="0">
                  <c:v>13</c:v>
                </c:pt>
                <c:pt idx="1">
                  <c:v>27</c:v>
                </c:pt>
              </c:numCache>
            </c:numRef>
          </c:val>
        </c:ser>
        <c:ser>
          <c:idx val="1"/>
          <c:order val="1"/>
          <c:tx>
            <c:v>나머지 대상 11곳</c:v>
          </c:tx>
          <c:spPr>
            <a:solidFill xmlns:a="http://schemas.openxmlformats.org/drawingml/2006/main">
              <a:srgbClr val="CBCBC7"/>
            </a:solidFill>
          </c:spPr>
          <c:cat>
            <c:strRef>
              <c:f>'Chart Data'!$C$2:$C$3</c:f>
              <c:strCache>
                <c:ptCount val="2"/>
                <c:pt idx="0">
                  <c:v>기존 배정</c:v>
                </c:pt>
                <c:pt idx="1">
                  <c:v>최종 배정</c:v>
                </c:pt>
              </c:strCache>
            </c:strRef>
          </c:cat>
          <c:val>
            <c:numRef>
              <c:f>'Chart Data'!$D$2:$D$3</c:f>
              <c:numCache>
                <c:formatCode>0</c:formatCode>
                <c:ptCount val="2"/>
                <c:pt idx="0">
                  <c:v>37</c:v>
                </c:pt>
                <c:pt idx="1">
                  <c:v>33</c:v>
                </c:pt>
              </c:numCache>
            </c:numRef>
          </c:val>
        </c:ser>
        <c:ser>
          <c:idx val="2"/>
          <c:order val="2"/>
          <c:tx>
            <c:v>연계 7곳</c:v>
          </c:tx>
          <c:spPr>
            <a:solidFill xmlns:a="http://schemas.openxmlformats.org/drawingml/2006/main">
              <a:srgbClr val="EAEAE7"/>
            </a:solidFill>
          </c:spPr>
          <c:dLbls>
            <c:dLbl>
              <c:idx val="1"/>
              <c:showLegendKey val="0"/>
              <c:showVal val="0"/>
              <c:showCatName val="0"/>
              <c:showSerName val="0"/>
              <c:showPercent val="0"/>
              <c:showBubbleSize val="0"/>
            </c:dLbl>
          </c:dLbls>
          <c:cat>
            <c:strRef>
              <c:f>'Chart Data'!$E$2:$E$3</c:f>
              <c:strCache>
                <c:ptCount val="2"/>
                <c:pt idx="0">
                  <c:v>기존 배정</c:v>
                </c:pt>
                <c:pt idx="1">
                  <c:v>최종 배정</c:v>
                </c:pt>
              </c:strCache>
            </c:strRef>
          </c:cat>
          <c:val>
            <c:numRef>
              <c:f>'Chart Data'!$F$2:$F$3</c:f>
              <c:numCache>
                <c:formatCode>0</c:formatCode>
                <c:ptCount val="2"/>
                <c:pt idx="0">
                  <c:v>10</c:v>
                </c:pt>
                <c:pt idx="1">
                  <c:v>0</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ctr"/>
          <c:showLegendKey val="0"/>
          <c:showVal val="1"/>
          <c:showCatName val="0"/>
          <c:showSerName val="0"/>
          <c:showPercent val="0"/>
          <c:showBubbleSize val="0"/>
          <c:showLeaderLines val="0"/>
        </c:dLbls>
        <c:overlap val="10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6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평균 절대 Shapley 비중 (%)</c:v>
          </c:tx>
          <c:spPr>
            <a:solidFill xmlns:a="http://schemas.openxmlformats.org/drawingml/2006/main">
              <a:srgbClr val="487CA5"/>
            </a:solidFill>
          </c:spPr>
          <c:cat>
            <c:strRef>
              <c:f>'Chart Data'!$A$2:$A$4</c:f>
              <c:strCache>
                <c:ptCount val="3"/>
                <c:pt idx="0">
                  <c:v>D 하락</c:v>
                </c:pt>
                <c:pt idx="1">
                  <c:v>L 저활력</c:v>
                </c:pt>
                <c:pt idx="2">
                  <c:v>R 도달</c:v>
                </c:pt>
              </c:strCache>
            </c:strRef>
          </c:cat>
          <c:val>
            <c:numRef>
              <c:f>'Chart Data'!$B$2:$B$4</c:f>
              <c:numCache>
                <c:formatCode>0</c:formatCode>
                <c:ptCount val="3"/>
                <c:pt idx="0">
                  <c:v>41.5</c:v>
                </c:pt>
                <c:pt idx="1">
                  <c:v>41.6</c:v>
                </c:pt>
                <c:pt idx="2">
                  <c:v>16.9</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5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FD18A803-AC0E-4700-BCE8-78FD158AC371}"/>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7FB7D0-D39F-4D0D-B2AA-F2DA1BC419E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0572FC-AC49-415D-BF89-1510C061F08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EB3F9B1C-0E21-45E5-B9E5-FAC65E268F3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6D8937AB-2D8B-4064-9ECE-518413897BBA}"/>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9ED4D0B-3B83-4EDA-851E-0E62A5FCA8EA}"/>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7C6D1F54-62F5-4042-AD0D-E93E9C83B6F5}"/>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0948D2CF-3CE2-4AF4-8EFD-5CA21FDC9CFB}"/>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ECA0F51B-2217-4004-AD46-E81468B1F249}"/>
              </a:ext>
            </a:extLst>
          </p:cNvPr>
          <p:cNvSpPr>
            <a:spLocks xmlns:a="http://schemas.openxmlformats.org/drawingml/2006/main" noGrp="1"/>
          </p:cNvSpPr>
          <p:nvPr/>
        </p:nvSpPr>
        <p:spPr>
          <a:xfrm xmlns:a="http://schemas.openxmlformats.org/drawingml/2006/main">
            <a:off x="95250" y="29622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BB6F711-CFA6-41DD-B12F-821BD097F4E4}"/>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1" name="">
            <a:extLst xmlns:a="http://schemas.openxmlformats.org/drawingml/2006/main">
              <a:ext uri="{FF2B5EF4-FFF2-40B4-BE49-F238E27FC236}">
                <a16:creationId xmlns:a16="http://schemas.microsoft.com/office/drawing/2014/main" id="{B2A182E8-20B1-445F-8F1C-FD56503D37A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BEFC9DA-138B-4E8D-8A63-3BA69C090940}"/>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5E39C6-7134-4B76-A41C-E1C6B0009B1C}"/>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4428D4-7E43-4DFA-BE1B-3CB395A67FBA}"/>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프로젝트 개요</a:t>
            </a:r>
          </a:p>
        </p:txBody>
      </p:sp>
      <p:sp>
        <p:nvSpPr>
          <p:cNvPr id="15" name="">
            <a:extLst xmlns:a="http://schemas.openxmlformats.org/drawingml/2006/main">
              <a:ext uri="{FF2B5EF4-FFF2-40B4-BE49-F238E27FC236}">
                <a16:creationId xmlns:a16="http://schemas.microsoft.com/office/drawing/2014/main" id="{BCF27445-85FC-44B5-9F08-C7192559BB1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000E1E32-9402-47D4-B548-F0F3ED3F4802}"/>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5E9255-48EB-4B3D-A6AD-CED36167BF44}"/>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CCF7E5D-ABA5-4C11-8248-EAE95A55136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DA114B-3D0D-4852-9DB2-36E7559F9B69}"/>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08F3376C-10EC-4E35-90B2-DDC700AB6CCE}"/>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28B38C4B-ED10-44AA-8438-28F3875048E4}"/>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E5C2AD-D90F-4F70-A48F-752CBA6E1B36}"/>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3405CAB-876B-4E8E-81A4-3B7799A7ACB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0063A19-1C76-4887-BD88-D006B3C2A03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AD30A952-D6C7-4F90-BECF-3FA5428B6510}"/>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0CB1BF31-CD63-460A-BB4B-7923ADE5DC9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82576CA-CD3C-4CB1-9CAD-48B17BABB80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9CCCBB4-C27D-4270-BB95-B3450BF35CCF}"/>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4B7CA75-C961-47F0-8011-10E84A9A7B55}"/>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54A3918B-5FCB-4C28-8A04-6C40FA46CDBF}"/>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9D3D6B04-2B25-4D78-A777-85AC8511C3E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AA952DA-AEAD-4781-8824-1B9C3BDC4B9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8C96E4F-25F1-4C1A-98CE-081EABEF15BF}"/>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4BBC71B-3D72-46E4-A099-9415042EBE5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1B71F64D-B67F-4079-9B4D-F194D629DE52}"/>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CCD164E2-6F48-41E8-AF5E-273F5F72ED02}"/>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EAA839E-1CA1-4429-8BFE-49AECD7E3BE6}"/>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03DB07E-12C3-4E3D-876A-49979F9114B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F67C3AD-189F-4962-8278-96EEEAF8260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BFDA392-AF26-4350-B29F-AE914394D05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4B588DC8-FA20-4B7B-9716-BEE6638D199D}"/>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F80D9AC-4D38-4D4B-B83F-3224E0E5965C}"/>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2828F17-47A0-486A-A8F0-19AF4276F53B}"/>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0761C08-BA57-4150-BC6E-C660838C7AC7}"/>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E34691F7-1E91-4E84-BCF8-7C40D0673D7C}"/>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AD7E2A6-2534-41AC-978E-1DCEF80C0ECA}"/>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9689B3A-10BA-4F40-8824-6A468F8B9A5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52314EE-17F5-4066-9031-CF7CE14E3549}"/>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01820E1-B13F-400B-897F-3FD3C4B7F9CE}"/>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E917FA9A-16DA-48D7-AFA5-598E1D659679}"/>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6406865E-4D33-454F-9037-C55C0120DF8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F16AF49A-C0D1-46B3-A041-86012E6B8191}"/>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TROIKA 스탬프 배정안</a:t>
            </a:r>
          </a:p>
        </p:txBody>
      </p:sp>
      <p:sp>
        <p:nvSpPr>
          <p:cNvPr id="53" name="">
            <a:extLst xmlns:a="http://schemas.openxmlformats.org/drawingml/2006/main">
              <a:ext uri="{FF2B5EF4-FFF2-40B4-BE49-F238E27FC236}">
                <a16:creationId xmlns:a16="http://schemas.microsoft.com/office/drawing/2014/main" id="{0B543A69-C463-406F-B067-8654ED15EB55}"/>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DFBA30B-D18B-4D67-A037-BF3673DD3A1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966A9E13-FD99-4FE1-B692-57D39621995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B86AA01-CEC5-4591-AB24-C3534A11CC71}"/>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0CBC2DD-5B85-49BC-93C0-3CF8CCE0257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9BD91B29-0A28-4F15-A602-8702686C0468}"/>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TROIKA 스탬프 배정안</a:t>
            </a:r>
          </a:p>
        </p:txBody>
      </p:sp>
      <p:sp>
        <p:nvSpPr>
          <p:cNvPr id="59" name="">
            <a:extLst xmlns:a="http://schemas.openxmlformats.org/drawingml/2006/main">
              <a:ext uri="{FF2B5EF4-FFF2-40B4-BE49-F238E27FC236}">
                <a16:creationId xmlns:a16="http://schemas.microsoft.com/office/drawing/2014/main" id="{089503BD-40FA-4F72-A3C0-94BF55026E91}"/>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서울시 상권 자료 기반 정책제안</a:t>
            </a:r>
          </a:p>
        </p:txBody>
      </p:sp>
      <p:sp>
        <p:nvSpPr>
          <p:cNvPr id="60" name="">
            <a:extLst xmlns:a="http://schemas.openxmlformats.org/drawingml/2006/main">
              <a:ext uri="{FF2B5EF4-FFF2-40B4-BE49-F238E27FC236}">
                <a16:creationId xmlns:a16="http://schemas.microsoft.com/office/drawing/2014/main" id="{353A458C-CC34-41E9-828E-723BC041F15A}"/>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3A4F193-526A-4D0F-A28D-6275A5580F78}"/>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01 / 11</a:t>
            </a:r>
          </a:p>
        </p:txBody>
      </p:sp>
      <p:sp>
        <p:nvSpPr>
          <p:cNvPr id="62" name="">
            <a:extLst xmlns:a="http://schemas.openxmlformats.org/drawingml/2006/main">
              <a:ext uri="{FF2B5EF4-FFF2-40B4-BE49-F238E27FC236}">
                <a16:creationId xmlns:a16="http://schemas.microsoft.com/office/drawing/2014/main" id="{7E05D064-0898-4E1D-8267-FF246E6DAE6C}"/>
              </a:ext>
            </a:extLst>
          </p:cNvPr>
          <p:cNvSpPr>
            <a:spLocks xmlns:a="http://schemas.openxmlformats.org/drawingml/2006/main" noGrp="1"/>
          </p:cNvSpPr>
          <p:nvPr/>
        </p:nvSpPr>
        <p:spPr>
          <a:xfrm xmlns:a="http://schemas.openxmlformats.org/drawingml/2006/main">
            <a:off x="3048000" y="3419475"/>
            <a:ext cx="1123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회기·이문·전농 상권을 잇는</a:t>
            </a:r>
          </a:p>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스탬프 모집 배정</a:t>
            </a:r>
          </a:p>
        </p:txBody>
      </p:sp>
      <p:sp>
        <p:nvSpPr>
          <p:cNvPr id="63" name="">
            <a:extLst xmlns:a="http://schemas.openxmlformats.org/drawingml/2006/main">
              <a:ext uri="{FF2B5EF4-FFF2-40B4-BE49-F238E27FC236}">
                <a16:creationId xmlns:a16="http://schemas.microsoft.com/office/drawing/2014/main" id="{6C4DF1EF-1C6F-4633-836E-815887392C6A}"/>
              </a:ext>
            </a:extLst>
          </p:cNvPr>
          <p:cNvSpPr>
            <a:spLocks xmlns:a="http://schemas.openxmlformats.org/drawingml/2006/main" noGrp="1"/>
          </p:cNvSpPr>
          <p:nvPr/>
        </p:nvSpPr>
        <p:spPr>
          <a:xfrm xmlns:a="http://schemas.openxmlformats.org/drawingml/2006/main">
            <a:off x="3048000" y="5038725"/>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16개 상권</a:t>
            </a:r>
          </a:p>
        </p:txBody>
      </p:sp>
      <p:sp>
        <p:nvSpPr>
          <p:cNvPr id="64" name="">
            <a:extLst xmlns:a="http://schemas.openxmlformats.org/drawingml/2006/main">
              <a:ext uri="{FF2B5EF4-FFF2-40B4-BE49-F238E27FC236}">
                <a16:creationId xmlns:a16="http://schemas.microsoft.com/office/drawing/2014/main" id="{58753BA6-9CDA-413D-99BB-49BB8FE118EC}"/>
              </a:ext>
            </a:extLst>
          </p:cNvPr>
          <p:cNvSpPr>
            <a:spLocks xmlns:a="http://schemas.openxmlformats.org/drawingml/2006/main" noGrp="1"/>
          </p:cNvSpPr>
          <p:nvPr/>
        </p:nvSpPr>
        <p:spPr>
          <a:xfrm xmlns:a="http://schemas.openxmlformats.org/drawingml/2006/main">
            <a:off x="8934450" y="5038725"/>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60개 배정</a:t>
            </a:r>
          </a:p>
        </p:txBody>
      </p:sp>
      <p:sp>
        <p:nvSpPr>
          <p:cNvPr id="65" name="">
            <a:extLst xmlns:a="http://schemas.openxmlformats.org/drawingml/2006/main">
              <a:ext uri="{FF2B5EF4-FFF2-40B4-BE49-F238E27FC236}">
                <a16:creationId xmlns:a16="http://schemas.microsoft.com/office/drawing/2014/main" id="{EBFD82D7-8FB9-4FEB-80D3-4CC772A0CA30}"/>
              </a:ext>
            </a:extLst>
          </p:cNvPr>
          <p:cNvSpPr>
            <a:spLocks xmlns:a="http://schemas.openxmlformats.org/drawingml/2006/main" noGrp="1"/>
          </p:cNvSpPr>
          <p:nvPr/>
        </p:nvSpPr>
        <p:spPr>
          <a:xfrm xmlns:a="http://schemas.openxmlformats.org/drawingml/2006/main">
            <a:off x="3048000" y="6543675"/>
            <a:ext cx="11506200" cy="790575"/>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A744A596-7D74-4F58-A763-28EF0FA6DE92}"/>
              </a:ext>
            </a:extLst>
          </p:cNvPr>
          <p:cNvSpPr>
            <a:spLocks xmlns:a="http://schemas.openxmlformats.org/drawingml/2006/main" noGrp="1"/>
          </p:cNvSpPr>
          <p:nvPr/>
        </p:nvSpPr>
        <p:spPr>
          <a:xfrm xmlns:a="http://schemas.openxmlformats.org/drawingml/2006/main">
            <a:off x="3238500" y="6667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52C82466-01BA-4FCE-A048-11246B06E3B3}"/>
              </a:ext>
            </a:extLst>
          </p:cNvPr>
          <p:cNvSpPr>
            <a:spLocks xmlns:a="http://schemas.openxmlformats.org/drawingml/2006/main" noGrp="1"/>
          </p:cNvSpPr>
          <p:nvPr/>
        </p:nvSpPr>
        <p:spPr>
          <a:xfrm xmlns:a="http://schemas.openxmlformats.org/drawingml/2006/main">
            <a:off x="3714750" y="66579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지원 필요도가 높은 상권으로 방문을 연결하는 시범 운영 제안</a:t>
            </a:r>
          </a:p>
        </p:txBody>
      </p:sp>
      <p:sp>
        <p:nvSpPr>
          <p:cNvPr id="68" name="">
            <a:extLst xmlns:a="http://schemas.openxmlformats.org/drawingml/2006/main">
              <a:ext uri="{FF2B5EF4-FFF2-40B4-BE49-F238E27FC236}">
                <a16:creationId xmlns:a16="http://schemas.microsoft.com/office/drawing/2014/main" id="{EE050CBE-B308-4150-8925-17B3AD827ECF}"/>
              </a:ext>
            </a:extLst>
          </p:cNvPr>
          <p:cNvSpPr>
            <a:spLocks xmlns:a="http://schemas.openxmlformats.org/drawingml/2006/main" noGrp="1"/>
          </p:cNvSpPr>
          <p:nvPr/>
        </p:nvSpPr>
        <p:spPr>
          <a:xfrm xmlns:a="http://schemas.openxmlformats.org/drawingml/2006/main">
            <a:off x="3048000" y="77438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787774"/>
                </a:solidFill>
                <a:latin typeface="Malgun Gothic"/>
                <a:ea typeface="Malgun Gothic"/>
                <a:cs typeface="Malgun Gothic"/>
              </a:defRPr>
            </a:pPr>
            <a:r>
              <a:rPr sz="1500" b="0">
                <a:solidFill>
                  <a:srgbClr val="787774"/>
                </a:solidFill>
                <a:latin typeface="Malgun Gothic"/>
                <a:ea typeface="Malgun Gothic"/>
                <a:cs typeface="Malgun Gothic"/>
              </a:rPr>
              <a:t>TROIKA  ·  2026.09</a:t>
            </a:r>
          </a:p>
        </p:txBody>
      </p:sp>
    </p:spTree>
    <p:extLst>
      <p:ext uri="{BB962C8B-B14F-4D97-AF65-F5344CB8AC3E}">
        <p14:creationId xmlns:p14="http://schemas.microsoft.com/office/powerpoint/2010/main" val="6191127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6A9128AF-3D5D-40A5-9503-62547DE3022E}"/>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9C1A80-0C1B-43D6-ABFC-5FA2F43D25D2}"/>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D70E44-4C39-484D-A7BF-AEF78F9CFE25}"/>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FFB1B240-8EB3-4366-B68B-5E18F635C38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FC98253-DD3B-454B-89B6-BB2C7598092D}"/>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03FB64F-BC16-4093-B1B4-621BFC141E3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1E4C950B-C98B-4531-A835-B21EA576FC3F}"/>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F8E33C0-AE27-47DC-ABB3-41F18C04D8B2}"/>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206E5378-D107-45EC-9C48-B814D131737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07CDCE2-C6AD-40A2-A870-82094545438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EB39709-A910-4514-8D80-91A0B40614CC}"/>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2FAD4B-510E-4AD1-91F8-9B34F3C2AE58}"/>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D2B566-F28C-409C-8F65-77EE125EBCA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B7FDEC14-4069-4B5E-B67F-63BCAF9E1B32}"/>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5209BA-2DDF-4265-812B-CEB7AACD4A2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5128F4BB-9F59-4DCD-8BE4-5C2BB5BABA14}"/>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7AC9017-D470-4E64-96D3-875D5B7DB50D}"/>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EB0EB92-CBDC-41D1-BC90-7DCCCAD2585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2C34EA7-79EF-40C0-BC7A-B70924430DB4}"/>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B49B77B1-1D46-49BD-87B7-4D710E7A6347}"/>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38873856-944E-4406-B6D9-3D113C8A4C93}"/>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3C61E2A-223B-4686-B3CE-EA70430F7473}"/>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7C5E63B-4720-4B19-8441-8CF5B60AC08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F737042-BBD7-4665-B3CF-8217203ED4FF}"/>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8880829C-2EAE-46F4-A5BA-27FE2F6A110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4AA5205F-478F-4582-B856-A87B2DF46BD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E6BF93D-D632-4B7F-B4A3-C83C50828C1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254ECD5-BB04-4AC4-8AD5-730C1DD05BDD}"/>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5A91029-0647-42E4-B47C-EA14F093FE40}"/>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2D791EFB-F305-4B23-9DAF-3AAC0584F13F}"/>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2CAD20E2-E21D-4208-89E2-E0878771C294}"/>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FD250A9-343D-4FCF-AD3D-604568F6697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4E7EDF0-849D-4322-8D2F-61A79DA6D4D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9181966-9ABE-4B1A-9635-183CF5484E8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65279299-FE76-45B5-BBE8-E2D47BCA0F22}"/>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24DEBD05-B810-45D9-A80D-7957EA21542F}"/>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5FD42F0-F04B-406C-97A2-2346B6C99CAC}"/>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F344DE1-9C8B-4B45-90CD-458305D6039A}"/>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3DDE9D9-8D78-4A04-9027-68C1DD448CD3}"/>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6CDD5D91-A687-435E-9696-55BCC6AC76F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32DD0426-0CAD-4E43-B043-A91C06DF8269}"/>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7915C4D-BC26-4299-AD12-078CFAD9F7FC}"/>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31FEAF7-7A8F-4B15-A4A0-A11812FEED02}"/>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956E199-D738-49DC-920B-05B168DB713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5EA84FF9-D352-46A7-B10F-B2DC877866B6}"/>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553D0599-6792-4810-8022-4A39073C1E1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86C8B4A-2038-4F8D-ABE6-86215AEC8A93}"/>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717903D-0AB3-4BDF-8742-B7B0463648F4}"/>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9FFC505-92B8-4ACC-899C-F6B73C66926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3D41210D-F7C8-4DE2-B7BA-2D12D4F710C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6F55231-5EA2-4332-9211-5E5BB6A46CA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7D11483C-8E84-4555-9D95-0B34FE19A1CA}"/>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20대 유동과 추정매출</a:t>
            </a:r>
          </a:p>
        </p:txBody>
      </p:sp>
      <p:sp>
        <p:nvSpPr>
          <p:cNvPr id="53" name="">
            <a:extLst xmlns:a="http://schemas.openxmlformats.org/drawingml/2006/main">
              <a:ext uri="{FF2B5EF4-FFF2-40B4-BE49-F238E27FC236}">
                <a16:creationId xmlns:a16="http://schemas.microsoft.com/office/drawing/2014/main" id="{10AC0724-3F2A-4530-AD35-40E469522C7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D3FD8B2C-96F1-42D1-9EA8-2EBA5A558784}"/>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C10CB769-2472-4DAE-B137-18A00842087D}"/>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955D0DD-79F5-453F-B90F-50C1DE586604}"/>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58825D7-9C8D-4DB4-B9CA-0C7A75BAD6A3}"/>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151CF3F-5988-4AB8-B73A-03540CDE650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20대 유동과 추정매출</a:t>
            </a:r>
          </a:p>
        </p:txBody>
      </p:sp>
      <p:sp>
        <p:nvSpPr>
          <p:cNvPr id="59" name="">
            <a:extLst xmlns:a="http://schemas.openxmlformats.org/drawingml/2006/main">
              <a:ext uri="{FF2B5EF4-FFF2-40B4-BE49-F238E27FC236}">
                <a16:creationId xmlns:a16="http://schemas.microsoft.com/office/drawing/2014/main" id="{7EE0A8C0-46B9-4740-ADA9-F6954BB4FFF2}"/>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9곳의 4분기 이동평균 · 2022년 4분기 = 100</a:t>
            </a:r>
          </a:p>
        </p:txBody>
      </p:sp>
      <p:sp>
        <p:nvSpPr>
          <p:cNvPr id="60" name="">
            <a:extLst xmlns:a="http://schemas.openxmlformats.org/drawingml/2006/main">
              <a:ext uri="{FF2B5EF4-FFF2-40B4-BE49-F238E27FC236}">
                <a16:creationId xmlns:a16="http://schemas.microsoft.com/office/drawing/2014/main" id="{6342B7C8-C735-437A-A5D7-F2926F909D71}"/>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1A4ED96-0C47-4596-B319-DD1C6C56BE45}"/>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02 / 11</a:t>
            </a:r>
          </a:p>
        </p:txBody>
      </p:sp>
      <p:graphicFrame>
        <p:nvGraphicFramePr>
          <p:cNvPr id="132" name="Chart"/>
          <p:cNvGraphicFramePr/>
          <p:nvPr/>
        </p:nvGraphicFramePr>
        <p:xfrm>
          <a:off xmlns:a="http://schemas.openxmlformats.org/drawingml/2006/main" x="3048000" y="3305175"/>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d5fcd70dd5b14334"/>
          </a:graphicData>
        </a:graphic>
      </p:graphicFrame>
      <p:sp>
        <p:nvSpPr>
          <p:cNvPr id="63" name="">
            <a:extLst xmlns:a="http://schemas.openxmlformats.org/drawingml/2006/main">
              <a:ext uri="{FF2B5EF4-FFF2-40B4-BE49-F238E27FC236}">
                <a16:creationId xmlns:a16="http://schemas.microsoft.com/office/drawing/2014/main" id="{8FE0D7A8-5032-4478-8E24-80ECF1E4A88A}"/>
              </a:ext>
            </a:extLst>
          </p:cNvPr>
          <p:cNvSpPr>
            <a:spLocks xmlns:a="http://schemas.openxmlformats.org/drawingml/2006/main" noGrp="1"/>
          </p:cNvSpPr>
          <p:nvPr/>
        </p:nvSpPr>
        <p:spPr>
          <a:xfrm xmlns:a="http://schemas.openxmlformats.org/drawingml/2006/main">
            <a:off x="10572750" y="3352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487CA5"/>
                </a:solidFill>
                <a:latin typeface="Malgun Gothic"/>
                <a:ea typeface="Malgun Gothic"/>
                <a:cs typeface="Malgun Gothic"/>
              </a:defRPr>
            </a:pPr>
            <a:r>
              <a:rPr sz="4650" b="1">
                <a:solidFill>
                  <a:srgbClr val="487CA5"/>
                </a:solidFill>
                <a:latin typeface="Malgun Gothic"/>
                <a:ea typeface="Malgun Gothic"/>
                <a:cs typeface="Malgun Gothic"/>
              </a:rPr>
              <a:t>100.7</a:t>
            </a:r>
          </a:p>
        </p:txBody>
      </p:sp>
      <p:sp>
        <p:nvSpPr>
          <p:cNvPr id="64" name="">
            <a:extLst xmlns:a="http://schemas.openxmlformats.org/drawingml/2006/main">
              <a:ext uri="{FF2B5EF4-FFF2-40B4-BE49-F238E27FC236}">
                <a16:creationId xmlns:a16="http://schemas.microsoft.com/office/drawing/2014/main" id="{391E1CB6-BC02-40D3-AA05-BEF603BFB4B2}"/>
              </a:ext>
            </a:extLst>
          </p:cNvPr>
          <p:cNvSpPr>
            <a:spLocks xmlns:a="http://schemas.openxmlformats.org/drawingml/2006/main" noGrp="1"/>
          </p:cNvSpPr>
          <p:nvPr/>
        </p:nvSpPr>
        <p:spPr>
          <a:xfrm xmlns:a="http://schemas.openxmlformats.org/drawingml/2006/main">
            <a:off x="10572750" y="4162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유동 · 원자료 재현</a:t>
            </a:r>
          </a:p>
        </p:txBody>
      </p:sp>
      <p:sp>
        <p:nvSpPr>
          <p:cNvPr id="65" name="">
            <a:extLst xmlns:a="http://schemas.openxmlformats.org/drawingml/2006/main">
              <a:ext uri="{FF2B5EF4-FFF2-40B4-BE49-F238E27FC236}">
                <a16:creationId xmlns:a16="http://schemas.microsoft.com/office/drawing/2014/main" id="{C2CBE2F5-FF4C-4F11-AACD-596988F03F81}"/>
              </a:ext>
            </a:extLst>
          </p:cNvPr>
          <p:cNvSpPr>
            <a:spLocks xmlns:a="http://schemas.openxmlformats.org/drawingml/2006/main" noGrp="1"/>
          </p:cNvSpPr>
          <p:nvPr/>
        </p:nvSpPr>
        <p:spPr>
          <a:xfrm xmlns:a="http://schemas.openxmlformats.org/drawingml/2006/main">
            <a:off x="10572750" y="48863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37352F"/>
                </a:solidFill>
                <a:latin typeface="Malgun Gothic"/>
                <a:ea typeface="Malgun Gothic"/>
                <a:cs typeface="Malgun Gothic"/>
              </a:defRPr>
            </a:pPr>
            <a:r>
              <a:rPr sz="2925" b="1">
                <a:solidFill>
                  <a:srgbClr val="37352F"/>
                </a:solidFill>
                <a:latin typeface="Malgun Gothic"/>
                <a:ea typeface="Malgun Gothic"/>
                <a:cs typeface="Malgun Gothic"/>
              </a:rPr>
              <a:t>73.4 / 93.0</a:t>
            </a:r>
          </a:p>
        </p:txBody>
      </p:sp>
      <p:sp>
        <p:nvSpPr>
          <p:cNvPr id="66" name="">
            <a:extLst xmlns:a="http://schemas.openxmlformats.org/drawingml/2006/main">
              <a:ext uri="{FF2B5EF4-FFF2-40B4-BE49-F238E27FC236}">
                <a16:creationId xmlns:a16="http://schemas.microsoft.com/office/drawing/2014/main" id="{7FE789F2-FB74-40C4-B09C-4947B4ACC70D}"/>
              </a:ext>
            </a:extLst>
          </p:cNvPr>
          <p:cNvSpPr>
            <a:spLocks xmlns:a="http://schemas.openxmlformats.org/drawingml/2006/main" noGrp="1"/>
          </p:cNvSpPr>
          <p:nvPr/>
        </p:nvSpPr>
        <p:spPr>
          <a:xfrm xmlns:a="http://schemas.openxmlformats.org/drawingml/2006/main">
            <a:off x="10572750" y="5638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 전체 추정매출</a:t>
            </a:r>
          </a:p>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구성안 기록값</a:t>
            </a:r>
          </a:p>
        </p:txBody>
      </p:sp>
      <p:sp>
        <p:nvSpPr>
          <p:cNvPr id="67" name="">
            <a:extLst xmlns:a="http://schemas.openxmlformats.org/drawingml/2006/main">
              <a:ext uri="{FF2B5EF4-FFF2-40B4-BE49-F238E27FC236}">
                <a16:creationId xmlns:a16="http://schemas.microsoft.com/office/drawing/2014/main" id="{F09B4F4A-487C-4924-A9E0-99457803C02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5FEF790C-6BFD-44BD-82B6-BCC1912E489F}"/>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31C8B81C-C078-481C-8388-579CDC672BD3}"/>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방문을 지역 소비로 연결하는 운영 장치를 검토</a:t>
            </a:r>
          </a:p>
        </p:txBody>
      </p:sp>
      <p:sp>
        <p:nvSpPr>
          <p:cNvPr id="70" name="">
            <a:extLst xmlns:a="http://schemas.openxmlformats.org/drawingml/2006/main">
              <a:ext uri="{FF2B5EF4-FFF2-40B4-BE49-F238E27FC236}">
                <a16:creationId xmlns:a16="http://schemas.microsoft.com/office/drawing/2014/main" id="{F0E3D7F0-9C3E-4D6E-9647-6AF273479EAB}"/>
              </a:ext>
            </a:extLst>
          </p:cNvPr>
          <p:cNvSpPr>
            <a:spLocks xmlns:a="http://schemas.openxmlformats.org/drawingml/2006/main" noGrp="1"/>
          </p:cNvSpPr>
          <p:nvPr/>
        </p:nvSpPr>
        <p:spPr>
          <a:xfrm xmlns:a="http://schemas.openxmlformats.org/drawingml/2006/main">
            <a:off x="3048000" y="7829550"/>
            <a:ext cx="11506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매출 CSV는 2025년 1분기 이후만 제공되어 장기 추이는 미복원. 축제 전후 효과 분석이 아님</a:t>
            </a:r>
          </a:p>
        </p:txBody>
      </p:sp>
    </p:spTree>
    <p:extLst>
      <p:ext uri="{BB962C8B-B14F-4D97-AF65-F5344CB8AC3E}">
        <p14:creationId xmlns:p14="http://schemas.microsoft.com/office/powerpoint/2010/main" val="18014117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2C2C62AF-327A-41FE-91DE-DF42E5B16C63}"/>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B1290E-B402-4929-BF40-C75DDA6F7DE6}"/>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B4FB6F-9C1A-414E-AD1D-45374C98947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823B531-F3A0-4E94-9E06-D28FC9817DF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3BCA439-4D94-45D6-8322-BEA55777268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BDE9984-B99F-478D-AA14-6D8968536919}"/>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A853E04B-EF1C-4D80-B7CD-D1604D7ACA96}"/>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FBA1E3B9-E321-4268-BFF8-85BC6437BF69}"/>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3A17917F-06C4-49F4-BE31-1951249F6E3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95AEFE91-B73C-4ED6-A508-CD945CFD753D}"/>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4969A3-6BCC-49D7-B52A-ADA2C0279C53}"/>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B173AF-A438-42C8-8E43-2FBD448D8A3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390A50-4CFD-43E8-B730-28AB4F3439F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CF6234D9-ED0F-4A5F-AD80-1D4EBF369FA4}"/>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48C2F4-2402-4013-8DC9-0987181D1195}"/>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6ED20706-3DC8-402D-BE04-F90FFC25D39D}"/>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F111A50-F199-456F-A115-4456533DA18A}"/>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A401F7A-8423-4E6C-8B06-B2BC767142C5}"/>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7FE2065-92E6-48BD-BB92-6AE8AC748C8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0F80FDDA-3380-4AB8-A320-9061AA0CC368}"/>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8F4F82F7-9A06-4B96-B031-A9B8223EFAB8}"/>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0D23A05-0CFC-4560-81CB-E359BDBB7F9B}"/>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17EFF41-7291-4807-B0FD-F7C32D75534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06D8470-77F8-42CF-A149-DF97A8707431}"/>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F7231F33-D769-455B-88B5-D6883D202F8A}"/>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62F41636-2B35-436A-ABB8-5177A5283EA0}"/>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5089592-B9FF-450B-96BB-0B99AAD8B81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4B62353-7F0B-4F54-885B-89BC4073EFC2}"/>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001F833-EC8F-4570-8713-69DCCC682F6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D0C48FD9-8E95-4071-8166-FAE0EFCDC50E}"/>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18E93F43-8489-40EA-B3CD-ADDB352BC32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A6FEB89-F86E-49A4-AE29-B34491C6142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B60A2C5-4C45-4D7B-8585-7C85DD7B020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2DE2376-2381-4476-8F20-8004F75F0E81}"/>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A1102213-47F2-4A51-82C8-7FA101634796}"/>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B0EBBD62-3B24-4B98-AFD0-8020BC936A0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F5CF572-0BA0-422E-9F46-947873EAFAD5}"/>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4D2434D-93F9-4489-9F4E-9E1CC16E491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0543311-7CE6-4F9A-9F92-4BCD55553BBE}"/>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F42A8056-450B-4335-B2EC-3BDAA077F891}"/>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53B566BA-2C15-4123-9C90-00E78F11FEC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0FE1132-DEC2-4204-ADDD-D8CB8F98F81E}"/>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A1EDB64-B001-4ED9-826B-435E3C1E81F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C394B82-6B8D-4488-A9FE-7CF140B3AFE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0F9581D0-90C4-47C3-97B1-55FE04A969CC}"/>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CF862366-DC2C-4929-AFEC-71FCCA1F3EA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5A18A16-0808-4192-81C5-D46BCC095AA2}"/>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F9071E4-411A-47B6-A354-53ECDEA42471}"/>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A20F4F6-698D-45E9-BB70-C9992463091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CD674DBC-0042-442F-ADBC-A1330F129145}"/>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68793D6E-F4E1-422F-858C-429D2BBE217C}"/>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9160D93-2361-4AB4-B9C0-711128DD435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축제 참여 범위</a:t>
            </a:r>
          </a:p>
        </p:txBody>
      </p:sp>
      <p:sp>
        <p:nvSpPr>
          <p:cNvPr id="53" name="">
            <a:extLst xmlns:a="http://schemas.openxmlformats.org/drawingml/2006/main">
              <a:ext uri="{FF2B5EF4-FFF2-40B4-BE49-F238E27FC236}">
                <a16:creationId xmlns:a16="http://schemas.microsoft.com/office/drawing/2014/main" id="{BA1A628F-D717-481C-85E0-68C4F774470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EB45771-5FAF-407C-8F7E-27AFED408F0C}"/>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99595601-BBD9-4FDE-B493-13313B242433}"/>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5B2C63D-F33D-4405-ABA0-39EB83F982E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10D4AAC-F055-45EF-BA60-30AA9618A1F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FA71BD0-1D30-415C-958A-B6A5FEFABD66}"/>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축제 참여 범위</a:t>
            </a:r>
          </a:p>
        </p:txBody>
      </p:sp>
      <p:sp>
        <p:nvSpPr>
          <p:cNvPr id="59" name="">
            <a:extLst xmlns:a="http://schemas.openxmlformats.org/drawingml/2006/main">
              <a:ext uri="{FF2B5EF4-FFF2-40B4-BE49-F238E27FC236}">
                <a16:creationId xmlns:a16="http://schemas.microsoft.com/office/drawing/2014/main" id="{475A7DF0-50FC-4D74-BDCD-66B76E62574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 + 참여 7곳 = 16곳 · 집계 점포 2,699곳</a:t>
            </a:r>
          </a:p>
        </p:txBody>
      </p:sp>
      <p:sp>
        <p:nvSpPr>
          <p:cNvPr id="60" name="">
            <a:extLst xmlns:a="http://schemas.openxmlformats.org/drawingml/2006/main">
              <a:ext uri="{FF2B5EF4-FFF2-40B4-BE49-F238E27FC236}">
                <a16:creationId xmlns:a16="http://schemas.microsoft.com/office/drawing/2014/main" id="{3B821C2D-5CA9-4266-A756-CA568CC029B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97903B2-B726-4B16-88BD-BCEDD808157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03 / 11</a:t>
            </a:r>
          </a:p>
        </p:txBody>
      </p:sp>
      <p:graphicFrame>
        <p:nvGraphicFramePr>
          <p:cNvPr id="131" name="Chart"/>
          <p:cNvGraphicFramePr/>
          <p:nvPr/>
        </p:nvGraphicFramePr>
        <p:xfrm>
          <a:off xmlns:a="http://schemas.openxmlformats.org/drawingml/2006/main" x="3048000" y="3333750"/>
          <a:ext xmlns:a="http://schemas.openxmlformats.org/drawingml/2006/main" cx="5143500" cy="3486150"/>
        </p:xfrm>
        <a:graphic xmlns:a="http://schemas.openxmlformats.org/drawingml/2006/main">
          <a:graphicData uri="http://schemas.openxmlformats.org/drawingml/2006/chart">
            <c:chart xmlns:r="http://schemas.openxmlformats.org/officeDocument/2006/relationships" xmlns:c="http://schemas.openxmlformats.org/drawingml/2006/chart" r:id="R794d9d671894490d"/>
          </a:graphicData>
        </a:graphic>
      </p:graphicFrame>
      <p:sp>
        <p:nvSpPr>
          <p:cNvPr id="63" name="">
            <a:extLst xmlns:a="http://schemas.openxmlformats.org/drawingml/2006/main">
              <a:ext uri="{FF2B5EF4-FFF2-40B4-BE49-F238E27FC236}">
                <a16:creationId xmlns:a16="http://schemas.microsoft.com/office/drawing/2014/main" id="{D7B48DFE-A0F6-40EA-8AC3-6AE1A68ADB79}"/>
              </a:ext>
            </a:extLst>
          </p:cNvPr>
          <p:cNvSpPr>
            <a:spLocks xmlns:a="http://schemas.openxmlformats.org/drawingml/2006/main" noGrp="1"/>
          </p:cNvSpPr>
          <p:nvPr/>
        </p:nvSpPr>
        <p:spPr>
          <a:xfrm xmlns:a="http://schemas.openxmlformats.org/drawingml/2006/main">
            <a:off x="8667750" y="34956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① 세 대학앞 상권의 볼록껍질</a:t>
            </a:r>
          </a:p>
        </p:txBody>
      </p:sp>
      <p:sp>
        <p:nvSpPr>
          <p:cNvPr id="64" name="">
            <a:extLst xmlns:a="http://schemas.openxmlformats.org/drawingml/2006/main">
              <a:ext uri="{FF2B5EF4-FFF2-40B4-BE49-F238E27FC236}">
                <a16:creationId xmlns:a16="http://schemas.microsoft.com/office/drawing/2014/main" id="{68D9A3E3-357B-4D66-B48D-663B33ACC81F}"/>
              </a:ext>
            </a:extLst>
          </p:cNvPr>
          <p:cNvSpPr>
            <a:spLocks xmlns:a="http://schemas.openxmlformats.org/drawingml/2006/main" noGrp="1"/>
          </p:cNvSpPr>
          <p:nvPr/>
        </p:nvSpPr>
        <p:spPr>
          <a:xfrm xmlns:a="http://schemas.openxmlformats.org/drawingml/2006/main">
            <a:off x="8667750" y="435292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② 외곽으로 300m 버퍼</a:t>
            </a:r>
          </a:p>
        </p:txBody>
      </p:sp>
      <p:sp>
        <p:nvSpPr>
          <p:cNvPr id="65" name="">
            <a:extLst xmlns:a="http://schemas.openxmlformats.org/drawingml/2006/main">
              <a:ext uri="{FF2B5EF4-FFF2-40B4-BE49-F238E27FC236}">
                <a16:creationId xmlns:a16="http://schemas.microsoft.com/office/drawing/2014/main" id="{7AC1092C-DABF-4481-B875-31C4F474752C}"/>
              </a:ext>
            </a:extLst>
          </p:cNvPr>
          <p:cNvSpPr>
            <a:spLocks xmlns:a="http://schemas.openxmlformats.org/drawingml/2006/main" noGrp="1"/>
          </p:cNvSpPr>
          <p:nvPr/>
        </p:nvSpPr>
        <p:spPr>
          <a:xfrm xmlns:a="http://schemas.openxmlformats.org/drawingml/2006/main">
            <a:off x="8667750" y="52101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③ 면적 중첩률 50% 이상 선택</a:t>
            </a:r>
          </a:p>
        </p:txBody>
      </p:sp>
      <p:sp>
        <p:nvSpPr>
          <p:cNvPr id="66" name="">
            <a:extLst xmlns:a="http://schemas.openxmlformats.org/drawingml/2006/main">
              <a:ext uri="{FF2B5EF4-FFF2-40B4-BE49-F238E27FC236}">
                <a16:creationId xmlns:a16="http://schemas.microsoft.com/office/drawing/2014/main" id="{6FBAD11D-15AF-478B-BE58-65BB4D9B9462}"/>
              </a:ext>
            </a:extLst>
          </p:cNvPr>
          <p:cNvSpPr>
            <a:spLocks xmlns:a="http://schemas.openxmlformats.org/drawingml/2006/main" noGrp="1"/>
          </p:cNvSpPr>
          <p:nvPr/>
        </p:nvSpPr>
        <p:spPr>
          <a:xfrm xmlns:a="http://schemas.openxmlformats.org/drawingml/2006/main">
            <a:off x="8667750" y="6067425"/>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왼쪽은 공식 중심점 위치도</a:t>
            </a:r>
          </a:p>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경계·버퍼를 재현한 지도가 아님</a:t>
            </a:r>
          </a:p>
        </p:txBody>
      </p:sp>
      <p:sp>
        <p:nvSpPr>
          <p:cNvPr id="67" name="">
            <a:extLst xmlns:a="http://schemas.openxmlformats.org/drawingml/2006/main">
              <a:ext uri="{FF2B5EF4-FFF2-40B4-BE49-F238E27FC236}">
                <a16:creationId xmlns:a16="http://schemas.microsoft.com/office/drawing/2014/main" id="{14BA48DA-DCD4-4B41-AB87-A27378A66168}"/>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AF7BE1A3-74BC-412E-8F63-484EA295179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BE4B2F1C-AF35-4E6C-8290-BE4409EAA76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연계존 7곳은 스탬프 0개, 교통 연계 검토</a:t>
            </a:r>
          </a:p>
        </p:txBody>
      </p:sp>
    </p:spTree>
    <p:extLst>
      <p:ext uri="{BB962C8B-B14F-4D97-AF65-F5344CB8AC3E}">
        <p14:creationId xmlns:p14="http://schemas.microsoft.com/office/powerpoint/2010/main" val="12348009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98FF778E-64EF-4B4A-84B8-541B50CE69E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C86A9F-2CA5-4E4F-9EB3-CEC06B192228}"/>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C51094-F26C-4565-801B-F8946A157994}"/>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32ED139-FA59-47B8-BC70-9A1F0227DF9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FF3AC381-63CB-4673-88AA-CCDF4E305C45}"/>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4FD3B02-620F-41BB-B98A-1D9724F1C16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EF9B46A7-3AAB-466C-B64B-0675A52BC4F1}"/>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E931CAD2-C06F-4921-8271-0C55F43AD9E0}"/>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84974F79-7D92-453D-84D7-89B8F20B8DF4}"/>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FEDDE0A2-94DB-4BC3-96FC-DAE4AA261943}"/>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DF51CC-3D8F-4C01-9115-984C7D505F57}"/>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68334F0-5482-4AD1-A11A-08825B5B450B}"/>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57FB6A-785B-4DE0-A2C2-70E455165D75}"/>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030CF63-F092-4BA3-ABBC-9F37E1DE146C}"/>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A19B2B26-8B64-4928-B69B-12CD5110E68B}"/>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3A1890-5227-41AA-8DBE-98AC0641E214}"/>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92BECF5-3A8A-4947-A86C-5FD26C00F2C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CEFBE45-1947-4669-813B-546C90B2A2D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E4F7BAC7-0954-495B-BF9D-75F3A5566D67}"/>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5B65E06-34D0-4C1C-8F23-0490D7C5579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4B2C1D0C-26C5-4C7E-9469-44035A7C6BF2}"/>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4EFF74-2DEB-4761-99F4-FC8E5D2094C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74A2DCF-EFC2-48DA-BC69-1A4F4B7DFF3E}"/>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0CEFF61-5FB1-4CDF-90CE-9287A5CF2EC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68C17ADE-C0C4-4C57-94E0-B7F4ED7944B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D467E4F1-0D15-4EFF-B50B-31E4C582D3A4}"/>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461AC95-732F-40F3-92B0-50551B5E797E}"/>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C2A2E3B-8107-4E2B-AEBC-937C004CBAAE}"/>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04BAA9D-FA7F-4C47-83A9-31248CFB143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03322B70-4FD4-431E-B524-297837A8DFC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3D751826-5B5E-43DE-A661-B3748043599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F8C66E8-9285-46D5-BC87-AB87B38E2CD2}"/>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DA8EFD4-4CD9-4A31-9894-1763AC2EF14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6F7C0C1-65A9-465F-9E0B-616A660DC68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540E510-BD3B-498F-9F77-390B9B7D39A5}"/>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002DD618-BDAE-4D26-88F7-AA0D8FEAB57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1FAD450-2678-4366-B2A7-E27A76FE01F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9FA2E51-390F-42D0-B26B-28A79D8E504B}"/>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47CA226-C98D-4612-9210-232F970FA461}"/>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B6B44568-91BB-4C8C-BFE4-BE5A7A782DC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7173941F-6517-4700-B083-50DB711AD05E}"/>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7F2478A-66B1-4795-A738-76FCA34A7280}"/>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516C1AA-A7B9-4C8F-9537-A6764037099D}"/>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0BA7978-86D3-4780-9A69-5B6C5DA14F3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166DE6D6-2492-4D56-9260-ECCF3A753F13}"/>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75F1BC0-F3D6-4A1F-998C-6BAAE8B2636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98C5DCC-EE0D-4DC8-90E2-3674D0569114}"/>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B39B6EB-358E-47FC-97ED-64F38F6E7D1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D21838E-F62A-43BF-BD93-18AC0B1A0E5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B9C2F7A-59BF-47A5-8C5C-36AFBC103577}"/>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8124390E-45B5-49ED-A901-1634F6EB3344}"/>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48629B0C-7B0E-42A3-8F38-D9BEAEE4D164}"/>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평시 20대 비중의 거리감쇠</a:t>
            </a:r>
          </a:p>
        </p:txBody>
      </p:sp>
      <p:sp>
        <p:nvSpPr>
          <p:cNvPr id="53" name="">
            <a:extLst xmlns:a="http://schemas.openxmlformats.org/drawingml/2006/main">
              <a:ext uri="{FF2B5EF4-FFF2-40B4-BE49-F238E27FC236}">
                <a16:creationId xmlns:a16="http://schemas.microsoft.com/office/drawing/2014/main" id="{32BD2EBC-DAA1-41EA-9FE4-17A7082673AB}"/>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DD3E288-4765-491A-94BE-438B881BC362}"/>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594A2A10-8DC0-4EEB-8264-9F208DE6573C}"/>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2EC3874-FBAB-4E0A-9F67-00753CB84C27}"/>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F30C9BD-BC4F-487E-888A-6C13EA8E4CDA}"/>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AFF72DE-1A69-455A-B0FC-8690ED25B576}"/>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평시 20대 비중의 거리감쇠</a:t>
            </a:r>
          </a:p>
        </p:txBody>
      </p:sp>
      <p:sp>
        <p:nvSpPr>
          <p:cNvPr id="59" name="">
            <a:extLst xmlns:a="http://schemas.openxmlformats.org/drawingml/2006/main">
              <a:ext uri="{FF2B5EF4-FFF2-40B4-BE49-F238E27FC236}">
                <a16:creationId xmlns:a16="http://schemas.microsoft.com/office/drawing/2014/main" id="{DD19B084-163E-49AD-BB42-D798ABC59F14}"/>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평시 유동인구 중 20대 비중과 거리의 관계</a:t>
            </a:r>
          </a:p>
        </p:txBody>
      </p:sp>
      <p:sp>
        <p:nvSpPr>
          <p:cNvPr id="60" name="">
            <a:extLst xmlns:a="http://schemas.openxmlformats.org/drawingml/2006/main">
              <a:ext uri="{FF2B5EF4-FFF2-40B4-BE49-F238E27FC236}">
                <a16:creationId xmlns:a16="http://schemas.microsoft.com/office/drawing/2014/main" id="{A2DE48CD-EDB8-491A-B120-A5BBE49DF097}"/>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03F3D23A-C82A-4231-8308-247C74AE4D58}"/>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04 / 11</a:t>
            </a:r>
          </a:p>
        </p:txBody>
      </p:sp>
      <p:graphicFrame>
        <p:nvGraphicFramePr>
          <p:cNvPr id="130" name="Chart"/>
          <p:cNvGraphicFramePr/>
          <p:nvPr/>
        </p:nvGraphicFramePr>
        <p:xfrm>
          <a:off xmlns:a="http://schemas.openxmlformats.org/drawingml/2006/main" x="3048000" y="3333750"/>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5580db01ea2f4957"/>
          </a:graphicData>
        </a:graphic>
      </p:graphicFrame>
      <p:sp>
        <p:nvSpPr>
          <p:cNvPr id="63" name="">
            <a:extLst xmlns:a="http://schemas.openxmlformats.org/drawingml/2006/main">
              <a:ext uri="{FF2B5EF4-FFF2-40B4-BE49-F238E27FC236}">
                <a16:creationId xmlns:a16="http://schemas.microsoft.com/office/drawing/2014/main" id="{18CD1D05-644C-4925-B989-47748287D6E5}"/>
              </a:ext>
            </a:extLst>
          </p:cNvPr>
          <p:cNvSpPr>
            <a:spLocks xmlns:a="http://schemas.openxmlformats.org/drawingml/2006/main" noGrp="1"/>
          </p:cNvSpPr>
          <p:nvPr/>
        </p:nvSpPr>
        <p:spPr>
          <a:xfrm xmlns:a="http://schemas.openxmlformats.org/drawingml/2006/main">
            <a:off x="10668000" y="3476625"/>
            <a:ext cx="371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37352F"/>
                </a:solidFill>
                <a:latin typeface="Malgun Gothic"/>
                <a:ea typeface="Malgun Gothic"/>
                <a:cs typeface="Malgun Gothic"/>
              </a:defRPr>
            </a:pPr>
            <a:r>
              <a:rPr sz="4950" b="1">
                <a:solidFill>
                  <a:srgbClr val="37352F"/>
                </a:solidFill>
                <a:latin typeface="Malgun Gothic"/>
                <a:ea typeface="Malgun Gothic"/>
                <a:cs typeface="Malgun Gothic"/>
              </a:rPr>
              <a:t>583m</a:t>
            </a:r>
          </a:p>
        </p:txBody>
      </p:sp>
      <p:sp>
        <p:nvSpPr>
          <p:cNvPr id="64" name="">
            <a:extLst xmlns:a="http://schemas.openxmlformats.org/drawingml/2006/main">
              <a:ext uri="{FF2B5EF4-FFF2-40B4-BE49-F238E27FC236}">
                <a16:creationId xmlns:a16="http://schemas.microsoft.com/office/drawing/2014/main" id="{4BEA2953-C76A-491C-9370-216D168A6C31}"/>
              </a:ext>
            </a:extLst>
          </p:cNvPr>
          <p:cNvSpPr>
            <a:spLocks xmlns:a="http://schemas.openxmlformats.org/drawingml/2006/main" noGrp="1"/>
          </p:cNvSpPr>
          <p:nvPr/>
        </p:nvSpPr>
        <p:spPr>
          <a:xfrm xmlns:a="http://schemas.openxmlformats.org/drawingml/2006/main">
            <a:off x="10668000" y="4400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반감거리</a:t>
            </a:r>
          </a:p>
        </p:txBody>
      </p:sp>
      <p:sp>
        <p:nvSpPr>
          <p:cNvPr id="65" name="">
            <a:extLst xmlns:a="http://schemas.openxmlformats.org/drawingml/2006/main">
              <a:ext uri="{FF2B5EF4-FFF2-40B4-BE49-F238E27FC236}">
                <a16:creationId xmlns:a16="http://schemas.microsoft.com/office/drawing/2014/main" id="{13124604-B2D5-4FAB-A711-8E35EC80B4DD}"/>
              </a:ext>
            </a:extLst>
          </p:cNvPr>
          <p:cNvSpPr>
            <a:spLocks xmlns:a="http://schemas.openxmlformats.org/drawingml/2006/main" noGrp="1"/>
          </p:cNvSpPr>
          <p:nvPr/>
        </p:nvSpPr>
        <p:spPr>
          <a:xfrm xmlns:a="http://schemas.openxmlformats.org/drawingml/2006/main">
            <a:off x="10668000" y="5238750"/>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β = 1.189/km</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R² = 0.533</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기존 표본 23곳</a:t>
            </a:r>
          </a:p>
        </p:txBody>
      </p:sp>
      <p:sp>
        <p:nvSpPr>
          <p:cNvPr id="66" name="">
            <a:extLst xmlns:a="http://schemas.openxmlformats.org/drawingml/2006/main">
              <a:ext uri="{FF2B5EF4-FFF2-40B4-BE49-F238E27FC236}">
                <a16:creationId xmlns:a16="http://schemas.microsoft.com/office/drawing/2014/main" id="{E29E306B-483C-4D1F-81DD-F9A5A7B2A255}"/>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D5B89EA5-791F-47E1-83B4-8873668BF318}"/>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C68FD02E-DB16-4D6A-8959-A71A3D73ACFE}"/>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기록된 β로 그린 모형 곡선 · 축제 당일의 실측 효과가 아님</a:t>
            </a:r>
          </a:p>
        </p:txBody>
      </p:sp>
    </p:spTree>
    <p:extLst>
      <p:ext uri="{BB962C8B-B14F-4D97-AF65-F5344CB8AC3E}">
        <p14:creationId xmlns:p14="http://schemas.microsoft.com/office/powerpoint/2010/main" val="21030647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9378E4C2-6E3F-4786-9385-969579BD86D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AB1869-C06E-48ED-A945-8B01D2C4EFB7}"/>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5A9241-D5C4-434B-9212-649D429A925D}"/>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FE2B00D8-A54D-4526-8A24-BF6F75DC4679}"/>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87BC8781-8791-4473-BCA3-736F7367B29B}"/>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8A153733-E2DE-4A84-A304-3AED6623F96B}"/>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708ACD2D-9A53-42AC-B763-FF156841341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2B9A047-C479-45FF-AC60-147F9C23416A}"/>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66C138C-839F-4E84-B5C9-4E2001EA9EF1}"/>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A4C79BA9-3E1B-4E0B-B0A8-01675F3DEE94}"/>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CF50C3-C06B-4A5D-8BD6-15B8BA7C49F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5EF72BD-389B-4DE4-A805-EC3832BBB08D}"/>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0F63C4-3E28-44EA-9132-FE5A65914905}"/>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1A601488-A0A8-4567-AF11-8F819EDB47A9}"/>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BD6804CA-FD05-4BB3-A775-FF1A7D2722B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C4D510-0EE6-4256-BF31-10CA9CD46414}"/>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E93E9BF-6756-40FD-9BA3-9CE4E395D19E}"/>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864191-7C5C-4D67-A80A-6C6555261D0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E1D329EB-C073-4DF1-9F27-2D282E34C489}"/>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1EA5804-56E2-487A-A6C5-AFD6159F2EB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B31B6F39-3168-45CF-9EC0-1806A91F00EA}"/>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F2089C2-F749-4A6E-A09B-FE9996DAE666}"/>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6F461F1-230B-4F79-A7EB-056448573F64}"/>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4B8595C-BBBE-4795-9D52-C6359F72090C}"/>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F1C1F260-739D-4553-B728-0CD83CDB478F}"/>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9995DBE0-3722-478B-A3C1-6BC63D30B1F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0712808-86B4-4319-9597-A6FE6DEA876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37A5D6B-F984-40F1-A4E9-FE8ADD9BE79A}"/>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5C96ADD-8B1F-495D-8877-823E9AFB612A}"/>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011B4B21-A105-4D02-B490-CF294FB016AE}"/>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4DA5FC77-93AD-4444-8958-631AFDF0CC5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E7C06C4-86AE-4BAF-9042-F58A84B6156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4ECF651-19BF-4603-ADB9-F4C535739CE1}"/>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C196A2A-5C65-4D82-88A2-D25DA5163E11}"/>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75E5FD7C-E9E4-41BA-9F33-F3FA0D28039E}"/>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BC4F4F29-6D38-4AB3-8DDE-1EB1AB91A4A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1EB4ACC-C3E6-4525-A82B-6B0E51A7E73F}"/>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A5A4B4C-7AF6-4FCA-AA05-32C5277488EA}"/>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26CB65B-F4B1-4B01-92BA-7EE403FFADA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22057E19-AFD4-411A-BE55-56F17F42BBDE}"/>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B883CAE6-3E6F-421B-9365-3F3B16381308}"/>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0E76BC0-1D06-4766-AB1C-685FDDE8CF13}"/>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D12E720-71DB-4ADF-AD63-22607BA68FEB}"/>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F70713F-2F6F-4BD6-B494-6B4E00850CA7}"/>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AB6E7112-6003-484B-8315-538D56F8F854}"/>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F8D42B6D-8005-4435-ABAC-78F3B424B3B3}"/>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6BFD3AF-A386-409D-8141-28D4FDD8ED30}"/>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7A58CD8-FAF1-460A-A1A8-F0B732631FC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559144C-9D00-46A7-A4B1-612C1C123CD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FCAC913-776C-484A-928B-51427D5A2B4E}"/>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9D597847-E743-4A78-9365-7C72BBE37DA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7F798D67-8BEE-45C6-8A8F-54E838CA2DB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스탬프 배정 기준</a:t>
            </a:r>
          </a:p>
        </p:txBody>
      </p:sp>
      <p:sp>
        <p:nvSpPr>
          <p:cNvPr id="53" name="">
            <a:extLst xmlns:a="http://schemas.openxmlformats.org/drawingml/2006/main">
              <a:ext uri="{FF2B5EF4-FFF2-40B4-BE49-F238E27FC236}">
                <a16:creationId xmlns:a16="http://schemas.microsoft.com/office/drawing/2014/main" id="{F2A59402-FE89-4EA4-88D3-B8C841412F2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B885961-13D6-4984-B5E0-83446172E24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FB8BF457-42E8-4E27-9387-3F70D3A0DFE8}"/>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2E1471B-EC50-4F61-AC8B-0873ED1379B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AEB7C5C-2630-4EC2-9FB8-B610DE5138E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605D270-85B4-47F7-8D2F-C0FABAD1C048}"/>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스탬프 배정 기준</a:t>
            </a:r>
          </a:p>
        </p:txBody>
      </p:sp>
      <p:sp>
        <p:nvSpPr>
          <p:cNvPr id="59" name="">
            <a:extLst xmlns:a="http://schemas.openxmlformats.org/drawingml/2006/main">
              <a:ext uri="{FF2B5EF4-FFF2-40B4-BE49-F238E27FC236}">
                <a16:creationId xmlns:a16="http://schemas.microsoft.com/office/drawing/2014/main" id="{62D2D78A-FDF7-44B9-BFB0-9CC3309669D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하락 D · 저활력 L · 거리 기반 도달 R</a:t>
            </a:r>
          </a:p>
        </p:txBody>
      </p:sp>
      <p:sp>
        <p:nvSpPr>
          <p:cNvPr id="60" name="">
            <a:extLst xmlns:a="http://schemas.openxmlformats.org/drawingml/2006/main">
              <a:ext uri="{FF2B5EF4-FFF2-40B4-BE49-F238E27FC236}">
                <a16:creationId xmlns:a16="http://schemas.microsoft.com/office/drawing/2014/main" id="{66A5B4AF-D7D1-46F2-B53C-ED551FAAFC10}"/>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7F010FF-6F3A-4E94-8CC6-4358ABF20A02}"/>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05 / 11</a:t>
            </a:r>
          </a:p>
        </p:txBody>
      </p:sp>
      <p:sp>
        <p:nvSpPr>
          <p:cNvPr id="62" name="">
            <a:extLst xmlns:a="http://schemas.openxmlformats.org/drawingml/2006/main">
              <a:ext uri="{FF2B5EF4-FFF2-40B4-BE49-F238E27FC236}">
                <a16:creationId xmlns:a16="http://schemas.microsoft.com/office/drawing/2014/main" id="{CE33C29F-D022-40AE-8B41-702E6632DDE9}"/>
              </a:ext>
            </a:extLst>
          </p:cNvPr>
          <p:cNvSpPr>
            <a:spLocks xmlns:a="http://schemas.openxmlformats.org/drawingml/2006/main" noGrp="1"/>
          </p:cNvSpPr>
          <p:nvPr/>
        </p:nvSpPr>
        <p:spPr>
          <a:xfrm xmlns:a="http://schemas.openxmlformats.org/drawingml/2006/main">
            <a:off x="3048000" y="3371850"/>
            <a:ext cx="11506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75" b="1">
                <a:solidFill>
                  <a:srgbClr val="37352F"/>
                </a:solidFill>
                <a:latin typeface="Malgun Gothic"/>
                <a:ea typeface="Malgun Gothic"/>
                <a:cs typeface="Malgun Gothic"/>
              </a:defRPr>
            </a:pPr>
            <a:r>
              <a:rPr sz="4575" b="1">
                <a:solidFill>
                  <a:srgbClr val="37352F"/>
                </a:solidFill>
                <a:latin typeface="Malgun Gothic"/>
                <a:ea typeface="Malgun Gothic"/>
                <a:cs typeface="Malgun Gothic"/>
              </a:rPr>
              <a:t>M = √(D × L) × R</a:t>
            </a:r>
          </a:p>
        </p:txBody>
      </p:sp>
      <p:graphicFrame>
        <p:nvGraphicFramePr>
          <p:cNvPr id="131" name=""/>
          <p:cNvGraphicFramePr/>
          <p:nvPr/>
        </p:nvGraphicFramePr>
        <p:xfrm>
          <a:off xmlns:a="http://schemas.openxmlformats.org/drawingml/2006/main" x="3048000" y="4543425"/>
          <a:ext xmlns:a="http://schemas.openxmlformats.org/drawingml/2006/main" cx="11506200" cy="1476375"/>
        </p:xfrm>
        <a:graphic xmlns:a="http://schemas.openxmlformats.org/drawingml/2006/main">
          <a:graphicData uri="http://schemas.openxmlformats.org/drawingml/2006/table">
            <a:tbl>
              <a:tblPr/>
              <a:tblGrid>
                <a:gridCol w="3835400"/>
                <a:gridCol w="3835400"/>
                <a:gridCol w="3835400"/>
              </a:tblGrid>
              <a:tr h="738188">
                <a:tc>
                  <a:txBody>
                    <a:bodyPr/>
                    <a:lstStyle/>
                    <a:p>
                      <a:r>
                        <a:rPr sz="1800" b="1">
                          <a:solidFill>
                            <a:srgbClr val="37352F"/>
                          </a:solidFill>
                          <a:latin typeface="Malgun Gothic"/>
                          <a:ea typeface="Malgun Gothic"/>
                          <a:cs typeface="Malgun Gothic"/>
                        </a:rPr>
                        <a:t>D 하락</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L 저활력</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R 도달</a:t>
                      </a:r>
                    </a:p>
                  </a:txBody>
                  <a:tcPr marL="85725" marR="85725" marT="28575" marB="28575">
                    <a:solidFill>
                      <a:srgbClr val="F1F1EF"/>
                    </a:solidFill>
                  </a:tcPr>
                </a:tc>
              </a:tr>
              <a:tr h="738188">
                <a:tc>
                  <a:txBody>
                    <a:bodyPr/>
                    <a:lstStyle/>
                    <a:p>
                      <a:r>
                        <a:rPr sz="1800" b="0">
                          <a:solidFill>
                            <a:srgbClr val="37352F"/>
                          </a:solidFill>
                          <a:latin typeface="Malgun Gothic"/>
                          <a:ea typeface="Malgun Gothic"/>
                          <a:cs typeface="Malgun Gothic"/>
                        </a:rPr>
                        <a:t>20대 소비강도·점포 변화</a:t>
                      </a:r>
                    </a:p>
                    <a:p>
                      <a:r>
                        <a:rPr sz="1800" b="0">
                          <a:solidFill>
                            <a:srgbClr val="37352F"/>
                          </a:solidFill>
                          <a:latin typeface="Malgun Gothic"/>
                          <a:ea typeface="Malgun Gothic"/>
                          <a:cs typeface="Malgun Gothic"/>
                        </a:rPr>
                        <a:t>폐업률·전체 매출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점포당 추정매출의</a:t>
                      </a:r>
                    </a:p>
                    <a:p>
                      <a:r>
                        <a:rPr sz="1800" b="0">
                          <a:solidFill>
                            <a:srgbClr val="37352F"/>
                          </a:solidFill>
                          <a:latin typeface="Malgun Gothic"/>
                          <a:ea typeface="Malgun Gothic"/>
                          <a:cs typeface="Malgun Gothic"/>
                        </a:rPr>
                        <a:t>역순위 백분위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exp(−1.189 × 거리[km])</a:t>
                      </a:r>
                    </a:p>
                    <a:p>
                      <a:r>
                        <a:rPr sz="1800" b="0">
                          <a:solidFill>
                            <a:srgbClr val="37352F"/>
                          </a:solidFill>
                          <a:latin typeface="Malgun Gothic"/>
                          <a:ea typeface="Malgun Gothic"/>
                          <a:cs typeface="Malgun Gothic"/>
                        </a:rPr>
                        <a:t>무대 대리점과 상권 경계</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46A3C782-5A4E-4603-8711-CA7A5EF1703E}"/>
              </a:ext>
            </a:extLst>
          </p:cNvPr>
          <p:cNvSpPr>
            <a:spLocks xmlns:a="http://schemas.openxmlformats.org/drawingml/2006/main" noGrp="1"/>
          </p:cNvSpPr>
          <p:nvPr/>
        </p:nvSpPr>
        <p:spPr>
          <a:xfrm xmlns:a="http://schemas.openxmlformats.org/drawingml/2006/main">
            <a:off x="3048000" y="6343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487CA5"/>
                </a:solidFill>
                <a:latin typeface="Malgun Gothic"/>
                <a:ea typeface="Malgun Gothic"/>
                <a:cs typeface="Malgun Gothic"/>
              </a:defRPr>
            </a:pPr>
            <a:r>
              <a:rPr sz="2175" b="1">
                <a:solidFill>
                  <a:srgbClr val="487CA5"/>
                </a:solidFill>
                <a:latin typeface="Malgun Gothic"/>
                <a:ea typeface="Malgun Gothic"/>
                <a:cs typeface="Malgun Gothic"/>
              </a:rPr>
              <a:t>시립대앞사거리  0.669 · 6개</a:t>
            </a:r>
          </a:p>
        </p:txBody>
      </p:sp>
      <p:sp>
        <p:nvSpPr>
          <p:cNvPr id="65" name="">
            <a:extLst xmlns:a="http://schemas.openxmlformats.org/drawingml/2006/main">
              <a:ext uri="{FF2B5EF4-FFF2-40B4-BE49-F238E27FC236}">
                <a16:creationId xmlns:a16="http://schemas.microsoft.com/office/drawing/2014/main" id="{699DF9C7-3BA4-4865-B7E8-60241BDDB963}"/>
              </a:ext>
            </a:extLst>
          </p:cNvPr>
          <p:cNvSpPr>
            <a:spLocks xmlns:a="http://schemas.openxmlformats.org/drawingml/2006/main" noGrp="1"/>
          </p:cNvSpPr>
          <p:nvPr/>
        </p:nvSpPr>
        <p:spPr>
          <a:xfrm xmlns:a="http://schemas.openxmlformats.org/drawingml/2006/main">
            <a:off x="9372600" y="63436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7352F"/>
                </a:solidFill>
                <a:latin typeface="Malgun Gothic"/>
                <a:ea typeface="Malgun Gothic"/>
                <a:cs typeface="Malgun Gothic"/>
              </a:defRPr>
            </a:pPr>
            <a:r>
              <a:rPr sz="2175" b="1">
                <a:solidFill>
                  <a:srgbClr val="37352F"/>
                </a:solidFill>
                <a:latin typeface="Malgun Gothic"/>
                <a:ea typeface="Malgun Gothic"/>
                <a:cs typeface="Malgun Gothic"/>
              </a:rPr>
              <a:t>경희대앞  0.216 · 2개</a:t>
            </a:r>
          </a:p>
        </p:txBody>
      </p:sp>
      <p:sp>
        <p:nvSpPr>
          <p:cNvPr id="66" name="">
            <a:extLst xmlns:a="http://schemas.openxmlformats.org/drawingml/2006/main">
              <a:ext uri="{FF2B5EF4-FFF2-40B4-BE49-F238E27FC236}">
                <a16:creationId xmlns:a16="http://schemas.microsoft.com/office/drawing/2014/main" id="{7969FDDC-3879-4195-8377-35132C55016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B49ABC71-D2FE-4E20-AC4D-1FF3F858C6BD}"/>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929529C6-09B5-4DD9-903B-28D04DBA3EE2}"/>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D와 L을 대칭적으로 결합한 자체 설계 지수 · 취향 추천과 별도</a:t>
            </a:r>
          </a:p>
        </p:txBody>
      </p:sp>
    </p:spTree>
    <p:extLst>
      <p:ext uri="{BB962C8B-B14F-4D97-AF65-F5344CB8AC3E}">
        <p14:creationId xmlns:p14="http://schemas.microsoft.com/office/powerpoint/2010/main" val="12805409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70A06FFA-91DD-4192-9AA4-03DFE5EB8D2F}"/>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D8AEBF-1394-460F-B32C-24A1282222CC}"/>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26AD1CF-7528-4DE8-8985-011F307AD7C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EDD4273-5672-4786-9638-DFA811A4A2A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A5B250F-17AE-4072-8583-291AC4188C3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613BF010-1EFC-4506-87B2-C4D419D059DD}"/>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24FC09CD-9454-4DDD-AE84-E5E55666BF3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0565E8F-ECDB-46DD-933B-E95D45081CEF}"/>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73547D47-1768-4315-827E-ED7F5ED8602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BA6E43C-3BBF-4399-A760-7D5AFBED93F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4C2425-0435-4CCB-A796-EF6EF6B9CC15}"/>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67406B5-DA31-4BDB-A69A-49082032B3B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4FB11B-4108-4BB9-8240-389980471D2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9ED44E81-2C7B-4A1F-93E3-0EBAD7D06EC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EEE56B99-43BB-4047-906F-282B1C69B6CC}"/>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8C211AD-35DF-49F3-95F1-5AF0D4BEB96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6A0B9B5-0781-4AEB-BD9A-9A6116D5F9A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81642CC-82C9-43FD-9B22-73E49894EFA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FB83DF08-64C4-4640-8428-155096469559}"/>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E02D8F51-FEE4-419A-8653-0E576B2ADDB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198867A-1E08-42C4-918C-4D8A2C15999B}"/>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154B077-2AF2-4138-AF3F-BFD02FF7A77A}"/>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D36B186-A189-413B-AE23-49BD1010CA3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E1ADBC3F-D158-403F-8EB2-09CD81538B01}"/>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02ED64D-9EAD-4474-8BDC-1B2374566C92}"/>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73E47890-3046-43A3-9BBA-05878E13DBEF}"/>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50E8AB4-32BA-4639-B8BB-2A1C0F3E6922}"/>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3FDC9A6-6BA3-440E-A58C-725F65D4A76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B14385F-775D-4D6A-89B4-2DEB728F762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0BA8135E-0F1A-4465-9B90-D5089DA35710}"/>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2FD12C51-2F36-4E23-A41B-ABBDB05669B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D3B8F71-2202-47C3-B264-F6ADE50251A1}"/>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CB5557A-C772-40AD-A8FA-C3EB50A42C25}"/>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D8B4187-1D44-4183-BBC0-C2DA8EC3F8ED}"/>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39FE5264-0D2E-4907-B3B1-CA6CFA8E30BD}"/>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7E5813E8-EC95-4427-8360-57E1C07571C2}"/>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757D1DE-8A02-4550-9734-9B68F52AB2D0}"/>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05BBDF4-F860-4F54-9E6D-9A7B071D20F1}"/>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24C2DA3-5A34-4AF2-95CD-F801500E6A0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B3585A32-1896-4623-B52B-A2BED02C5D2D}"/>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1103D6F2-8681-4C7C-BE4F-8E6B8C7C912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E20B20D-06B8-4205-96E9-0C91793686D5}"/>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02D8284-05C9-476D-B464-7FDC9DA5E2AE}"/>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1A3A2D9-460C-44F6-B364-384A354A35D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6B6F9574-DA5A-4D0C-A095-063ECD2BB85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D21B1C9B-7725-4EC8-9183-6CBBF21B1C3B}"/>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7C97C91-3AF5-43D9-ACFD-E35D4CFA1D4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6763A2DC-1D1E-4BDE-B61C-991D216CA043}"/>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82D1DAB-3415-4619-942C-BB327BC19B31}"/>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BFFFB793-BD01-4B0A-B0DD-3B024C4A9D7A}"/>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0DBCEE56-8D66-4786-AE8F-54156A5A3E2A}"/>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49189BFA-52D2-4AF7-A07E-4DEF76DBF3A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16개 상권의 최종 배정</a:t>
            </a:r>
          </a:p>
        </p:txBody>
      </p:sp>
      <p:sp>
        <p:nvSpPr>
          <p:cNvPr id="53" name="">
            <a:extLst xmlns:a="http://schemas.openxmlformats.org/drawingml/2006/main">
              <a:ext uri="{FF2B5EF4-FFF2-40B4-BE49-F238E27FC236}">
                <a16:creationId xmlns:a16="http://schemas.microsoft.com/office/drawing/2014/main" id="{8AD5EE99-BEA6-480D-86EC-9E15A0146A4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37E77BA8-909C-463A-AAA2-0E107827D099}"/>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E3DADB2-7BDF-4B63-A3C1-12B15209CA3B}"/>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901E22F-293A-4751-972C-852F362F3197}"/>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7B78C83-BAF6-4FC1-B031-95A043FA08B7}"/>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3DE0D39-F6C0-46F6-8D87-9FEB909129D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16개 상권의 최종 배정</a:t>
            </a:r>
          </a:p>
        </p:txBody>
      </p:sp>
      <p:sp>
        <p:nvSpPr>
          <p:cNvPr id="59" name="">
            <a:extLst xmlns:a="http://schemas.openxmlformats.org/drawingml/2006/main">
              <a:ext uri="{FF2B5EF4-FFF2-40B4-BE49-F238E27FC236}">
                <a16:creationId xmlns:a16="http://schemas.microsoft.com/office/drawing/2014/main" id="{E0F7963F-51B5-480B-9386-794AA463CF81}"/>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총 60개 · 코어 36 / 참여 24 / 연계 0</a:t>
            </a:r>
          </a:p>
        </p:txBody>
      </p:sp>
      <p:sp>
        <p:nvSpPr>
          <p:cNvPr id="60" name="">
            <a:extLst xmlns:a="http://schemas.openxmlformats.org/drawingml/2006/main">
              <a:ext uri="{FF2B5EF4-FFF2-40B4-BE49-F238E27FC236}">
                <a16:creationId xmlns:a16="http://schemas.microsoft.com/office/drawing/2014/main" id="{B087920E-E0EA-47B1-B9E2-0516B3B07AD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587AC39-59C3-4CC6-877F-060AE7575814}"/>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06 / 11</a:t>
            </a:r>
          </a:p>
        </p:txBody>
      </p:sp>
      <p:graphicFrame>
        <p:nvGraphicFramePr>
          <p:cNvPr id="130" name="Chart"/>
          <p:cNvGraphicFramePr/>
          <p:nvPr/>
        </p:nvGraphicFramePr>
        <p:xfrm>
          <a:off xmlns:a="http://schemas.openxmlformats.org/drawingml/2006/main" x="3048000" y="333375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16c5059fa4a24c6d"/>
          </a:graphicData>
        </a:graphic>
      </p:graphicFrame>
      <p:sp>
        <p:nvSpPr>
          <p:cNvPr id="63" name="">
            <a:extLst xmlns:a="http://schemas.openxmlformats.org/drawingml/2006/main">
              <a:ext uri="{FF2B5EF4-FFF2-40B4-BE49-F238E27FC236}">
                <a16:creationId xmlns:a16="http://schemas.microsoft.com/office/drawing/2014/main" id="{D4B8A041-98DE-43CE-A304-A2678DD0E9A6}"/>
              </a:ext>
            </a:extLst>
          </p:cNvPr>
          <p:cNvSpPr>
            <a:spLocks xmlns:a="http://schemas.openxmlformats.org/drawingml/2006/main" noGrp="1"/>
          </p:cNvSpPr>
          <p:nvPr/>
        </p:nvSpPr>
        <p:spPr>
          <a:xfrm xmlns:a="http://schemas.openxmlformats.org/drawingml/2006/main">
            <a:off x="10572750" y="35528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최소 2개</a:t>
            </a:r>
          </a:p>
        </p:txBody>
      </p:sp>
      <p:sp>
        <p:nvSpPr>
          <p:cNvPr id="64" name="">
            <a:extLst xmlns:a="http://schemas.openxmlformats.org/drawingml/2006/main">
              <a:ext uri="{FF2B5EF4-FFF2-40B4-BE49-F238E27FC236}">
                <a16:creationId xmlns:a16="http://schemas.microsoft.com/office/drawing/2014/main" id="{6601716A-DB7D-4BE9-9B8F-FBAF66FFA18F}"/>
              </a:ext>
            </a:extLst>
          </p:cNvPr>
          <p:cNvSpPr>
            <a:spLocks xmlns:a="http://schemas.openxmlformats.org/drawingml/2006/main" noGrp="1"/>
          </p:cNvSpPr>
          <p:nvPr/>
        </p:nvSpPr>
        <p:spPr>
          <a:xfrm xmlns:a="http://schemas.openxmlformats.org/drawingml/2006/main">
            <a:off x="10572750" y="43815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최대 6개</a:t>
            </a:r>
          </a:p>
        </p:txBody>
      </p:sp>
      <p:sp>
        <p:nvSpPr>
          <p:cNvPr id="65" name="">
            <a:extLst xmlns:a="http://schemas.openxmlformats.org/drawingml/2006/main">
              <a:ext uri="{FF2B5EF4-FFF2-40B4-BE49-F238E27FC236}">
                <a16:creationId xmlns:a16="http://schemas.microsoft.com/office/drawing/2014/main" id="{D0764CEA-8FFF-4B4B-A7B7-7FF05CD9E8E7}"/>
              </a:ext>
            </a:extLst>
          </p:cNvPr>
          <p:cNvSpPr>
            <a:spLocks xmlns:a="http://schemas.openxmlformats.org/drawingml/2006/main" noGrp="1"/>
          </p:cNvSpPr>
          <p:nvPr/>
        </p:nvSpPr>
        <p:spPr>
          <a:xfrm xmlns:a="http://schemas.openxmlformats.org/drawingml/2006/main">
            <a:off x="10572750" y="5257800"/>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점포 수의 20% 이내</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정수 상한은 내림</a:t>
            </a:r>
          </a:p>
        </p:txBody>
      </p:sp>
      <p:sp>
        <p:nvSpPr>
          <p:cNvPr id="66" name="">
            <a:extLst xmlns:a="http://schemas.openxmlformats.org/drawingml/2006/main">
              <a:ext uri="{FF2B5EF4-FFF2-40B4-BE49-F238E27FC236}">
                <a16:creationId xmlns:a16="http://schemas.microsoft.com/office/drawing/2014/main" id="{B45C14E2-9E7A-4691-9CD5-B3102246A2D5}"/>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F0CB18A5-D49F-4911-BA77-BB6F5AA13F61}"/>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6E5EABFB-4B01-4FBD-AA8B-192F520AE65B}"/>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이경시장: 19점포 × 20%를 내림하여 최대 3개</a:t>
            </a:r>
          </a:p>
        </p:txBody>
      </p:sp>
    </p:spTree>
    <p:extLst>
      <p:ext uri="{BB962C8B-B14F-4D97-AF65-F5344CB8AC3E}">
        <p14:creationId xmlns:p14="http://schemas.microsoft.com/office/powerpoint/2010/main" val="15018684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88F8A803-ED8C-4285-839F-FF8DD783579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9722D8-656F-45C3-A89E-B2C2482353C0}"/>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7A470C-4F3A-4DC4-8DC9-BDCE60230217}"/>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955971E-2E02-46D4-AE84-5D02A03F5488}"/>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A247DA39-1700-43D2-9F68-5539EE150BA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0054E9F9-B1A0-4F54-A642-3460CC5CB5C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E79F53BF-07FC-46F7-A8C8-B1CF35AAE2CA}"/>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1097C1E4-46D3-4E22-99EF-FB49AD55C88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3F996A4-6D33-4F0A-A531-6D741DEB52B5}"/>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3E5037EB-BBF2-433D-B5EC-A9B46214ED8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5BFDCA-1DCD-4BBE-AB95-61BAFBA7757B}"/>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7B05644-35F1-495F-B516-520ADE3B709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C7FF2E1-E85F-4CE3-8FE0-3363197D56A5}"/>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BA64AE9F-3B59-4E05-9B31-BA9DCC856B1B}"/>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FCA7BED-7FF7-4707-9851-57646FA25A2B}"/>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0BE374-CD7E-47B7-8B6A-28CDED377FCA}"/>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0AE0293-DBA5-469B-ABB5-AEE993EAC3A1}"/>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4764C96-4873-4EE0-B9DA-14FFB8C0CC69}"/>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0AA81B61-39D2-4942-B2C1-0B4EF14DE310}"/>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49471FC1-435E-4E1D-B4FA-6ACF131CE17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D595757-A276-4003-AD90-DCD43FEF06A1}"/>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A129161-84C7-4505-A547-A2317E03FE5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FE36B85-6407-4955-986D-A1AF4BF71AB8}"/>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456A1934-00C6-42DC-A929-6D6214ABBAB6}"/>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44B79CF-6359-4B9C-82EC-AD4D3CBB555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9AB54439-FC4C-479D-B150-B580F339EF05}"/>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DD248C3-BB75-4087-BF88-57F720A6BD7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61F68A1-2150-4B8C-9D2B-37F991E048F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F34A961-C259-4C2B-96F9-76B50118F3B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35ABCCD7-E429-440D-B1B7-2CF8F33FFDE1}"/>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5738170E-7562-4860-953E-0056C5D7E86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0E6C0C0-FF0B-419A-8DF3-4C71C8879714}"/>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332E4F6-C3CE-4039-A3CE-E52309761B25}"/>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6F46BA9-935E-4DD1-8895-DC8176574B3D}"/>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EAE00076-85C0-4688-BCC3-185F135C3305}"/>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62870229-EF40-4FB4-8502-9038B80A7CA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71810E9-8D66-46DF-AB98-6880D688B234}"/>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CC9B875-9218-4455-9792-62B7E6B3ED41}"/>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C01A7B5-0175-4910-A960-68BF98C76EC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D903AD87-448D-4F28-9569-7880D47C7A1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E7816D62-C94D-4616-BA78-246F61F35E2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944520B-4C38-4DF6-BD72-50B8CACD7271}"/>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B7F7346-9746-4C0B-A965-ACD4CF7855D2}"/>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50C592A-4C8D-4157-AA36-CF28E789D9C6}"/>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84AB80C-735F-46E8-97AA-F68C7B6D3274}"/>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027BA1DB-D523-45F2-B2AF-56FE2DF015A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0189952-F2E1-4D51-8A60-A7CB31190418}"/>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38F35EB-E29A-4E1A-B771-D1CE31D0C79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6A18839-8D4E-46B9-882A-5AB8A8405745}"/>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063F6E8F-799E-4072-89D8-543CA42D5D0F}"/>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E11A4BD8-D9B4-4597-8D79-1A6BF278291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4BC62DD9-F533-49E1-9654-82CB60F5F87F}"/>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상위 5곳 배정 변화</a:t>
            </a:r>
          </a:p>
        </p:txBody>
      </p:sp>
      <p:sp>
        <p:nvSpPr>
          <p:cNvPr id="53" name="">
            <a:extLst xmlns:a="http://schemas.openxmlformats.org/drawingml/2006/main">
              <a:ext uri="{FF2B5EF4-FFF2-40B4-BE49-F238E27FC236}">
                <a16:creationId xmlns:a16="http://schemas.microsoft.com/office/drawing/2014/main" id="{B83B0778-0847-4A36-A8F2-374AF8D24D10}"/>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CDE5C6A-30F0-41F7-81C8-8155F2F099B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06997F68-B17B-4445-A247-E0C7C78B68F3}"/>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E3C4B08-BBBC-4F33-9A66-431CCDBEC810}"/>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0689ED5-2BDC-4B34-BBC3-C3C546A9D90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BDC52426-640A-4CB5-927F-B14DA75712E8}"/>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상위 5곳 배정 변화</a:t>
            </a:r>
          </a:p>
        </p:txBody>
      </p:sp>
      <p:sp>
        <p:nvSpPr>
          <p:cNvPr id="59" name="">
            <a:extLst xmlns:a="http://schemas.openxmlformats.org/drawingml/2006/main">
              <a:ext uri="{FF2B5EF4-FFF2-40B4-BE49-F238E27FC236}">
                <a16:creationId xmlns:a16="http://schemas.microsoft.com/office/drawing/2014/main" id="{5000C170-BE48-40BC-B7F7-DCB536E8969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전후 모두 전체 60개를 분모로 비교</a:t>
            </a:r>
          </a:p>
        </p:txBody>
      </p:sp>
      <p:sp>
        <p:nvSpPr>
          <p:cNvPr id="60" name="">
            <a:extLst xmlns:a="http://schemas.openxmlformats.org/drawingml/2006/main">
              <a:ext uri="{FF2B5EF4-FFF2-40B4-BE49-F238E27FC236}">
                <a16:creationId xmlns:a16="http://schemas.microsoft.com/office/drawing/2014/main" id="{977F6683-FE5A-4852-BBEE-2583708AF93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D4B58F2-CD07-4EA4-A989-044282EFDB97}"/>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07 / 11</a:t>
            </a:r>
          </a:p>
        </p:txBody>
      </p:sp>
      <p:graphicFrame>
        <p:nvGraphicFramePr>
          <p:cNvPr id="129" name="Chart"/>
          <p:cNvGraphicFramePr/>
          <p:nvPr/>
        </p:nvGraphicFramePr>
        <p:xfrm>
          <a:off xmlns:a="http://schemas.openxmlformats.org/drawingml/2006/main" x="3048000" y="3381375"/>
          <a:ext xmlns:a="http://schemas.openxmlformats.org/drawingml/2006/main" cx="11506200" cy="2781300"/>
        </p:xfrm>
        <a:graphic xmlns:a="http://schemas.openxmlformats.org/drawingml/2006/main">
          <a:graphicData uri="http://schemas.openxmlformats.org/drawingml/2006/chart">
            <c:chart xmlns:r="http://schemas.openxmlformats.org/officeDocument/2006/relationships" xmlns:c="http://schemas.openxmlformats.org/drawingml/2006/chart" r:id="R48caab3754984c0e"/>
          </a:graphicData>
        </a:graphic>
      </p:graphicFrame>
      <p:sp>
        <p:nvSpPr>
          <p:cNvPr id="63" name="">
            <a:extLst xmlns:a="http://schemas.openxmlformats.org/drawingml/2006/main">
              <a:ext uri="{FF2B5EF4-FFF2-40B4-BE49-F238E27FC236}">
                <a16:creationId xmlns:a16="http://schemas.microsoft.com/office/drawing/2014/main" id="{771E80FB-2861-4F79-B94B-7BA944907FE2}"/>
              </a:ext>
            </a:extLst>
          </p:cNvPr>
          <p:cNvSpPr>
            <a:spLocks xmlns:a="http://schemas.openxmlformats.org/drawingml/2006/main" noGrp="1"/>
          </p:cNvSpPr>
          <p:nvPr/>
        </p:nvSpPr>
        <p:spPr>
          <a:xfrm xmlns:a="http://schemas.openxmlformats.org/drawingml/2006/main">
            <a:off x="3048000" y="63055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37352F"/>
                </a:solidFill>
                <a:latin typeface="Malgun Gothic"/>
                <a:ea typeface="Malgun Gothic"/>
                <a:cs typeface="Malgun Gothic"/>
              </a:defRPr>
            </a:pPr>
            <a:r>
              <a:rPr sz="2775" b="1">
                <a:solidFill>
                  <a:srgbClr val="37352F"/>
                </a:solidFill>
                <a:latin typeface="Malgun Gothic"/>
                <a:ea typeface="Malgun Gothic"/>
                <a:cs typeface="Malgun Gothic"/>
              </a:rPr>
              <a:t>13개 (21.7%)</a:t>
            </a:r>
          </a:p>
        </p:txBody>
      </p:sp>
      <p:sp>
        <p:nvSpPr>
          <p:cNvPr id="64" name="">
            <a:extLst xmlns:a="http://schemas.openxmlformats.org/drawingml/2006/main">
              <a:ext uri="{FF2B5EF4-FFF2-40B4-BE49-F238E27FC236}">
                <a16:creationId xmlns:a16="http://schemas.microsoft.com/office/drawing/2014/main" id="{61B43C18-79BA-4602-B8C3-0120751BAD36}"/>
              </a:ext>
            </a:extLst>
          </p:cNvPr>
          <p:cNvSpPr>
            <a:spLocks xmlns:a="http://schemas.openxmlformats.org/drawingml/2006/main" noGrp="1"/>
          </p:cNvSpPr>
          <p:nvPr/>
        </p:nvSpPr>
        <p:spPr>
          <a:xfrm xmlns:a="http://schemas.openxmlformats.org/drawingml/2006/main">
            <a:off x="9315450" y="63055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87CA5"/>
                </a:solidFill>
                <a:latin typeface="Malgun Gothic"/>
                <a:ea typeface="Malgun Gothic"/>
                <a:cs typeface="Malgun Gothic"/>
              </a:defRPr>
            </a:pPr>
            <a:r>
              <a:rPr sz="2775" b="1">
                <a:solidFill>
                  <a:srgbClr val="487CA5"/>
                </a:solidFill>
                <a:latin typeface="Malgun Gothic"/>
                <a:ea typeface="Malgun Gothic"/>
                <a:cs typeface="Malgun Gothic"/>
              </a:rPr>
              <a:t>27개 (45.0%)</a:t>
            </a:r>
          </a:p>
        </p:txBody>
      </p:sp>
      <p:sp>
        <p:nvSpPr>
          <p:cNvPr id="65" name="">
            <a:extLst xmlns:a="http://schemas.openxmlformats.org/drawingml/2006/main">
              <a:ext uri="{FF2B5EF4-FFF2-40B4-BE49-F238E27FC236}">
                <a16:creationId xmlns:a16="http://schemas.microsoft.com/office/drawing/2014/main" id="{5F379F43-8C11-431D-8CFB-317E9A039DAF}"/>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2942EFAA-6F30-4B30-BE3A-BAA36149E172}"/>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B77E56FD-DCEB-4CDD-B454-7AE5B64BABFF}"/>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상위 5곳에 14개 추가 배정 · 매출 증가율을 뜻하지 않음</a:t>
            </a:r>
          </a:p>
        </p:txBody>
      </p:sp>
    </p:spTree>
    <p:extLst>
      <p:ext uri="{BB962C8B-B14F-4D97-AF65-F5344CB8AC3E}">
        <p14:creationId xmlns:p14="http://schemas.microsoft.com/office/powerpoint/2010/main" val="1157494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24D953D4-E6A5-4E2F-B143-98C9DE1BE2F4}"/>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C71347-7CF2-4A75-A7B1-15888242CF34}"/>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3E66DD-BB3D-412B-9BA5-13C6AD80303A}"/>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BD36F99-DC52-43C4-A6C6-C13D18BE2E17}"/>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412DC77-BEB3-44BC-AAB6-9948C9C8648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07780548-49B5-4615-A5D5-5C6EA528299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8688943-6EEB-4D5B-AFEA-5C8187F8C58C}"/>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5E6B2F9-0E74-41A3-87AB-AA9348AFF11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567671B4-1042-4992-8664-8ED1158F7028}"/>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9A1B064-76CD-4408-9FB6-26B6E6E4573D}"/>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0D9957-61A6-470B-B630-DBB82D8E3A9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A8E547-D6C5-4404-8E84-F53610D43DA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83CA8B-C196-42E1-A6AB-2D60C894979A}"/>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36080905-8475-4EAA-8B15-D33807A2695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3B0D3FB8-22EB-4B54-8CA7-9C2C7BAFCC82}"/>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6C1B8D4-89EC-424F-8023-5482A7E8401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04DA52-666C-46DA-AFD0-3EEC6268EFA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7CD2440-BE2B-4833-875E-E3B36476A00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B38C9BBE-F7EB-4E39-AE57-F4CEA9B572CD}"/>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73C46CD5-6BA4-43C8-A8B3-5F6E2D174254}"/>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B9E5E29-8953-44C0-8E14-BB2834691D25}"/>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31E2328-17F5-41B1-8FBA-FA8DC2766FCA}"/>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B54FDB7-DD22-4586-8C45-5E361345B485}"/>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0493EFCD-EE32-4D5E-A891-360EAAB9DCC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D4B5EECE-5954-400D-8924-47980294D4DA}"/>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FED7E85-3F00-4297-80DB-AB0EB384887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0660441-5DA7-4AE5-AD31-359B33274DAC}"/>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E4BE4D4-B42A-4C61-A85A-A47AA22410AD}"/>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F1D35B0E-135A-442B-A3E4-4946899ACD21}"/>
              </a:ext>
            </a:extLst>
          </p:cNvPr>
          <p:cNvSpPr>
            <a:spLocks xmlns:a="http://schemas.openxmlformats.org/drawingml/2006/main" noGrp="1"/>
          </p:cNvSpPr>
          <p:nvPr/>
        </p:nvSpPr>
        <p:spPr>
          <a:xfrm xmlns:a="http://schemas.openxmlformats.org/drawingml/2006/main">
            <a:off x="95250" y="46005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E2E0AA0-D73D-4863-9892-A84B9184337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59F7CB49-7D66-49D3-8805-53EC937FE734}"/>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8C7977D-6E56-4178-9391-BA2212798FC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4A04112-CB5F-4C52-A3C4-B051784FFE8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1CF49EF-272D-4008-9DB9-E777BC729CD8}"/>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DB335E93-722D-4AB1-AFD4-17BC87A665CD}"/>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D9F8527E-5C0B-47F2-81FF-DA3C14065B38}"/>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3EB29CC-00DD-4165-BB5A-4B19ADB864B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1EB69A8-93F3-471E-AFA4-F9FE705A8F2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94D8C17-7750-419D-8267-5CAE2FC77B9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EFC496F7-F1C3-4893-9D45-5D781BB4EAC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DD796C4D-9E57-405E-8488-5ED2A81948C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B6D37A3-9626-4684-81D8-6B175F5FBDC1}"/>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0D9EB49-73FB-40EC-9297-F79C3666D51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C5DE984-1947-41A2-BFD3-82237F000CFC}"/>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B0837FA2-AB61-4B21-AD68-1DCCD2080E3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FB51C0E1-C641-4DD6-9E76-13A0856DE446}"/>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0061711-EEE6-4541-AD42-373F83297F0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077C424-EE74-4A85-9415-46CC8F2DD945}"/>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A3095D0-84AF-417C-AEFB-CFA7EEB97CF6}"/>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4004118E-1C39-45C5-B73D-626F845472F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ADF6E61D-B97A-4BD0-8336-A9EB94959FF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96B3A04-69E3-42D9-92FD-5BE89219A451}"/>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3개 상권을 잇는 코스</a:t>
            </a:r>
          </a:p>
        </p:txBody>
      </p:sp>
      <p:sp>
        <p:nvSpPr>
          <p:cNvPr id="53" name="">
            <a:extLst xmlns:a="http://schemas.openxmlformats.org/drawingml/2006/main">
              <a:ext uri="{FF2B5EF4-FFF2-40B4-BE49-F238E27FC236}">
                <a16:creationId xmlns:a16="http://schemas.microsoft.com/office/drawing/2014/main" id="{E345A77C-079D-408B-81F8-BE4EC80A180E}"/>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87A2EE88-8DA2-4F26-9E72-EDB638C03EB9}"/>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88A45A7-DA6A-4142-9893-19C0D4EBBDB5}"/>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FBD25BF-BEC0-4813-88E1-8270F851AB4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77021592-7155-459D-ACAF-040ACA174BC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E54B8143-CC51-4B7D-A138-4E033B89F807}"/>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3개 상권을 잇는 코스</a:t>
            </a:r>
          </a:p>
        </p:txBody>
      </p:sp>
      <p:sp>
        <p:nvSpPr>
          <p:cNvPr id="59" name="">
            <a:extLst xmlns:a="http://schemas.openxmlformats.org/drawingml/2006/main">
              <a:ext uri="{FF2B5EF4-FFF2-40B4-BE49-F238E27FC236}">
                <a16:creationId xmlns:a16="http://schemas.microsoft.com/office/drawing/2014/main" id="{030B1DEB-0EF2-4E38-81EB-ABD4ED227933}"/>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기존 분석의 코스 제안 · 웹의 권역별 테마 목록과 구분</a:t>
            </a:r>
          </a:p>
        </p:txBody>
      </p:sp>
      <p:sp>
        <p:nvSpPr>
          <p:cNvPr id="60" name="">
            <a:extLst xmlns:a="http://schemas.openxmlformats.org/drawingml/2006/main">
              <a:ext uri="{FF2B5EF4-FFF2-40B4-BE49-F238E27FC236}">
                <a16:creationId xmlns:a16="http://schemas.microsoft.com/office/drawing/2014/main" id="{CF7246E1-EB35-4A38-8185-88A51B107EDA}"/>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B9A4810-36D4-4A56-8199-5C30F1A90E7B}"/>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08 / 11</a:t>
            </a:r>
          </a:p>
        </p:txBody>
      </p:sp>
      <p:graphicFrame>
        <p:nvGraphicFramePr>
          <p:cNvPr id="129" name=""/>
          <p:cNvGraphicFramePr/>
          <p:nvPr/>
        </p:nvGraphicFramePr>
        <p:xfrm>
          <a:off xmlns:a="http://schemas.openxmlformats.org/drawingml/2006/main" x="3048000" y="3448050"/>
          <a:ext xmlns:a="http://schemas.openxmlformats.org/drawingml/2006/main" cx="11506200" cy="2476500"/>
        </p:xfrm>
        <a:graphic xmlns:a="http://schemas.openxmlformats.org/drawingml/2006/main">
          <a:graphicData uri="http://schemas.openxmlformats.org/drawingml/2006/table">
            <a:tbl>
              <a:tblPr/>
              <a:tblGrid>
                <a:gridCol w="1524000"/>
                <a:gridCol w="7524750"/>
                <a:gridCol w="2457450"/>
              </a:tblGrid>
              <a:tr h="619125">
                <a:tc>
                  <a:txBody>
                    <a:bodyPr/>
                    <a:lstStyle/>
                    <a:p>
                      <a:r>
                        <a:rPr sz="1725" b="1">
                          <a:solidFill>
                            <a:srgbClr val="37352F"/>
                          </a:solidFill>
                          <a:latin typeface="Malgun Gothic"/>
                          <a:ea typeface="Malgun Gothic"/>
                          <a:cs typeface="Malgun Gothic"/>
                        </a:rPr>
                        <a:t>권역</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포함 상권</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근사 거리·시간</a:t>
                      </a:r>
                    </a:p>
                  </a:txBody>
                  <a:tcPr marL="85725" marR="85725" marT="28575" marB="28575">
                    <a:solidFill>
                      <a:srgbClr val="F1F1EF"/>
                    </a:solidFill>
                  </a:tcPr>
                </a:tc>
              </a:tr>
              <a:tr h="619125">
                <a:tc>
                  <a:txBody>
                    <a:bodyPr/>
                    <a:lstStyle/>
                    <a:p>
                      <a:r>
                        <a:rPr sz="1725" b="0">
                          <a:solidFill>
                            <a:srgbClr val="37352F"/>
                          </a:solidFill>
                          <a:latin typeface="Malgun Gothic"/>
                          <a:ea typeface="Malgun Gothic"/>
                          <a:cs typeface="Malgun Gothic"/>
                        </a:rPr>
                        <a:t>A 회기</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회기역 1번 · 회기시장 · 시조사삼거리</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886m · 11분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B 이문</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외대앞역 1번 · 청량초등학교 · 이경시장</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1,147m · 14분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C 전농</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서울시립대 · 시립대앞사거리 · 전곡마을마당공원</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990m · 12분</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2EFCF97C-5A2A-412A-9C79-481A27FC64DC}"/>
              </a:ext>
            </a:extLst>
          </p:cNvPr>
          <p:cNvSpPr>
            <a:spLocks xmlns:a="http://schemas.openxmlformats.org/drawingml/2006/main" noGrp="1"/>
          </p:cNvSpPr>
          <p:nvPr/>
        </p:nvSpPr>
        <p:spPr>
          <a:xfrm xmlns:a="http://schemas.openxmlformats.org/drawingml/2006/main">
            <a:off x="3048000" y="63150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9 / 16곳 포함</a:t>
            </a:r>
          </a:p>
        </p:txBody>
      </p:sp>
      <p:sp>
        <p:nvSpPr>
          <p:cNvPr id="64" name="">
            <a:extLst xmlns:a="http://schemas.openxmlformats.org/drawingml/2006/main">
              <a:ext uri="{FF2B5EF4-FFF2-40B4-BE49-F238E27FC236}">
                <a16:creationId xmlns:a16="http://schemas.microsoft.com/office/drawing/2014/main" id="{B8B53892-43C5-4A69-80E1-A089E1F79D83}"/>
              </a:ext>
            </a:extLst>
          </p:cNvPr>
          <p:cNvSpPr>
            <a:spLocks xmlns:a="http://schemas.openxmlformats.org/drawingml/2006/main" noGrp="1"/>
          </p:cNvSpPr>
          <p:nvPr/>
        </p:nvSpPr>
        <p:spPr>
          <a:xfrm xmlns:a="http://schemas.openxmlformats.org/drawingml/2006/main">
            <a:off x="9001125" y="631507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소외도 합의 약 70.3%</a:t>
            </a:r>
          </a:p>
        </p:txBody>
      </p:sp>
      <p:sp>
        <p:nvSpPr>
          <p:cNvPr id="65" name="">
            <a:extLst xmlns:a="http://schemas.openxmlformats.org/drawingml/2006/main">
              <a:ext uri="{FF2B5EF4-FFF2-40B4-BE49-F238E27FC236}">
                <a16:creationId xmlns:a16="http://schemas.microsoft.com/office/drawing/2014/main" id="{A5C03040-8676-4E92-9F23-12FF42492B53}"/>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A350980B-E64E-4C30-A4BE-54D1C904977B}"/>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6500F3F6-4F34-46D4-90E5-013D6578F57F}"/>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대표점 직선거리 × 1.25, 보행속도 80m/분 가정 · 현장 경로 확인 필요</a:t>
            </a:r>
          </a:p>
        </p:txBody>
      </p:sp>
    </p:spTree>
    <p:extLst>
      <p:ext uri="{BB962C8B-B14F-4D97-AF65-F5344CB8AC3E}">
        <p14:creationId xmlns:p14="http://schemas.microsoft.com/office/powerpoint/2010/main" val="4357644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FF4E525D-465E-4501-BD03-A817BEAF5EA1}"/>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0B107E-DD78-4BAD-8D35-029DDCFBF8DC}"/>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05BFB9-E74E-462D-82AB-C8A5433E1949}"/>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5EC7195B-955F-4161-A764-D43D2A9155CE}"/>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87FD653-0C10-458A-A91A-95B62FC5F8E9}"/>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1E4AEEA-1D41-4E59-827A-D800184BCBF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B3CF714-DAD9-4277-A138-C472EB8BAC6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6032D61-9662-4257-9DE9-DD5D0E5EF316}"/>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83C492C7-2B72-4B52-B410-90F88EE47C61}"/>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805F798-D7AC-48E8-B6DE-31BE543E8223}"/>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81A2CB-BFE2-408E-8953-17D6CA967C0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BC6B1A-BC0A-4BE8-B84C-5E1A4F4BD22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C75A4E-7FBC-45F9-8829-F91D9B4FA1E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E568E95-0066-4720-BD2E-5537AEE9765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DD7C6029-D626-49B3-AD13-B07791444D5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A70E434-6D92-4C88-9D65-447CDCD48845}"/>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74DEF2-C84B-41A8-A8B8-15E270FFFE6D}"/>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07CB138-28E5-4197-993B-6E73D92926A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6CF9829F-0793-43B6-B666-70F9FA6C5E9C}"/>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86507C4D-2BB0-4995-8E45-81B6637AC15E}"/>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D84F47B-D8FB-468B-B1C7-EF156B2A3ED1}"/>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67FA389-6A75-4301-B81F-4856B2FDB78B}"/>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0F48ADB-5D85-4F66-B37D-47D8BB1DC7B7}"/>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E341E24C-C425-40C1-9F87-07289EF9269C}"/>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64E2EF05-22DF-4E95-8790-8CFC15EB16BF}"/>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B9EB8CD-16D2-4BBF-BE05-3D91FBA9FE08}"/>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F3621C7-7A7A-4BB7-AB90-65034F74F742}"/>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12FF417-0CEB-4443-AACB-708761E910D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CF2A68B2-1001-4EF3-A2B4-BE924BF67556}"/>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EC348500-0D6F-4634-BFF5-2945F297AA38}"/>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CBA8D65-B952-4A8B-B2FE-850B5013FF5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CD7B918-9322-4A50-ADA8-B5EAB8CE37E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66473C4-5968-4514-BD65-C539C717A139}"/>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A12FDD78-6B13-4279-B29A-E47C7FB547E3}"/>
              </a:ext>
            </a:extLst>
          </p:cNvPr>
          <p:cNvSpPr>
            <a:spLocks xmlns:a="http://schemas.openxmlformats.org/drawingml/2006/main" noGrp="1"/>
          </p:cNvSpPr>
          <p:nvPr/>
        </p:nvSpPr>
        <p:spPr>
          <a:xfrm xmlns:a="http://schemas.openxmlformats.org/drawingml/2006/main">
            <a:off x="95250" y="50101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FF96FE2-225B-46DC-978B-4F52C35BABD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D478777E-B092-4992-A6F2-1DD46AECBF4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6DC69A1-D394-42EF-BEBA-B220A584E87A}"/>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DD3F0AE-1604-42F0-959A-747E4961915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12C7D32-97B8-4918-BC38-77B082F62A9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3E876624-FC0D-48F5-B8A9-A7DDBA90AF8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091D84E8-05B7-47A2-AC00-F1F540F5ECFE}"/>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DE4F9C9-B743-4DED-86C3-D0ABDEE30691}"/>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027BBCA-3156-4120-B82A-C4F204D8FD38}"/>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5F7F7BF-F920-4B05-828A-E9CCF7271B1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18C4E97-9C74-4BD2-8944-35105DB8B67D}"/>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1CCDECD9-BEAB-4C2B-BD67-FAD7C2FBADE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1E57D01-6B01-49AF-A8D2-F4DE208D845E}"/>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24F2406-0452-48D1-B296-5995E13CC784}"/>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07ED041-0ED3-4ADA-8EC8-DF7A0910A577}"/>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D1B54897-D5BC-40EF-948D-B2EB0ABA7365}"/>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1788815-A264-4CFB-BBD6-144ADF5FDCEF}"/>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B06E3C6-FD03-493C-86CA-8F262014C51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방문객 웹 가이드</a:t>
            </a:r>
          </a:p>
        </p:txBody>
      </p:sp>
      <p:sp>
        <p:nvSpPr>
          <p:cNvPr id="53" name="">
            <a:extLst xmlns:a="http://schemas.openxmlformats.org/drawingml/2006/main">
              <a:ext uri="{FF2B5EF4-FFF2-40B4-BE49-F238E27FC236}">
                <a16:creationId xmlns:a16="http://schemas.microsoft.com/office/drawing/2014/main" id="{E670B065-E46A-458F-9567-1A2496785CEB}"/>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25C769A-0601-42F9-B59F-0AD0CFCD9C6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8212107D-0B3F-4B01-A7CF-75D7D45C6B8E}"/>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142F12B-8A23-4169-AD53-228BB6CCB26A}"/>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13C70ED-1B59-4A88-9E2C-E00093D70056}"/>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7DE3BB7-2F0A-4A06-B4BB-D7A3B6A3AE2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방문객 웹 가이드</a:t>
            </a:r>
          </a:p>
        </p:txBody>
      </p:sp>
      <p:sp>
        <p:nvSpPr>
          <p:cNvPr id="59" name="">
            <a:extLst xmlns:a="http://schemas.openxmlformats.org/drawingml/2006/main">
              <a:ext uri="{FF2B5EF4-FFF2-40B4-BE49-F238E27FC236}">
                <a16:creationId xmlns:a16="http://schemas.microsoft.com/office/drawing/2014/main" id="{60C3E841-AE96-430C-B666-565A2667D085}"/>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취향 추천에서 상권별 배정 근거까지</a:t>
            </a:r>
          </a:p>
        </p:txBody>
      </p:sp>
      <p:sp>
        <p:nvSpPr>
          <p:cNvPr id="60" name="">
            <a:extLst xmlns:a="http://schemas.openxmlformats.org/drawingml/2006/main">
              <a:ext uri="{FF2B5EF4-FFF2-40B4-BE49-F238E27FC236}">
                <a16:creationId xmlns:a16="http://schemas.microsoft.com/office/drawing/2014/main" id="{5E14EAFB-A7B9-4428-89AD-C9CB573DEB02}"/>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1A8FEAF-CCAD-47D6-AD7C-34E7CC01A61D}"/>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09 / 11</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94b6ed9612a0434a"/>
          <a:stretch xmlns:a="http://schemas.openxmlformats.org/drawingml/2006/main"/>
        </p:blipFill>
        <p:spPr>
          <a:xfrm xmlns:a="http://schemas.openxmlformats.org/drawingml/2006/main">
            <a:off x="3722370" y="3371850"/>
            <a:ext cx="4937760" cy="3429000"/>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51517d97f9bd479b"/>
          <a:stretch xmlns:a="http://schemas.openxmlformats.org/drawingml/2006/main"/>
        </p:blipFill>
        <p:spPr>
          <a:xfrm xmlns:a="http://schemas.openxmlformats.org/drawingml/2006/main">
            <a:off x="9844052" y="3333750"/>
            <a:ext cx="4543495" cy="374332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8ADB2A52-0226-4944-957D-1BE5FEB71E4A}"/>
              </a:ext>
            </a:extLst>
          </p:cNvPr>
          <p:cNvSpPr>
            <a:spLocks xmlns:a="http://schemas.openxmlformats.org/drawingml/2006/main" noGrp="1"/>
          </p:cNvSpPr>
          <p:nvPr/>
        </p:nvSpPr>
        <p:spPr>
          <a:xfrm xmlns:a="http://schemas.openxmlformats.org/drawingml/2006/main">
            <a:off x="3048000" y="7305675"/>
            <a:ext cx="11506200" cy="6477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4D12A71C-7840-41DA-B8F9-68E428080437}"/>
              </a:ext>
            </a:extLst>
          </p:cNvPr>
          <p:cNvSpPr>
            <a:spLocks xmlns:a="http://schemas.openxmlformats.org/drawingml/2006/main" noGrp="1"/>
          </p:cNvSpPr>
          <p:nvPr/>
        </p:nvSpPr>
        <p:spPr>
          <a:xfrm xmlns:a="http://schemas.openxmlformats.org/drawingml/2006/main">
            <a:off x="3238500" y="7429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EEC49576-568D-4E55-89B7-2AFFB71FE153}"/>
              </a:ext>
            </a:extLst>
          </p:cNvPr>
          <p:cNvSpPr>
            <a:spLocks xmlns:a="http://schemas.openxmlformats.org/drawingml/2006/main" noGrp="1"/>
          </p:cNvSpPr>
          <p:nvPr/>
        </p:nvSpPr>
        <p:spPr>
          <a:xfrm xmlns:a="http://schemas.openxmlformats.org/drawingml/2006/main">
            <a:off x="3714750" y="74199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취향 추천과 정책 배정을 구분하고, 상권 상세에서 배정 근거를 확인</a:t>
            </a:r>
          </a:p>
        </p:txBody>
      </p:sp>
    </p:spTree>
    <p:extLst>
      <p:ext uri="{BB962C8B-B14F-4D97-AF65-F5344CB8AC3E}">
        <p14:creationId xmlns:p14="http://schemas.microsoft.com/office/powerpoint/2010/main" val="6343062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4D8170FA-C182-4387-B01F-955CD5273CA7}"/>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1D0D2E-94EF-433C-8543-0B33E65D6923}"/>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AB9824-A3F7-4309-936B-BB0928436270}"/>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BEEA15E-ECAC-4249-BBD6-D0512279F48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4B19CDF-D653-4123-867E-D689B537A4B8}"/>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25220E3B-91A4-4C93-B91D-0263286614B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35B837D-C6AA-4F10-81D1-2B454073BA52}"/>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516E422-729D-4B1F-A7C2-72FFAB10C5B4}"/>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01B03D68-0D93-4F35-9E29-0C60977241F7}"/>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B5CC1DE-5A1E-44DA-8E5F-213338C3ADFB}"/>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FE83A7-F90D-4510-9927-F9B570B9F825}"/>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637CB7-2149-49F3-9B22-BA2ED025E2B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F5C5FFF-E36D-462F-8F14-C16D025EFBA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6030EDEC-7FD7-4931-8E34-94EF610AD1EA}"/>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F98082C-D880-4B65-9F2C-987D587F3EE1}"/>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592E0B-3F7C-4019-B38E-88360D11D34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7D7E62-52D1-4675-9320-AFDA1BE1A81B}"/>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14897EB-B669-4767-8860-FC5A91A9D037}"/>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44D6CDD-A66E-4410-B0A6-F2F21BBAE660}"/>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6970D841-25FB-4597-A207-7C8A67DEB897}"/>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C869BF-EE4E-40EA-8F63-F4710B9FE005}"/>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DB51827-571D-4998-82C9-2FA515FE3B4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4503B26-E6CE-47DF-84F4-8B346CC340B5}"/>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4368FD29-CC1C-4CBB-9D94-396C6FB472E4}"/>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099A28E8-F455-4334-A6EC-42DFD79D46E2}"/>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D40A146-970B-4AE4-850B-BE8044FE6C3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21DF045-79DF-4CAF-9D8C-61C9972A1AA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2852683-5DF7-4379-856C-3B4E08D03DE5}"/>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72FBD6CB-184E-4A3D-A434-732F129678C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0C79DE4-C4AD-43D2-9288-48E8165934CA}"/>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423A0DE-2CAE-4997-A625-9DFA93152FED}"/>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AC57496-6BE8-4870-AB03-4747F0BDB3B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629FC17-C759-4792-8647-B80C28AAE2A7}"/>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6508F01F-E76A-4A25-97DD-CF9B4622B306}"/>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020A33AC-26FD-4AD6-8309-4AD111D85A4C}"/>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B43002F-31D9-49F7-B130-E303A2A9722A}"/>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BDBA160-F43A-4656-8354-E5C785E24ABB}"/>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60D14D88-BE2B-433C-A90C-EBA15C5D6574}"/>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65254DB8-A7DC-4B5E-B3AB-5C05E6850787}"/>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0BFF1B6-511A-42E4-B0E8-3BFD9FEF6AA6}"/>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DA22A93E-AF1C-47E8-A8C6-385FC5AB71AB}"/>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A8D3B2A-B062-4029-8140-E600720EEBD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AE1CCD5-633B-4A6D-B670-FA06EE38EF3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B083B89-A9A3-4756-8207-0EF399A4570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63540347-14B7-4BEC-8EFE-BAB262F3C326}"/>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481EC92A-3247-4BFD-BDAA-AC7CA9EEF0D0}"/>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4AF81BD-41F1-4E58-98CF-BC7D873CB223}"/>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477777F1-3E83-49FA-8998-1D2EB9D9818F}"/>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E5A79C7-4492-482F-ACD5-2BE03A99F25D}"/>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6DD5F2D9-0A0C-4AAC-A9B7-91F176C8AF25}"/>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0512B7C-57E9-4CA8-896E-0DF181A543E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F259FDC8-9C1B-4842-ADEC-B9CE2E2E111A}"/>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운영과 성과 측정</a:t>
            </a:r>
          </a:p>
        </p:txBody>
      </p:sp>
      <p:sp>
        <p:nvSpPr>
          <p:cNvPr id="53" name="">
            <a:extLst xmlns:a="http://schemas.openxmlformats.org/drawingml/2006/main">
              <a:ext uri="{FF2B5EF4-FFF2-40B4-BE49-F238E27FC236}">
                <a16:creationId xmlns:a16="http://schemas.microsoft.com/office/drawing/2014/main" id="{EFDAD568-BE84-4BE4-8477-F62B55496258}"/>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D07B9A89-84B4-476D-BBE0-B7D4E0507BA2}"/>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F3735A52-8723-48BD-8242-A37E21802C01}"/>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D87AA8E-BEB5-4179-8ABF-8D9CDFF3D21F}"/>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0694E81-CFDD-4BD1-B63C-727F01E8B32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AD6D6DD8-7BFD-4FCD-A126-5060BB3D8B8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운영과 성과 측정</a:t>
            </a:r>
          </a:p>
        </p:txBody>
      </p:sp>
      <p:sp>
        <p:nvSpPr>
          <p:cNvPr id="59" name="">
            <a:extLst xmlns:a="http://schemas.openxmlformats.org/drawingml/2006/main">
              <a:ext uri="{FF2B5EF4-FFF2-40B4-BE49-F238E27FC236}">
                <a16:creationId xmlns:a16="http://schemas.microsoft.com/office/drawing/2014/main" id="{817660C5-4745-43ED-AD8E-7E2FAD21E56E}"/>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행사 전 협의부터 사후 평가까지의 실행 제안</a:t>
            </a:r>
          </a:p>
        </p:txBody>
      </p:sp>
      <p:sp>
        <p:nvSpPr>
          <p:cNvPr id="60" name="">
            <a:extLst xmlns:a="http://schemas.openxmlformats.org/drawingml/2006/main">
              <a:ext uri="{FF2B5EF4-FFF2-40B4-BE49-F238E27FC236}">
                <a16:creationId xmlns:a16="http://schemas.microsoft.com/office/drawing/2014/main" id="{D9C321EE-53C1-4E16-B2BC-95DEEFE3EE6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2681136-C470-4C3D-A350-A39FDFA9C042}"/>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10 / 11</a:t>
            </a:r>
          </a:p>
        </p:txBody>
      </p:sp>
      <p:graphicFrame>
        <p:nvGraphicFramePr>
          <p:cNvPr id="128" name=""/>
          <p:cNvGraphicFramePr/>
          <p:nvPr/>
        </p:nvGraphicFramePr>
        <p:xfrm>
          <a:off xmlns:a="http://schemas.openxmlformats.org/drawingml/2006/main" x="3048000" y="3343275"/>
          <a:ext xmlns:a="http://schemas.openxmlformats.org/drawingml/2006/main" cx="5286375" cy="3333750"/>
        </p:xfrm>
        <a:graphic xmlns:a="http://schemas.openxmlformats.org/drawingml/2006/main">
          <a:graphicData uri="http://schemas.openxmlformats.org/drawingml/2006/table">
            <a:tbl>
              <a:tblPr/>
              <a:tblGrid>
                <a:gridCol w="1476375"/>
                <a:gridCol w="3810000"/>
              </a:tblGrid>
              <a:tr h="666750">
                <a:tc>
                  <a:txBody>
                    <a:bodyPr/>
                    <a:lstStyle/>
                    <a:p>
                      <a:r>
                        <a:rPr sz="1800" b="1">
                          <a:solidFill>
                            <a:srgbClr val="37352F"/>
                          </a:solidFill>
                          <a:latin typeface="Malgun Gothic"/>
                          <a:ea typeface="Malgun Gothic"/>
                          <a:cs typeface="Malgun Gothic"/>
                        </a:rPr>
                        <a:t>시점</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실행</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4주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상권·상인 협의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2~3주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제휴 모집·경로 확인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1주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쿠폰·집계 점검</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당일·이후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방문 안내·운영·평가</a:t>
                      </a:r>
                    </a:p>
                  </a:txBody>
                  <a:tcPr marL="85725" marR="85725" marT="28575" marB="28575">
                    <a:solidFill>
                      <a:srgbClr val="FFFFFF"/>
                    </a:solidFill>
                  </a:tcPr>
                </a:tc>
              </a:tr>
            </a:tbl>
          </a:graphicData>
        </a:graphic>
      </p:graphicFrame>
      <p:graphicFrame>
        <p:nvGraphicFramePr>
          <p:cNvPr id="129" name=""/>
          <p:cNvGraphicFramePr/>
          <p:nvPr/>
        </p:nvGraphicFramePr>
        <p:xfrm>
          <a:off xmlns:a="http://schemas.openxmlformats.org/drawingml/2006/main" x="8686800" y="3343275"/>
          <a:ext xmlns:a="http://schemas.openxmlformats.org/drawingml/2006/main" cx="5867400" cy="3333750"/>
        </p:xfrm>
        <a:graphic xmlns:a="http://schemas.openxmlformats.org/drawingml/2006/main">
          <a:graphicData uri="http://schemas.openxmlformats.org/drawingml/2006/table">
            <a:tbl>
              <a:tblPr/>
              <a:tblGrid>
                <a:gridCol w="1809750"/>
                <a:gridCol w="4057650"/>
              </a:tblGrid>
              <a:tr h="666750">
                <a:tc>
                  <a:txBody>
                    <a:bodyPr/>
                    <a:lstStyle/>
                    <a:p>
                      <a:r>
                        <a:rPr sz="1800" b="1">
                          <a:solidFill>
                            <a:srgbClr val="37352F"/>
                          </a:solidFill>
                          <a:latin typeface="Malgun Gothic"/>
                          <a:ea typeface="Malgun Gothic"/>
                          <a:cs typeface="Malgun Gothic"/>
                        </a:rPr>
                        <a:t>지표</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측정</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모집 실적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확정 수 / 배정 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방문·완주</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중복을 구분한 인증 로그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소비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동의 매장·비교집단 검토</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재참여</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상인 설문·운영 회고</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B3420E44-9A3E-4FB3-A1BA-09329A49BF40}"/>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EDEBA0FB-E394-41F8-B86D-92A88D44ED73}"/>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1C63E933-6D5F-4257-A9C6-622A4B590F97}"/>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대학·상인회·관계 기관·분석팀 역할 협의 · 인력·쿠폰 등의 비용은 별도 산정</a:t>
            </a:r>
          </a:p>
        </p:txBody>
      </p:sp>
    </p:spTree>
    <p:extLst>
      <p:ext uri="{BB962C8B-B14F-4D97-AF65-F5344CB8AC3E}">
        <p14:creationId xmlns:p14="http://schemas.microsoft.com/office/powerpoint/2010/main" val="17378999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51C68AE6-8406-4B6D-B928-279F5F73661A}"/>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C8DD84-DA0E-46D9-801A-1D3356F957A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438C5A-347F-4579-AD27-C253FD88948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745E4B2-CC63-4CFB-9332-9846A5F54C3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C9849FA-1419-45B2-A339-F5D071D0AB2F}"/>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55D8AEB0-9F02-4DA0-94EC-67A9E8A6D5D0}"/>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D3F5D2F-75F2-4882-95D7-FD9BD2C3254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7F0A257-4B0F-45CB-8D73-A9E554A14559}"/>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077154D9-1BC8-496E-8758-77F096105939}"/>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A71F4EF4-92A7-4F51-BCA0-7A0F167419BB}"/>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F4DD28-E9DA-4BAF-963F-666EC1E9F4BC}"/>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858C51-0523-4FB9-87CB-05E543D9E48A}"/>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FD026EE-0CE5-4FAF-A73A-7A7F12C556A2}"/>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C38594E-68FB-4FEB-B232-95FD75953131}"/>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87F38115-27CF-4C25-824B-7A661B4F84B0}"/>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FD5973-1B45-424F-8F32-C1E9602C4C7B}"/>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624EA87-AB66-412D-9935-5A861CA28510}"/>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B37E91-2190-4B22-AE39-F00E9F25DC7F}"/>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A1BB0B3-3F23-4FC5-8195-EA887D30A9D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2A9CC31E-F095-4A44-B69E-6BF109A1EB2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F6D509-644A-47FD-90F9-988E76541FF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DEAE84D-03E8-4778-9CF1-BA2E1AB7EB9B}"/>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B0487BB-A99A-4CC5-A949-3796AB553D0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0306FAD0-5526-4F54-96FE-A501196145E2}"/>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D6C9015D-3398-4FCE-9255-A7745C4271E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B951B81-9BD1-4434-8A5A-D7E842A9F66E}"/>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F656D40-68FA-4704-8691-D63942B3462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39527A7-3204-4C30-A5A7-671AEE8900CF}"/>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DB4C5391-1EB2-438A-886B-08B0EB411329}"/>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F8BFBF77-5E4D-45E9-B616-79B8A54041F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504F726-B0C3-466D-845B-F6EF8E9AF50E}"/>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11A5AD9-313E-4C64-BDD9-0448E60DB60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891374E-E571-47BD-AEAF-CB1FE5E6CD61}"/>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FE912420-BE9A-48ED-B49E-9FA0572F933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E6DB2B94-C24C-45E3-B022-EA34CDF250B3}"/>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F9BD2D2-7EBA-4F5F-BE97-EEA4F8690979}"/>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6EF13E3-0F5F-42E8-A80C-33B4B2695E0E}"/>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110584A-61DB-4EA5-8411-C6EFFFFF39E5}"/>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84F24C87-29E9-48B7-987E-CE98BD7204C3}"/>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7C8C34A-8EF2-448D-8643-A92A254EB2EB}"/>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E2113ADB-5DD2-4194-9B4C-E37BDC8764F0}"/>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D842500-80BE-48D1-BC9C-A59E3AC0A8D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7D28F93-58F2-43A5-AAA4-28CAD065F535}"/>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A59D32B-7469-43B5-86BE-9A4EFC8338C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9AD488C-5656-428A-A3EE-7C9B599111CF}"/>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CE8AA70B-1135-41E7-8E13-8C75C75A58E6}"/>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662A608-B8AA-428F-AF4F-2257AD40FBA8}"/>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65798508-305A-4747-90DF-DC33B3E52007}"/>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C66DE51-0001-476E-8C8B-DCC96991E925}"/>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8B0367B5-50BF-433D-835C-5E7C5E5ECF69}"/>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84F2F05C-AFA4-4B45-980A-A576A92998C5}"/>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6B6CBAA-FC8D-433D-975E-5E727EA851C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시범 운영 제안</a:t>
            </a:r>
          </a:p>
        </p:txBody>
      </p:sp>
      <p:sp>
        <p:nvSpPr>
          <p:cNvPr id="53" name="">
            <a:extLst xmlns:a="http://schemas.openxmlformats.org/drawingml/2006/main">
              <a:ext uri="{FF2B5EF4-FFF2-40B4-BE49-F238E27FC236}">
                <a16:creationId xmlns:a16="http://schemas.microsoft.com/office/drawing/2014/main" id="{5B81FC30-8C16-4487-96D9-E283F3D105B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0BAF0F8-2D10-4913-9B2A-36D9C2152C6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126F98A3-D6EE-4A10-B589-0ADBB35DCFEB}"/>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972EE2B-CA84-4E97-A465-4763D9476EA7}"/>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24AA463-67B2-4F21-B610-41E3BFC1E1E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8CAB125-7465-4429-9AF3-33360F28E424}"/>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시범 운영 제안</a:t>
            </a:r>
          </a:p>
        </p:txBody>
      </p:sp>
      <p:sp>
        <p:nvSpPr>
          <p:cNvPr id="59" name="">
            <a:extLst xmlns:a="http://schemas.openxmlformats.org/drawingml/2006/main">
              <a:ext uri="{FF2B5EF4-FFF2-40B4-BE49-F238E27FC236}">
                <a16:creationId xmlns:a16="http://schemas.microsoft.com/office/drawing/2014/main" id="{D064EFE8-6600-4D3A-BEE6-EB75255D1CA1}"/>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현장 검증과 제휴 협의를 위한 시범 운영</a:t>
            </a:r>
          </a:p>
        </p:txBody>
      </p:sp>
      <p:sp>
        <p:nvSpPr>
          <p:cNvPr id="60" name="">
            <a:extLst xmlns:a="http://schemas.openxmlformats.org/drawingml/2006/main">
              <a:ext uri="{FF2B5EF4-FFF2-40B4-BE49-F238E27FC236}">
                <a16:creationId xmlns:a16="http://schemas.microsoft.com/office/drawing/2014/main" id="{1954C7E7-8075-4F07-9EE8-CF8D594890D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18870DA-C9E5-4EAF-BD26-B4B76D3BD46C}"/>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11 / 11</a:t>
            </a:r>
          </a:p>
        </p:txBody>
      </p:sp>
      <p:sp>
        <p:nvSpPr>
          <p:cNvPr id="62" name="">
            <a:extLst xmlns:a="http://schemas.openxmlformats.org/drawingml/2006/main">
              <a:ext uri="{FF2B5EF4-FFF2-40B4-BE49-F238E27FC236}">
                <a16:creationId xmlns:a16="http://schemas.microsoft.com/office/drawing/2014/main" id="{43F761D8-FBFF-4080-8ABB-3589F9E2A986}"/>
              </a:ext>
            </a:extLst>
          </p:cNvPr>
          <p:cNvSpPr>
            <a:spLocks xmlns:a="http://schemas.openxmlformats.org/drawingml/2006/main" noGrp="1"/>
          </p:cNvSpPr>
          <p:nvPr/>
        </p:nvSpPr>
        <p:spPr>
          <a:xfrm xmlns:a="http://schemas.openxmlformats.org/drawingml/2006/main">
            <a:off x="3048000" y="3571875"/>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16개 상권</a:t>
            </a:r>
          </a:p>
        </p:txBody>
      </p:sp>
      <p:sp>
        <p:nvSpPr>
          <p:cNvPr id="63" name="">
            <a:extLst xmlns:a="http://schemas.openxmlformats.org/drawingml/2006/main">
              <a:ext uri="{FF2B5EF4-FFF2-40B4-BE49-F238E27FC236}">
                <a16:creationId xmlns:a16="http://schemas.microsoft.com/office/drawing/2014/main" id="{80F066F8-7A2F-4561-A8A6-E418483B344F}"/>
              </a:ext>
            </a:extLst>
          </p:cNvPr>
          <p:cNvSpPr>
            <a:spLocks xmlns:a="http://schemas.openxmlformats.org/drawingml/2006/main" noGrp="1"/>
          </p:cNvSpPr>
          <p:nvPr/>
        </p:nvSpPr>
        <p:spPr>
          <a:xfrm xmlns:a="http://schemas.openxmlformats.org/drawingml/2006/main">
            <a:off x="9020175" y="3571875"/>
            <a:ext cx="542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60개 배정</a:t>
            </a:r>
          </a:p>
        </p:txBody>
      </p:sp>
      <p:sp>
        <p:nvSpPr>
          <p:cNvPr id="64" name="">
            <a:extLst xmlns:a="http://schemas.openxmlformats.org/drawingml/2006/main">
              <a:ext uri="{FF2B5EF4-FFF2-40B4-BE49-F238E27FC236}">
                <a16:creationId xmlns:a16="http://schemas.microsoft.com/office/drawing/2014/main" id="{C639DFFA-3EE3-495E-8506-9283B83040CA}"/>
              </a:ext>
            </a:extLst>
          </p:cNvPr>
          <p:cNvSpPr>
            <a:spLocks xmlns:a="http://schemas.openxmlformats.org/drawingml/2006/main" noGrp="1"/>
          </p:cNvSpPr>
          <p:nvPr/>
        </p:nvSpPr>
        <p:spPr>
          <a:xfrm xmlns:a="http://schemas.openxmlformats.org/drawingml/2006/main">
            <a:off x="3048000" y="4953000"/>
            <a:ext cx="11506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487CA5"/>
                </a:solidFill>
                <a:latin typeface="Malgun Gothic"/>
                <a:ea typeface="Malgun Gothic"/>
                <a:cs typeface="Malgun Gothic"/>
              </a:defRPr>
            </a:pPr>
            <a:r>
              <a:rPr sz="3375" b="1">
                <a:solidFill>
                  <a:srgbClr val="487CA5"/>
                </a:solidFill>
                <a:latin typeface="Malgun Gothic"/>
                <a:ea typeface="Malgun Gothic"/>
                <a:cs typeface="Malgun Gothic"/>
              </a:rPr>
              <a:t>소외도 상위 5곳에 27개</a:t>
            </a:r>
          </a:p>
        </p:txBody>
      </p:sp>
      <p:sp>
        <p:nvSpPr>
          <p:cNvPr id="65" name="">
            <a:extLst xmlns:a="http://schemas.openxmlformats.org/drawingml/2006/main">
              <a:ext uri="{FF2B5EF4-FFF2-40B4-BE49-F238E27FC236}">
                <a16:creationId xmlns:a16="http://schemas.microsoft.com/office/drawing/2014/main" id="{9D176505-9C4F-41F1-9DA2-C7B0C70145D6}"/>
              </a:ext>
            </a:extLst>
          </p:cNvPr>
          <p:cNvSpPr>
            <a:spLocks xmlns:a="http://schemas.openxmlformats.org/drawingml/2006/main" noGrp="1"/>
          </p:cNvSpPr>
          <p:nvPr/>
        </p:nvSpPr>
        <p:spPr>
          <a:xfrm xmlns:a="http://schemas.openxmlformats.org/drawingml/2006/main">
            <a:off x="3048000" y="6038850"/>
            <a:ext cx="11506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참여 상점을 모집하고, 실제 방문과 소비 자료를 모아</a:t>
            </a:r>
          </a:p>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다음 행사 배정에 반영하겠습니다</a:t>
            </a:r>
          </a:p>
        </p:txBody>
      </p:sp>
      <p:sp>
        <p:nvSpPr>
          <p:cNvPr id="66" name="">
            <a:extLst xmlns:a="http://schemas.openxmlformats.org/drawingml/2006/main">
              <a:ext uri="{FF2B5EF4-FFF2-40B4-BE49-F238E27FC236}">
                <a16:creationId xmlns:a16="http://schemas.microsoft.com/office/drawing/2014/main" id="{ED91DEA7-E114-4FA3-B232-4CBAA061DEE4}"/>
              </a:ext>
            </a:extLst>
          </p:cNvPr>
          <p:cNvSpPr>
            <a:spLocks xmlns:a="http://schemas.openxmlformats.org/drawingml/2006/main" noGrp="1"/>
          </p:cNvSpPr>
          <p:nvPr/>
        </p:nvSpPr>
        <p:spPr>
          <a:xfrm xmlns:a="http://schemas.openxmlformats.org/drawingml/2006/main">
            <a:off x="3048000" y="7391400"/>
            <a:ext cx="11506200" cy="5715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148660D7-F9B6-4F69-91DF-EA911BDD28EE}"/>
              </a:ext>
            </a:extLst>
          </p:cNvPr>
          <p:cNvSpPr>
            <a:spLocks xmlns:a="http://schemas.openxmlformats.org/drawingml/2006/main" noGrp="1"/>
          </p:cNvSpPr>
          <p:nvPr/>
        </p:nvSpPr>
        <p:spPr>
          <a:xfrm xmlns:a="http://schemas.openxmlformats.org/drawingml/2006/main">
            <a:off x="3238500" y="7515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03C45334-F892-48CF-BA2D-5D29EE2219D9}"/>
              </a:ext>
            </a:extLst>
          </p:cNvPr>
          <p:cNvSpPr>
            <a:spLocks xmlns:a="http://schemas.openxmlformats.org/drawingml/2006/main" noGrp="1"/>
          </p:cNvSpPr>
          <p:nvPr/>
        </p:nvSpPr>
        <p:spPr>
          <a:xfrm xmlns:a="http://schemas.openxmlformats.org/drawingml/2006/main">
            <a:off x="3714750" y="7505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시범 운영 기회를 요청드립니다</a:t>
            </a:r>
          </a:p>
        </p:txBody>
      </p:sp>
    </p:spTree>
    <p:extLst>
      <p:ext uri="{BB962C8B-B14F-4D97-AF65-F5344CB8AC3E}">
        <p14:creationId xmlns:p14="http://schemas.microsoft.com/office/powerpoint/2010/main" val="7554121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5C1B7CD2-61B3-4C75-901B-A20179F1D0A2}"/>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567AD2-EB40-4A18-A580-91636164E80D}"/>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EADE16-ACEC-41A7-B898-427EE55ACED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B226676-7447-457A-A97E-CD1C7913899B}"/>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4E2E124C-0EBD-4A33-BB5A-DFD9DBB71886}"/>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4EE67FA-4366-429E-BE20-8659664626C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7AAA70E1-7EB8-4D17-87E5-51122DABA74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AEC768C-1797-4284-9496-B3506C475772}"/>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CD40625-5237-410D-9F22-7727F5D82096}"/>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547959AF-8E2B-4586-952F-B954B61C90B1}"/>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4E2A55-FD66-49C7-B990-4A08BB9FC66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638039-2B78-4D3E-999A-A91930F2E08B}"/>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B86A93-F89E-40F5-A0E0-8B56923A0B89}"/>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71B0E75A-7C5F-4932-8561-369B5C72BF3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A775C859-C74E-4309-8B92-5B89B2E4C083}"/>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F5AE47-EE4D-403C-AA48-3AE539020DE2}"/>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81CE84-560E-4CB9-AC2F-7806E21A555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B7D7AE-A70E-4638-AEDB-FCDDE13CD6D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F4280F1D-A509-4914-B49F-C4120AF984D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BF23C266-9ECE-4CC0-AB12-2CD2E377FE0F}"/>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945547A-8ED5-414F-8A90-D4D5044CDDC6}"/>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F26C2BB-98CA-4C52-B2A2-8F1086D83C21}"/>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CD847B-18A0-48B5-A44D-AC256184718A}"/>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E3602F3C-2DE3-4AC3-B787-3E196448265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E649A4AE-79B9-45D3-B8C3-D7BE88BC3A9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FE98BE7-A2A6-461C-9EA7-821643C4ADEA}"/>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1CF6CF7-15DD-45CE-8204-A22A63CE9BC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ECBFB07-540E-48B4-B07D-5D29308306E7}"/>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FE0054BD-C23D-48C4-A1C5-29D2F7B6C0C0}"/>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51FA4131-2597-4782-8218-32FE16BE426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886BA03-7488-4D2E-9AE6-A1616302E31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734FEB0-9528-4450-9B4F-D897580019A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F3197C3-7698-42D8-8BBB-324E6D92DF5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FC1FB6FD-54E8-4E2B-95B1-87840D234132}"/>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64507352-FA45-423D-904B-F4407F31F7D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BB5AC84-1462-4F16-9EB2-71312443F550}"/>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FD2919F-8DCB-4C02-B9FF-FC4FC3F5E831}"/>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1AD784A-E529-452C-BA5E-8D540C8C31A5}"/>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DD9C0DC3-64E1-40E5-911C-7FCBF531D27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1B36CFC3-88DF-4300-A0F2-4FBA4BE9FC3B}"/>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E4856CA-79E6-4F2E-9B73-92024EC6726E}"/>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EC7588A-BAEE-447C-A6F6-0BBECA7F50B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609087D-D452-46FB-A3D4-CC38318CB28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D6F95C56-C188-41EC-881E-8D6BD7A55C3A}"/>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B46C33C-3C03-4B45-A114-8840ACFACC7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C9536A5F-ECCF-4BBB-870A-83DF05EE9FE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70AE636-D874-4828-85F4-0E365F6042E0}"/>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78A0B77-E77E-4EEE-B997-75F52F8917BF}"/>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D9AF7CF-A7BA-49AC-AD41-4A5972030D3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4EB1E37E-8078-49F9-86C9-A583F1045A9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4E92C5E-05A0-4348-918F-1BA484ED8550}"/>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F648B538-3FA3-4D00-A3D8-59A38C7C531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전체 배정표</a:t>
            </a:r>
          </a:p>
        </p:txBody>
      </p:sp>
      <p:sp>
        <p:nvSpPr>
          <p:cNvPr id="53" name="">
            <a:extLst xmlns:a="http://schemas.openxmlformats.org/drawingml/2006/main">
              <a:ext uri="{FF2B5EF4-FFF2-40B4-BE49-F238E27FC236}">
                <a16:creationId xmlns:a16="http://schemas.microsoft.com/office/drawing/2014/main" id="{1693C197-522F-444D-96CB-E5A3F2BC38D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6D3729A-E660-4984-844B-2E3EDE1B90E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30836CD-B7EA-471A-B497-45156866E8CE}"/>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A734F64-E7A7-4C26-89F1-3F1FE388C65D}"/>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7675BCC-845A-4A58-83A5-6F625C0A3925}"/>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66E782B-9A04-41E9-A2C5-F8E510863C1B}"/>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전체 배정표</a:t>
            </a:r>
          </a:p>
        </p:txBody>
      </p:sp>
      <p:sp>
        <p:nvSpPr>
          <p:cNvPr id="59" name="">
            <a:extLst xmlns:a="http://schemas.openxmlformats.org/drawingml/2006/main">
              <a:ext uri="{FF2B5EF4-FFF2-40B4-BE49-F238E27FC236}">
                <a16:creationId xmlns:a16="http://schemas.microsoft.com/office/drawing/2014/main" id="{1595D109-988B-4F24-83A2-9949D5059097}"/>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공개값 · D·L·R·M은 소수 셋째 자리 반올림</a:t>
            </a:r>
          </a:p>
        </p:txBody>
      </p:sp>
      <p:sp>
        <p:nvSpPr>
          <p:cNvPr id="60" name="">
            <a:extLst xmlns:a="http://schemas.openxmlformats.org/drawingml/2006/main">
              <a:ext uri="{FF2B5EF4-FFF2-40B4-BE49-F238E27FC236}">
                <a16:creationId xmlns:a16="http://schemas.microsoft.com/office/drawing/2014/main" id="{A3831F7C-BBC2-4EFB-867E-95565CFACE7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14AD680-E999-4AC0-835E-04B22131996E}"/>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A</a:t>
            </a:r>
          </a:p>
        </p:txBody>
      </p:sp>
      <p:graphicFrame>
        <p:nvGraphicFramePr>
          <p:cNvPr id="125" name=""/>
          <p:cNvGraphicFramePr/>
          <p:nvPr/>
        </p:nvGraphicFramePr>
        <p:xfrm>
          <a:off xmlns:a="http://schemas.openxmlformats.org/drawingml/2006/main" x="3048000" y="3238500"/>
          <a:ext xmlns:a="http://schemas.openxmlformats.org/drawingml/2006/main" cx="11506200" cy="4333875"/>
        </p:xfrm>
        <a:graphic xmlns:a="http://schemas.openxmlformats.org/drawingml/2006/main">
          <a:graphicData uri="http://schemas.openxmlformats.org/drawingml/2006/table">
            <a:tbl>
              <a:tblPr/>
              <a:tblGrid>
                <a:gridCol w="3390900"/>
                <a:gridCol w="1524000"/>
                <a:gridCol w="1524000"/>
                <a:gridCol w="1524000"/>
                <a:gridCol w="1524000"/>
                <a:gridCol w="1009650"/>
                <a:gridCol w="1009650"/>
              </a:tblGrid>
              <a:tr h="254934">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기존</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최종</a:t>
                      </a:r>
                    </a:p>
                  </a:txBody>
                  <a:tcPr marL="85725" marR="85725" marT="28575" marB="28575">
                    <a:solidFill>
                      <a:srgbClr val="F1F1EF"/>
                    </a:solidFill>
                  </a:tcPr>
                </a:tc>
              </a:tr>
              <a:tr h="254934">
                <a:tc>
                  <a:txBody>
                    <a:bodyPr/>
                    <a:lstStyle/>
                    <a:p>
                      <a:r>
                        <a:rPr sz="1275" b="0">
                          <a:solidFill>
                            <a:srgbClr val="37352F"/>
                          </a:solidFill>
                          <a:latin typeface="Malgun Gothic"/>
                          <a:ea typeface="Malgun Gothic"/>
                          <a:cs typeface="Malgun Gothic"/>
                        </a:rPr>
                        <a:t>시립대앞사거리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0.807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시조사삼거리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0.510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전곡마을마당공원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0.448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경희대삼거리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0.351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서울시립대</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0.970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0.340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회기역</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0.695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0.301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청량초등학교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0.271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경희대후문</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삼육보건대학교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0.732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0.609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경희대학교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0.958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외대앞역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0.208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외대앞역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2A3AD9A2-D357-4E9E-B0C5-B598D2E28638}"/>
              </a:ext>
            </a:extLst>
          </p:cNvPr>
          <p:cNvSpPr>
            <a:spLocks xmlns:a="http://schemas.openxmlformats.org/drawingml/2006/main" noGrp="1"/>
          </p:cNvSpPr>
          <p:nvPr/>
        </p:nvSpPr>
        <p:spPr>
          <a:xfrm xmlns:a="http://schemas.openxmlformats.org/drawingml/2006/main">
            <a:off x="3048000" y="7810500"/>
            <a:ext cx="1150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16곳 기존 50개 → 최종 60개. 기존 연계존 10개를 포함하면 전후 전체 총량은 60개</a:t>
            </a:r>
          </a:p>
        </p:txBody>
      </p:sp>
    </p:spTree>
    <p:extLst>
      <p:ext uri="{BB962C8B-B14F-4D97-AF65-F5344CB8AC3E}">
        <p14:creationId xmlns:p14="http://schemas.microsoft.com/office/powerpoint/2010/main" val="9216921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E23E90D4-596E-429B-B8D6-26D12C22E41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57DB44-59B7-437E-8979-EEB052E4411D}"/>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D7B862-449A-4128-BBA7-5F82A12A88F0}"/>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329AAD38-D7D4-4DAA-A3B8-000C7CD5CD0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86014AE-ADF9-45F5-AC32-FABE35E2874A}"/>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58D9596D-2940-432B-8441-12F90B4DA0C4}"/>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B9A27ECB-9B65-4CC2-BBEF-F0C0785B8F7C}"/>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2754357-FA5B-4548-9A77-E7BB46BE0006}"/>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DE5B97CC-AED9-4F05-BBB9-DDFE07172E0E}"/>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846F3235-CCF5-4113-8437-AF167564FB22}"/>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FC66CB-39CC-49C2-B985-13428E97E6B5}"/>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A71B71-11F4-4F5E-A8B9-B93C6C7C1D5F}"/>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E4A407-5032-4835-9255-F7FBBB55AFE6}"/>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3B79C94-3152-43A3-A45F-B9EA11AF599B}"/>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072D5B58-FC92-4D93-9BBC-B2567A0E0C92}"/>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BD9565-8AFE-4385-AD45-C009FBF6382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CDADDE1-A263-4E3F-AB48-F3B9EB3F7485}"/>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AC64671-E071-4AED-868E-0F1A4B79F53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A7C96E6-3AC3-4A06-B7BC-16011D2C34C7}"/>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A8F25F49-5D5B-4505-9E65-1C9818DD974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007C585-A4E4-4F18-9D3B-1C622BA91EE5}"/>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7E735DC-21E7-4571-8254-98DD897D21D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6E5D1AB-5C68-473C-B9CE-EAAF02EAAD2E}"/>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371197EF-2A5E-47A0-8259-5EDB93BF1256}"/>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3D3344F4-169F-4E00-94B0-7F7016BF9AC0}"/>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CFAF044-D33A-47AB-B232-844C70F2B8F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A71E9BB-CA7C-4E21-91BB-353D81FBE688}"/>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6D1D1FD-728F-4202-9891-FEC8784A2DB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74CD9D39-AD0F-4D7B-A87C-94CE294626E2}"/>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F0A34210-7D07-4F26-9B5F-C2889A455A9E}"/>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17482FD-D426-466C-AE33-8C6735461633}"/>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26E0694-F5B7-4C80-A7FB-2C7D18B5E04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EAD434B-AC74-45BD-B08B-5B9A740EA44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9DA7647C-CC01-4848-B711-68CF116D6ED3}"/>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99B35BBD-C6E7-450B-A933-74AA2F8B7CC1}"/>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FD46166-D735-44D3-917E-FD602B07873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677D877-40EF-4365-9A06-A02ADD6AED10}"/>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D25AE04-1E36-44BC-8C90-ED705729636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4BBD34A3-3260-4F36-AB6C-E773A81CBC9D}"/>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0021959A-D3E4-4003-99CA-D9B93D6256A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D466D1A-ED0E-497E-B6C1-DEFC03FE54DA}"/>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7FD4C3C-C78C-4435-B8BA-9B1B1DBEDAAD}"/>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3D77351-6D1F-4C15-B6B9-52797D2F65F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7BE38017-B638-450E-89CF-FCFE01599A36}"/>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4247704-2EBF-4903-B64D-F8CB7FE71646}"/>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B731E42-D6DD-4FFA-B9A9-A97893BD4D56}"/>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FAC094F-C08B-43A2-A799-51DB09F72FC2}"/>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37C68DC-3F6C-4A4C-9176-A05676F2595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3975998-8718-470B-9D28-447D187A1D5E}"/>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FDE067DB-99E0-46FC-B710-AEF3C918ECCF}"/>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FD0271C-185B-4899-AFCF-1D02AF1D98E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0FD5FFFE-1A65-4D23-B3F8-68081D63C1F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목적함수와 검증</a:t>
            </a:r>
          </a:p>
        </p:txBody>
      </p:sp>
      <p:sp>
        <p:nvSpPr>
          <p:cNvPr id="53" name="">
            <a:extLst xmlns:a="http://schemas.openxmlformats.org/drawingml/2006/main">
              <a:ext uri="{FF2B5EF4-FFF2-40B4-BE49-F238E27FC236}">
                <a16:creationId xmlns:a16="http://schemas.microsoft.com/office/drawing/2014/main" id="{63047320-EC36-45B5-BFB5-F5721C95B07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7B1CAA2F-8E9D-45F0-A11B-2CEC7A509432}"/>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43081391-8BFD-4EBA-9A49-358DCB9F0128}"/>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5B745F4-6F62-4080-B45B-89BAA695B5C0}"/>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0F54A2C-E27C-427B-9A8E-DB05B52988C0}"/>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3A40160-D4CB-413D-A342-6A3441047400}"/>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목적함수와 검증</a:t>
            </a:r>
          </a:p>
        </p:txBody>
      </p:sp>
      <p:sp>
        <p:nvSpPr>
          <p:cNvPr id="59" name="">
            <a:extLst xmlns:a="http://schemas.openxmlformats.org/drawingml/2006/main">
              <a:ext uri="{FF2B5EF4-FFF2-40B4-BE49-F238E27FC236}">
                <a16:creationId xmlns:a16="http://schemas.microsoft.com/office/drawing/2014/main" id="{9F1F74C1-D6FB-4E6E-B462-45E9D94A028E}"/>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주어진 목적함수와 제약 아래의 최적해</a:t>
            </a:r>
          </a:p>
        </p:txBody>
      </p:sp>
      <p:sp>
        <p:nvSpPr>
          <p:cNvPr id="60" name="">
            <a:extLst xmlns:a="http://schemas.openxmlformats.org/drawingml/2006/main">
              <a:ext uri="{FF2B5EF4-FFF2-40B4-BE49-F238E27FC236}">
                <a16:creationId xmlns:a16="http://schemas.microsoft.com/office/drawing/2014/main" id="{50D4B598-3144-4A8A-959B-1CFADE0E645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16BAA6B-9E61-4E12-82AF-874D828D8EA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B</a:t>
            </a:r>
          </a:p>
        </p:txBody>
      </p:sp>
      <p:sp>
        <p:nvSpPr>
          <p:cNvPr id="62" name="">
            <a:extLst xmlns:a="http://schemas.openxmlformats.org/drawingml/2006/main">
              <a:ext uri="{FF2B5EF4-FFF2-40B4-BE49-F238E27FC236}">
                <a16:creationId xmlns:a16="http://schemas.microsoft.com/office/drawing/2014/main" id="{F5AD181B-99E1-4F61-8710-24F8C36F42E0}"/>
              </a:ext>
            </a:extLst>
          </p:cNvPr>
          <p:cNvSpPr>
            <a:spLocks xmlns:a="http://schemas.openxmlformats.org/drawingml/2006/main" noGrp="1"/>
          </p:cNvSpPr>
          <p:nvPr/>
        </p:nvSpPr>
        <p:spPr>
          <a:xfrm xmlns:a="http://schemas.openxmlformats.org/drawingml/2006/main">
            <a:off x="3048000" y="3419475"/>
            <a:ext cx="11506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max Σ Mᵢ√kᵢ</a:t>
            </a:r>
          </a:p>
        </p:txBody>
      </p:sp>
      <p:sp>
        <p:nvSpPr>
          <p:cNvPr id="63" name="">
            <a:extLst xmlns:a="http://schemas.openxmlformats.org/drawingml/2006/main">
              <a:ext uri="{FF2B5EF4-FFF2-40B4-BE49-F238E27FC236}">
                <a16:creationId xmlns:a16="http://schemas.microsoft.com/office/drawing/2014/main" id="{E34668FA-E075-4895-99C3-57DC541C7AC5}"/>
              </a:ext>
            </a:extLst>
          </p:cNvPr>
          <p:cNvSpPr>
            <a:spLocks xmlns:a="http://schemas.openxmlformats.org/drawingml/2006/main" noGrp="1"/>
          </p:cNvSpPr>
          <p:nvPr/>
        </p:nvSpPr>
        <p:spPr>
          <a:xfrm xmlns:a="http://schemas.openxmlformats.org/drawingml/2006/main">
            <a:off x="3048000" y="4295775"/>
            <a:ext cx="11506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Σ kᵢ = 60    2 ≤ kᵢ ≤ min(6, ⌊0.20 × 점포 수⌋)</a:t>
            </a:r>
          </a:p>
        </p:txBody>
      </p:sp>
      <p:graphicFrame>
        <p:nvGraphicFramePr>
          <p:cNvPr id="129" name=""/>
          <p:cNvGraphicFramePr/>
          <p:nvPr/>
        </p:nvGraphicFramePr>
        <p:xfrm>
          <a:off xmlns:a="http://schemas.openxmlformats.org/drawingml/2006/main" x="3048000" y="5343525"/>
          <a:ext xmlns:a="http://schemas.openxmlformats.org/drawingml/2006/main" cx="11506200" cy="1752600"/>
        </p:xfrm>
        <a:graphic xmlns:a="http://schemas.openxmlformats.org/drawingml/2006/main">
          <a:graphicData uri="http://schemas.openxmlformats.org/drawingml/2006/table">
            <a:tbl>
              <a:tblPr/>
              <a:tblGrid>
                <a:gridCol w="5753100"/>
                <a:gridCol w="5753100"/>
              </a:tblGrid>
              <a:tr h="438150">
                <a:tc>
                  <a:txBody>
                    <a:bodyPr/>
                    <a:lstStyle/>
                    <a:p>
                      <a:r>
                        <a:rPr sz="1725" b="1">
                          <a:solidFill>
                            <a:srgbClr val="37352F"/>
                          </a:solidFill>
                          <a:latin typeface="Malgun Gothic"/>
                          <a:ea typeface="Malgun Gothic"/>
                          <a:cs typeface="Malgun Gothic"/>
                        </a:rPr>
                        <a:t>기록된 검증</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결과</a:t>
                      </a:r>
                    </a:p>
                  </a:txBody>
                  <a:tcPr marL="85725" marR="85725" marT="28575" marB="28575">
                    <a:solidFill>
                      <a:srgbClr val="F1F1EF"/>
                    </a:solidFill>
                  </a:tcPr>
                </a:tc>
              </a:tr>
              <a:tr h="438150">
                <a:tc>
                  <a:txBody>
                    <a:bodyPr/>
                    <a:lstStyle/>
                    <a:p>
                      <a:r>
                        <a:rPr sz="1725" b="0">
                          <a:solidFill>
                            <a:srgbClr val="37352F"/>
                          </a:solidFill>
                          <a:latin typeface="Malgun Gothic"/>
                          <a:ea typeface="Malgun Gothic"/>
                          <a:cs typeface="Malgun Gothic"/>
                        </a:rPr>
                        <a:t>DP와 탐욕 배정</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목적값 12.14232로 일치</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β 0.6~2.0/km 민감도</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상위 5곳 중 4~5곳 유지</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원본 입력·거리 파일</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현재 폴더에 없어 재실행하지 않음</a:t>
                      </a:r>
                    </a:p>
                  </a:txBody>
                  <a:tcPr marL="85725" marR="85725" marT="28575" marB="28575">
                    <a:solidFill>
                      <a:srgbClr val="FFFFFF"/>
                    </a:solidFill>
                  </a:tcPr>
                </a:tc>
              </a:tr>
            </a:tbl>
          </a:graphicData>
        </a:graphic>
      </p:graphicFrame>
      <p:sp>
        <p:nvSpPr>
          <p:cNvPr id="65" name="">
            <a:extLst xmlns:a="http://schemas.openxmlformats.org/drawingml/2006/main">
              <a:ext uri="{FF2B5EF4-FFF2-40B4-BE49-F238E27FC236}">
                <a16:creationId xmlns:a16="http://schemas.microsoft.com/office/drawing/2014/main" id="{2D2FDD93-AD62-4AFC-9E77-5E108318B0F1}"/>
              </a:ext>
            </a:extLst>
          </p:cNvPr>
          <p:cNvSpPr>
            <a:spLocks xmlns:a="http://schemas.openxmlformats.org/drawingml/2006/main" noGrp="1"/>
          </p:cNvSpPr>
          <p:nvPr/>
        </p:nvSpPr>
        <p:spPr>
          <a:xfrm xmlns:a="http://schemas.openxmlformats.org/drawingml/2006/main">
            <a:off x="3048000" y="75342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검증 기록. 실제 매출 효과의 최적성을 검증한 것이 아님</a:t>
            </a:r>
          </a:p>
        </p:txBody>
      </p:sp>
    </p:spTree>
    <p:extLst>
      <p:ext uri="{BB962C8B-B14F-4D97-AF65-F5344CB8AC3E}">
        <p14:creationId xmlns:p14="http://schemas.microsoft.com/office/powerpoint/2010/main" val="16009586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39463CB2-B260-4ECA-BEF8-2876E233095D}"/>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7232F9-CE40-4A6A-9A47-C9D141304B60}"/>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367A6A-3FD1-4CAB-93A9-242CE7675ED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A8576DC-5643-4E6E-9127-4B22EA45D84E}"/>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2A94F89C-2840-4B6F-912D-4D1339A6C112}"/>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BA07E903-F40E-4616-9581-7373B2DA9BB0}"/>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E6E0DC26-805A-4B2E-A836-DAF0BD373BB9}"/>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BCF47CF-DC75-4787-8CBA-A72ED20E9A1E}"/>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8F0B73E6-4CD5-4CF9-AD00-27B0FC370C32}"/>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BEE6690-EC30-44DF-8C58-4A9E7DA877A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D9A96E-EBD4-4011-8895-56B736EC7C6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1ED068-3BD4-4783-82EF-37A2EB261C1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63A2634-0B05-4F28-B570-104826EC6D92}"/>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30E48597-933E-496C-A3DA-FD9561F3F27E}"/>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005C65F7-4914-40F0-BD49-8BF6A361885E}"/>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62F12DB-5F7D-4C5F-9377-98D4755FDC2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3281349-412F-4C63-86FA-7B7C5E7FD8E8}"/>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BCBD6EC-93F3-4B7B-9CE9-52CA7FFF53CC}"/>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B4E45726-81B9-44C1-8480-C841B5C499E8}"/>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81692B1E-6E36-4BEF-849B-688413F9E1E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BD5DA36-2974-491D-80A1-F41540BA81AE}"/>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3816811-7C92-44F1-9297-6C58880C384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CEEF8E4-EA83-4FB2-BF22-9BDC0B862D4D}"/>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78B4F24D-C9A2-4457-B8E5-1F31174E091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BD5D1646-15B3-423C-ABF4-5435C0693C83}"/>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39CBC8C-D33A-4821-9EC7-44909A64045C}"/>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E985794-329E-4671-8418-F8E1C618C1A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D6E7311-2F8C-4BB7-AC25-1C34B9743129}"/>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D7AFE3DB-7346-4313-A7BB-2D3B8321110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08B241E-0917-4E2C-BAD5-AD43BE89FE88}"/>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9C895D1-3EC0-4D85-9086-DEA69A60D881}"/>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40962AE-00FC-4324-8367-D9529897B76F}"/>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02F770F-120C-493F-94BF-2FFF12E9C73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A4651688-A9E9-4705-99E2-9A79A8978F03}"/>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E739AD72-0CCB-4679-B817-8511F0BE95F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85268F5-5562-488B-9E30-AC438D2B9BC0}"/>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D0B005D-0E7C-483C-9469-55D00A689B79}"/>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714E59F-F536-45EF-8A5D-86F6DDB5434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677D7D5C-00B1-45B0-9D7A-379748BF9CA0}"/>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9C9FB29A-24D0-4FE4-B461-6759AC778F59}"/>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F2E06F6-B2C9-4FF0-BD7F-ADC8CEC9A912}"/>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7A9F708-A806-4492-B6AB-85C34175375F}"/>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985A796-368D-4855-B225-CD3727318530}"/>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884D2861-E3AD-4B7E-A3B3-38B53778875A}"/>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64EC4CC6-0C9D-4F5A-BF0A-2C5585A7F08B}"/>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80E590CD-FDE7-4DDE-B32A-A272F04ACA34}"/>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173357E-964A-4F60-9C82-7CDDF36755A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714C088-1F8A-448C-A696-54F33398A2AC}"/>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5B03D4F-BB57-4175-A162-7A486C045EFF}"/>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D8F83832-67F1-468A-BFD9-DD9B9E906C1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15E6C42D-7FD0-4B59-9053-1F1A7D4F6F24}"/>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C3E104FD-DEA1-49B0-AFF9-634027B53FC8}"/>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지수의 Shapley 설명</a:t>
            </a:r>
          </a:p>
        </p:txBody>
      </p:sp>
      <p:sp>
        <p:nvSpPr>
          <p:cNvPr id="53" name="">
            <a:extLst xmlns:a="http://schemas.openxmlformats.org/drawingml/2006/main">
              <a:ext uri="{FF2B5EF4-FFF2-40B4-BE49-F238E27FC236}">
                <a16:creationId xmlns:a16="http://schemas.microsoft.com/office/drawing/2014/main" id="{4420D4F0-0DDC-436E-A170-717CEAC384F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C29495EF-5E95-4CA4-8F47-308B6A73941E}"/>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4CE47920-31AD-4BF5-BB5B-376A04595E4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77E47A1-1E7A-4099-8052-1FFDE3B2819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597C310-B888-4F58-BC4A-E4444CE995A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C188F6D2-9C18-4F97-BBDE-1FF243604437}"/>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지수의 Shapley 설명</a:t>
            </a:r>
          </a:p>
        </p:txBody>
      </p:sp>
      <p:sp>
        <p:nvSpPr>
          <p:cNvPr id="59" name="">
            <a:extLst xmlns:a="http://schemas.openxmlformats.org/drawingml/2006/main">
              <a:ext uri="{FF2B5EF4-FFF2-40B4-BE49-F238E27FC236}">
                <a16:creationId xmlns:a16="http://schemas.microsoft.com/office/drawing/2014/main" id="{1E557F43-139F-42E5-8B04-A388C995CC01}"/>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평균 절대 Shapley 비중 · 기존 분석 기록</a:t>
            </a:r>
          </a:p>
        </p:txBody>
      </p:sp>
      <p:sp>
        <p:nvSpPr>
          <p:cNvPr id="60" name="">
            <a:extLst xmlns:a="http://schemas.openxmlformats.org/drawingml/2006/main">
              <a:ext uri="{FF2B5EF4-FFF2-40B4-BE49-F238E27FC236}">
                <a16:creationId xmlns:a16="http://schemas.microsoft.com/office/drawing/2014/main" id="{A0718DF1-E68D-4ACA-863F-4380A95A5EFE}"/>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34C135B-0778-4B30-9B26-7E72AA666D29}"/>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C</a:t>
            </a:r>
          </a:p>
        </p:txBody>
      </p:sp>
      <p:graphicFrame>
        <p:nvGraphicFramePr>
          <p:cNvPr id="127" name="Chart"/>
          <p:cNvGraphicFramePr/>
          <p:nvPr/>
        </p:nvGraphicFramePr>
        <p:xfrm>
          <a:off xmlns:a="http://schemas.openxmlformats.org/drawingml/2006/main" x="3048000" y="3381375"/>
          <a:ext xmlns:a="http://schemas.openxmlformats.org/drawingml/2006/main" cx="11506200" cy="3171825"/>
        </p:xfrm>
        <a:graphic xmlns:a="http://schemas.openxmlformats.org/drawingml/2006/main">
          <a:graphicData uri="http://schemas.openxmlformats.org/drawingml/2006/chart">
            <c:chart xmlns:r="http://schemas.openxmlformats.org/officeDocument/2006/relationships" xmlns:c="http://schemas.openxmlformats.org/drawingml/2006/chart" r:id="Rc7a1c45bb03447b0"/>
          </a:graphicData>
        </a:graphic>
      </p:graphicFrame>
      <p:sp>
        <p:nvSpPr>
          <p:cNvPr id="63" name="">
            <a:extLst xmlns:a="http://schemas.openxmlformats.org/drawingml/2006/main">
              <a:ext uri="{FF2B5EF4-FFF2-40B4-BE49-F238E27FC236}">
                <a16:creationId xmlns:a16="http://schemas.microsoft.com/office/drawing/2014/main" id="{339F3BE5-D9F9-41CF-A2A5-18608C986E36}"/>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28AA4F56-BA7E-4374-9C64-4CDB50D8AED2}"/>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91D8E5C2-D6E0-488A-B4A1-6357A42A2E6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지수 출력의 설명이며 축제 매출에 대한 인과 기여율이 아님</a:t>
            </a:r>
          </a:p>
        </p:txBody>
      </p:sp>
    </p:spTree>
    <p:extLst>
      <p:ext uri="{BB962C8B-B14F-4D97-AF65-F5344CB8AC3E}">
        <p14:creationId xmlns:p14="http://schemas.microsoft.com/office/powerpoint/2010/main" val="513381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2B951AF9-D1E2-4B38-96BC-C019A3D1A7BE}"/>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FEB8F0-B677-4F14-AB43-A63DDF6EC0DC}"/>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57F0E8-9470-4FF2-BE9B-2BBB15193BBC}"/>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14BE1582-7EC9-4998-B1A8-40ABFC612FEC}"/>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2DECE92C-74B1-408D-9C64-EDA86CEA0CAA}"/>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72925A8-6747-4697-97CE-63D1BA6B5F3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5130EAE0-6C8A-4F2D-B145-505DE0625B7F}"/>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5CBF1A42-CD87-40B6-BB35-FC91F06CC1DB}"/>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7836A40B-862C-4D12-A6FC-18C27DB52ED4}"/>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9E8199D3-B84E-4521-96E1-3A55DCF6AE71}"/>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6F7735-BE4F-4DC4-B5E9-2D954093A8B3}"/>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530DFF-7778-4B18-AAAD-A3431F0D41CF}"/>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C639A8-F503-4883-90AA-7CEA3C312833}"/>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A5F65EFD-25D7-499F-BE72-3B85321159A8}"/>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A4BFD6C-B6B9-4106-A249-EB6F6606F4C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1FDF605-917D-40BA-9C37-387E56751B1E}"/>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76225CA-23FC-43D7-A11A-7F7125E390D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CB8CD78-D695-4645-B4A5-DDA434010B52}"/>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6046DCC-2C92-4BB8-B72B-EA1980DB6AB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A2407163-7043-4F93-8E44-AC73B08E8B9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D8C3E0F-7653-4EC1-939B-3D6242D665F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8239488-874B-45C1-AA90-B300C25A10F0}"/>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22AE401-9627-4A3A-8C0A-CA46CAA45BF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8CBF99D5-853D-4229-882F-65EE3B4FB10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F5246E0F-109B-4B97-BFA3-E6EE24023BEC}"/>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AB35F35-C5DF-429A-A35C-6FE87AE64565}"/>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077EA5C-FF71-462F-A8F4-EE6DBFE2664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404B2C7-6D25-4A3F-9A9D-4757361FA078}"/>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05B50B32-9536-4798-B80B-7BDADE369CDE}"/>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40550CBE-58D7-4E63-8C90-C4C0C34D0D7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1C8AEFE-E5EE-4D75-9091-550F9F1AA2D8}"/>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47677F8-D622-41E6-85D5-9ED826142CA5}"/>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303F351-93A0-454F-90D2-7FE0638F37F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1C9A2BD5-A034-4537-A9EF-FE80C49FFBDE}"/>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7B7BA4EA-078D-43CD-975A-7BD6F64DAA02}"/>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FDD5E6A-EC7D-4337-A36E-7A6823EE8009}"/>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08CBF98-E234-415B-B7CB-F13A76681A2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780FC93-5003-4D29-83B0-48BA6A97BA5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BE08CDED-8D9E-4FAE-869A-7C1055916324}"/>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BC7B465A-C9C8-49C8-996C-8D3D9E7623F9}"/>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1AF6A67-7900-4065-ACD8-71F095C3E0FA}"/>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1001AAE-3A74-4362-B225-78220966163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3AC1218-E7C7-4240-8131-F2B1526FFD8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717A00C4-BCD1-4E81-8D35-7DDCBC93562B}"/>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AD11793-FB00-48D6-9158-9673862CC22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9661DC86-7619-4D7C-B331-D0B53CA5731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DD10AF6-1807-4356-B420-B247161CB8AE}"/>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43295A5F-667E-46DC-91C6-7DACA44BFA34}"/>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8F042F7-FDBB-4311-A427-3F1D30AA3876}"/>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C5A71624-1C0B-4CFF-B511-2854F75349EF}"/>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ADA25A68-AB2F-4ADC-8B69-53533B85CFB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1F4B05F3-D187-47E2-9B47-DAD21D0F225F}"/>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데이터 범위와 한계</a:t>
            </a:r>
          </a:p>
        </p:txBody>
      </p:sp>
      <p:sp>
        <p:nvSpPr>
          <p:cNvPr id="53" name="">
            <a:extLst xmlns:a="http://schemas.openxmlformats.org/drawingml/2006/main">
              <a:ext uri="{FF2B5EF4-FFF2-40B4-BE49-F238E27FC236}">
                <a16:creationId xmlns:a16="http://schemas.microsoft.com/office/drawing/2014/main" id="{059B8777-2539-497C-96D7-2E774FD3050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1E6B917-885A-4D69-AB81-C14677A5E11F}"/>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CB9959B6-190D-4550-9D3E-626F8BC9B2E3}"/>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E67C9A4-84A9-4602-B7E8-8ED11CC09015}"/>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8E0547A-042A-480E-8141-2C4E9B9A4973}"/>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2B34D91-C144-4584-837F-CE67F25FE84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데이터 범위와 한계</a:t>
            </a:r>
          </a:p>
        </p:txBody>
      </p:sp>
      <p:sp>
        <p:nvSpPr>
          <p:cNvPr id="59" name="">
            <a:extLst xmlns:a="http://schemas.openxmlformats.org/drawingml/2006/main">
              <a:ext uri="{FF2B5EF4-FFF2-40B4-BE49-F238E27FC236}">
                <a16:creationId xmlns:a16="http://schemas.microsoft.com/office/drawing/2014/main" id="{236B2EB2-A3DB-4C52-A674-EF4F6B592E78}"/>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분기·모집 단위·대체값을 구분</a:t>
            </a:r>
          </a:p>
        </p:txBody>
      </p:sp>
      <p:sp>
        <p:nvSpPr>
          <p:cNvPr id="60" name="">
            <a:extLst xmlns:a="http://schemas.openxmlformats.org/drawingml/2006/main">
              <a:ext uri="{FF2B5EF4-FFF2-40B4-BE49-F238E27FC236}">
                <a16:creationId xmlns:a16="http://schemas.microsoft.com/office/drawing/2014/main" id="{E2102B3D-65D4-4E12-9BA1-4C21C8A0C45F}"/>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DD23029-F36B-4470-86D1-BF524A6F5D4E}"/>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D</a:t>
            </a:r>
          </a:p>
        </p:txBody>
      </p:sp>
      <p:graphicFrame>
        <p:nvGraphicFramePr>
          <p:cNvPr id="125" name=""/>
          <p:cNvGraphicFramePr/>
          <p:nvPr/>
        </p:nvGraphicFramePr>
        <p:xfrm>
          <a:off xmlns:a="http://schemas.openxmlformats.org/drawingml/2006/main" x="3048000" y="3352800"/>
          <a:ext xmlns:a="http://schemas.openxmlformats.org/drawingml/2006/main" cx="11506200" cy="3810000"/>
        </p:xfrm>
        <a:graphic xmlns:a="http://schemas.openxmlformats.org/drawingml/2006/main">
          <a:graphicData uri="http://schemas.openxmlformats.org/drawingml/2006/table">
            <a:tbl>
              <a:tblPr/>
              <a:tblGrid>
                <a:gridCol w="2619375"/>
                <a:gridCol w="8886825"/>
              </a:tblGrid>
              <a:tr h="544286">
                <a:tc>
                  <a:txBody>
                    <a:bodyPr/>
                    <a:lstStyle/>
                    <a:p>
                      <a:r>
                        <a:rPr sz="1800" b="1">
                          <a:solidFill>
                            <a:srgbClr val="37352F"/>
                          </a:solidFill>
                          <a:latin typeface="Malgun Gothic"/>
                          <a:ea typeface="Malgun Gothic"/>
                          <a:cs typeface="Malgun Gothic"/>
                        </a:rPr>
                        <a:t>항목</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적용 기준</a:t>
                      </a:r>
                    </a:p>
                  </a:txBody>
                  <a:tcPr marL="85725" marR="85725" marT="28575" marB="28575">
                    <a:solidFill>
                      <a:srgbClr val="F1F1EF"/>
                    </a:solidFill>
                  </a:tcPr>
                </a:tc>
              </a:tr>
              <a:tr h="544286">
                <a:tc>
                  <a:txBody>
                    <a:bodyPr/>
                    <a:lstStyle/>
                    <a:p>
                      <a:r>
                        <a:rPr sz="1800" b="0">
                          <a:solidFill>
                            <a:srgbClr val="37352F"/>
                          </a:solidFill>
                          <a:latin typeface="Malgun Gothic"/>
                          <a:ea typeface="Malgun Gothic"/>
                          <a:cs typeface="Malgun Gothic"/>
                        </a:rPr>
                        <a:t>웹 전체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현재 명단 23곳 · 4,374점포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정책 대상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코어 9 + 참여 7 = 16곳 · 2,699점포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2026년 1분기 매출 대체 / 현재 점포 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D·L·R·M</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PDF 공개값 소수 셋째 자리 / 거리 재계산 아님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시계열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유동은 재현 / 장기 매출은 구성안 기록값</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배정·체험</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모집 계획 / 가상 스탬프·쿠폰은 실제 사용 불가</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41432988-B706-42EA-8089-857209C1C11E}"/>
              </a:ext>
            </a:extLst>
          </p:cNvPr>
          <p:cNvSpPr>
            <a:spLocks xmlns:a="http://schemas.openxmlformats.org/drawingml/2006/main" noGrp="1"/>
          </p:cNvSpPr>
          <p:nvPr/>
        </p:nvSpPr>
        <p:spPr>
          <a:xfrm xmlns:a="http://schemas.openxmlformats.org/drawingml/2006/main">
            <a:off x="3048000" y="7581900"/>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787774"/>
                </a:solidFill>
                <a:latin typeface="Malgun Gothic"/>
                <a:ea typeface="Malgun Gothic"/>
                <a:cs typeface="Malgun Gothic"/>
              </a:defRPr>
            </a:pPr>
            <a:r>
              <a:rPr sz="1725" b="0">
                <a:solidFill>
                  <a:srgbClr val="787774"/>
                </a:solidFill>
                <a:latin typeface="Malgun Gothic"/>
                <a:ea typeface="Malgun Gothic"/>
                <a:cs typeface="Malgun Gothic"/>
              </a:rPr>
              <a:t>교정된 연계존 명단이 없어 구성안의 4,402점포는 적용하지 않음</a:t>
            </a:r>
          </a:p>
        </p:txBody>
      </p:sp>
    </p:spTree>
    <p:extLst>
      <p:ext uri="{BB962C8B-B14F-4D97-AF65-F5344CB8AC3E}">
        <p14:creationId xmlns:p14="http://schemas.microsoft.com/office/powerpoint/2010/main" val="16714126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6D948F5E-FEE6-45B1-B946-4AAC5F7AF773}"/>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6A1C8F-56EC-41ED-BF03-7D194DDE5939}"/>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982BF4-BFAF-4846-A09F-E00E7036D2E4}"/>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360CB1E-7DF7-4ADF-8579-FF2755EBFC54}"/>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0DC8FBBB-411A-44B9-82CF-DCF39EBD40AB}"/>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6441AFD2-EA6E-4C7E-8830-1B8E51B07B0D}"/>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09A6B7D-CE41-4EC7-A0D6-05699F12A9F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956CE5A7-7F63-4938-91B4-8E55F90546FE}"/>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BD4CBB14-2467-4380-BEB6-3747016FB56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2E79457B-7C66-47E5-B96C-7E94619D61A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1353EA-CD25-4B03-8BE6-0078FF74CEDD}"/>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845FCE4-2BAF-4354-B801-43AB423AFF64}"/>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104126-A05D-4E73-A86A-1D3E1E9ADF85}"/>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3A298A38-E885-4CBD-8A33-71DE8B2D7516}"/>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10EE85E7-BA07-4816-B81F-1DC5FBC8F31A}"/>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475177-F3E0-4F6A-8E2F-5591500D62E1}"/>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3C372D9-D81F-4552-A767-8ED2653D858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4943807-4B82-43D2-970E-F3704B5BA58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B1DE6AC7-2F3B-4408-AFCC-59E23F951621}"/>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CC159252-62E7-416B-B53D-65BAAF0F61DF}"/>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37C5B36-879F-45DB-84B9-D03DC5E02612}"/>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207B965-2EFC-40DB-A067-CB63FAE2C3E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E4E1ED0-64A1-4143-B00E-E50C472B047F}"/>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A327589-DC32-4129-A608-FFD431AF5D33}"/>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09021B83-7F20-4082-8E97-A7A5CA8574DF}"/>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B6D72C0-8A26-4D27-B5E3-B852AD916545}"/>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FF30269-5E8E-4FB7-844E-1549B07A2608}"/>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B9F3A49-E324-4748-9C8B-E84FF3F0538F}"/>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C9E5C4E7-8260-48FF-B521-618CA585D4BD}"/>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1ED5B8A1-696E-440E-B672-83097437066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56BE86A-0AF8-436F-8CED-7F7A1E1CE95E}"/>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575AD61-70E7-4677-97C5-DB7B9A3B1B1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99E92DF-9F17-4254-9424-72D6532182E1}"/>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882EBE05-7442-4F9E-9B80-3A9C8B44C7AD}"/>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9A2014AA-546D-4AAF-94B5-9EDC1E4A3D7E}"/>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D3A8025-DF93-4F9D-AF6A-7BDD32059238}"/>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9B3E7A5-7DA7-406F-955F-16F731A14CE0}"/>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9FAB511-A0D5-4E7E-B9E0-24CA8E00348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8A2123F2-9BF4-4659-90BA-8857C6F4425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14ADA53A-A62E-450E-A458-86824258C08A}"/>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C8ECCD8-2DDC-45F2-88D1-73B25A999E22}"/>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72A90D6-D08C-4907-8E21-A237E1D70BEC}"/>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E1CBAF7-7651-4AB0-AB33-F4A95B974D2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0D73CB8D-1687-4626-A290-BD4275CEB2F4}"/>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AACD3BB-9A80-4B09-97BD-69C6CE8389AF}"/>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3AD87B0F-2377-4934-8DC7-9F47C6BE282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3A56CEE-0494-44A3-B3CD-668E7AA19CE3}"/>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45B7ACE-362B-478B-B330-E8EA9D5363B8}"/>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24963F9-2B0E-4E62-9ABE-EFF6D8C2744B}"/>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88325892-F1DC-4E85-BAD9-F8BB7927A97B}"/>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D3D1A7B8-9751-4D00-BF87-6C00BE1A48C5}"/>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ADF3646F-609E-45AC-9C06-2D4A2F0BC2FC}"/>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거리 기준과 클리핑</a:t>
            </a:r>
          </a:p>
        </p:txBody>
      </p:sp>
      <p:sp>
        <p:nvSpPr>
          <p:cNvPr id="53" name="">
            <a:extLst xmlns:a="http://schemas.openxmlformats.org/drawingml/2006/main">
              <a:ext uri="{FF2B5EF4-FFF2-40B4-BE49-F238E27FC236}">
                <a16:creationId xmlns:a16="http://schemas.microsoft.com/office/drawing/2014/main" id="{75901FA5-A1D0-43E0-B4D6-D12EFB8EF3CE}"/>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764A49B8-D46D-4602-AE1F-7999D91F40F4}"/>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877ABEC1-1818-4D5C-BA68-73F8914DE5B8}"/>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FCB3B20-313A-428C-9542-1BC378DBFC8D}"/>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E6E5A7C-3AB5-40F0-8166-2DCB3CC58102}"/>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068C0A2-D748-49E3-A411-D385602E84EF}"/>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거리 기준과 클리핑</a:t>
            </a:r>
          </a:p>
        </p:txBody>
      </p:sp>
      <p:sp>
        <p:nvSpPr>
          <p:cNvPr id="59" name="">
            <a:extLst xmlns:a="http://schemas.openxmlformats.org/drawingml/2006/main">
              <a:ext uri="{FF2B5EF4-FFF2-40B4-BE49-F238E27FC236}">
                <a16:creationId xmlns:a16="http://schemas.microsoft.com/office/drawing/2014/main" id="{CB2F7A1B-6810-4762-ACF1-FA70FEA302DC}"/>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서로 다른 거리 기준과 정규화 방식</a:t>
            </a:r>
          </a:p>
        </p:txBody>
      </p:sp>
      <p:sp>
        <p:nvSpPr>
          <p:cNvPr id="60" name="">
            <a:extLst xmlns:a="http://schemas.openxmlformats.org/drawingml/2006/main">
              <a:ext uri="{FF2B5EF4-FFF2-40B4-BE49-F238E27FC236}">
                <a16:creationId xmlns:a16="http://schemas.microsoft.com/office/drawing/2014/main" id="{2EF60FD1-7E7F-4179-A24A-3CEBEE502A30}"/>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496AA78-A578-4A3D-88BD-218D8F65D280}"/>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E</a:t>
            </a:r>
          </a:p>
        </p:txBody>
      </p:sp>
      <p:graphicFrame>
        <p:nvGraphicFramePr>
          <p:cNvPr id="127" name=""/>
          <p:cNvGraphicFramePr/>
          <p:nvPr/>
        </p:nvGraphicFramePr>
        <p:xfrm>
          <a:off xmlns:a="http://schemas.openxmlformats.org/drawingml/2006/main" x="3048000" y="3362325"/>
          <a:ext xmlns:a="http://schemas.openxmlformats.org/drawingml/2006/main" cx="11506200" cy="3524250"/>
        </p:xfrm>
        <a:graphic xmlns:a="http://schemas.openxmlformats.org/drawingml/2006/main">
          <a:graphicData uri="http://schemas.openxmlformats.org/drawingml/2006/table">
            <a:tbl>
              <a:tblPr/>
              <a:tblGrid>
                <a:gridCol w="2762250"/>
                <a:gridCol w="8743950"/>
              </a:tblGrid>
              <a:tr h="587375">
                <a:tc>
                  <a:txBody>
                    <a:bodyPr/>
                    <a:lstStyle/>
                    <a:p>
                      <a:r>
                        <a:rPr sz="1875" b="1">
                          <a:solidFill>
                            <a:srgbClr val="37352F"/>
                          </a:solidFill>
                          <a:latin typeface="Malgun Gothic"/>
                          <a:ea typeface="Malgun Gothic"/>
                          <a:cs typeface="Malgun Gothic"/>
                        </a:rPr>
                        <a:t>기준</a:t>
                      </a:r>
                    </a:p>
                  </a:txBody>
                  <a:tcPr marL="85725" marR="85725" marT="28575" marB="28575">
                    <a:solidFill>
                      <a:srgbClr val="F1F1EF"/>
                    </a:solidFill>
                  </a:tcPr>
                </a:tc>
                <a:tc>
                  <a:txBody>
                    <a:bodyPr/>
                    <a:lstStyle/>
                    <a:p>
                      <a:r>
                        <a:rPr sz="1875" b="1">
                          <a:solidFill>
                            <a:srgbClr val="37352F"/>
                          </a:solidFill>
                          <a:latin typeface="Malgun Gothic"/>
                          <a:ea typeface="Malgun Gothic"/>
                          <a:cs typeface="Malgun Gothic"/>
                        </a:rPr>
                        <a:t>용도와 해석</a:t>
                      </a:r>
                    </a:p>
                  </a:txBody>
                  <a:tcPr marL="85725" marR="85725" marT="28575" marB="28575">
                    <a:solidFill>
                      <a:srgbClr val="F1F1EF"/>
                    </a:solidFill>
                  </a:tcPr>
                </a:tc>
              </a:tr>
              <a:tr h="587375">
                <a:tc>
                  <a:txBody>
                    <a:bodyPr/>
                    <a:lstStyle/>
                    <a:p>
                      <a:r>
                        <a:rPr sz="1875" b="0">
                          <a:solidFill>
                            <a:srgbClr val="37352F"/>
                          </a:solidFill>
                          <a:latin typeface="Malgun Gothic"/>
                          <a:ea typeface="Malgun Gothic"/>
                          <a:cs typeface="Malgun Gothic"/>
                        </a:rPr>
                        <a:t>300m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삼각형 외곽 참여 범위 규칙</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583m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평시 20대 비중 모형의 반감거리</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425m 분절점</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추가 설명력 유의하지 않음 · F=1.51</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500점포 클리핑</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옛 min-max 점포 항의 방어 장치</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현재 배정</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16곳 내 백분위·비율 지표와 최대6개 상한</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846EE4DD-FFBA-429A-8C1D-E6A7F790943D}"/>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922F2A44-B93B-4AA5-9244-93D70FCCB269}"/>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2BE528C8-6C37-45D0-994A-D51E17F30719}"/>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“400m에서 확실히 급감” 또는 “추가 예산 0원”으로 설명하지 않음</a:t>
            </a:r>
          </a:p>
        </p:txBody>
      </p:sp>
    </p:spTree>
    <p:extLst>
      <p:ext uri="{BB962C8B-B14F-4D97-AF65-F5344CB8AC3E}">
        <p14:creationId xmlns:p14="http://schemas.microsoft.com/office/powerpoint/2010/main" val="203517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2026-09-13T07:38:57.6630000Z</dcterms:created>
  <dcterms:modified xsi:type="dcterms:W3CDTF">2026-09-13T07:38:57.6630000Z</dcterms:modified>
</coreProperties>
</file>