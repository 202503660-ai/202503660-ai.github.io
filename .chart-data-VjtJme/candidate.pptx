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d5eaa18fc104f7b" /><Relationship Type="http://schemas.openxmlformats.org/officeDocument/2006/relationships/extended-properties" Target="/docProps/app.xml" Id="R1956611ca27c407c" /><Relationship Type="http://schemas.openxmlformats.org/officeDocument/2006/relationships/officeDocument" Target="/ppt/presentation.xml" Id="Rf19537364fec4aa1" /></Relationships>
</file>

<file path=ppt/presentation.xml><?xml version="1.0" encoding="utf-8"?>
<p:presentation xmlns:p="http://schemas.openxmlformats.org/presentationml/2006/main">
  <p:sldMasterIdLst>
    <p:sldMasterId xmlns:r="http://schemas.openxmlformats.org/officeDocument/2006/relationships" id="2147483648" r:id="R2d52b194c2834b43"/>
  </p:sldMasterIdLst>
  <p:notesMasterIdLst>
    <p:notesMasterId xmlns:r="http://schemas.openxmlformats.org/officeDocument/2006/relationships" r:id="R7776709753f34afd"/>
  </p:notesMasterIdLst>
  <p:sldIdLst>
    <p:sldId xmlns:r="http://schemas.openxmlformats.org/officeDocument/2006/relationships" id="256" r:id="R3ecef9010ca34aed"/>
    <p:sldId xmlns:r="http://schemas.openxmlformats.org/officeDocument/2006/relationships" id="257" r:id="R572aff9763e944c3"/>
    <p:sldId xmlns:r="http://schemas.openxmlformats.org/officeDocument/2006/relationships" id="258" r:id="R68a5cda877dc45e0"/>
    <p:sldId xmlns:r="http://schemas.openxmlformats.org/officeDocument/2006/relationships" id="259" r:id="R08424ac820454390"/>
    <p:sldId xmlns:r="http://schemas.openxmlformats.org/officeDocument/2006/relationships" id="260" r:id="R44d816f4ffb94b9f"/>
    <p:sldId xmlns:r="http://schemas.openxmlformats.org/officeDocument/2006/relationships" id="261" r:id="R6395a582c53646ad"/>
    <p:sldId xmlns:r="http://schemas.openxmlformats.org/officeDocument/2006/relationships" id="262" r:id="R17d350706336482c"/>
    <p:sldId xmlns:r="http://schemas.openxmlformats.org/officeDocument/2006/relationships" id="263" r:id="R43b254111f704771"/>
    <p:sldId xmlns:r="http://schemas.openxmlformats.org/officeDocument/2006/relationships" id="264" r:id="R53a4f612548a4cd1"/>
    <p:sldId xmlns:r="http://schemas.openxmlformats.org/officeDocument/2006/relationships" id="265" r:id="R1d2ee318aa534a5f"/>
    <p:sldId xmlns:r="http://schemas.openxmlformats.org/officeDocument/2006/relationships" id="266" r:id="R53f1c98bd4234bdd"/>
    <p:sldId xmlns:r="http://schemas.openxmlformats.org/officeDocument/2006/relationships" id="267" r:id="Rc12c1477b53a4085"/>
    <p:sldId xmlns:r="http://schemas.openxmlformats.org/officeDocument/2006/relationships" id="268" r:id="R98e9ea4cf7c34eaa"/>
    <p:sldId xmlns:r="http://schemas.openxmlformats.org/officeDocument/2006/relationships" id="269" r:id="Re148a0029d3348cf"/>
    <p:sldId xmlns:r="http://schemas.openxmlformats.org/officeDocument/2006/relationships" id="270" r:id="Ra9094db03838429b"/>
    <p:sldId xmlns:r="http://schemas.openxmlformats.org/officeDocument/2006/relationships" id="271" r:id="R9c75bd528a124ca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b6c69f29e8c48c1" /><Relationship Type="http://schemas.openxmlformats.org/officeDocument/2006/relationships/slideMaster" Target="/ppt/slideMasters/slideMaster1.xml" Id="R2d52b194c2834b43" /><Relationship Type="http://schemas.openxmlformats.org/officeDocument/2006/relationships/notesMaster" Target="/ppt/notesMasters/notesMaster1.xml" Id="R7776709753f34afd" /><Relationship Type="http://schemas.openxmlformats.org/officeDocument/2006/relationships/presProps" Target="/ppt/presProps.xml" Id="R629d9533f6a84fda" /><Relationship Type="http://schemas.openxmlformats.org/officeDocument/2006/relationships/tableStyles" Target="/ppt/tableStyles.xml" Id="Rac7f90a786324a50" /><Relationship Type="http://schemas.openxmlformats.org/officeDocument/2006/relationships/slide" Target="/ppt/slides/slide1.xml" Id="R3ecef9010ca34aed" /><Relationship Type="http://schemas.openxmlformats.org/officeDocument/2006/relationships/slide" Target="/ppt/slides/slide2.xml" Id="R572aff9763e944c3" /><Relationship Type="http://schemas.openxmlformats.org/officeDocument/2006/relationships/slide" Target="/ppt/slides/slide3.xml" Id="R68a5cda877dc45e0" /><Relationship Type="http://schemas.openxmlformats.org/officeDocument/2006/relationships/slide" Target="/ppt/slides/slide4.xml" Id="R08424ac820454390" /><Relationship Type="http://schemas.openxmlformats.org/officeDocument/2006/relationships/slide" Target="/ppt/slides/slide5.xml" Id="R44d816f4ffb94b9f" /><Relationship Type="http://schemas.openxmlformats.org/officeDocument/2006/relationships/slide" Target="/ppt/slides/slide6.xml" Id="R6395a582c53646ad" /><Relationship Type="http://schemas.openxmlformats.org/officeDocument/2006/relationships/slide" Target="/ppt/slides/slide7.xml" Id="R17d350706336482c" /><Relationship Type="http://schemas.openxmlformats.org/officeDocument/2006/relationships/slide" Target="/ppt/slides/slide8.xml" Id="R43b254111f704771" /><Relationship Type="http://schemas.openxmlformats.org/officeDocument/2006/relationships/slide" Target="/ppt/slides/slide9.xml" Id="R53a4f612548a4cd1" /><Relationship Type="http://schemas.openxmlformats.org/officeDocument/2006/relationships/slide" Target="/ppt/slides/slide10.xml" Id="R1d2ee318aa534a5f" /><Relationship Type="http://schemas.openxmlformats.org/officeDocument/2006/relationships/slide" Target="/ppt/slides/slide11.xml" Id="R53f1c98bd4234bdd" /><Relationship Type="http://schemas.openxmlformats.org/officeDocument/2006/relationships/slide" Target="/ppt/slides/slide12.xml" Id="Rc12c1477b53a4085" /><Relationship Type="http://schemas.openxmlformats.org/officeDocument/2006/relationships/slide" Target="/ppt/slides/slide13.xml" Id="R98e9ea4cf7c34eaa" /><Relationship Type="http://schemas.openxmlformats.org/officeDocument/2006/relationships/slide" Target="/ppt/slides/slide14.xml" Id="Re148a0029d3348cf" /><Relationship Type="http://schemas.openxmlformats.org/officeDocument/2006/relationships/slide" Target="/ppt/slides/slide15.xml" Id="Ra9094db03838429b" /><Relationship Type="http://schemas.openxmlformats.org/officeDocument/2006/relationships/slide" Target="/ppt/slides/slide16.xml" Id="R9c75bd528a124c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4f1ab03b1e04c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de1026400c44c4" /><Relationship Type="http://schemas.openxmlformats.org/officeDocument/2006/relationships/notesMaster" Target="/ppt/notesMasters/notesMaster1.xml" Id="R22bcb601e1a045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bd8c39e2754d26" /><Relationship Type="http://schemas.openxmlformats.org/officeDocument/2006/relationships/notesMaster" Target="/ppt/notesMasters/notesMaster1.xml" Id="Ra622ac0d00fc48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d9e956605f4c06" /><Relationship Type="http://schemas.openxmlformats.org/officeDocument/2006/relationships/notesMaster" Target="/ppt/notesMasters/notesMaster1.xml" Id="R4c6c5dbf9b1a42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a2656a1e194717" /><Relationship Type="http://schemas.openxmlformats.org/officeDocument/2006/relationships/notesMaster" Target="/ppt/notesMasters/notesMaster1.xml" Id="R5e86701a860b463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dcdec5934f42b3" /><Relationship Type="http://schemas.openxmlformats.org/officeDocument/2006/relationships/notesMaster" Target="/ppt/notesMasters/notesMaster1.xml" Id="R1d1def03d2ca46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18d7b3745a4375" /><Relationship Type="http://schemas.openxmlformats.org/officeDocument/2006/relationships/notesMaster" Target="/ppt/notesMasters/notesMaster1.xml" Id="Re664bb0329214b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91caf46fad4cc2" /><Relationship Type="http://schemas.openxmlformats.org/officeDocument/2006/relationships/notesMaster" Target="/ppt/notesMasters/notesMaster1.xml" Id="R688cc2725e0b443a" /></Relationships>
</file>

<file path=ppt/notesSlides/_rels/notesSlide8.xml.rels>&#65279;<?xml version="1.0" encoding="utf-8"?><Relationships xmlns="http://schemas.openxmlformats.org/package/2006/relationships"><Relationship Type="http://schemas.openxmlformats.org/officeDocument/2006/relationships/slide" Target="/ppt/slides/slide8.xml" Id="R1eaddc57c61b49cf" /><Relationship Type="http://schemas.openxmlformats.org/officeDocument/2006/relationships/notesMaster" Target="/ppt/notesMasters/notesMaster1.xml" Id="R777d3305872143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84cfff2d584f1b" /><Relationship Type="http://schemas.openxmlformats.org/officeDocument/2006/relationships/notesMaster" Target="/ppt/notesMasters/notesMaster1.xml" Id="Re7836c1ee1dd48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807728ff884af8" /><Relationship Type="http://schemas.openxmlformats.org/officeDocument/2006/relationships/notesMaster" Target="/ppt/notesMasters/notesMaster1.xml" Id="R7e14586326c14b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d53047d94244a3" /><Relationship Type="http://schemas.openxmlformats.org/officeDocument/2006/relationships/notesMaster" Target="/ppt/notesMasters/notesMaster1.xml" Id="R44b58d510f4f40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6b685dc3f341cd" /><Relationship Type="http://schemas.openxmlformats.org/officeDocument/2006/relationships/notesMaster" Target="/ppt/notesMasters/notesMaster1.xml" Id="Rc3d6d3eb9e8d40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ac64cd90ba4e2f" /><Relationship Type="http://schemas.openxmlformats.org/officeDocument/2006/relationships/notesMaster" Target="/ppt/notesMasters/notesMaster1.xml" Id="Rbe316a203b7140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6a20e4662df477c" /><Relationship Type="http://schemas.openxmlformats.org/officeDocument/2006/relationships/notesMaster" Target="/ppt/notesMasters/notesMaster1.xml" Id="R74f8fb6472a7478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97ee76d2b9546c7" /><Relationship Type="http://schemas.openxmlformats.org/officeDocument/2006/relationships/notesMaster" Target="/ppt/notesMasters/notesMaster1.xml" Id="R381193b8924244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009b7a9ddbb4448" /><Relationship Type="http://schemas.openxmlformats.org/officeDocument/2006/relationships/notesMaster" Target="/ppt/notesMasters/notesMaster1.xml" Id="R36f80eebc50246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10초</a:t>
            </a:r>
          </a:p>
          <a:p xmlns:a="http://schemas.openxmlformats.org/drawingml/2006/main">
            <a:r>
              <a:t>안녕하세요. 저희는 회기·이문·전농의 16개 상권에 스탬프 60개를 어떻게 배정할지 제안합니다.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코어 9개 상권에서 20대 유동의 이동평균 지수는 기준 수준에 가깝습니다. 최종 구성안에 기록된 20대 추정매출 지수는 73.4로 낮아졌습니다. 이번 폴더에서 유동 추이는 재현했지만 장기 매출 원자료는 없어 기록값을 구분했습니다. 이 차이를 방문과 지역 소비를 연결하는 운영 장치의 검토 배경으로 삼았습니다. 축제의 효과나 감소 원인을 증명한 결과는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참여 범위는 세 대학앞 상권을 감싼 볼록껍질의 외곽에 300미터를 더하고, 상권 면적의 절반 이상이 들어오는 곳을 선택하는 규칙입니다. 문서상 코어 9곳과 참여 7곳, 총 16곳입니다. 여기 지도는 공식 중심점 위치도이며 실제 경계를 재현한 것은 아닙니다. 연계존 7곳은 교통 연계를 검토합니다.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도달 지수에는 평시 20대 비중과 거리의 관계에서 추정한 감쇠계수를 사용합니다. 기록된 베타는 킬로미터당 1.189이며 반감거리는 약 583미터입니다. 이 곡선은 그 계수를 적용한 모형값입니다. 축제 당일 방문을 측정한 결과가 아니고, 앞의 300미터 참여 규칙과도 용도가 다릅니다.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배정 기준은 소외도 M입니다. D는 최근의 하락, L은 낮은 점포당 매출, R은 거리 기반 도달을 뜻합니다. D는 네 지표를 백분위화해 평균한 뒤 다시 백분위화합니다. D와 L을 대칭적으로 결합하고 R을 곱합니다. 시립대앞사거리는 M이 0.669로 6개, 경희대앞은 0.216으로 최소 참여 2개를 배정합니다. 취향 추천 점수와는 별개의 정책 지수입니다.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60개 총량 안에서 코어에 36개, 참여에 24개를 배정했습니다. 연계존은 0개입니다. 상권별 최소 2개를 보장하고, 최대 6개 또는 전체 점포 수의 20퍼센트 중 작은 값을 상한으로 둡니다. 시조사삼거리와 회기역 1번은 2개에서 6개로 늘었습니다. 이경시장은 점포 19곳의 20퍼센트를 내림한 상한 때문에 3개입니다. 확정 제휴 매장 수가 아닌 모집 배정안입니다.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40초</a:t>
            </a:r>
          </a:p>
          <a:p xmlns:a="http://schemas.openxmlformats.org/drawingml/2006/main">
            <a:r>
              <a:t>전체 60개로 분모를 통일하면 소외도 상위 다섯 곳의 몫은 13개, 21.7퍼센트에서 27개, 45퍼센트로 늘어납니다. 같은 총량에서 14개를 더 배정하는 방향으로 바뀐 것입니다. 배정과 점포당 매출의 상관도 양에서 음으로 전환했습니다. 이 숫자는 매출 증가 효과가 아니라 계획상 배정량의 변화입니다.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35초</a:t>
            </a:r>
          </a:p>
          <a:p xmlns:a="http://schemas.openxmlformats.org/drawingml/2006/main">
            <a:r>
              <a:t>분석에서는 세 상권을 묶는 코스도 제안했습니다. 회기권은 회기역 1번, 회기시장, 시조사삼거리입니다. 이문권과 전농권도 각각 세 곳을 연결합니다. 세 코스는 소외도 상위 다섯 곳을 모두 포함합니다. 거리는 대표점 직선거리에 우회계수를 적용한 가정값이므로 실제 보행경로와 방문 순서는 현장 확인이 필요합니다. 웹의 기존 테마 코스와는 구분합니다.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45초</a:t>
            </a:r>
          </a:p>
          <a:p xmlns:a="http://schemas.openxmlformats.org/drawingml/2006/main">
            <a:r>
              <a:t>[추천 화면 10초] 방문객은 취향에 맞는 상권을 찾습니다. [지도 목록에서 시립대앞사거리 열기 15초] 상세 화면에서 스탬프 6개와 소외도 0.669를 확인합니다. [근거 설명 15초] D·L·R과 상한, 출처를 함께 보여주어 배정 이유를 설명합니다. 방문객 추천과 운영자 배정은 목적이 다릅니다. [발표 복귀 5초] 네트워크가 끊기면 동일한 캡처로 설명합니다.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50초</a:t>
            </a:r>
          </a:p>
          <a:p xmlns:a="http://schemas.openxmlformats.org/drawingml/2006/main">
            <a:r>
              <a:t>실행은 행사 4주 전 협의부터 시작합니다. 2~3주 전에는 제휴 모집과 경로를 확인하고, 1주 전에는 쿠폰과 집계를 점검합니다. 대학 운영진은 방문 안내, 상인회와 상점은 모집과 쿠폰, 관계 기관은 현장 지원, 분석팀은 배정과 평가를 담당하도록 제안합니다. 모집 실적과 완주율을 집계하고, 동의한 매장의 매출과 객수를 비교합니다. 요일과 날씨, 학사일정도 고려해야 합니다. 인력과 제작물, 쿠폰 재원은 별도 산정합니다.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25초</a:t>
            </a:r>
          </a:p>
          <a:p xmlns:a="http://schemas.openxmlformats.org/drawingml/2006/main">
            <a:r>
              <a:t>제안의 규모는 16개 상권과 60개 배정입니다. 그중 소외도 상위 다섯 곳에 27개를 배정했습니다. 이 배정안으로 참여 상점을 모집하고 실제 방문과 소비 자료를 모아 다음 행사에 반영하겠습니다. 현장 검증과 제휴 협의를 진행할 시범 운영 기회를 요청드립니다.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B10-14 PDF 7–8쪽의 공개 배정표. 소수 셋째 자리 반올림 값이며 재계산 결과가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목적함수와 제약 아래의 최적성입니다. 실제 매출 증가를 최대화한다고 검증한 것은 아닙니다. DP 결과와 민감도는 B10-14에 기록된 검증이며 이번 폴더에서 원본 입력으로 재실행하지 않았습니다.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D 41.5%, L 41.6%, R 16.9%는 기록된 평균 절대 Shapley 비중입니다. 지수 출력의 설명이며 인과적 매출 기여율이 아닙니다.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전체 웹 명단은 현재 로컬 데이터를 유지합니다. 구성안의 4,402점포는 교정 명단이 없어 적용하지 않습니다. 자료가 없다고 0으로 바꾸거나 임의의 관측치를 만들지 않습니다.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a:t>
            </a:r>
          </a:p>
          <a:p xmlns:a="http://schemas.openxmlformats.org/drawingml/2006/main">
            <a:r>
              <a:t>300m는 범위 규칙이고 583m는 감쇠모형의 반감거리입니다. 425m 분절점의 추가 설명력은 유의하지 않습니다. 새 지수에 옛 점포 수 min-max 항이 없으므로 500개 클리핑을 복원하지 않습니다.</a:t>
            </a:r>
          </a:p>
          <a:p xmlns:a="http://schemas.openxmlformats.org/drawingml/2006/main">
            <a:r>
              <a:t>출처: 최종_PPT_구성안.md; B10-14 PDF; B10-16 PDF. 디자인 참고: https://www.notion.com/help/customize-and-style-your-content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e42aa90a2e4d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dfadd7a9164096" /><Relationship Type="http://schemas.openxmlformats.org/officeDocument/2006/relationships/slideLayout" Target="/ppt/slideLayouts/slideLayout1.xml" Id="Rbf1c8142cac04b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1c8142cac04b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aec1226a26c4d45" /><Relationship Type="http://schemas.openxmlformats.org/officeDocument/2006/relationships/notesSlide" Target="/ppt/notesSlides/notesSlide1.xml" Id="R8ba04f68aaee44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61ab6c130641cd" /><Relationship Type="http://schemas.openxmlformats.org/officeDocument/2006/relationships/chart" Target="/ppt/slides/charts/chart1.xml" Id="R8dfe1c61606b431a" /><Relationship Type="http://schemas.openxmlformats.org/officeDocument/2006/relationships/notesSlide" Target="/ppt/notesSlides/notesSlide2.xml" Id="R92c47f7e4ae849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41956cca0b41c2" /><Relationship Type="http://schemas.openxmlformats.org/officeDocument/2006/relationships/chart" Target="/ppt/slides/charts/chart2.xml" Id="R6edf9b37c4d14eb6" /><Relationship Type="http://schemas.openxmlformats.org/officeDocument/2006/relationships/notesSlide" Target="/ppt/notesSlides/notesSlide3.xml" Id="R307fa3a22c50418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998911509054584" /><Relationship Type="http://schemas.openxmlformats.org/officeDocument/2006/relationships/chart" Target="/ppt/slides/charts/chart3.xml" Id="Rb0a997b2e1b94b79" /><Relationship Type="http://schemas.openxmlformats.org/officeDocument/2006/relationships/notesSlide" Target="/ppt/notesSlides/notesSlide4.xml" Id="Rcdb79f6deaa34b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5474d8f8b443d5" /><Relationship Type="http://schemas.openxmlformats.org/officeDocument/2006/relationships/notesSlide" Target="/ppt/notesSlides/notesSlide5.xml" Id="R059392a796054d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40bffdf0b64338" /><Relationship Type="http://schemas.openxmlformats.org/officeDocument/2006/relationships/chart" Target="/ppt/slides/charts/chart4.xml" Id="R791223ffc6894970" /><Relationship Type="http://schemas.openxmlformats.org/officeDocument/2006/relationships/notesSlide" Target="/ppt/notesSlides/notesSlide6.xml" Id="R71ecf09792424d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cc309f2c8d4e3d" /><Relationship Type="http://schemas.openxmlformats.org/officeDocument/2006/relationships/chart" Target="/ppt/slides/charts/chart5.xml" Id="Rdd33d15848944778" /><Relationship Type="http://schemas.openxmlformats.org/officeDocument/2006/relationships/notesSlide" Target="/ppt/notesSlides/notesSlide7.xml" Id="R53bedbb6d50e41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92788905d949be" /><Relationship Type="http://schemas.openxmlformats.org/officeDocument/2006/relationships/notesSlide" Target="/ppt/notesSlides/notesSlide8.xml" Id="R6428833ea35347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634f8c4e954896" /><Relationship Type="http://schemas.openxmlformats.org/officeDocument/2006/relationships/image" Target="/ppt/media/image.png" Id="R36badb61697e47ce" /><Relationship Type="http://schemas.openxmlformats.org/officeDocument/2006/relationships/image" Target="/ppt/media/image2.png" Id="Rcfd085497f2545ca" /><Relationship Type="http://schemas.openxmlformats.org/officeDocument/2006/relationships/notesSlide" Target="/ppt/notesSlides/notesSlide9.xml" Id="R02f0e90c7c1b45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264c0652004422e" /><Relationship Type="http://schemas.openxmlformats.org/officeDocument/2006/relationships/notesSlide" Target="/ppt/notesSlides/notesSlide10.xml" Id="Rbb94ba9900f341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cb24ece8c404275" /><Relationship Type="http://schemas.openxmlformats.org/officeDocument/2006/relationships/notesSlide" Target="/ppt/notesSlides/notesSlide11.xml" Id="Rb8944f208e064d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515987b00774af2" /><Relationship Type="http://schemas.openxmlformats.org/officeDocument/2006/relationships/notesSlide" Target="/ppt/notesSlides/notesSlide12.xml" Id="R644e87a958e745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0fbe193522c423b" /><Relationship Type="http://schemas.openxmlformats.org/officeDocument/2006/relationships/notesSlide" Target="/ppt/notesSlides/notesSlide13.xml" Id="R519624415828465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ce740a58de44772" /><Relationship Type="http://schemas.openxmlformats.org/officeDocument/2006/relationships/chart" Target="/ppt/slides/charts/chart6.xml" Id="Rc93c4e1c2c534100" /><Relationship Type="http://schemas.openxmlformats.org/officeDocument/2006/relationships/notesSlide" Target="/ppt/notesSlides/notesSlide14.xml" Id="R969bb8e31b794a6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e211268f4af49be" /><Relationship Type="http://schemas.openxmlformats.org/officeDocument/2006/relationships/notesSlide" Target="/ppt/notesSlides/notesSlide15.xml" Id="R49a3610d572449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710d9e1e1b84c59" /><Relationship Type="http://schemas.openxmlformats.org/officeDocument/2006/relationships/notesSlide" Target="/ppt/notesSlides/notesSlide16.xml" Id="R9584b8b84c5c48d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20대 유동</c:v>
          </c:tx>
          <c:spPr>
            <a:ln xmlns:a="http://schemas.openxmlformats.org/drawingml/2006/main" w="28575">
              <a:solidFill>
                <a:srgbClr val="487CA5"/>
              </a:solidFill>
            </a:ln>
          </c:spPr>
          <c:marker>
            <c:symbol val="none"/>
          </c:marker>
          <c:cat>
            <c:strRef>
              <c:f>'Chart Data'!$A$2:$A$16</c:f>
              <c:strCache>
                <c:ptCount val="15"/>
                <c:pt idx="0">
                  <c:v>22.4Q</c:v>
                </c:pt>
                <c:pt idx="1">
                  <c:v>23.1Q</c:v>
                </c:pt>
                <c:pt idx="2">
                  <c:v>23.2Q</c:v>
                </c:pt>
                <c:pt idx="3">
                  <c:v>23.3Q</c:v>
                </c:pt>
                <c:pt idx="4">
                  <c:v>23.4Q</c:v>
                </c:pt>
                <c:pt idx="5">
                  <c:v>24.1Q</c:v>
                </c:pt>
                <c:pt idx="6">
                  <c:v>24.2Q</c:v>
                </c:pt>
                <c:pt idx="7">
                  <c:v>24.3Q</c:v>
                </c:pt>
                <c:pt idx="8">
                  <c:v>24.4Q</c:v>
                </c:pt>
                <c:pt idx="9">
                  <c:v>25.1Q</c:v>
                </c:pt>
                <c:pt idx="10">
                  <c:v>25.2Q</c:v>
                </c:pt>
                <c:pt idx="11">
                  <c:v>25.3Q</c:v>
                </c:pt>
                <c:pt idx="12">
                  <c:v>25.4Q</c:v>
                </c:pt>
                <c:pt idx="13">
                  <c:v>26.1Q</c:v>
                </c:pt>
                <c:pt idx="14">
                  <c:v>26.2Q</c:v>
                </c:pt>
              </c:strCache>
            </c:strRef>
          </c:cat>
          <c:val>
            <c:numRef>
              <c:f>'Chart Data'!$B$2:$B$16</c:f>
              <c:numCache>
                <c:formatCode>0</c:formatCode>
                <c:ptCount val="15"/>
                <c:pt idx="0">
                  <c:v>100</c:v>
                </c:pt>
                <c:pt idx="1">
                  <c:v>103.682533</c:v>
                </c:pt>
                <c:pt idx="2">
                  <c:v>107.369128</c:v>
                </c:pt>
                <c:pt idx="3">
                  <c:v>106.884237</c:v>
                </c:pt>
                <c:pt idx="4">
                  <c:v>107.919965</c:v>
                </c:pt>
                <c:pt idx="5">
                  <c:v>106.247696</c:v>
                </c:pt>
                <c:pt idx="6">
                  <c:v>105.63071</c:v>
                </c:pt>
                <c:pt idx="7">
                  <c:v>104.34615</c:v>
                </c:pt>
                <c:pt idx="8">
                  <c:v>102.699915</c:v>
                </c:pt>
                <c:pt idx="9">
                  <c:v>102.146107</c:v>
                </c:pt>
                <c:pt idx="10">
                  <c:v>101.425705</c:v>
                </c:pt>
                <c:pt idx="11">
                  <c:v>101.198844</c:v>
                </c:pt>
                <c:pt idx="12">
                  <c:v>100.128618</c:v>
                </c:pt>
                <c:pt idx="13">
                  <c:v>99.80175</c:v>
                </c:pt>
                <c:pt idx="14">
                  <c:v>100.665485</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115"/>
          <c:min val="85"/>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marker"/>
        <c:ser>
          <c:idx val="0"/>
          <c:order val="0"/>
          <c:tx>
            <c:v>코어</c:v>
          </c:tx>
          <c:spPr>
            <a:solidFill xmlns:a="http://schemas.openxmlformats.org/drawingml/2006/main">
              <a:srgbClr val="487CA5"/>
            </a:solidFill>
          </c:spPr>
          <c:marker>
            <c:symbol val="circle"/>
            <c:size val="9"/>
          </c:marker>
          <c:xVal>
            <c:numRef>
              <c:f>'Chart Data'!$A$2:$A$10</c:f>
              <c:numCache>
                <c:formatCode>General</c:formatCode>
                <c:ptCount val="9"/>
                <c:pt idx="0">
                  <c:v>204632</c:v>
                </c:pt>
                <c:pt idx="1">
                  <c:v>204533</c:v>
                </c:pt>
                <c:pt idx="2">
                  <c:v>205089</c:v>
                </c:pt>
                <c:pt idx="3">
                  <c:v>205403</c:v>
                </c:pt>
                <c:pt idx="4">
                  <c:v>205156</c:v>
                </c:pt>
                <c:pt idx="5">
                  <c:v>204907</c:v>
                </c:pt>
                <c:pt idx="6">
                  <c:v>204784</c:v>
                </c:pt>
                <c:pt idx="7">
                  <c:v>205004</c:v>
                </c:pt>
                <c:pt idx="8">
                  <c:v>204642</c:v>
                </c:pt>
              </c:numCache>
            </c:numRef>
          </c:xVal>
          <c:yVal>
            <c:numRef>
              <c:f>'Chart Data'!$B$2:$B$10</c:f>
              <c:numCache>
                <c:formatCode>0</c:formatCode>
                <c:ptCount val="9"/>
                <c:pt idx="0">
                  <c:v>454773</c:v>
                </c:pt>
                <c:pt idx="1">
                  <c:v>454605</c:v>
                </c:pt>
                <c:pt idx="2">
                  <c:v>454430</c:v>
                </c:pt>
                <c:pt idx="3">
                  <c:v>455074</c:v>
                </c:pt>
                <c:pt idx="4">
                  <c:v>454641</c:v>
                </c:pt>
                <c:pt idx="5">
                  <c:v>454615</c:v>
                </c:pt>
                <c:pt idx="6">
                  <c:v>454008</c:v>
                </c:pt>
                <c:pt idx="7">
                  <c:v>454831</c:v>
                </c:pt>
                <c:pt idx="8">
                  <c:v>454283</c:v>
                </c:pt>
              </c:numCache>
            </c:numRef>
          </c:yVal>
        </c:ser>
        <c:ser>
          <c:idx val="1"/>
          <c:order val="1"/>
          <c:tx>
            <c:v>참여</c:v>
          </c:tx>
          <c:spPr>
            <a:solidFill xmlns:a="http://schemas.openxmlformats.org/drawingml/2006/main">
              <a:srgbClr val="B59369"/>
            </a:solidFill>
          </c:spPr>
          <c:marker>
            <c:symbol val="circle"/>
            <c:size val="9"/>
          </c:marker>
          <c:xVal>
            <c:numRef>
              <c:f>'Chart Data'!$C$2:$C$8</c:f>
              <c:numCache>
                <c:formatCode>General</c:formatCode>
                <c:ptCount val="7"/>
                <c:pt idx="0">
                  <c:v>204987</c:v>
                </c:pt>
                <c:pt idx="1">
                  <c:v>205315</c:v>
                </c:pt>
                <c:pt idx="2">
                  <c:v>205611</c:v>
                </c:pt>
                <c:pt idx="3">
                  <c:v>205838</c:v>
                </c:pt>
                <c:pt idx="4">
                  <c:v>204615</c:v>
                </c:pt>
                <c:pt idx="5">
                  <c:v>204828</c:v>
                </c:pt>
                <c:pt idx="6">
                  <c:v>205428</c:v>
                </c:pt>
              </c:numCache>
            </c:numRef>
          </c:xVal>
          <c:yVal>
            <c:numRef>
              <c:f>'Chart Data'!$D$2:$D$8</c:f>
              <c:numCache>
                <c:formatCode>0</c:formatCode>
                <c:ptCount val="7"/>
                <c:pt idx="0">
                  <c:v>455329</c:v>
                </c:pt>
                <c:pt idx="1">
                  <c:v>454241</c:v>
                </c:pt>
                <c:pt idx="2">
                  <c:v>454967</c:v>
                </c:pt>
                <c:pt idx="3">
                  <c:v>455017</c:v>
                </c:pt>
                <c:pt idx="4">
                  <c:v>453829</c:v>
                </c:pt>
                <c:pt idx="5">
                  <c:v>453365</c:v>
                </c:pt>
                <c:pt idx="6">
                  <c:v>454564</c:v>
                </c:pt>
              </c:numCache>
            </c:numRef>
          </c:yVal>
        </c:ser>
        <c:ser>
          <c:idx val="2"/>
          <c:order val="2"/>
          <c:tx>
            <c:v>연계</c:v>
          </c:tx>
          <c:spPr>
            <a:solidFill xmlns:a="http://schemas.openxmlformats.org/drawingml/2006/main">
              <a:srgbClr val="C9C9C6"/>
            </a:solidFill>
          </c:spPr>
          <c:marker>
            <c:symbol val="circle"/>
            <c:size val="9"/>
          </c:marker>
          <c:xVal>
            <c:numRef>
              <c:f>'Chart Data'!$E$2:$E$8</c:f>
              <c:numCache>
                <c:formatCode>General</c:formatCode>
                <c:ptCount val="7"/>
                <c:pt idx="0">
                  <c:v>204223</c:v>
                </c:pt>
                <c:pt idx="1">
                  <c:v>205511</c:v>
                </c:pt>
                <c:pt idx="2">
                  <c:v>205012</c:v>
                </c:pt>
                <c:pt idx="3">
                  <c:v>205156</c:v>
                </c:pt>
                <c:pt idx="4">
                  <c:v>204076</c:v>
                </c:pt>
                <c:pt idx="5">
                  <c:v>204193</c:v>
                </c:pt>
                <c:pt idx="6">
                  <c:v>204578</c:v>
                </c:pt>
              </c:numCache>
            </c:numRef>
          </c:xVal>
          <c:yVal>
            <c:numRef>
              <c:f>'Chart Data'!$F$2:$F$8</c:f>
              <c:numCache>
                <c:formatCode>0</c:formatCode>
                <c:ptCount val="7"/>
                <c:pt idx="0">
                  <c:v>453496</c:v>
                </c:pt>
                <c:pt idx="1">
                  <c:v>456109</c:v>
                </c:pt>
                <c:pt idx="2">
                  <c:v>453131</c:v>
                </c:pt>
                <c:pt idx="3">
                  <c:v>453263</c:v>
                </c:pt>
                <c:pt idx="4">
                  <c:v>452936</c:v>
                </c:pt>
                <c:pt idx="5">
                  <c:v>453064</c:v>
                </c:pt>
                <c:pt idx="6">
                  <c:v>453280</c:v>
                </c:pt>
              </c:numCache>
            </c:numRef>
          </c:y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valAx>
      <c:valAx>
        <c:axId val="48650112"/>
        <c:scaling>
          <c:orientation val="minMax"/>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상대 도달 지수 R</c:v>
          </c:tx>
          <c:spPr>
            <a:ln xmlns:a="http://schemas.openxmlformats.org/drawingml/2006/main" w="28575">
              <a:solidFill>
                <a:srgbClr val="487CA5"/>
              </a:solidFill>
            </a:ln>
          </c:spPr>
          <c:marker>
            <c:symbol val="none"/>
          </c:marker>
          <c:cat>
            <c:strRef>
              <c:f>'Chart Data'!$A$2:$A$7</c:f>
              <c:strCache>
                <c:ptCount val="6"/>
                <c:pt idx="0">
                  <c:v>0</c:v>
                </c:pt>
                <c:pt idx="1">
                  <c:v>200</c:v>
                </c:pt>
                <c:pt idx="2">
                  <c:v>400</c:v>
                </c:pt>
                <c:pt idx="3">
                  <c:v>600</c:v>
                </c:pt>
                <c:pt idx="4">
                  <c:v>800</c:v>
                </c:pt>
                <c:pt idx="5">
                  <c:v>1,000</c:v>
                </c:pt>
              </c:strCache>
            </c:strRef>
          </c:cat>
          <c:val>
            <c:numRef>
              <c:f>'Chart Data'!$B$2:$B$7</c:f>
              <c:numCache>
                <c:formatCode>0.00</c:formatCode>
                <c:ptCount val="6"/>
                <c:pt idx="0">
                  <c:v>1</c:v>
                </c:pt>
                <c:pt idx="1">
                  <c:v>0.78836</c:v>
                </c:pt>
                <c:pt idx="2">
                  <c:v>0.621512</c:v>
                </c:pt>
                <c:pt idx="3">
                  <c:v>0.489975</c:v>
                </c:pt>
                <c:pt idx="4">
                  <c:v>0.386277</c:v>
                </c:pt>
                <c:pt idx="5">
                  <c:v>0.304526</c:v>
                </c:pt>
              </c:numCache>
            </c:numRef>
          </c:val>
        </c:ser>
        <c:dLbls>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거리 (m)</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Malgun Gothic"/>
                    <a:ea typeface="Malgun Gothic"/>
                    <a:cs typeface="Malgun Gothic"/>
                  </a:rPr>
                  <a:t>상대 도달 지수 R</a:t>
                </a:r>
              </a:p>
            </c:rich>
          </c:tx>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0.2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기존</c:v>
          </c:tx>
          <c:spPr>
            <a:solidFill xmlns:a="http://schemas.openxmlformats.org/drawingml/2006/main">
              <a:srgbClr val="D9D9D6"/>
            </a:solidFill>
          </c:spPr>
          <c:cat>
            <c:strRef>
              <c:f>'Chart Data'!$A$2:$A$5</c:f>
              <c:strCache>
                <c:ptCount val="4"/>
                <c:pt idx="0">
                  <c:v>시립대앞사거리</c:v>
                </c:pt>
                <c:pt idx="1">
                  <c:v>회기역 1번</c:v>
                </c:pt>
                <c:pt idx="2">
                  <c:v>시조사삼거리</c:v>
                </c:pt>
                <c:pt idx="3">
                  <c:v>이경시장</c:v>
                </c:pt>
              </c:strCache>
            </c:strRef>
          </c:cat>
          <c:val>
            <c:numRef>
              <c:f>'Chart Data'!$B$2:$B$5</c:f>
              <c:numCache>
                <c:formatCode>0</c:formatCode>
                <c:ptCount val="4"/>
                <c:pt idx="0">
                  <c:v>3</c:v>
                </c:pt>
                <c:pt idx="1">
                  <c:v>2</c:v>
                </c:pt>
                <c:pt idx="2">
                  <c:v>2</c:v>
                </c:pt>
                <c:pt idx="3">
                  <c:v>3</c:v>
                </c:pt>
              </c:numCache>
            </c:numRef>
          </c:val>
        </c:ser>
        <c:ser>
          <c:idx val="1"/>
          <c:order val="1"/>
          <c:tx>
            <c:v>최종</c:v>
          </c:tx>
          <c:spPr>
            <a:solidFill xmlns:a="http://schemas.openxmlformats.org/drawingml/2006/main">
              <a:srgbClr val="487CA5"/>
            </a:solidFill>
          </c:spPr>
          <c:cat>
            <c:strRef>
              <c:f>'Chart Data'!$C$2:$C$5</c:f>
              <c:strCache>
                <c:ptCount val="4"/>
                <c:pt idx="0">
                  <c:v>시립대앞사거리</c:v>
                </c:pt>
                <c:pt idx="1">
                  <c:v>회기역 1번</c:v>
                </c:pt>
                <c:pt idx="2">
                  <c:v>시조사삼거리</c:v>
                </c:pt>
                <c:pt idx="3">
                  <c:v>이경시장</c:v>
                </c:pt>
              </c:strCache>
            </c:strRef>
          </c:cat>
          <c:val>
            <c:numRef>
              <c:f>'Chart Data'!$D$2:$D$5</c:f>
              <c:numCache>
                <c:formatCode>0</c:formatCode>
                <c:ptCount val="4"/>
                <c:pt idx="0">
                  <c:v>6</c:v>
                </c:pt>
                <c:pt idx="1">
                  <c:v>6</c:v>
                </c:pt>
                <c:pt idx="2">
                  <c:v>6</c:v>
                </c:pt>
                <c:pt idx="3">
                  <c:v>3</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7"/>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소외도 상위 5곳</c:v>
          </c:tx>
          <c:spPr>
            <a:solidFill xmlns:a="http://schemas.openxmlformats.org/drawingml/2006/main">
              <a:srgbClr val="487CA5"/>
            </a:solidFill>
          </c:spPr>
          <c:cat>
            <c:strRef>
              <c:f>'Chart Data'!$A$2:$A$3</c:f>
              <c:strCache>
                <c:ptCount val="2"/>
                <c:pt idx="0">
                  <c:v>기존 배정</c:v>
                </c:pt>
                <c:pt idx="1">
                  <c:v>최종 배정</c:v>
                </c:pt>
              </c:strCache>
            </c:strRef>
          </c:cat>
          <c:val>
            <c:numRef>
              <c:f>'Chart Data'!$B$2:$B$3</c:f>
              <c:numCache>
                <c:formatCode>0</c:formatCode>
                <c:ptCount val="2"/>
                <c:pt idx="0">
                  <c:v>13</c:v>
                </c:pt>
                <c:pt idx="1">
                  <c:v>27</c:v>
                </c:pt>
              </c:numCache>
            </c:numRef>
          </c:val>
        </c:ser>
        <c:ser>
          <c:idx val="1"/>
          <c:order val="1"/>
          <c:tx>
            <c:v>나머지 대상 11곳</c:v>
          </c:tx>
          <c:spPr>
            <a:solidFill xmlns:a="http://schemas.openxmlformats.org/drawingml/2006/main">
              <a:srgbClr val="CBCBC7"/>
            </a:solidFill>
          </c:spPr>
          <c:cat>
            <c:strRef>
              <c:f>'Chart Data'!$C$2:$C$3</c:f>
              <c:strCache>
                <c:ptCount val="2"/>
                <c:pt idx="0">
                  <c:v>기존 배정</c:v>
                </c:pt>
                <c:pt idx="1">
                  <c:v>최종 배정</c:v>
                </c:pt>
              </c:strCache>
            </c:strRef>
          </c:cat>
          <c:val>
            <c:numRef>
              <c:f>'Chart Data'!$D$2:$D$3</c:f>
              <c:numCache>
                <c:formatCode>0</c:formatCode>
                <c:ptCount val="2"/>
                <c:pt idx="0">
                  <c:v>37</c:v>
                </c:pt>
                <c:pt idx="1">
                  <c:v>33</c:v>
                </c:pt>
              </c:numCache>
            </c:numRef>
          </c:val>
        </c:ser>
        <c:ser>
          <c:idx val="2"/>
          <c:order val="2"/>
          <c:tx>
            <c:v>연계 7곳</c:v>
          </c:tx>
          <c:spPr>
            <a:solidFill xmlns:a="http://schemas.openxmlformats.org/drawingml/2006/main">
              <a:srgbClr val="EAEAE7"/>
            </a:solidFill>
          </c:spPr>
          <c:dLbls>
            <c:dLbl>
              <c:idx val="1"/>
              <c:showLegendKey val="0"/>
              <c:showVal val="0"/>
              <c:showCatName val="0"/>
              <c:showSerName val="0"/>
              <c:showPercent val="0"/>
              <c:showBubbleSize val="0"/>
            </c:dLbl>
          </c:dLbls>
          <c:cat>
            <c:strRef>
              <c:f>'Chart Data'!$E$2:$E$3</c:f>
              <c:strCache>
                <c:ptCount val="2"/>
                <c:pt idx="0">
                  <c:v>기존 배정</c:v>
                </c:pt>
                <c:pt idx="1">
                  <c:v>최종 배정</c:v>
                </c:pt>
              </c:strCache>
            </c:strRef>
          </c:cat>
          <c:val>
            <c:numRef>
              <c:f>'Chart Data'!$F$2:$F$3</c:f>
              <c:numCache>
                <c:formatCode>0</c:formatCode>
                <c:ptCount val="2"/>
                <c:pt idx="0">
                  <c:v>10</c:v>
                </c:pt>
                <c:pt idx="1">
                  <c:v>0</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ctr"/>
          <c:showLegendKey val="0"/>
          <c:showVal val="1"/>
          <c:showCatName val="0"/>
          <c:showSerName val="0"/>
          <c:showPercent val="0"/>
          <c:showBubbleSize val="0"/>
          <c:showLeaderLines val="0"/>
        </c:dLbls>
        <c:overlap val="10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6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Malgun Gothic"/>
              <a:ea typeface="Malgun Gothic"/>
              <a:cs typeface="Malgun Gothic"/>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평균 절대 Shapley 비중 (%)</c:v>
          </c:tx>
          <c:spPr>
            <a:solidFill xmlns:a="http://schemas.openxmlformats.org/drawingml/2006/main">
              <a:srgbClr val="487CA5"/>
            </a:solidFill>
          </c:spPr>
          <c:cat>
            <c:strRef>
              <c:f>'Chart Data'!$A$2:$A$4</c:f>
              <c:strCache>
                <c:ptCount val="3"/>
                <c:pt idx="0">
                  <c:v>D 하락 (41.5%)</c:v>
                </c:pt>
                <c:pt idx="1">
                  <c:v>L 저활력 (41.6%)</c:v>
                </c:pt>
                <c:pt idx="2">
                  <c:v>R 도달 (16.9%)</c:v>
                </c:pt>
              </c:strCache>
            </c:strRef>
          </c:cat>
          <c:val>
            <c:numRef>
              <c:f>'Chart Data'!$B$2:$B$4</c:f>
              <c:numCache>
                <c:formatCode>0</c:formatCode>
                <c:ptCount val="3"/>
                <c:pt idx="0">
                  <c:v>41.5</c:v>
                </c:pt>
                <c:pt idx="1">
                  <c:v>41.6</c:v>
                </c:pt>
                <c:pt idx="2">
                  <c:v>16.9</c:v>
                </c:pt>
              </c:numCache>
            </c:numRef>
          </c:val>
        </c:ser>
        <c:dLbls>
          <c:txPr>
            <a:bodyPr xmlns:a="http://schemas.openxmlformats.org/drawingml/2006/main" anchorCtr="1"/>
            <a:lstStyle xmlns:a="http://schemas.openxmlformats.org/drawingml/2006/main"/>
            <a:p xmlns:a="http://schemas.openxmlformats.org/drawingml/2006/main">
              <a:pPr>
                <a:defRPr sz="1575">
                  <a:latin typeface="Malgun Gothic"/>
                  <a:ea typeface="Malgun Gothic"/>
                  <a:cs typeface="Malgun Gothic"/>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72768"/>
      </c:catAx>
      <c:valAx>
        <c:axId val="48672768"/>
        <c:scaling>
          <c:orientation val="minMax"/>
          <c:max val="5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Malgun Gothic"/>
                <a:ea typeface="Malgun Gothic"/>
                <a:cs typeface="Malgun Gothic"/>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3FC1A727-7635-4AC8-A83C-8E5DDBA8B4D5}"/>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F41E25-05C1-4AF0-918D-2152056F2BDB}"/>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5413CB-4BE9-4674-B8DA-F4A74DE4CC18}"/>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C2DF75D1-1AEC-4181-93A0-50664D483DA7}"/>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8D979DCF-F6E4-442F-93B4-C9CB0C998E3E}"/>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F69F0E52-9A4A-4DD9-A2E4-000AF7D76B13}"/>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19E03DE8-AA00-46A6-9902-3DF64FAEF4F2}"/>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E056E33B-B79C-48DA-A555-FC2E159EAACD}"/>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B1348A81-FA4D-4268-A26F-38BB8A73A6F0}"/>
              </a:ext>
            </a:extLst>
          </p:cNvPr>
          <p:cNvSpPr>
            <a:spLocks xmlns:a="http://schemas.openxmlformats.org/drawingml/2006/main" noGrp="1"/>
          </p:cNvSpPr>
          <p:nvPr/>
        </p:nvSpPr>
        <p:spPr>
          <a:xfrm xmlns:a="http://schemas.openxmlformats.org/drawingml/2006/main">
            <a:off x="95250" y="296227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1BEDCCE-BF72-4872-BB28-FAC78C46056C}"/>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1" name="">
            <a:extLst xmlns:a="http://schemas.openxmlformats.org/drawingml/2006/main">
              <a:ext uri="{FF2B5EF4-FFF2-40B4-BE49-F238E27FC236}">
                <a16:creationId xmlns:a16="http://schemas.microsoft.com/office/drawing/2014/main" id="{80D83ED5-B2D9-4EAF-B108-D43684766493}"/>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3000B53-F1AD-41B2-9AA7-94AB08E4EC6F}"/>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70331D5-BCD9-42D3-B213-B726BC02EA51}"/>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9EB80F3-FA39-4A25-9554-588FF8EFC331}"/>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프로젝트 개요</a:t>
            </a:r>
          </a:p>
        </p:txBody>
      </p:sp>
      <p:sp>
        <p:nvSpPr>
          <p:cNvPr id="15" name="">
            <a:extLst xmlns:a="http://schemas.openxmlformats.org/drawingml/2006/main">
              <a:ext uri="{FF2B5EF4-FFF2-40B4-BE49-F238E27FC236}">
                <a16:creationId xmlns:a16="http://schemas.microsoft.com/office/drawing/2014/main" id="{35F57A0A-9B1A-4300-B023-24B9EC9DC79F}"/>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73B0D65D-3D47-4C4C-92CE-20BAD1ACAC67}"/>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67A441C-BCEE-4956-9FC9-0D53359CE354}"/>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295CF88-598D-4A3F-8D11-1552888C5E1E}"/>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CA7BD93-69DC-4627-9973-2735552D94BE}"/>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2E86DBF2-7400-48D1-918C-CE7DE92FB8A5}"/>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88C47E79-4BDA-4111-B84B-923A34C2933A}"/>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3A64247-049E-42AD-8E7C-9B72190D5680}"/>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283FE2E-8EFD-4D61-BF96-066FA561C4EC}"/>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8E9281D-01BB-4803-95E2-C810343F4DB5}"/>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1419AB7C-320D-46C6-9DE3-DF5FBAD42B4E}"/>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FF67F3C1-5A75-4A8F-A348-3B18F06C4DC0}"/>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E5DFCEB-EC02-4B7F-944C-7E375DE81E88}"/>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81DC715-2624-42B8-B6D4-18DB7336B256}"/>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6D0A2EE-1496-4EAE-BFA7-19119F0C15F8}"/>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CB39145C-B74A-4C29-9F35-8169B1A2853A}"/>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FB7C6F47-094D-423D-A601-711082BE3263}"/>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AFFF0BC-E357-4C9E-B374-8799EC2EE484}"/>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4C41571-3E49-4EDF-8CF1-DAE59E6A70F7}"/>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56D265C-54F0-4DB3-9DBD-3BC862DDC465}"/>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B4644B94-B07C-49DA-8A85-8B455D6CE46B}"/>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1BC02AC4-0009-4BC2-82EB-DA257D871B9A}"/>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C434F5F-F388-47C8-A612-880F54A3A925}"/>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094E3C5-0C8D-4946-803D-03E73C09D30F}"/>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6F0B445-4BD8-4F3B-997A-8289A95EF031}"/>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0F3A4768-2A87-4221-A16F-52265ECAC699}"/>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C0792E53-A1A7-408B-B426-F361D27DCDE5}"/>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50BA9472-D6B2-4E01-87EE-297D53156A9B}"/>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6B30D13-4A47-4EDC-B134-234661EB943D}"/>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00F60AC-125D-4046-8D7B-E574392A8ADC}"/>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807AFA18-B692-4225-9F54-A1B7BD25D260}"/>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79F66FC4-1812-419B-88EC-BB42DE769DB2}"/>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C28DDD6-5179-4624-B0C1-607EF112378E}"/>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5886624-E84A-46EC-9880-633977A08391}"/>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1F81694-3187-4918-A9DE-8B84243B021A}"/>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894C9B00-8554-4350-829E-47E18FD7939A}"/>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4A48255B-59EC-46BF-99B9-A5B26FDA02D3}"/>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D9206997-147C-4D52-B4B2-EF424CCE158B}"/>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TROIKA 스탬프 배정안</a:t>
            </a:r>
          </a:p>
        </p:txBody>
      </p:sp>
      <p:sp>
        <p:nvSpPr>
          <p:cNvPr id="53" name="">
            <a:extLst xmlns:a="http://schemas.openxmlformats.org/drawingml/2006/main">
              <a:ext uri="{FF2B5EF4-FFF2-40B4-BE49-F238E27FC236}">
                <a16:creationId xmlns:a16="http://schemas.microsoft.com/office/drawing/2014/main" id="{B60B302F-6126-4DED-BE82-4661BDC13C6F}"/>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48CF5E42-9945-4E3D-9235-9C71057FAA4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612AF056-10E9-4DFB-B083-C6718AC994B2}"/>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B5499C58-08F7-4226-A337-9D09DCE2675C}"/>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E1D8939E-F5D7-4551-90EA-BEF19146B78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27C09D57-EBE7-42C4-A8C6-C162AFC0B252}"/>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TROIKA 스탬프 배정안</a:t>
            </a:r>
          </a:p>
        </p:txBody>
      </p:sp>
      <p:sp>
        <p:nvSpPr>
          <p:cNvPr id="59" name="">
            <a:extLst xmlns:a="http://schemas.openxmlformats.org/drawingml/2006/main">
              <a:ext uri="{FF2B5EF4-FFF2-40B4-BE49-F238E27FC236}">
                <a16:creationId xmlns:a16="http://schemas.microsoft.com/office/drawing/2014/main" id="{7D8E65AA-7424-4FE0-82AA-03005DC07B8E}"/>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서울시 상권 자료 기반 정책제안</a:t>
            </a:r>
          </a:p>
        </p:txBody>
      </p:sp>
      <p:sp>
        <p:nvSpPr>
          <p:cNvPr id="60" name="">
            <a:extLst xmlns:a="http://schemas.openxmlformats.org/drawingml/2006/main">
              <a:ext uri="{FF2B5EF4-FFF2-40B4-BE49-F238E27FC236}">
                <a16:creationId xmlns:a16="http://schemas.microsoft.com/office/drawing/2014/main" id="{E2D677E4-78CE-4408-83EA-6DC2F1074098}"/>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77588FEC-4934-462D-8C0B-D7A01FA338C1}"/>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01 / 11</a:t>
            </a:r>
          </a:p>
        </p:txBody>
      </p:sp>
      <p:sp>
        <p:nvSpPr>
          <p:cNvPr id="62" name="">
            <a:extLst xmlns:a="http://schemas.openxmlformats.org/drawingml/2006/main">
              <a:ext uri="{FF2B5EF4-FFF2-40B4-BE49-F238E27FC236}">
                <a16:creationId xmlns:a16="http://schemas.microsoft.com/office/drawing/2014/main" id="{A12F6713-012F-418B-9313-951315BCDC84}"/>
              </a:ext>
            </a:extLst>
          </p:cNvPr>
          <p:cNvSpPr>
            <a:spLocks xmlns:a="http://schemas.openxmlformats.org/drawingml/2006/main" noGrp="1"/>
          </p:cNvSpPr>
          <p:nvPr/>
        </p:nvSpPr>
        <p:spPr>
          <a:xfrm xmlns:a="http://schemas.openxmlformats.org/drawingml/2006/main">
            <a:off x="3048000" y="3419475"/>
            <a:ext cx="1123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회기·이문·전농 상권을 잇는</a:t>
            </a:r>
          </a:p>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스탬프 모집 배정</a:t>
            </a:r>
          </a:p>
        </p:txBody>
      </p:sp>
      <p:sp>
        <p:nvSpPr>
          <p:cNvPr id="63" name="">
            <a:extLst xmlns:a="http://schemas.openxmlformats.org/drawingml/2006/main">
              <a:ext uri="{FF2B5EF4-FFF2-40B4-BE49-F238E27FC236}">
                <a16:creationId xmlns:a16="http://schemas.microsoft.com/office/drawing/2014/main" id="{60DD0EC9-4540-448F-8B88-78D7495431A9}"/>
              </a:ext>
            </a:extLst>
          </p:cNvPr>
          <p:cNvSpPr>
            <a:spLocks xmlns:a="http://schemas.openxmlformats.org/drawingml/2006/main" noGrp="1"/>
          </p:cNvSpPr>
          <p:nvPr/>
        </p:nvSpPr>
        <p:spPr>
          <a:xfrm xmlns:a="http://schemas.openxmlformats.org/drawingml/2006/main">
            <a:off x="3048000" y="5038725"/>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7352F"/>
                </a:solidFill>
                <a:latin typeface="Malgun Gothic"/>
                <a:ea typeface="Malgun Gothic"/>
                <a:cs typeface="Malgun Gothic"/>
              </a:defRPr>
            </a:pPr>
            <a:r>
              <a:rPr sz="4875" b="1">
                <a:solidFill>
                  <a:srgbClr val="37352F"/>
                </a:solidFill>
                <a:latin typeface="Malgun Gothic"/>
                <a:ea typeface="Malgun Gothic"/>
                <a:cs typeface="Malgun Gothic"/>
              </a:rPr>
              <a:t>16개 상권</a:t>
            </a:r>
          </a:p>
        </p:txBody>
      </p:sp>
      <p:sp>
        <p:nvSpPr>
          <p:cNvPr id="64" name="">
            <a:extLst xmlns:a="http://schemas.openxmlformats.org/drawingml/2006/main">
              <a:ext uri="{FF2B5EF4-FFF2-40B4-BE49-F238E27FC236}">
                <a16:creationId xmlns:a16="http://schemas.microsoft.com/office/drawing/2014/main" id="{92DDC696-EB2D-4AA6-BBD4-2468C32DEEDD}"/>
              </a:ext>
            </a:extLst>
          </p:cNvPr>
          <p:cNvSpPr>
            <a:spLocks xmlns:a="http://schemas.openxmlformats.org/drawingml/2006/main" noGrp="1"/>
          </p:cNvSpPr>
          <p:nvPr/>
        </p:nvSpPr>
        <p:spPr>
          <a:xfrm xmlns:a="http://schemas.openxmlformats.org/drawingml/2006/main">
            <a:off x="8934450" y="5038725"/>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7352F"/>
                </a:solidFill>
                <a:latin typeface="Malgun Gothic"/>
                <a:ea typeface="Malgun Gothic"/>
                <a:cs typeface="Malgun Gothic"/>
              </a:defRPr>
            </a:pPr>
            <a:r>
              <a:rPr sz="4875" b="1">
                <a:solidFill>
                  <a:srgbClr val="37352F"/>
                </a:solidFill>
                <a:latin typeface="Malgun Gothic"/>
                <a:ea typeface="Malgun Gothic"/>
                <a:cs typeface="Malgun Gothic"/>
              </a:rPr>
              <a:t>60개 배정</a:t>
            </a:r>
          </a:p>
        </p:txBody>
      </p:sp>
      <p:sp>
        <p:nvSpPr>
          <p:cNvPr id="65" name="">
            <a:extLst xmlns:a="http://schemas.openxmlformats.org/drawingml/2006/main">
              <a:ext uri="{FF2B5EF4-FFF2-40B4-BE49-F238E27FC236}">
                <a16:creationId xmlns:a16="http://schemas.microsoft.com/office/drawing/2014/main" id="{1592CE28-581E-4223-BB27-EEB3CA13C84E}"/>
              </a:ext>
            </a:extLst>
          </p:cNvPr>
          <p:cNvSpPr>
            <a:spLocks xmlns:a="http://schemas.openxmlformats.org/drawingml/2006/main" noGrp="1"/>
          </p:cNvSpPr>
          <p:nvPr/>
        </p:nvSpPr>
        <p:spPr>
          <a:xfrm xmlns:a="http://schemas.openxmlformats.org/drawingml/2006/main">
            <a:off x="3048000" y="6543675"/>
            <a:ext cx="11506200" cy="790575"/>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542FF23A-B5EA-4543-9D9A-D496FB823BF6}"/>
              </a:ext>
            </a:extLst>
          </p:cNvPr>
          <p:cNvSpPr>
            <a:spLocks xmlns:a="http://schemas.openxmlformats.org/drawingml/2006/main" noGrp="1"/>
          </p:cNvSpPr>
          <p:nvPr/>
        </p:nvSpPr>
        <p:spPr>
          <a:xfrm xmlns:a="http://schemas.openxmlformats.org/drawingml/2006/main">
            <a:off x="3238500" y="66675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1ED5E2AD-70AB-43FE-8D74-720594D3ACB4}"/>
              </a:ext>
            </a:extLst>
          </p:cNvPr>
          <p:cNvSpPr>
            <a:spLocks xmlns:a="http://schemas.openxmlformats.org/drawingml/2006/main" noGrp="1"/>
          </p:cNvSpPr>
          <p:nvPr/>
        </p:nvSpPr>
        <p:spPr>
          <a:xfrm xmlns:a="http://schemas.openxmlformats.org/drawingml/2006/main">
            <a:off x="3714750" y="66579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지원 필요도가 높은 상권으로 방문을 연결하는 시범 운영 제안</a:t>
            </a:r>
          </a:p>
        </p:txBody>
      </p:sp>
      <p:sp>
        <p:nvSpPr>
          <p:cNvPr id="68" name="">
            <a:extLst xmlns:a="http://schemas.openxmlformats.org/drawingml/2006/main">
              <a:ext uri="{FF2B5EF4-FFF2-40B4-BE49-F238E27FC236}">
                <a16:creationId xmlns:a16="http://schemas.microsoft.com/office/drawing/2014/main" id="{2B7FA47D-831C-48E5-8C51-40C348193E35}"/>
              </a:ext>
            </a:extLst>
          </p:cNvPr>
          <p:cNvSpPr>
            <a:spLocks xmlns:a="http://schemas.openxmlformats.org/drawingml/2006/main" noGrp="1"/>
          </p:cNvSpPr>
          <p:nvPr/>
        </p:nvSpPr>
        <p:spPr>
          <a:xfrm xmlns:a="http://schemas.openxmlformats.org/drawingml/2006/main">
            <a:off x="3048000" y="77438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787774"/>
                </a:solidFill>
                <a:latin typeface="Malgun Gothic"/>
                <a:ea typeface="Malgun Gothic"/>
                <a:cs typeface="Malgun Gothic"/>
              </a:defRPr>
            </a:pPr>
            <a:r>
              <a:rPr sz="1500" b="0">
                <a:solidFill>
                  <a:srgbClr val="787774"/>
                </a:solidFill>
                <a:latin typeface="Malgun Gothic"/>
                <a:ea typeface="Malgun Gothic"/>
                <a:cs typeface="Malgun Gothic"/>
              </a:rPr>
              <a:t>TROIKA  ·  2026.09</a:t>
            </a:r>
          </a:p>
        </p:txBody>
      </p:sp>
    </p:spTree>
    <p:extLst>
      <p:ext uri="{BB962C8B-B14F-4D97-AF65-F5344CB8AC3E}">
        <p14:creationId xmlns:p14="http://schemas.microsoft.com/office/powerpoint/2010/main" val="19514774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 name="">
            <a:extLst xmlns:a="http://schemas.openxmlformats.org/drawingml/2006/main">
              <a:ext uri="{FF2B5EF4-FFF2-40B4-BE49-F238E27FC236}">
                <a16:creationId xmlns:a16="http://schemas.microsoft.com/office/drawing/2014/main" id="{9DEC4E53-78C7-483D-912D-73F2BCD834EA}"/>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2FDACB-0478-4423-99CD-D1F5475560BB}"/>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CC7491C-D290-4488-88D9-7F51577CABE9}"/>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493EBA94-6E97-4CE3-A4D8-F9F52E4B99E8}"/>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BD71FFD1-16CA-44B4-AE2A-82200B4491E7}"/>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CA996BC7-D2B6-4023-B54B-EE792B31D1DF}"/>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1314BB0D-0831-4B3F-9C7C-D14B27D10C36}"/>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F723A1D8-502A-4AF7-9387-6F95ACB49FB4}"/>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4414E33A-56E0-4F72-83B0-4010644DF746}"/>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6830CC6D-C0D6-49D7-B22A-992D7ED9B4EE}"/>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753DF6D-712C-4BB5-B292-536B4091E47F}"/>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EC75713-94E0-407B-BFA6-28D5DB4C61C9}"/>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2F514F-112B-403B-9918-1C3554E759CB}"/>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5F31258C-C323-4CBC-A638-FEB6D83B18F5}"/>
              </a:ext>
            </a:extLst>
          </p:cNvPr>
          <p:cNvSpPr>
            <a:spLocks xmlns:a="http://schemas.openxmlformats.org/drawingml/2006/main" noGrp="1"/>
          </p:cNvSpPr>
          <p:nvPr/>
        </p:nvSpPr>
        <p:spPr>
          <a:xfrm xmlns:a="http://schemas.openxmlformats.org/drawingml/2006/main">
            <a:off x="95250" y="33718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9D89861-BEA7-4A06-8FB0-08C16FDB75ED}"/>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631F75CE-7E8D-447E-9D3B-75BE2E75CF45}"/>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C158464-C52E-4203-A1BF-E8569D79F68B}"/>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FB90EF0-B287-4616-8151-24E368D54CE2}"/>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CDDA82B-7F63-4633-A23C-E1F544BCB5DC}"/>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2CC0FAE2-86FF-4D9B-B5BE-9D781D4E3FE3}"/>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A1DF5AB8-DE53-485D-8BCE-0A010FC28956}"/>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6CAAFFA-96A2-46E4-877B-05FA8BCAE388}"/>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B697DEE-AA50-4A46-9C2F-4779D85C6DFE}"/>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4CFEDE9-B2D4-4D61-8C90-558B11953EEA}"/>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654F7C65-D3D5-4805-9649-4C64A386E139}"/>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C205DB89-3251-456B-A1A8-34922372B13E}"/>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7D8DC39-977A-4119-88A1-65540E5B038F}"/>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FA8426B-C535-4EE3-A1DB-788539E3D9F5}"/>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8010A52-C8F8-4CB6-80C0-45CAD477500C}"/>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F420FDFF-57D8-4F6A-8028-A6E01F971669}"/>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048186EB-1920-4E60-A2CC-7F3C5825D3C2}"/>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B559F19-846C-4336-9A62-EB68B2002F14}"/>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9C34BA6-BBB7-4193-8387-66A07D4E578A}"/>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3A1DAC9-84D6-43F1-AD70-170ECA210BDC}"/>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A80DFE98-43EA-40A3-B409-F3B5F2282E50}"/>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95BB35F4-D73B-4D4E-AA47-A6FC202B4649}"/>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5650C93-1C92-4AEB-8736-5D5ABAC77441}"/>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2DFC0F9-2A97-4899-8B53-83C6A4A39906}"/>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7A2EFE4-6F83-4E06-9C3C-7E4857909ADD}"/>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04C32F75-20AC-4EA2-B500-0D7A4D1FA725}"/>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76E53C47-C99F-4731-8700-1D875E9FF7BF}"/>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F63E0EE-5346-4504-BE22-1651C742B2D3}"/>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706E1A0-38FB-414B-8F4E-5FCC78C0DCC0}"/>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A7B8768-655D-4CBD-9849-7E3B4A92F77A}"/>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17E77568-31F5-4B98-9EBE-904ED219A56D}"/>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AFEA4B7B-1CBF-4BE6-98D3-7E01181A66A9}"/>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B3D689D-C11C-429C-A5EC-1D3FD4AFE17C}"/>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89F6043D-4E2E-471D-A957-E9EDA5EF6854}"/>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3AEE055-4775-4F34-B35E-D164E8D33A86}"/>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6CAB814E-7828-43AB-8D27-96E1E64CDA68}"/>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C45FBA9F-F998-4E1C-998A-2FACCDCC14EE}"/>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69159D38-D640-406B-975E-94E9D2E0307B}"/>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20대 유동과 추정매출</a:t>
            </a:r>
          </a:p>
        </p:txBody>
      </p:sp>
      <p:sp>
        <p:nvSpPr>
          <p:cNvPr id="53" name="">
            <a:extLst xmlns:a="http://schemas.openxmlformats.org/drawingml/2006/main">
              <a:ext uri="{FF2B5EF4-FFF2-40B4-BE49-F238E27FC236}">
                <a16:creationId xmlns:a16="http://schemas.microsoft.com/office/drawing/2014/main" id="{59B7B348-7D2D-41AC-B06B-F9BF4183939B}"/>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6476CC33-2AA9-421E-B0BA-2B8E6A0CA480}"/>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D963221F-CC5D-4EAF-BCDD-5755621C1CF6}"/>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D049B283-388A-4EFA-909E-7A7DF34EC4AA}"/>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AA4262B0-90B7-40B7-80C9-BEE4986EEEE9}"/>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152DC90A-7B49-4C2F-A6FA-FC42F9CD9D36}"/>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20대 유동과 추정매출</a:t>
            </a:r>
          </a:p>
        </p:txBody>
      </p:sp>
      <p:sp>
        <p:nvSpPr>
          <p:cNvPr id="59" name="">
            <a:extLst xmlns:a="http://schemas.openxmlformats.org/drawingml/2006/main">
              <a:ext uri="{FF2B5EF4-FFF2-40B4-BE49-F238E27FC236}">
                <a16:creationId xmlns:a16="http://schemas.microsoft.com/office/drawing/2014/main" id="{CAB5F23F-7F38-4D23-9444-0B5450EE0713}"/>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코어 9곳의 4분기 이동평균 · 2022년 4분기 = 100</a:t>
            </a:r>
          </a:p>
        </p:txBody>
      </p:sp>
      <p:sp>
        <p:nvSpPr>
          <p:cNvPr id="60" name="">
            <a:extLst xmlns:a="http://schemas.openxmlformats.org/drawingml/2006/main">
              <a:ext uri="{FF2B5EF4-FFF2-40B4-BE49-F238E27FC236}">
                <a16:creationId xmlns:a16="http://schemas.microsoft.com/office/drawing/2014/main" id="{32832490-5EF1-4C02-AA45-F9A564EE123D}"/>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96AD94F4-C4E4-4E4C-B79E-FFA5CDD09E95}"/>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02 / 11</a:t>
            </a:r>
          </a:p>
        </p:txBody>
      </p:sp>
      <p:graphicFrame>
        <p:nvGraphicFramePr>
          <p:cNvPr id="132" name="Chart"/>
          <p:cNvGraphicFramePr/>
          <p:nvPr/>
        </p:nvGraphicFramePr>
        <p:xfrm>
          <a:off xmlns:a="http://schemas.openxmlformats.org/drawingml/2006/main" x="3048000" y="3305175"/>
          <a:ext xmlns:a="http://schemas.openxmlformats.org/drawingml/2006/main" cx="7048500" cy="3238500"/>
        </p:xfrm>
        <a:graphic xmlns:a="http://schemas.openxmlformats.org/drawingml/2006/main">
          <a:graphicData uri="http://schemas.openxmlformats.org/drawingml/2006/chart">
            <c:chart xmlns:r="http://schemas.openxmlformats.org/officeDocument/2006/relationships" xmlns:c="http://schemas.openxmlformats.org/drawingml/2006/chart" r:id="R8dfe1c61606b431a"/>
          </a:graphicData>
        </a:graphic>
      </p:graphicFrame>
      <p:sp>
        <p:nvSpPr>
          <p:cNvPr id="63" name="">
            <a:extLst xmlns:a="http://schemas.openxmlformats.org/drawingml/2006/main">
              <a:ext uri="{FF2B5EF4-FFF2-40B4-BE49-F238E27FC236}">
                <a16:creationId xmlns:a16="http://schemas.microsoft.com/office/drawing/2014/main" id="{54AF4899-697E-43CA-8FDC-1BFA28F00A27}"/>
              </a:ext>
            </a:extLst>
          </p:cNvPr>
          <p:cNvSpPr>
            <a:spLocks xmlns:a="http://schemas.openxmlformats.org/drawingml/2006/main" noGrp="1"/>
          </p:cNvSpPr>
          <p:nvPr/>
        </p:nvSpPr>
        <p:spPr>
          <a:xfrm xmlns:a="http://schemas.openxmlformats.org/drawingml/2006/main">
            <a:off x="10572750" y="33528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650" b="1">
                <a:solidFill>
                  <a:srgbClr val="487CA5"/>
                </a:solidFill>
                <a:latin typeface="Malgun Gothic"/>
                <a:ea typeface="Malgun Gothic"/>
                <a:cs typeface="Malgun Gothic"/>
              </a:defRPr>
            </a:pPr>
            <a:r>
              <a:rPr sz="4650" b="1">
                <a:solidFill>
                  <a:srgbClr val="487CA5"/>
                </a:solidFill>
                <a:latin typeface="Malgun Gothic"/>
                <a:ea typeface="Malgun Gothic"/>
                <a:cs typeface="Malgun Gothic"/>
              </a:rPr>
              <a:t>100.7</a:t>
            </a:r>
          </a:p>
        </p:txBody>
      </p:sp>
      <p:sp>
        <p:nvSpPr>
          <p:cNvPr id="64" name="">
            <a:extLst xmlns:a="http://schemas.openxmlformats.org/drawingml/2006/main">
              <a:ext uri="{FF2B5EF4-FFF2-40B4-BE49-F238E27FC236}">
                <a16:creationId xmlns:a16="http://schemas.microsoft.com/office/drawing/2014/main" id="{0C92BEF0-9215-4BF5-A3FE-00B8788059BA}"/>
              </a:ext>
            </a:extLst>
          </p:cNvPr>
          <p:cNvSpPr>
            <a:spLocks xmlns:a="http://schemas.openxmlformats.org/drawingml/2006/main" noGrp="1"/>
          </p:cNvSpPr>
          <p:nvPr/>
        </p:nvSpPr>
        <p:spPr>
          <a:xfrm xmlns:a="http://schemas.openxmlformats.org/drawingml/2006/main">
            <a:off x="10572750" y="41624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20대 유동 · 원자료 재현</a:t>
            </a:r>
          </a:p>
        </p:txBody>
      </p:sp>
      <p:sp>
        <p:nvSpPr>
          <p:cNvPr id="65" name="">
            <a:extLst xmlns:a="http://schemas.openxmlformats.org/drawingml/2006/main">
              <a:ext uri="{FF2B5EF4-FFF2-40B4-BE49-F238E27FC236}">
                <a16:creationId xmlns:a16="http://schemas.microsoft.com/office/drawing/2014/main" id="{CFFC07DB-F486-4974-9212-296BEDAAACF3}"/>
              </a:ext>
            </a:extLst>
          </p:cNvPr>
          <p:cNvSpPr>
            <a:spLocks xmlns:a="http://schemas.openxmlformats.org/drawingml/2006/main" noGrp="1"/>
          </p:cNvSpPr>
          <p:nvPr/>
        </p:nvSpPr>
        <p:spPr>
          <a:xfrm xmlns:a="http://schemas.openxmlformats.org/drawingml/2006/main">
            <a:off x="10572750" y="4886325"/>
            <a:ext cx="371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925" b="1">
                <a:solidFill>
                  <a:srgbClr val="37352F"/>
                </a:solidFill>
                <a:latin typeface="Malgun Gothic"/>
                <a:ea typeface="Malgun Gothic"/>
                <a:cs typeface="Malgun Gothic"/>
              </a:defRPr>
            </a:pPr>
            <a:r>
              <a:rPr sz="2925" b="1">
                <a:solidFill>
                  <a:srgbClr val="37352F"/>
                </a:solidFill>
                <a:latin typeface="Malgun Gothic"/>
                <a:ea typeface="Malgun Gothic"/>
                <a:cs typeface="Malgun Gothic"/>
              </a:rPr>
              <a:t>73.4 / 93.0</a:t>
            </a:r>
          </a:p>
        </p:txBody>
      </p:sp>
      <p:sp>
        <p:nvSpPr>
          <p:cNvPr id="66" name="">
            <a:extLst xmlns:a="http://schemas.openxmlformats.org/drawingml/2006/main">
              <a:ext uri="{FF2B5EF4-FFF2-40B4-BE49-F238E27FC236}">
                <a16:creationId xmlns:a16="http://schemas.microsoft.com/office/drawing/2014/main" id="{8ADBB7D1-98A8-4D2A-9AB7-9B8B1F1D66EF}"/>
              </a:ext>
            </a:extLst>
          </p:cNvPr>
          <p:cNvSpPr>
            <a:spLocks xmlns:a="http://schemas.openxmlformats.org/drawingml/2006/main" noGrp="1"/>
          </p:cNvSpPr>
          <p:nvPr/>
        </p:nvSpPr>
        <p:spPr>
          <a:xfrm xmlns:a="http://schemas.openxmlformats.org/drawingml/2006/main">
            <a:off x="10572750" y="56388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20대 / 전체 추정매출</a:t>
            </a:r>
          </a:p>
          <a:p xmlns:a="http://schemas.openxmlformats.org/drawingml/2006/main">
            <a:pPr>
              <a:defRPr sz="1725" b="0">
                <a:solidFill>
                  <a:srgbClr val="37352F"/>
                </a:solidFill>
                <a:latin typeface="Malgun Gothic"/>
                <a:ea typeface="Malgun Gothic"/>
                <a:cs typeface="Malgun Gothic"/>
              </a:defRPr>
            </a:pPr>
            <a:r>
              <a:rPr sz="1725" b="0">
                <a:solidFill>
                  <a:srgbClr val="37352F"/>
                </a:solidFill>
                <a:latin typeface="Malgun Gothic"/>
                <a:ea typeface="Malgun Gothic"/>
                <a:cs typeface="Malgun Gothic"/>
              </a:rPr>
              <a:t>구성안 기록값</a:t>
            </a:r>
          </a:p>
        </p:txBody>
      </p:sp>
      <p:sp>
        <p:nvSpPr>
          <p:cNvPr id="67" name="">
            <a:extLst xmlns:a="http://schemas.openxmlformats.org/drawingml/2006/main">
              <a:ext uri="{FF2B5EF4-FFF2-40B4-BE49-F238E27FC236}">
                <a16:creationId xmlns:a16="http://schemas.microsoft.com/office/drawing/2014/main" id="{A4D2A6A4-3CFF-41CD-ADEC-1FFE0E3D8882}"/>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F4FEEFEE-D285-4A44-A580-42ECAE8A1403}"/>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9" name="">
            <a:extLst xmlns:a="http://schemas.openxmlformats.org/drawingml/2006/main">
              <a:ext uri="{FF2B5EF4-FFF2-40B4-BE49-F238E27FC236}">
                <a16:creationId xmlns:a16="http://schemas.microsoft.com/office/drawing/2014/main" id="{A6A40A00-FC04-4A6E-B4F5-F6CC906BAAD1}"/>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방문을 지역 소비로 연결하는 운영 장치를 검토</a:t>
            </a:r>
          </a:p>
        </p:txBody>
      </p:sp>
      <p:sp>
        <p:nvSpPr>
          <p:cNvPr id="70" name="">
            <a:extLst xmlns:a="http://schemas.openxmlformats.org/drawingml/2006/main">
              <a:ext uri="{FF2B5EF4-FFF2-40B4-BE49-F238E27FC236}">
                <a16:creationId xmlns:a16="http://schemas.microsoft.com/office/drawing/2014/main" id="{EBC08FE3-3276-4BE5-AEEB-10839D931EA4}"/>
              </a:ext>
            </a:extLst>
          </p:cNvPr>
          <p:cNvSpPr>
            <a:spLocks xmlns:a="http://schemas.openxmlformats.org/drawingml/2006/main" noGrp="1"/>
          </p:cNvSpPr>
          <p:nvPr/>
        </p:nvSpPr>
        <p:spPr>
          <a:xfrm xmlns:a="http://schemas.openxmlformats.org/drawingml/2006/main">
            <a:off x="3048000" y="7829550"/>
            <a:ext cx="11506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매출 CSV는 2025년 1분기 이후만 제공되어 장기 추이는 미복원. 축제 전후 효과 분석이 아님</a:t>
            </a:r>
          </a:p>
        </p:txBody>
      </p:sp>
    </p:spTree>
    <p:extLst>
      <p:ext uri="{BB962C8B-B14F-4D97-AF65-F5344CB8AC3E}">
        <p14:creationId xmlns:p14="http://schemas.microsoft.com/office/powerpoint/2010/main" val="12080992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314B346C-53EF-4AAB-AEEB-5014BB8F0D5A}"/>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A0E770-9705-47DF-B1B8-6F760DDB45BB}"/>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F21190C-A398-4154-A0F8-9D3812CD4C79}"/>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6608D563-2019-474B-82ED-CCC466F8348C}"/>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42EC96C9-317A-4D36-8272-033DA6AAFAE3}"/>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6943516F-B8B2-46CA-AED8-F4F87916C9EF}"/>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C2338E55-FAFC-464B-AAAE-935480A042DD}"/>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04FFCB8C-723E-4787-9445-D2D2FAEB54B3}"/>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8747BBCF-F343-4934-8E3C-D1AC37FBD8F5}"/>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1B2631FA-00B9-487F-B0E1-9E26CAEFC3DC}"/>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08610EF-600A-468A-B2CE-60A12F0C2EE2}"/>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F894469-9F3E-470F-9E8B-62545BBC6FD0}"/>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E6A6FAF-76CC-49CC-AAC4-685FD11CE02D}"/>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FF0F37F9-3CDC-4C4C-91AF-F82AC99CFCF9}"/>
              </a:ext>
            </a:extLst>
          </p:cNvPr>
          <p:cNvSpPr>
            <a:spLocks xmlns:a="http://schemas.openxmlformats.org/drawingml/2006/main" noGrp="1"/>
          </p:cNvSpPr>
          <p:nvPr/>
        </p:nvSpPr>
        <p:spPr>
          <a:xfrm xmlns:a="http://schemas.openxmlformats.org/drawingml/2006/main">
            <a:off x="95250" y="33718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9E0F8DF-B2BC-48A8-BC05-072D449067C4}"/>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6" name="">
            <a:extLst xmlns:a="http://schemas.openxmlformats.org/drawingml/2006/main">
              <a:ext uri="{FF2B5EF4-FFF2-40B4-BE49-F238E27FC236}">
                <a16:creationId xmlns:a16="http://schemas.microsoft.com/office/drawing/2014/main" id="{1EEBB3A5-503D-44BD-AB40-DE5C9A745E88}"/>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6BA5CC2-B8C1-49E4-82BD-EA6D684F6F2D}"/>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BDD5313-9E57-4A69-90AE-7DB340E799EC}"/>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EA6EDC5-586B-4794-90E9-A9342525892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문제와 참여 범위</a:t>
            </a:r>
          </a:p>
        </p:txBody>
      </p:sp>
      <p:sp>
        <p:nvSpPr>
          <p:cNvPr id="20" name="">
            <a:extLst xmlns:a="http://schemas.openxmlformats.org/drawingml/2006/main">
              <a:ext uri="{FF2B5EF4-FFF2-40B4-BE49-F238E27FC236}">
                <a16:creationId xmlns:a16="http://schemas.microsoft.com/office/drawing/2014/main" id="{C0502261-6698-480F-9930-3445CF067473}"/>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7E54546A-D65D-4AB6-B19A-ED5BFDC57E4E}"/>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4136F9E-6BB8-48F1-B297-C024160C7E39}"/>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6ABFDA5-57A8-4B8D-B859-BF5C09CDBCA7}"/>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9B4BC07-859B-4437-BE77-B5D285AF03CD}"/>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42B78E19-8660-4EA5-8E5F-FCB38EE257DF}"/>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C8F08BAB-8103-41DE-86E1-4E66713282A7}"/>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BA2D9AF-985A-46ED-B2D3-3D9267D3691D}"/>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DA5D526-6777-4D0F-9BCE-B59E808F2F40}"/>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373F55EB-F070-498A-BDAF-A44E54A07E15}"/>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F17DA4A6-0A14-4ABA-ACCD-4463A608CB4D}"/>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122F4D57-FB41-4EFE-98A4-92410B17BF19}"/>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0B20E86-9D32-42BF-B91C-4BA30BE1E2A2}"/>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269F1DF-F517-40E0-9903-50DCEC662A92}"/>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EF375B3D-9F36-46D4-89D6-2954DC2CD236}"/>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A04D39E2-73F3-4912-B7BE-2ADF1626EEE9}"/>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163540CA-E175-4147-92D9-2B57979432AF}"/>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290771A-EE2A-4FF8-9D27-732422BDB7DD}"/>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07A0B4F-558E-442E-9B6E-13050FBE54B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FEB53F7F-5E46-4CDD-AB23-B6EE9DF5ACE9}"/>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5AE2C9E8-2B98-475F-B577-7FF8186A9C8E}"/>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CE71B687-91DE-4134-855D-A420346EFD0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789E30C-5616-4D08-84F4-C9BE4D430C79}"/>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CAC5778-05B4-41F6-BE9D-269F8A011373}"/>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18FAFB5-BA36-4D69-B18F-DF84A52D778F}"/>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430DBE4E-5217-4609-A65A-C8B0E4CA66E9}"/>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5E70C0DF-28B4-498A-B4A3-25EEA53318B3}"/>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CF3BFBD-4C79-4D51-AB33-1466CE1913F4}"/>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8B29A28-E329-4D42-9E09-60C8DDB30951}"/>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63C95A6F-C217-4D3A-9BA2-1360F874055C}"/>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2A47789A-2148-4887-8DB3-0FBDAC14F10D}"/>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B452530E-2875-4FFB-8EEF-1B8A38EA1B60}"/>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D732F283-FF51-43AD-BB2D-BC4B56EE83BC}"/>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축제 참여 범위</a:t>
            </a:r>
          </a:p>
        </p:txBody>
      </p:sp>
      <p:sp>
        <p:nvSpPr>
          <p:cNvPr id="53" name="">
            <a:extLst xmlns:a="http://schemas.openxmlformats.org/drawingml/2006/main">
              <a:ext uri="{FF2B5EF4-FFF2-40B4-BE49-F238E27FC236}">
                <a16:creationId xmlns:a16="http://schemas.microsoft.com/office/drawing/2014/main" id="{A2E01169-A2A9-47DA-955B-19890997EAC2}"/>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DB25AED4-0C07-44EA-8511-BEF823608EB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2A0F53E6-D02A-4DDC-80CB-433DC54A68E5}"/>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00815584-AE80-4594-88F6-12BA18945D87}"/>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C98146A-56D5-45DC-A352-3F5A60480D9D}"/>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F940BFA-A12F-4882-9717-8249B6BD0AEC}"/>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축제 참여 범위</a:t>
            </a:r>
          </a:p>
        </p:txBody>
      </p:sp>
      <p:sp>
        <p:nvSpPr>
          <p:cNvPr id="59" name="">
            <a:extLst xmlns:a="http://schemas.openxmlformats.org/drawingml/2006/main">
              <a:ext uri="{FF2B5EF4-FFF2-40B4-BE49-F238E27FC236}">
                <a16:creationId xmlns:a16="http://schemas.microsoft.com/office/drawing/2014/main" id="{67E017E3-B834-4BA6-80CE-7E519E56D12F}"/>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코어 9곳 + 참여 7곳 = 16곳 · 집계 점포 2,699곳</a:t>
            </a:r>
          </a:p>
        </p:txBody>
      </p:sp>
      <p:sp>
        <p:nvSpPr>
          <p:cNvPr id="60" name="">
            <a:extLst xmlns:a="http://schemas.openxmlformats.org/drawingml/2006/main">
              <a:ext uri="{FF2B5EF4-FFF2-40B4-BE49-F238E27FC236}">
                <a16:creationId xmlns:a16="http://schemas.microsoft.com/office/drawing/2014/main" id="{E60EA613-4C08-4D17-8FC8-7D5AD99BCCC8}"/>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5CA44F8-1765-41CA-A830-A64BA9AFF872}"/>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03 / 11</a:t>
            </a:r>
          </a:p>
        </p:txBody>
      </p:sp>
      <p:graphicFrame>
        <p:nvGraphicFramePr>
          <p:cNvPr id="131" name="Chart"/>
          <p:cNvGraphicFramePr/>
          <p:nvPr/>
        </p:nvGraphicFramePr>
        <p:xfrm>
          <a:off xmlns:a="http://schemas.openxmlformats.org/drawingml/2006/main" x="3048000" y="3333750"/>
          <a:ext xmlns:a="http://schemas.openxmlformats.org/drawingml/2006/main" cx="5143500" cy="3486150"/>
        </p:xfrm>
        <a:graphic xmlns:a="http://schemas.openxmlformats.org/drawingml/2006/main">
          <a:graphicData uri="http://schemas.openxmlformats.org/drawingml/2006/chart">
            <c:chart xmlns:r="http://schemas.openxmlformats.org/officeDocument/2006/relationships" xmlns:c="http://schemas.openxmlformats.org/drawingml/2006/chart" r:id="R6edf9b37c4d14eb6"/>
          </a:graphicData>
        </a:graphic>
      </p:graphicFrame>
      <p:sp>
        <p:nvSpPr>
          <p:cNvPr id="63" name="">
            <a:extLst xmlns:a="http://schemas.openxmlformats.org/drawingml/2006/main">
              <a:ext uri="{FF2B5EF4-FFF2-40B4-BE49-F238E27FC236}">
                <a16:creationId xmlns:a16="http://schemas.microsoft.com/office/drawing/2014/main" id="{C4DFCD32-0F8C-4FCE-818D-892117D3EC1D}"/>
              </a:ext>
            </a:extLst>
          </p:cNvPr>
          <p:cNvSpPr>
            <a:spLocks xmlns:a="http://schemas.openxmlformats.org/drawingml/2006/main" noGrp="1"/>
          </p:cNvSpPr>
          <p:nvPr/>
        </p:nvSpPr>
        <p:spPr>
          <a:xfrm xmlns:a="http://schemas.openxmlformats.org/drawingml/2006/main">
            <a:off x="8667750" y="34956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① 세 대학앞 상권의 볼록껍질</a:t>
            </a:r>
          </a:p>
        </p:txBody>
      </p:sp>
      <p:sp>
        <p:nvSpPr>
          <p:cNvPr id="64" name="">
            <a:extLst xmlns:a="http://schemas.openxmlformats.org/drawingml/2006/main">
              <a:ext uri="{FF2B5EF4-FFF2-40B4-BE49-F238E27FC236}">
                <a16:creationId xmlns:a16="http://schemas.microsoft.com/office/drawing/2014/main" id="{F25CA6D9-9185-424E-B5C1-C567D12CD7AF}"/>
              </a:ext>
            </a:extLst>
          </p:cNvPr>
          <p:cNvSpPr>
            <a:spLocks xmlns:a="http://schemas.openxmlformats.org/drawingml/2006/main" noGrp="1"/>
          </p:cNvSpPr>
          <p:nvPr/>
        </p:nvSpPr>
        <p:spPr>
          <a:xfrm xmlns:a="http://schemas.openxmlformats.org/drawingml/2006/main">
            <a:off x="8667750" y="435292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② 외곽으로 300m 버퍼</a:t>
            </a:r>
          </a:p>
        </p:txBody>
      </p:sp>
      <p:sp>
        <p:nvSpPr>
          <p:cNvPr id="65" name="">
            <a:extLst xmlns:a="http://schemas.openxmlformats.org/drawingml/2006/main">
              <a:ext uri="{FF2B5EF4-FFF2-40B4-BE49-F238E27FC236}">
                <a16:creationId xmlns:a16="http://schemas.microsoft.com/office/drawing/2014/main" id="{2A648E06-E1E0-499E-96B5-EB67506FDA6D}"/>
              </a:ext>
            </a:extLst>
          </p:cNvPr>
          <p:cNvSpPr>
            <a:spLocks xmlns:a="http://schemas.openxmlformats.org/drawingml/2006/main" noGrp="1"/>
          </p:cNvSpPr>
          <p:nvPr/>
        </p:nvSpPr>
        <p:spPr>
          <a:xfrm xmlns:a="http://schemas.openxmlformats.org/drawingml/2006/main">
            <a:off x="8667750" y="52101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37352F"/>
                </a:solidFill>
                <a:latin typeface="Malgun Gothic"/>
                <a:ea typeface="Malgun Gothic"/>
                <a:cs typeface="Malgun Gothic"/>
              </a:defRPr>
            </a:pPr>
            <a:r>
              <a:rPr sz="2100" b="1">
                <a:solidFill>
                  <a:srgbClr val="37352F"/>
                </a:solidFill>
                <a:latin typeface="Malgun Gothic"/>
                <a:ea typeface="Malgun Gothic"/>
                <a:cs typeface="Malgun Gothic"/>
              </a:rPr>
              <a:t>③ 면적 중첩률 50% 이상 선택</a:t>
            </a:r>
          </a:p>
        </p:txBody>
      </p:sp>
      <p:sp>
        <p:nvSpPr>
          <p:cNvPr id="66" name="">
            <a:extLst xmlns:a="http://schemas.openxmlformats.org/drawingml/2006/main">
              <a:ext uri="{FF2B5EF4-FFF2-40B4-BE49-F238E27FC236}">
                <a16:creationId xmlns:a16="http://schemas.microsoft.com/office/drawing/2014/main" id="{0A296504-A621-4E82-A6FC-F189F1DAF968}"/>
              </a:ext>
            </a:extLst>
          </p:cNvPr>
          <p:cNvSpPr>
            <a:spLocks xmlns:a="http://schemas.openxmlformats.org/drawingml/2006/main" noGrp="1"/>
          </p:cNvSpPr>
          <p:nvPr/>
        </p:nvSpPr>
        <p:spPr>
          <a:xfrm xmlns:a="http://schemas.openxmlformats.org/drawingml/2006/main">
            <a:off x="8667750" y="6067425"/>
            <a:ext cx="581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787774"/>
                </a:solidFill>
                <a:latin typeface="Malgun Gothic"/>
                <a:ea typeface="Malgun Gothic"/>
                <a:cs typeface="Malgun Gothic"/>
              </a:defRPr>
            </a:pPr>
            <a:r>
              <a:rPr sz="1650" b="0">
                <a:solidFill>
                  <a:srgbClr val="787774"/>
                </a:solidFill>
                <a:latin typeface="Malgun Gothic"/>
                <a:ea typeface="Malgun Gothic"/>
                <a:cs typeface="Malgun Gothic"/>
              </a:rPr>
              <a:t>왼쪽은 공식 중심점 위치도</a:t>
            </a:r>
          </a:p>
          <a:p xmlns:a="http://schemas.openxmlformats.org/drawingml/2006/main">
            <a:pPr>
              <a:defRPr sz="1650" b="0">
                <a:solidFill>
                  <a:srgbClr val="787774"/>
                </a:solidFill>
                <a:latin typeface="Malgun Gothic"/>
                <a:ea typeface="Malgun Gothic"/>
                <a:cs typeface="Malgun Gothic"/>
              </a:defRPr>
            </a:pPr>
            <a:r>
              <a:rPr sz="1650" b="0">
                <a:solidFill>
                  <a:srgbClr val="787774"/>
                </a:solidFill>
                <a:latin typeface="Malgun Gothic"/>
                <a:ea typeface="Malgun Gothic"/>
                <a:cs typeface="Malgun Gothic"/>
              </a:rPr>
              <a:t>경계·버퍼를 재현한 지도가 아님</a:t>
            </a:r>
          </a:p>
        </p:txBody>
      </p:sp>
      <p:sp>
        <p:nvSpPr>
          <p:cNvPr id="67" name="">
            <a:extLst xmlns:a="http://schemas.openxmlformats.org/drawingml/2006/main">
              <a:ext uri="{FF2B5EF4-FFF2-40B4-BE49-F238E27FC236}">
                <a16:creationId xmlns:a16="http://schemas.microsoft.com/office/drawing/2014/main" id="{61380464-610D-49D2-9082-F68A900D537E}"/>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8FC001ED-8173-4DB1-9545-BAA26F91326D}"/>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9" name="">
            <a:extLst xmlns:a="http://schemas.openxmlformats.org/drawingml/2006/main">
              <a:ext uri="{FF2B5EF4-FFF2-40B4-BE49-F238E27FC236}">
                <a16:creationId xmlns:a16="http://schemas.microsoft.com/office/drawing/2014/main" id="{1E951581-ACA7-4B21-9DA7-B6E3ABD73F94}"/>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연계존 7곳은 스탬프 0개, 교통 연계 검토</a:t>
            </a:r>
          </a:p>
        </p:txBody>
      </p:sp>
    </p:spTree>
    <p:extLst>
      <p:ext uri="{BB962C8B-B14F-4D97-AF65-F5344CB8AC3E}">
        <p14:creationId xmlns:p14="http://schemas.microsoft.com/office/powerpoint/2010/main" val="3716004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F27CDB71-D8A9-4C1C-9E13-067C1D859DCE}"/>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D03135-615C-46D3-BBFB-728115E1AAFF}"/>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098866-E1B3-461C-AFD0-37691BE6FA0E}"/>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632009E-6CEB-44B4-B6BF-BB07B4B464DA}"/>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801E250D-9291-4553-A396-F87100920228}"/>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CA896EA2-CBD5-400A-90B3-8CED104E53E5}"/>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30A06A0C-7600-4023-8E58-A50243B65760}"/>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385339B1-64D0-40BC-AE42-EFC77CC9E12B}"/>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FDFFB38-F0B8-48EB-A05F-811600116ABB}"/>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8FC14AAD-89D6-47CC-9D4D-D47079ABFFE0}"/>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244E6AF-94E5-45FC-A5B8-EEB82A7BA2A2}"/>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8C3ACB2-33BD-4A0E-9D1D-BF7D4DEB98D7}"/>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56DCDF5-B206-4390-8406-FB172ADB80EA}"/>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5B8CC0BC-59E9-453D-B477-1ACDF674F494}"/>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38F589B8-6C38-446F-A38E-137A4E09C787}"/>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1C1D85E-DD2D-45D2-8A2A-567916675F13}"/>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B022E41-D6DB-4C26-B924-B54DD309A0C2}"/>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F057DAE-37FF-4A67-957F-63EA5FF52626}"/>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1F19CC3D-1F3C-40A1-9A4A-EC4D04C4FF7B}"/>
              </a:ext>
            </a:extLst>
          </p:cNvPr>
          <p:cNvSpPr>
            <a:spLocks xmlns:a="http://schemas.openxmlformats.org/drawingml/2006/main" noGrp="1"/>
          </p:cNvSpPr>
          <p:nvPr/>
        </p:nvSpPr>
        <p:spPr>
          <a:xfrm xmlns:a="http://schemas.openxmlformats.org/drawingml/2006/main">
            <a:off x="95250" y="37814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E1C6C3B-D95F-4D41-963B-0A9155AD3076}"/>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A8614186-A9A1-4078-9DD5-2C0E0B26EA79}"/>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EA0101A-EBCE-4D11-89C2-4A7EB161EB59}"/>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F0BF4FC-D28D-4481-BDB4-133A7DC8F448}"/>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7A16142-7614-477F-B8C6-724E5740DAFA}"/>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A4C88E5B-8D17-4DFE-815B-5E70DDB1B1A9}"/>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3513DBC9-4C52-4F4F-9DF4-DC1045BD5624}"/>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A57E9B9-BF99-44BE-B453-77719D5AEB27}"/>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5C0A073-BB26-472B-B83B-909971CB7593}"/>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E3A36456-8577-4E8F-85C5-293766C416BD}"/>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F38BE0D1-2A77-4592-AE15-244B27903F4D}"/>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5F8FF954-6D3D-4205-8DD0-2C036D13BD83}"/>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D1681A8-CAAC-4338-86F1-57A581E08CEB}"/>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5423167-29F7-45CB-A140-6C56C5DCF792}"/>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739A2FB-EF02-480E-813F-D2F6BE1DF477}"/>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C0C24C1B-E9F3-4ADF-B4EC-F6AF994A1F78}"/>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2B06E3C2-793E-4365-8520-15DA4B1D8FC0}"/>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98D8294-36D0-4C03-A78A-2CECB9ADA619}"/>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157631A-8788-41E4-82BD-508E99CAD7A2}"/>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55D02B2-1CCB-49FE-A546-9E68824E7532}"/>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48219C98-713C-4B8C-B84B-B6D9575FAB69}"/>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9B9B5177-D709-4870-97A0-B7335FC7F8C2}"/>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A0FB4AC-3B22-4342-A01C-BA81572300DE}"/>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000D61F-4FE3-4101-9AFE-EFDB72C896AE}"/>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5A6714E-D111-4131-816F-B2EFFD2F5D32}"/>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86E788EF-D012-4D25-B9B8-9170395880D7}"/>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CD7BAC84-57EC-4582-B2D3-22F5FE928B36}"/>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76287F0B-2558-4F7E-87D0-6843D729977C}"/>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B276CAB4-FDED-4614-B611-E7519EDFB39E}"/>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A652929-95F4-4B67-BCF0-FC5FD836FF12}"/>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556BBFF2-E48E-4422-9B50-A561E9C79FF2}"/>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54C97007-AE80-457E-BC49-A254D802BB65}"/>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B9D07D1-D37A-49E5-A9FD-31F7C953E61C}"/>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평시 20대 비중의 거리감쇠</a:t>
            </a:r>
          </a:p>
        </p:txBody>
      </p:sp>
      <p:sp>
        <p:nvSpPr>
          <p:cNvPr id="53" name="">
            <a:extLst xmlns:a="http://schemas.openxmlformats.org/drawingml/2006/main">
              <a:ext uri="{FF2B5EF4-FFF2-40B4-BE49-F238E27FC236}">
                <a16:creationId xmlns:a16="http://schemas.microsoft.com/office/drawing/2014/main" id="{8BCAE725-AD01-4E87-B5F6-107CD677ED31}"/>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16E99DA1-3069-44CA-ABAA-5FB1755DF33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790C0AC5-7911-41BE-8ECC-23F2174F1221}"/>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8272219-78A7-4E4E-A5B7-AF3F95E73815}"/>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BE200B54-E609-4E98-BE48-AE2100ACC96A}"/>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DA37DED8-C048-48E5-A940-1DB2DA82FAB8}"/>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평시 20대 비중의 거리감쇠</a:t>
            </a:r>
          </a:p>
        </p:txBody>
      </p:sp>
      <p:sp>
        <p:nvSpPr>
          <p:cNvPr id="59" name="">
            <a:extLst xmlns:a="http://schemas.openxmlformats.org/drawingml/2006/main">
              <a:ext uri="{FF2B5EF4-FFF2-40B4-BE49-F238E27FC236}">
                <a16:creationId xmlns:a16="http://schemas.microsoft.com/office/drawing/2014/main" id="{994C6E51-7389-4654-9B88-BF8D4F7BDF8F}"/>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평시 유동인구 중 20대 비중과 거리의 관계</a:t>
            </a:r>
          </a:p>
        </p:txBody>
      </p:sp>
      <p:sp>
        <p:nvSpPr>
          <p:cNvPr id="60" name="">
            <a:extLst xmlns:a="http://schemas.openxmlformats.org/drawingml/2006/main">
              <a:ext uri="{FF2B5EF4-FFF2-40B4-BE49-F238E27FC236}">
                <a16:creationId xmlns:a16="http://schemas.microsoft.com/office/drawing/2014/main" id="{B4217144-DED4-45B0-849D-D27812C709BF}"/>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17993071-8FBD-4150-ABA9-9B683619EED4}"/>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04 / 11</a:t>
            </a:r>
          </a:p>
        </p:txBody>
      </p:sp>
      <p:graphicFrame>
        <p:nvGraphicFramePr>
          <p:cNvPr id="130" name="Chart"/>
          <p:cNvGraphicFramePr/>
          <p:nvPr/>
        </p:nvGraphicFramePr>
        <p:xfrm>
          <a:off xmlns:a="http://schemas.openxmlformats.org/drawingml/2006/main" x="3048000" y="3333750"/>
          <a:ext xmlns:a="http://schemas.openxmlformats.org/drawingml/2006/main" cx="7239000" cy="3476625"/>
        </p:xfrm>
        <a:graphic xmlns:a="http://schemas.openxmlformats.org/drawingml/2006/main">
          <a:graphicData uri="http://schemas.openxmlformats.org/drawingml/2006/chart">
            <c:chart xmlns:r="http://schemas.openxmlformats.org/officeDocument/2006/relationships" xmlns:c="http://schemas.openxmlformats.org/drawingml/2006/chart" r:id="Rb0a997b2e1b94b79"/>
          </a:graphicData>
        </a:graphic>
      </p:graphicFrame>
      <p:sp>
        <p:nvSpPr>
          <p:cNvPr id="63" name="">
            <a:extLst xmlns:a="http://schemas.openxmlformats.org/drawingml/2006/main">
              <a:ext uri="{FF2B5EF4-FFF2-40B4-BE49-F238E27FC236}">
                <a16:creationId xmlns:a16="http://schemas.microsoft.com/office/drawing/2014/main" id="{FA36B9FF-D3EC-4CA5-B11C-3ABEA690815A}"/>
              </a:ext>
            </a:extLst>
          </p:cNvPr>
          <p:cNvSpPr>
            <a:spLocks xmlns:a="http://schemas.openxmlformats.org/drawingml/2006/main" noGrp="1"/>
          </p:cNvSpPr>
          <p:nvPr/>
        </p:nvSpPr>
        <p:spPr>
          <a:xfrm xmlns:a="http://schemas.openxmlformats.org/drawingml/2006/main">
            <a:off x="10668000" y="3476625"/>
            <a:ext cx="3714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950" b="1">
                <a:solidFill>
                  <a:srgbClr val="37352F"/>
                </a:solidFill>
                <a:latin typeface="Malgun Gothic"/>
                <a:ea typeface="Malgun Gothic"/>
                <a:cs typeface="Malgun Gothic"/>
              </a:defRPr>
            </a:pPr>
            <a:r>
              <a:rPr sz="4950" b="1">
                <a:solidFill>
                  <a:srgbClr val="37352F"/>
                </a:solidFill>
                <a:latin typeface="Malgun Gothic"/>
                <a:ea typeface="Malgun Gothic"/>
                <a:cs typeface="Malgun Gothic"/>
              </a:rPr>
              <a:t>583m</a:t>
            </a:r>
          </a:p>
        </p:txBody>
      </p:sp>
      <p:sp>
        <p:nvSpPr>
          <p:cNvPr id="64" name="">
            <a:extLst xmlns:a="http://schemas.openxmlformats.org/drawingml/2006/main">
              <a:ext uri="{FF2B5EF4-FFF2-40B4-BE49-F238E27FC236}">
                <a16:creationId xmlns:a16="http://schemas.microsoft.com/office/drawing/2014/main" id="{46B32335-EAEF-4CA0-B4DB-6AA81E480A73}"/>
              </a:ext>
            </a:extLst>
          </p:cNvPr>
          <p:cNvSpPr>
            <a:spLocks xmlns:a="http://schemas.openxmlformats.org/drawingml/2006/main" noGrp="1"/>
          </p:cNvSpPr>
          <p:nvPr/>
        </p:nvSpPr>
        <p:spPr>
          <a:xfrm xmlns:a="http://schemas.openxmlformats.org/drawingml/2006/main">
            <a:off x="10668000" y="44005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반감거리</a:t>
            </a:r>
          </a:p>
        </p:txBody>
      </p:sp>
      <p:sp>
        <p:nvSpPr>
          <p:cNvPr id="65" name="">
            <a:extLst xmlns:a="http://schemas.openxmlformats.org/drawingml/2006/main">
              <a:ext uri="{FF2B5EF4-FFF2-40B4-BE49-F238E27FC236}">
                <a16:creationId xmlns:a16="http://schemas.microsoft.com/office/drawing/2014/main" id="{E43C59BB-F13E-4AB6-AAFE-52A64C279990}"/>
              </a:ext>
            </a:extLst>
          </p:cNvPr>
          <p:cNvSpPr>
            <a:spLocks xmlns:a="http://schemas.openxmlformats.org/drawingml/2006/main" noGrp="1"/>
          </p:cNvSpPr>
          <p:nvPr/>
        </p:nvSpPr>
        <p:spPr>
          <a:xfrm xmlns:a="http://schemas.openxmlformats.org/drawingml/2006/main">
            <a:off x="10668000" y="5238750"/>
            <a:ext cx="3714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β = 1.189/km</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R² = 0.533</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기존 표본 23곳</a:t>
            </a:r>
          </a:p>
        </p:txBody>
      </p:sp>
      <p:sp>
        <p:nvSpPr>
          <p:cNvPr id="66" name="">
            <a:extLst xmlns:a="http://schemas.openxmlformats.org/drawingml/2006/main">
              <a:ext uri="{FF2B5EF4-FFF2-40B4-BE49-F238E27FC236}">
                <a16:creationId xmlns:a16="http://schemas.microsoft.com/office/drawing/2014/main" id="{5C348084-6C37-4933-B1EA-9B8ADD0DB500}"/>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4487C251-76D8-4C98-B88F-441951773B53}"/>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607D38D0-EF92-4F93-9C49-2D1B87BEAAAA}"/>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기록된 β로 그린 모형 곡선 · 축제 당일의 실측 효과가 아님</a:t>
            </a:r>
          </a:p>
        </p:txBody>
      </p:sp>
    </p:spTree>
    <p:extLst>
      <p:ext uri="{BB962C8B-B14F-4D97-AF65-F5344CB8AC3E}">
        <p14:creationId xmlns:p14="http://schemas.microsoft.com/office/powerpoint/2010/main" val="2765198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F2864AA5-4BBC-4A5F-AA5A-0C2953FB3C03}"/>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BC9E1E-577C-44C0-A125-8BE30064204D}"/>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FEF8DE3-B7F5-4386-AFDF-B88746885631}"/>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8A0BE299-7C1D-4552-A69E-5794C949AB91}"/>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EBCEF6CB-C29A-4451-BA4B-49059D9CDD19}"/>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B4349F24-6226-46F5-B3D9-7A5C632D0AE8}"/>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8F3F896C-B1DA-43EB-9BA1-34D76997E54B}"/>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10AA61EE-1891-419F-9DB6-77A1AB664F77}"/>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CE062E9A-35B6-4628-B8F2-C1B9DC5CEEEE}"/>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D357970A-D404-4EC7-8112-B5F867A0A071}"/>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27CE4CF-F2C3-426F-A7E1-FA05307C2F2E}"/>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80D3923-FCF9-4D8B-9831-D2ABE447C41E}"/>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D15C7E-9BCE-4627-B4A6-0E6109F38880}"/>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C1D93FD4-7917-435E-9751-733A760F2E22}"/>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30A61AF0-990C-4B8F-ABA0-41DBBB6D4BE0}"/>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B8A43DD-4A3B-4506-8475-3ACF413C11B8}"/>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7F7B88F-B18F-45D3-8BFC-CAD2BB6F1130}"/>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E576C9D-8D4D-4633-A070-77E793E1512D}"/>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CD503215-4626-4C94-8607-7EF2C5C887F4}"/>
              </a:ext>
            </a:extLst>
          </p:cNvPr>
          <p:cNvSpPr>
            <a:spLocks xmlns:a="http://schemas.openxmlformats.org/drawingml/2006/main" noGrp="1"/>
          </p:cNvSpPr>
          <p:nvPr/>
        </p:nvSpPr>
        <p:spPr>
          <a:xfrm xmlns:a="http://schemas.openxmlformats.org/drawingml/2006/main">
            <a:off x="95250" y="37814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EA43C58-88A3-4312-96CF-7D602FF43CB4}"/>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1" name="">
            <a:extLst xmlns:a="http://schemas.openxmlformats.org/drawingml/2006/main">
              <a:ext uri="{FF2B5EF4-FFF2-40B4-BE49-F238E27FC236}">
                <a16:creationId xmlns:a16="http://schemas.microsoft.com/office/drawing/2014/main" id="{54EAB42E-EF32-422A-A40E-1ECC3E0FFF6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E7C3CB1-9753-4CE3-BA56-9579112D7743}"/>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078CD27-98F8-4BBC-BCCE-293315AC5AAE}"/>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1DE2998-1D73-4A5F-BFA9-6429EBD9D069}"/>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거리와 배정 기준</a:t>
            </a:r>
          </a:p>
        </p:txBody>
      </p:sp>
      <p:sp>
        <p:nvSpPr>
          <p:cNvPr id="25" name="">
            <a:extLst xmlns:a="http://schemas.openxmlformats.org/drawingml/2006/main">
              <a:ext uri="{FF2B5EF4-FFF2-40B4-BE49-F238E27FC236}">
                <a16:creationId xmlns:a16="http://schemas.microsoft.com/office/drawing/2014/main" id="{9CB3486B-F6C1-4EA2-B657-5A4E8344CBF4}"/>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EE77590D-D4F6-4267-8243-FE4243E6FAF5}"/>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EE6AB19-173B-464E-AF3B-1E17FA1B3053}"/>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7A2C98F-9F04-4367-813C-B27FA3EF2D68}"/>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5A9544D0-85CB-4186-B8D3-20DBBB6BCBA3}"/>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00A6AF8A-08A0-4454-A2AA-63B835AE7F74}"/>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D4CA93B1-650F-4AAE-8181-2B966004303A}"/>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D870A05-4CE7-45F0-91D0-4B747AE1C5C2}"/>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68D523A-902A-4D99-BB9D-B7C99D9541D3}"/>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3B5116F-F961-4E11-BC79-5BF6E1B04280}"/>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58F6B8FC-F284-4109-BE74-441CA6EEF9F1}"/>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80C0EA7C-B532-4293-B6A6-DF3C9EC865CC}"/>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07055B0-4E9B-4BF3-A15E-5601822EA645}"/>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F6BC723-2DCF-49E3-A50D-75B655FF1850}"/>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F1E2F083-8748-4735-AFCA-4854D49F94ED}"/>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0B680E36-57CA-4610-92A4-3A94E1E9E50B}"/>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6058AFCB-F5C8-4E20-BD2D-FB3860EFDBB5}"/>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DB7080D-5BED-45ED-B9C5-C93AB884AB27}"/>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3A74B2A-9A6C-461D-998F-55CEC7F2FDC3}"/>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B94E111-9E63-4CFA-A795-5CD969F210A1}"/>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24B92955-0933-4315-BA86-7BBA84B49438}"/>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B23D9DDF-BD66-4A7C-B61F-5713C502605E}"/>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01940449-EA54-4E26-A236-03D8EB8882B2}"/>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87CC534-F43C-4117-BFC7-E37098F92459}"/>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691AD32-6D76-4295-B371-2C62D0528135}"/>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D943E608-493B-4BF1-96F4-2D8F8F0FF002}"/>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2B7F553E-3359-470B-A07C-C1CB51815F43}"/>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27813B1-815C-4FC5-94FB-7B3ACDE2812B}"/>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스탬프 배정 기준</a:t>
            </a:r>
          </a:p>
        </p:txBody>
      </p:sp>
      <p:sp>
        <p:nvSpPr>
          <p:cNvPr id="53" name="">
            <a:extLst xmlns:a="http://schemas.openxmlformats.org/drawingml/2006/main">
              <a:ext uri="{FF2B5EF4-FFF2-40B4-BE49-F238E27FC236}">
                <a16:creationId xmlns:a16="http://schemas.microsoft.com/office/drawing/2014/main" id="{C7D76790-A112-45FD-9165-2AD7F96861AE}"/>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6670824F-3795-4410-9CF3-2145C78DE35C}"/>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B5055219-EA7D-48E6-BD57-A5696E0073BF}"/>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8A491780-DD7D-49C5-A769-E37DFFBFE74B}"/>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DDE0ADC8-AE19-4DDE-86A9-0026E4A1C6CD}"/>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61EFDE9-3A48-4567-B30D-8398837A8521}"/>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스탬프 배정 기준</a:t>
            </a:r>
          </a:p>
        </p:txBody>
      </p:sp>
      <p:sp>
        <p:nvSpPr>
          <p:cNvPr id="59" name="">
            <a:extLst xmlns:a="http://schemas.openxmlformats.org/drawingml/2006/main">
              <a:ext uri="{FF2B5EF4-FFF2-40B4-BE49-F238E27FC236}">
                <a16:creationId xmlns:a16="http://schemas.microsoft.com/office/drawing/2014/main" id="{7938FE6C-D043-4F66-BC0F-DFBA30146570}"/>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하락 D · 저활력 L · 거리 기반 도달 R</a:t>
            </a:r>
          </a:p>
        </p:txBody>
      </p:sp>
      <p:sp>
        <p:nvSpPr>
          <p:cNvPr id="60" name="">
            <a:extLst xmlns:a="http://schemas.openxmlformats.org/drawingml/2006/main">
              <a:ext uri="{FF2B5EF4-FFF2-40B4-BE49-F238E27FC236}">
                <a16:creationId xmlns:a16="http://schemas.microsoft.com/office/drawing/2014/main" id="{70B5EC18-5167-431F-B196-298FADC78E45}"/>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21CCD058-2FE7-4203-A324-0907DB64732D}"/>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05 / 11</a:t>
            </a:r>
          </a:p>
        </p:txBody>
      </p:sp>
      <p:sp>
        <p:nvSpPr>
          <p:cNvPr id="62" name="">
            <a:extLst xmlns:a="http://schemas.openxmlformats.org/drawingml/2006/main">
              <a:ext uri="{FF2B5EF4-FFF2-40B4-BE49-F238E27FC236}">
                <a16:creationId xmlns:a16="http://schemas.microsoft.com/office/drawing/2014/main" id="{056DFF9D-3375-4167-9FB6-EE28F2F0C6EE}"/>
              </a:ext>
            </a:extLst>
          </p:cNvPr>
          <p:cNvSpPr>
            <a:spLocks xmlns:a="http://schemas.openxmlformats.org/drawingml/2006/main" noGrp="1"/>
          </p:cNvSpPr>
          <p:nvPr/>
        </p:nvSpPr>
        <p:spPr>
          <a:xfrm xmlns:a="http://schemas.openxmlformats.org/drawingml/2006/main">
            <a:off x="3048000" y="3371850"/>
            <a:ext cx="11506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575" b="1">
                <a:solidFill>
                  <a:srgbClr val="37352F"/>
                </a:solidFill>
                <a:latin typeface="Malgun Gothic"/>
                <a:ea typeface="Malgun Gothic"/>
                <a:cs typeface="Malgun Gothic"/>
              </a:defRPr>
            </a:pPr>
            <a:r>
              <a:rPr sz="4575" b="1">
                <a:solidFill>
                  <a:srgbClr val="37352F"/>
                </a:solidFill>
                <a:latin typeface="Malgun Gothic"/>
                <a:ea typeface="Malgun Gothic"/>
                <a:cs typeface="Malgun Gothic"/>
              </a:rPr>
              <a:t>M = √(D × L) × R</a:t>
            </a:r>
          </a:p>
        </p:txBody>
      </p:sp>
      <p:graphicFrame>
        <p:nvGraphicFramePr>
          <p:cNvPr id="131" name=""/>
          <p:cNvGraphicFramePr/>
          <p:nvPr/>
        </p:nvGraphicFramePr>
        <p:xfrm>
          <a:off xmlns:a="http://schemas.openxmlformats.org/drawingml/2006/main" x="3048000" y="4543425"/>
          <a:ext xmlns:a="http://schemas.openxmlformats.org/drawingml/2006/main" cx="11506200" cy="1476375"/>
        </p:xfrm>
        <a:graphic xmlns:a="http://schemas.openxmlformats.org/drawingml/2006/main">
          <a:graphicData uri="http://schemas.openxmlformats.org/drawingml/2006/table">
            <a:tbl>
              <a:tblPr/>
              <a:tblGrid>
                <a:gridCol w="3835400"/>
                <a:gridCol w="3835400"/>
                <a:gridCol w="3835400"/>
              </a:tblGrid>
              <a:tr h="738188">
                <a:tc>
                  <a:txBody>
                    <a:bodyPr/>
                    <a:lstStyle/>
                    <a:p>
                      <a:r>
                        <a:rPr sz="1800" b="1">
                          <a:solidFill>
                            <a:srgbClr val="37352F"/>
                          </a:solidFill>
                          <a:latin typeface="Malgun Gothic"/>
                          <a:ea typeface="Malgun Gothic"/>
                          <a:cs typeface="Malgun Gothic"/>
                        </a:rPr>
                        <a:t>D 하락</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L 저활력</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R 도달</a:t>
                      </a:r>
                    </a:p>
                  </a:txBody>
                  <a:tcPr marL="85725" marR="85725" marT="28575" marB="28575">
                    <a:solidFill>
                      <a:srgbClr val="F1F1EF"/>
                    </a:solidFill>
                  </a:tcPr>
                </a:tc>
              </a:tr>
              <a:tr h="738188">
                <a:tc>
                  <a:txBody>
                    <a:bodyPr/>
                    <a:lstStyle/>
                    <a:p>
                      <a:r>
                        <a:rPr sz="1800" b="0">
                          <a:solidFill>
                            <a:srgbClr val="37352F"/>
                          </a:solidFill>
                          <a:latin typeface="Malgun Gothic"/>
                          <a:ea typeface="Malgun Gothic"/>
                          <a:cs typeface="Malgun Gothic"/>
                        </a:rPr>
                        <a:t>20대 소비강도·점포 변화</a:t>
                      </a:r>
                    </a:p>
                    <a:p>
                      <a:r>
                        <a:rPr sz="1800" b="0">
                          <a:solidFill>
                            <a:srgbClr val="37352F"/>
                          </a:solidFill>
                          <a:latin typeface="Malgun Gothic"/>
                          <a:ea typeface="Malgun Gothic"/>
                          <a:cs typeface="Malgun Gothic"/>
                        </a:rPr>
                        <a:t>폐업률·전체 매출 변화</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점포당 추정매출의</a:t>
                      </a:r>
                    </a:p>
                    <a:p>
                      <a:r>
                        <a:rPr sz="1800" b="0">
                          <a:solidFill>
                            <a:srgbClr val="37352F"/>
                          </a:solidFill>
                          <a:latin typeface="Malgun Gothic"/>
                          <a:ea typeface="Malgun Gothic"/>
                          <a:cs typeface="Malgun Gothic"/>
                        </a:rPr>
                        <a:t>역순위 백분위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exp(−1.189 × 거리[km])</a:t>
                      </a:r>
                    </a:p>
                    <a:p>
                      <a:r>
                        <a:rPr sz="1800" b="0">
                          <a:solidFill>
                            <a:srgbClr val="37352F"/>
                          </a:solidFill>
                          <a:latin typeface="Malgun Gothic"/>
                          <a:ea typeface="Malgun Gothic"/>
                          <a:cs typeface="Malgun Gothic"/>
                        </a:rPr>
                        <a:t>무대 대리점과 상권 경계</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5DAD91FA-DA23-4E83-8B11-079093D297D4}"/>
              </a:ext>
            </a:extLst>
          </p:cNvPr>
          <p:cNvSpPr>
            <a:spLocks xmlns:a="http://schemas.openxmlformats.org/drawingml/2006/main" noGrp="1"/>
          </p:cNvSpPr>
          <p:nvPr/>
        </p:nvSpPr>
        <p:spPr>
          <a:xfrm xmlns:a="http://schemas.openxmlformats.org/drawingml/2006/main">
            <a:off x="3048000" y="63436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487CA5"/>
                </a:solidFill>
                <a:latin typeface="Malgun Gothic"/>
                <a:ea typeface="Malgun Gothic"/>
                <a:cs typeface="Malgun Gothic"/>
              </a:defRPr>
            </a:pPr>
            <a:r>
              <a:rPr sz="2175" b="1">
                <a:solidFill>
                  <a:srgbClr val="487CA5"/>
                </a:solidFill>
                <a:latin typeface="Malgun Gothic"/>
                <a:ea typeface="Malgun Gothic"/>
                <a:cs typeface="Malgun Gothic"/>
              </a:rPr>
              <a:t>시립대앞사거리  0.669 · 6개</a:t>
            </a:r>
          </a:p>
        </p:txBody>
      </p:sp>
      <p:sp>
        <p:nvSpPr>
          <p:cNvPr id="65" name="">
            <a:extLst xmlns:a="http://schemas.openxmlformats.org/drawingml/2006/main">
              <a:ext uri="{FF2B5EF4-FFF2-40B4-BE49-F238E27FC236}">
                <a16:creationId xmlns:a16="http://schemas.microsoft.com/office/drawing/2014/main" id="{63E4A05C-6083-4055-9BC5-640F4268ADD1}"/>
              </a:ext>
            </a:extLst>
          </p:cNvPr>
          <p:cNvSpPr>
            <a:spLocks xmlns:a="http://schemas.openxmlformats.org/drawingml/2006/main" noGrp="1"/>
          </p:cNvSpPr>
          <p:nvPr/>
        </p:nvSpPr>
        <p:spPr>
          <a:xfrm xmlns:a="http://schemas.openxmlformats.org/drawingml/2006/main">
            <a:off x="9372600" y="6343650"/>
            <a:ext cx="5191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37352F"/>
                </a:solidFill>
                <a:latin typeface="Malgun Gothic"/>
                <a:ea typeface="Malgun Gothic"/>
                <a:cs typeface="Malgun Gothic"/>
              </a:defRPr>
            </a:pPr>
            <a:r>
              <a:rPr sz="2175" b="1">
                <a:solidFill>
                  <a:srgbClr val="37352F"/>
                </a:solidFill>
                <a:latin typeface="Malgun Gothic"/>
                <a:ea typeface="Malgun Gothic"/>
                <a:cs typeface="Malgun Gothic"/>
              </a:rPr>
              <a:t>경희대앞  0.216 · 2개</a:t>
            </a:r>
          </a:p>
        </p:txBody>
      </p:sp>
      <p:sp>
        <p:nvSpPr>
          <p:cNvPr id="66" name="">
            <a:extLst xmlns:a="http://schemas.openxmlformats.org/drawingml/2006/main">
              <a:ext uri="{FF2B5EF4-FFF2-40B4-BE49-F238E27FC236}">
                <a16:creationId xmlns:a16="http://schemas.microsoft.com/office/drawing/2014/main" id="{99CDB414-7170-4680-B77D-B7B97F16FE2E}"/>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FB5CA613-9CF9-4C71-9BA9-A25F2E32C7AD}"/>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D858BD2D-86A8-4353-9FC6-2DBA0BC76E82}"/>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D와 L을 대칭적으로 결합한 자체 설계 지수 · 취향 추천과 별도</a:t>
            </a:r>
          </a:p>
        </p:txBody>
      </p:sp>
    </p:spTree>
    <p:extLst>
      <p:ext uri="{BB962C8B-B14F-4D97-AF65-F5344CB8AC3E}">
        <p14:creationId xmlns:p14="http://schemas.microsoft.com/office/powerpoint/2010/main" val="3627671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78F69D71-9932-403F-862A-A72652A92748}"/>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3E5F68-6BFE-430D-9099-2773C4F2EC91}"/>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E0A130-5760-4C89-99FC-63A3CB8C8CF5}"/>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3B473C7-2936-4CBC-A73C-91F4B0ADB966}"/>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4E87BAF5-3352-4889-B018-7D426DF39C39}"/>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3D47B0C6-8C64-4ABE-B7C8-3757A7C34C96}"/>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B4BDCCC0-7445-45FE-9E30-34832136DE4D}"/>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B876D547-C061-4A95-B29A-CFF9BD3FF9C6}"/>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A710118B-B9F8-45B5-BBF7-DEA4706ADBE7}"/>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B6E770BF-D0AD-4677-9550-0911D88E4DB9}"/>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7FE50FF-431F-460F-87CF-5CD01B53F815}"/>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D6C8F3-EC12-492B-89AB-8C7F17B2D82C}"/>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EABDB5F-D7E1-49A0-8E62-676ED7B4222B}"/>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0D2A1181-07D7-4831-87BC-31917DF37FE3}"/>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C8EB8615-E950-49F2-8D1E-20B052B44258}"/>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5EC5098-1DB1-4456-B7EA-AD19D99AEC36}"/>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3DFE14A-D99E-4CC5-82A9-3589BB5F3534}"/>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D3ECD5F-B7C1-488E-A32F-B57CEE38887F}"/>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97289DB5-E971-4FEE-8875-8633440B4F99}"/>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793D749A-025D-40F8-880A-33957C5C296A}"/>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B32B9DF-A5D9-4962-9A13-4D8BE893A5CE}"/>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0F6D6B9-76A2-4BCA-8F7B-338EDC42756F}"/>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CF3F283-17A2-453D-BA2E-3E2D814D125C}"/>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C95E89CF-DFA1-4A5D-8281-88244A466B7D}"/>
              </a:ext>
            </a:extLst>
          </p:cNvPr>
          <p:cNvSpPr>
            <a:spLocks xmlns:a="http://schemas.openxmlformats.org/drawingml/2006/main" noGrp="1"/>
          </p:cNvSpPr>
          <p:nvPr/>
        </p:nvSpPr>
        <p:spPr>
          <a:xfrm xmlns:a="http://schemas.openxmlformats.org/drawingml/2006/main">
            <a:off x="95250" y="41910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96D2B4F-ED26-4EA6-B567-0A2534C42D85}"/>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79B5D381-0C1E-477D-BDB7-20B5536B528B}"/>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208DBE2-C3FC-4A54-90AC-E595CAECABC1}"/>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57CC558-7F8C-4C84-9DD4-40D9CB4C420E}"/>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6851482-CBF0-4BC7-8176-51D951FF02DE}"/>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47CAB3B8-6304-4372-800D-0BB7D19F09A5}"/>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35A097EE-CCE6-4207-B20B-1A5A27D567DF}"/>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4650482-AC6B-4471-BA55-1F3774B9284B}"/>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335AD30-A9A7-40B8-93FD-419C06A492B0}"/>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0113E34-14A1-4DAF-A50F-F591EE14683A}"/>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06B74C17-F27E-4869-8AAD-28F41B9CF5B6}"/>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36A809F3-EE2D-4293-8E9F-CE74E8390668}"/>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F26D2B3-A621-4A77-8CFD-1789D41D3261}"/>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5D1C5C2-D44E-4368-8773-EDE512F73A02}"/>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D3BCD8E-33A0-436F-8E0C-6CD283FD3D35}"/>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F0FAF41C-55B2-49C9-AB95-565489B3DBD4}"/>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CDE000E5-6475-4E04-A811-C89D482A2A3D}"/>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2A0A427E-457B-43A6-8908-74EB9845FF1D}"/>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447A5BF-5B31-4C4D-AE4F-D3F45B55D939}"/>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C629E47D-5A3C-4939-A108-A14CF3F29537}"/>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9B74EA13-EE90-42E2-AAED-AEFB07F39CBC}"/>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3963F543-9558-4372-A389-C51F38F8B1E9}"/>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AE531D33-B4A4-4425-A849-DFA0CEBD83BA}"/>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5F0AF22-C1DD-43DD-B4A3-3B5B0BE4B676}"/>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555A40BE-0AF0-4882-B9C0-44C4D0126BEC}"/>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9CE4B866-6F66-46B2-BEEC-293D35E5F187}"/>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AB19610D-1D5A-413C-A50C-3A7FF445940F}"/>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C505B35C-F45B-4539-B6E8-22650B82D71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16개 상권의 최종 배정</a:t>
            </a:r>
          </a:p>
        </p:txBody>
      </p:sp>
      <p:sp>
        <p:nvSpPr>
          <p:cNvPr id="53" name="">
            <a:extLst xmlns:a="http://schemas.openxmlformats.org/drawingml/2006/main">
              <a:ext uri="{FF2B5EF4-FFF2-40B4-BE49-F238E27FC236}">
                <a16:creationId xmlns:a16="http://schemas.microsoft.com/office/drawing/2014/main" id="{8E17CD3B-2D4C-48A6-BB13-F1A13CDD7076}"/>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23150892-7332-408E-BDF6-D2E417B8B00C}"/>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1734D4C4-F276-4492-8B96-08E9D21D3D38}"/>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FFCD3C7C-4256-49AD-A42D-EA2A63DA0285}"/>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AD7828F-DC89-41D6-B42E-0437B22FFF8B}"/>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B163EED3-76FF-4F29-94B8-6FFEF2026E4C}"/>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16개 상권의 최종 배정</a:t>
            </a:r>
          </a:p>
        </p:txBody>
      </p:sp>
      <p:sp>
        <p:nvSpPr>
          <p:cNvPr id="59" name="">
            <a:extLst xmlns:a="http://schemas.openxmlformats.org/drawingml/2006/main">
              <a:ext uri="{FF2B5EF4-FFF2-40B4-BE49-F238E27FC236}">
                <a16:creationId xmlns:a16="http://schemas.microsoft.com/office/drawing/2014/main" id="{0247016C-0772-4450-A92B-20C4420AB14A}"/>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총 60개 · 코어 36 / 참여 24 / 연계 0</a:t>
            </a:r>
          </a:p>
        </p:txBody>
      </p:sp>
      <p:sp>
        <p:nvSpPr>
          <p:cNvPr id="60" name="">
            <a:extLst xmlns:a="http://schemas.openxmlformats.org/drawingml/2006/main">
              <a:ext uri="{FF2B5EF4-FFF2-40B4-BE49-F238E27FC236}">
                <a16:creationId xmlns:a16="http://schemas.microsoft.com/office/drawing/2014/main" id="{B016EC67-9444-4E96-9772-83D767E75C99}"/>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FC919989-C3A5-4EF0-AC39-090E2E13F513}"/>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06 / 11</a:t>
            </a:r>
          </a:p>
        </p:txBody>
      </p:sp>
      <p:graphicFrame>
        <p:nvGraphicFramePr>
          <p:cNvPr id="130" name="Chart"/>
          <p:cNvGraphicFramePr/>
          <p:nvPr/>
        </p:nvGraphicFramePr>
        <p:xfrm>
          <a:off xmlns:a="http://schemas.openxmlformats.org/drawingml/2006/main" x="3048000" y="333375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791223ffc6894970"/>
          </a:graphicData>
        </a:graphic>
      </p:graphicFrame>
      <p:sp>
        <p:nvSpPr>
          <p:cNvPr id="63" name="">
            <a:extLst xmlns:a="http://schemas.openxmlformats.org/drawingml/2006/main">
              <a:ext uri="{FF2B5EF4-FFF2-40B4-BE49-F238E27FC236}">
                <a16:creationId xmlns:a16="http://schemas.microsoft.com/office/drawing/2014/main" id="{523A4F83-FD9E-4992-8489-5E19CE627AD4}"/>
              </a:ext>
            </a:extLst>
          </p:cNvPr>
          <p:cNvSpPr>
            <a:spLocks xmlns:a="http://schemas.openxmlformats.org/drawingml/2006/main" noGrp="1"/>
          </p:cNvSpPr>
          <p:nvPr/>
        </p:nvSpPr>
        <p:spPr>
          <a:xfrm xmlns:a="http://schemas.openxmlformats.org/drawingml/2006/main">
            <a:off x="10572750" y="3552825"/>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37352F"/>
                </a:solidFill>
                <a:latin typeface="Malgun Gothic"/>
                <a:ea typeface="Malgun Gothic"/>
                <a:cs typeface="Malgun Gothic"/>
              </a:defRPr>
            </a:pPr>
            <a:r>
              <a:rPr sz="2550" b="1">
                <a:solidFill>
                  <a:srgbClr val="37352F"/>
                </a:solidFill>
                <a:latin typeface="Malgun Gothic"/>
                <a:ea typeface="Malgun Gothic"/>
                <a:cs typeface="Malgun Gothic"/>
              </a:rPr>
              <a:t>최소 2개</a:t>
            </a:r>
          </a:p>
        </p:txBody>
      </p:sp>
      <p:sp>
        <p:nvSpPr>
          <p:cNvPr id="64" name="">
            <a:extLst xmlns:a="http://schemas.openxmlformats.org/drawingml/2006/main">
              <a:ext uri="{FF2B5EF4-FFF2-40B4-BE49-F238E27FC236}">
                <a16:creationId xmlns:a16="http://schemas.microsoft.com/office/drawing/2014/main" id="{F51A5B70-B039-45CD-98A6-7C714D387B92}"/>
              </a:ext>
            </a:extLst>
          </p:cNvPr>
          <p:cNvSpPr>
            <a:spLocks xmlns:a="http://schemas.openxmlformats.org/drawingml/2006/main" noGrp="1"/>
          </p:cNvSpPr>
          <p:nvPr/>
        </p:nvSpPr>
        <p:spPr>
          <a:xfrm xmlns:a="http://schemas.openxmlformats.org/drawingml/2006/main">
            <a:off x="10572750" y="4381500"/>
            <a:ext cx="3619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1">
                <a:solidFill>
                  <a:srgbClr val="37352F"/>
                </a:solidFill>
                <a:latin typeface="Malgun Gothic"/>
                <a:ea typeface="Malgun Gothic"/>
                <a:cs typeface="Malgun Gothic"/>
              </a:defRPr>
            </a:pPr>
            <a:r>
              <a:rPr sz="2550" b="1">
                <a:solidFill>
                  <a:srgbClr val="37352F"/>
                </a:solidFill>
                <a:latin typeface="Malgun Gothic"/>
                <a:ea typeface="Malgun Gothic"/>
                <a:cs typeface="Malgun Gothic"/>
              </a:rPr>
              <a:t>최대 6개</a:t>
            </a:r>
          </a:p>
        </p:txBody>
      </p:sp>
      <p:sp>
        <p:nvSpPr>
          <p:cNvPr id="65" name="">
            <a:extLst xmlns:a="http://schemas.openxmlformats.org/drawingml/2006/main">
              <a:ext uri="{FF2B5EF4-FFF2-40B4-BE49-F238E27FC236}">
                <a16:creationId xmlns:a16="http://schemas.microsoft.com/office/drawing/2014/main" id="{97D3ACA2-A58A-4CA8-97F0-2E0770524CEE}"/>
              </a:ext>
            </a:extLst>
          </p:cNvPr>
          <p:cNvSpPr>
            <a:spLocks xmlns:a="http://schemas.openxmlformats.org/drawingml/2006/main" noGrp="1"/>
          </p:cNvSpPr>
          <p:nvPr/>
        </p:nvSpPr>
        <p:spPr>
          <a:xfrm xmlns:a="http://schemas.openxmlformats.org/drawingml/2006/main">
            <a:off x="10572750" y="5257800"/>
            <a:ext cx="361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점포 수의 20% 이내</a:t>
            </a:r>
          </a:p>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정수 상한은 내림</a:t>
            </a:r>
          </a:p>
        </p:txBody>
      </p:sp>
      <p:sp>
        <p:nvSpPr>
          <p:cNvPr id="66" name="">
            <a:extLst xmlns:a="http://schemas.openxmlformats.org/drawingml/2006/main">
              <a:ext uri="{FF2B5EF4-FFF2-40B4-BE49-F238E27FC236}">
                <a16:creationId xmlns:a16="http://schemas.microsoft.com/office/drawing/2014/main" id="{01CB88F4-BD3D-427B-9D47-C6BE6F0F932F}"/>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46C34B1D-3BA2-42F2-95E5-A263837C3C9D}"/>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FB521072-258C-4CF6-8360-88A5F962A229}"/>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이경시장: 19점포 × 20%를 내림하여 최대 3개</a:t>
            </a:r>
          </a:p>
        </p:txBody>
      </p:sp>
    </p:spTree>
    <p:extLst>
      <p:ext uri="{BB962C8B-B14F-4D97-AF65-F5344CB8AC3E}">
        <p14:creationId xmlns:p14="http://schemas.microsoft.com/office/powerpoint/2010/main" val="14938387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6C7ECDA6-5311-4ED2-A127-201A8D8EA5AE}"/>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3722CE4-69AF-4277-B9D3-AC622DAB073F}"/>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9C6B4C0-CDC8-4921-8315-06F66FF3BAE6}"/>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199655BF-6CD7-4711-A09D-2A59DC5D5B2F}"/>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933D6297-3117-48E8-9357-BCC469DA2F67}"/>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3B23A3E6-F1C7-4325-BD61-830EBF6BD57F}"/>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F7B94084-A2E7-4F3C-9178-8A7F2F5C36FB}"/>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AAD6F1FC-3B65-4FB5-8F0B-DE10E63D8120}"/>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ADEC5A43-04E3-4B6E-873E-D1B47509FEF2}"/>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E0A0CDEE-E9F7-42E5-83D5-1D3DEE69D5A6}"/>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96132DB-6B94-4E4A-8C1D-095206CF2C78}"/>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CD4994A-9770-491E-A1F6-9D4205CE88D0}"/>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D14D831-F59F-46E9-A122-05DEBD2EA060}"/>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E01BC3E0-BAD4-4E06-AFF9-3E31B6CBE45B}"/>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4372FF21-3A2F-489A-91A5-4CA09ED31B59}"/>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BC606C9-4DAC-49F2-AFD1-C6CD2055FA33}"/>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1BA8804-6EEF-4512-BDF7-BC2500070E49}"/>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040EA55-6D3C-408C-9C36-230F31BB52D3}"/>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8FB0B349-D52C-4B1C-AAF8-79445BA3CD70}"/>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D1E0B02D-B378-4155-92E7-9DC9E94E700C}"/>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7749105-60B8-45EE-9929-EE02EFDD2C44}"/>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2914861-A5E3-4003-A1A3-00258EF1521C}"/>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4AAC6B1-C602-4E2D-9194-076B3BB75544}"/>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7CD76877-AB81-4438-9F66-824FF9957FA4}"/>
              </a:ext>
            </a:extLst>
          </p:cNvPr>
          <p:cNvSpPr>
            <a:spLocks xmlns:a="http://schemas.openxmlformats.org/drawingml/2006/main" noGrp="1"/>
          </p:cNvSpPr>
          <p:nvPr/>
        </p:nvSpPr>
        <p:spPr>
          <a:xfrm xmlns:a="http://schemas.openxmlformats.org/drawingml/2006/main">
            <a:off x="95250" y="41910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6C84832A-F7CF-499F-9495-4D904DB8B8D4}"/>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6" name="">
            <a:extLst xmlns:a="http://schemas.openxmlformats.org/drawingml/2006/main">
              <a:ext uri="{FF2B5EF4-FFF2-40B4-BE49-F238E27FC236}">
                <a16:creationId xmlns:a16="http://schemas.microsoft.com/office/drawing/2014/main" id="{29AF23E7-0C8F-4AAB-9D15-5BEAACB73473}"/>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9EB2B6A-C16A-41C3-9674-9F4BB44AB12F}"/>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F85EE4C-9555-4122-9B92-39D04AE10C85}"/>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2844B9D-57AF-474D-A971-E79CBBC4B6F9}"/>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배정 결과</a:t>
            </a:r>
          </a:p>
        </p:txBody>
      </p:sp>
      <p:sp>
        <p:nvSpPr>
          <p:cNvPr id="30" name="">
            <a:extLst xmlns:a="http://schemas.openxmlformats.org/drawingml/2006/main">
              <a:ext uri="{FF2B5EF4-FFF2-40B4-BE49-F238E27FC236}">
                <a16:creationId xmlns:a16="http://schemas.microsoft.com/office/drawing/2014/main" id="{FEB7174D-05A9-4359-A839-CAA92B47E4C9}"/>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7F701AE7-E225-4043-A8BF-7112D191B3CF}"/>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27CE8FC-D70F-49E9-A3F3-608EF9B44D87}"/>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5CD9760-0952-4099-9E62-D185FF3A306E}"/>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59FEF60-0AD6-4118-BB5B-7BE3AE383D1E}"/>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E99AA54F-3EE1-49EE-BF60-557524F49F78}"/>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F118C648-0625-4259-8C73-EE8886FF7EEB}"/>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7C6A9A4-4108-4F37-8E19-2FFFAF10271E}"/>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4025AEA-4295-40AD-AF5F-74C0628DA969}"/>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695BCEBA-BDC4-4747-A3EE-CD9A02C5BCCF}"/>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6369294D-CD98-41CB-B29E-B6CB49655883}"/>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B1FD1D1F-5674-4012-B7B6-05A4D1FC6E4A}"/>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3D8D2987-713A-47AB-B7D1-AA5D44D46935}"/>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755260B-B2FC-49A5-AC1E-349C5AFE8710}"/>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722F3F18-8390-462D-A764-074AC61ED3BE}"/>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3512664A-828C-465F-8D9E-784E406965A6}"/>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93B6EE83-1EE5-48F0-887A-0B3EB4C37A33}"/>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68CD52D-23D3-4830-9E35-85C04187A5C7}"/>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55D10FC-F658-41BE-ABD5-1F87B9D842AE}"/>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E8D306D1-727A-4316-B71B-F2AA810972A4}"/>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94113D0D-6C57-4676-BAF3-8BCE06922934}"/>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2B47DC45-E528-4E09-BC51-2955A2795DD9}"/>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9152D1F5-F69F-4DFE-9E53-C7B1A260C4A2}"/>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상위 5곳 배정 변화</a:t>
            </a:r>
          </a:p>
        </p:txBody>
      </p:sp>
      <p:sp>
        <p:nvSpPr>
          <p:cNvPr id="53" name="">
            <a:extLst xmlns:a="http://schemas.openxmlformats.org/drawingml/2006/main">
              <a:ext uri="{FF2B5EF4-FFF2-40B4-BE49-F238E27FC236}">
                <a16:creationId xmlns:a16="http://schemas.microsoft.com/office/drawing/2014/main" id="{D352A2B3-468D-473A-A681-D4FB67871D23}"/>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EA984F96-1E00-4A46-B5EE-E7BC56432714}"/>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970938EE-8358-4498-A6E1-838C0DD03FF6}"/>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053BF2A-0980-471F-B4F7-D9BC64D25D46}"/>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A0F83E0-ADEF-4B6F-A574-F62B3664F3FE}"/>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C2E75C46-DBCF-4354-94DE-B09811EC9950}"/>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상위 5곳 배정 변화</a:t>
            </a:r>
          </a:p>
        </p:txBody>
      </p:sp>
      <p:sp>
        <p:nvSpPr>
          <p:cNvPr id="59" name="">
            <a:extLst xmlns:a="http://schemas.openxmlformats.org/drawingml/2006/main">
              <a:ext uri="{FF2B5EF4-FFF2-40B4-BE49-F238E27FC236}">
                <a16:creationId xmlns:a16="http://schemas.microsoft.com/office/drawing/2014/main" id="{E6862DD8-0EB0-4E60-A5AF-E2B01F3B0F40}"/>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전후 모두 전체 60개를 분모로 비교</a:t>
            </a:r>
          </a:p>
        </p:txBody>
      </p:sp>
      <p:sp>
        <p:nvSpPr>
          <p:cNvPr id="60" name="">
            <a:extLst xmlns:a="http://schemas.openxmlformats.org/drawingml/2006/main">
              <a:ext uri="{FF2B5EF4-FFF2-40B4-BE49-F238E27FC236}">
                <a16:creationId xmlns:a16="http://schemas.microsoft.com/office/drawing/2014/main" id="{5968B613-4191-432C-B224-C3B1617EEBC3}"/>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36CA87A-B307-4742-A2D7-22CF5C1008B1}"/>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07 / 11</a:t>
            </a:r>
          </a:p>
        </p:txBody>
      </p:sp>
      <p:graphicFrame>
        <p:nvGraphicFramePr>
          <p:cNvPr id="129" name="Chart"/>
          <p:cNvGraphicFramePr/>
          <p:nvPr/>
        </p:nvGraphicFramePr>
        <p:xfrm>
          <a:off xmlns:a="http://schemas.openxmlformats.org/drawingml/2006/main" x="3048000" y="3381375"/>
          <a:ext xmlns:a="http://schemas.openxmlformats.org/drawingml/2006/main" cx="11506200" cy="2781300"/>
        </p:xfrm>
        <a:graphic xmlns:a="http://schemas.openxmlformats.org/drawingml/2006/main">
          <a:graphicData uri="http://schemas.openxmlformats.org/drawingml/2006/chart">
            <c:chart xmlns:r="http://schemas.openxmlformats.org/officeDocument/2006/relationships" xmlns:c="http://schemas.openxmlformats.org/drawingml/2006/chart" r:id="Rdd33d15848944778"/>
          </a:graphicData>
        </a:graphic>
      </p:graphicFrame>
      <p:sp>
        <p:nvSpPr>
          <p:cNvPr id="63" name="">
            <a:extLst xmlns:a="http://schemas.openxmlformats.org/drawingml/2006/main">
              <a:ext uri="{FF2B5EF4-FFF2-40B4-BE49-F238E27FC236}">
                <a16:creationId xmlns:a16="http://schemas.microsoft.com/office/drawing/2014/main" id="{219F3126-CF94-4580-A108-E60AFCA5500B}"/>
              </a:ext>
            </a:extLst>
          </p:cNvPr>
          <p:cNvSpPr>
            <a:spLocks xmlns:a="http://schemas.openxmlformats.org/drawingml/2006/main" noGrp="1"/>
          </p:cNvSpPr>
          <p:nvPr/>
        </p:nvSpPr>
        <p:spPr>
          <a:xfrm xmlns:a="http://schemas.openxmlformats.org/drawingml/2006/main">
            <a:off x="3048000" y="630555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37352F"/>
                </a:solidFill>
                <a:latin typeface="Malgun Gothic"/>
                <a:ea typeface="Malgun Gothic"/>
                <a:cs typeface="Malgun Gothic"/>
              </a:defRPr>
            </a:pPr>
            <a:r>
              <a:rPr sz="2775" b="1">
                <a:solidFill>
                  <a:srgbClr val="37352F"/>
                </a:solidFill>
                <a:latin typeface="Malgun Gothic"/>
                <a:ea typeface="Malgun Gothic"/>
                <a:cs typeface="Malgun Gothic"/>
              </a:rPr>
              <a:t>13개 (21.7%)</a:t>
            </a:r>
          </a:p>
        </p:txBody>
      </p:sp>
      <p:sp>
        <p:nvSpPr>
          <p:cNvPr id="64" name="">
            <a:extLst xmlns:a="http://schemas.openxmlformats.org/drawingml/2006/main">
              <a:ext uri="{FF2B5EF4-FFF2-40B4-BE49-F238E27FC236}">
                <a16:creationId xmlns:a16="http://schemas.microsoft.com/office/drawing/2014/main" id="{A5F61825-BA23-4300-864C-B47FAB9DDD42}"/>
              </a:ext>
            </a:extLst>
          </p:cNvPr>
          <p:cNvSpPr>
            <a:spLocks xmlns:a="http://schemas.openxmlformats.org/drawingml/2006/main" noGrp="1"/>
          </p:cNvSpPr>
          <p:nvPr/>
        </p:nvSpPr>
        <p:spPr>
          <a:xfrm xmlns:a="http://schemas.openxmlformats.org/drawingml/2006/main">
            <a:off x="9315450" y="63055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75" b="1">
                <a:solidFill>
                  <a:srgbClr val="487CA5"/>
                </a:solidFill>
                <a:latin typeface="Malgun Gothic"/>
                <a:ea typeface="Malgun Gothic"/>
                <a:cs typeface="Malgun Gothic"/>
              </a:defRPr>
            </a:pPr>
            <a:r>
              <a:rPr sz="2775" b="1">
                <a:solidFill>
                  <a:srgbClr val="487CA5"/>
                </a:solidFill>
                <a:latin typeface="Malgun Gothic"/>
                <a:ea typeface="Malgun Gothic"/>
                <a:cs typeface="Malgun Gothic"/>
              </a:rPr>
              <a:t>27개 (45.0%)</a:t>
            </a:r>
          </a:p>
        </p:txBody>
      </p:sp>
      <p:sp>
        <p:nvSpPr>
          <p:cNvPr id="65" name="">
            <a:extLst xmlns:a="http://schemas.openxmlformats.org/drawingml/2006/main">
              <a:ext uri="{FF2B5EF4-FFF2-40B4-BE49-F238E27FC236}">
                <a16:creationId xmlns:a16="http://schemas.microsoft.com/office/drawing/2014/main" id="{4AD00536-EAE1-4A1C-A6B0-97128B87559E}"/>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C31124AE-C8E6-479A-9C74-CA41F46DD17B}"/>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752D2269-F289-43F6-ACC5-7E5F8B330F28}"/>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상위 5곳에 14개 추가 배정 · 매출 증가율을 뜻하지 않음</a:t>
            </a:r>
          </a:p>
        </p:txBody>
      </p:sp>
    </p:spTree>
    <p:extLst>
      <p:ext uri="{BB962C8B-B14F-4D97-AF65-F5344CB8AC3E}">
        <p14:creationId xmlns:p14="http://schemas.microsoft.com/office/powerpoint/2010/main" val="15366054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95D07D70-9DE5-4686-8946-0005E8CA3307}"/>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03B218-BACA-422C-8DB9-82FA905E6DE8}"/>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49BA851-26E7-4C08-9C34-D74932E07CFB}"/>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66927BD7-3151-4369-81ED-9CA2C5EFE6C4}"/>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EE062DAF-D4B1-4C14-976C-F795D215AFEE}"/>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15317768-2EDC-435F-ACFD-AE74D101A243}"/>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4F2EB5BB-6BCF-42EA-BD0B-B22F1ABC3A67}"/>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D6098AF5-334B-4A5E-9E85-0FE70113A689}"/>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758BDD0F-7986-469D-BCC7-F45F189C5922}"/>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010AE469-E526-4D06-B73A-805B8BC10D6B}"/>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DE3E5F0-06BF-4622-B224-2B8B34867624}"/>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5EF60AA-9C2C-461E-ADD3-FF8480D6A501}"/>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BCCF60B-0132-4D52-888E-4684949B2A41}"/>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0179D7A7-FBCF-43BA-B3FC-F820F592B152}"/>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E6E5FBCC-FDE6-4C67-9608-C492FEB55E41}"/>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0D831C3-6473-495F-9BFE-75F0C83A1140}"/>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5B6B497-50FA-46DD-841C-AEDC678F43DC}"/>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C625D4-5C4A-4200-8890-08897FA195CB}"/>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3B6C7527-E0C2-46B2-A5ED-5D3D2F11F79B}"/>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54BB905D-2682-486C-93DB-03E6F7EB15A2}"/>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41EC1F6-41CB-4256-A32F-4B08F01777BD}"/>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F4CA7D6-2688-4292-A0D7-AC54B7A0ACF8}"/>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C9D2265-12A4-41D2-BE54-AE200722DA94}"/>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02D71313-7137-4283-B1D6-CAAE3B34E282}"/>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F0B8F14A-8A88-4E17-B0F8-CB7EC764D330}"/>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0082EFE-9B14-41D2-B412-95450B359FF0}"/>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E4ED421-56C0-4AD3-BBDC-477AE72EBFD0}"/>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D5791DF-A891-4F21-8E9B-3942BD6CD05C}"/>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39450268-A8E8-465C-B9BB-8B06C826FFE8}"/>
              </a:ext>
            </a:extLst>
          </p:cNvPr>
          <p:cNvSpPr>
            <a:spLocks xmlns:a="http://schemas.openxmlformats.org/drawingml/2006/main" noGrp="1"/>
          </p:cNvSpPr>
          <p:nvPr/>
        </p:nvSpPr>
        <p:spPr>
          <a:xfrm xmlns:a="http://schemas.openxmlformats.org/drawingml/2006/main">
            <a:off x="95250" y="460057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869E071-518E-4261-B98F-C494214B1165}"/>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1" name="">
            <a:extLst xmlns:a="http://schemas.openxmlformats.org/drawingml/2006/main">
              <a:ext uri="{FF2B5EF4-FFF2-40B4-BE49-F238E27FC236}">
                <a16:creationId xmlns:a16="http://schemas.microsoft.com/office/drawing/2014/main" id="{C31FDD26-3D85-48A3-AB93-707C401065B8}"/>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D054DA7-5390-4AC9-872C-B53BEDE96D15}"/>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8929574-EFBB-4F43-8BF9-D3047AD74C17}"/>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7E76C28-2EBB-423C-B27A-63CE74B6C3C6}"/>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탐방 코스</a:t>
            </a:r>
          </a:p>
        </p:txBody>
      </p:sp>
      <p:sp>
        <p:nvSpPr>
          <p:cNvPr id="35" name="">
            <a:extLst xmlns:a="http://schemas.openxmlformats.org/drawingml/2006/main">
              <a:ext uri="{FF2B5EF4-FFF2-40B4-BE49-F238E27FC236}">
                <a16:creationId xmlns:a16="http://schemas.microsoft.com/office/drawing/2014/main" id="{530F7206-8380-4A83-9AD3-49D8CA68DF7A}"/>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B4168357-B936-4D5B-A07F-6C78747F8DCB}"/>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84CC034-642E-490B-A9CB-854C9233D738}"/>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C8B8E93-B215-40F1-A6A2-B31ABC1550A5}"/>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B730CB26-B5F8-414F-BD73-1FEC92BED982}"/>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890A6999-ED12-4F11-A7A9-80C33C98816B}"/>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7A524BDD-6392-4324-972C-DA3F91D88AD2}"/>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5FC0AE2-DD94-4FD3-9E33-00846EA52822}"/>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F83EBED-1A8B-483A-999C-45C1224DFF18}"/>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CD4F1F3-7475-4140-842D-491D71EADBF1}"/>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E7C98508-BCCB-4D8D-AA40-87B26B8DFDBD}"/>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E4511B46-2EE4-497C-81F4-88A6171EC30C}"/>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53D7C094-25C5-40FE-89B0-EBC033E4AEC6}"/>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EC79423-281C-411C-83A6-AA36F768A0A5}"/>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7B92665-89E0-4A5B-9EBF-5D41EE62E1B4}"/>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72406335-63FD-43AC-964B-242463C937B9}"/>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F6204F7B-E602-4874-B11C-FB6CF42E5511}"/>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A86DFBB0-C343-4C44-B9F5-A116A39FFE80}"/>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3개 상권을 잇는 코스</a:t>
            </a:r>
          </a:p>
        </p:txBody>
      </p:sp>
      <p:sp>
        <p:nvSpPr>
          <p:cNvPr id="53" name="">
            <a:extLst xmlns:a="http://schemas.openxmlformats.org/drawingml/2006/main">
              <a:ext uri="{FF2B5EF4-FFF2-40B4-BE49-F238E27FC236}">
                <a16:creationId xmlns:a16="http://schemas.microsoft.com/office/drawing/2014/main" id="{68852DD4-C915-4664-BE1C-5BB9AC7C17A2}"/>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67287D19-DC7E-4512-A4C9-D34F2E13096F}"/>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FD1A734E-EA29-4A16-834F-D0A51A0577B6}"/>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9377A01D-B178-495C-9A6A-5DF722B64A98}"/>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3B310236-2781-41A5-B049-89CBEEB4FA52}"/>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D33AABF0-2BE8-4AC2-A1C3-D8CCE72C7DB6}"/>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3개 상권을 잇는 코스</a:t>
            </a:r>
          </a:p>
        </p:txBody>
      </p:sp>
      <p:sp>
        <p:nvSpPr>
          <p:cNvPr id="59" name="">
            <a:extLst xmlns:a="http://schemas.openxmlformats.org/drawingml/2006/main">
              <a:ext uri="{FF2B5EF4-FFF2-40B4-BE49-F238E27FC236}">
                <a16:creationId xmlns:a16="http://schemas.microsoft.com/office/drawing/2014/main" id="{772C1155-9241-4898-9855-9E0BB888AAF0}"/>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기존 분석의 코스 제안 · 웹의 권역별 테마 목록과 구분</a:t>
            </a:r>
          </a:p>
        </p:txBody>
      </p:sp>
      <p:sp>
        <p:nvSpPr>
          <p:cNvPr id="60" name="">
            <a:extLst xmlns:a="http://schemas.openxmlformats.org/drawingml/2006/main">
              <a:ext uri="{FF2B5EF4-FFF2-40B4-BE49-F238E27FC236}">
                <a16:creationId xmlns:a16="http://schemas.microsoft.com/office/drawing/2014/main" id="{F029051A-CFB4-4C2D-B243-9563A7BFA6AB}"/>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EB0EA6EA-1216-42F6-9A57-3FC6D423B6FA}"/>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08 / 11</a:t>
            </a:r>
          </a:p>
        </p:txBody>
      </p:sp>
      <p:graphicFrame>
        <p:nvGraphicFramePr>
          <p:cNvPr id="129" name=""/>
          <p:cNvGraphicFramePr/>
          <p:nvPr/>
        </p:nvGraphicFramePr>
        <p:xfrm>
          <a:off xmlns:a="http://schemas.openxmlformats.org/drawingml/2006/main" x="3048000" y="3448050"/>
          <a:ext xmlns:a="http://schemas.openxmlformats.org/drawingml/2006/main" cx="11506200" cy="2476500"/>
        </p:xfrm>
        <a:graphic xmlns:a="http://schemas.openxmlformats.org/drawingml/2006/main">
          <a:graphicData uri="http://schemas.openxmlformats.org/drawingml/2006/table">
            <a:tbl>
              <a:tblPr/>
              <a:tblGrid>
                <a:gridCol w="1524000"/>
                <a:gridCol w="7524750"/>
                <a:gridCol w="2457450"/>
              </a:tblGrid>
              <a:tr h="619125">
                <a:tc>
                  <a:txBody>
                    <a:bodyPr/>
                    <a:lstStyle/>
                    <a:p>
                      <a:r>
                        <a:rPr sz="1725" b="1">
                          <a:solidFill>
                            <a:srgbClr val="37352F"/>
                          </a:solidFill>
                          <a:latin typeface="Malgun Gothic"/>
                          <a:ea typeface="Malgun Gothic"/>
                          <a:cs typeface="Malgun Gothic"/>
                        </a:rPr>
                        <a:t>권역</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포함 상권</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근사 거리·시간</a:t>
                      </a:r>
                    </a:p>
                  </a:txBody>
                  <a:tcPr marL="85725" marR="85725" marT="28575" marB="28575">
                    <a:solidFill>
                      <a:srgbClr val="F1F1EF"/>
                    </a:solidFill>
                  </a:tcPr>
                </a:tc>
              </a:tr>
              <a:tr h="619125">
                <a:tc>
                  <a:txBody>
                    <a:bodyPr/>
                    <a:lstStyle/>
                    <a:p>
                      <a:r>
                        <a:rPr sz="1725" b="0">
                          <a:solidFill>
                            <a:srgbClr val="37352F"/>
                          </a:solidFill>
                          <a:latin typeface="Malgun Gothic"/>
                          <a:ea typeface="Malgun Gothic"/>
                          <a:cs typeface="Malgun Gothic"/>
                        </a:rPr>
                        <a:t>A 회기</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회기역 1번 · 회기시장 · 시조사삼거리</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886m · 11분</a:t>
                      </a:r>
                    </a:p>
                  </a:txBody>
                  <a:tcPr marL="85725" marR="85725" marT="28575" marB="28575">
                    <a:solidFill>
                      <a:srgbClr val="FFFFFF"/>
                    </a:solidFill>
                  </a:tcPr>
                </a:tc>
              </a:tr>
              <a:tr h="619125">
                <a:tc>
                  <a:txBody>
                    <a:bodyPr/>
                    <a:lstStyle/>
                    <a:p>
                      <a:r>
                        <a:rPr sz="1725" b="0">
                          <a:solidFill>
                            <a:srgbClr val="37352F"/>
                          </a:solidFill>
                          <a:latin typeface="Malgun Gothic"/>
                          <a:ea typeface="Malgun Gothic"/>
                          <a:cs typeface="Malgun Gothic"/>
                        </a:rPr>
                        <a:t>B 이문</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외대앞역 1번 · 청량초등학교 · 이경시장</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1,147m · 14분</a:t>
                      </a:r>
                    </a:p>
                  </a:txBody>
                  <a:tcPr marL="85725" marR="85725" marT="28575" marB="28575">
                    <a:solidFill>
                      <a:srgbClr val="FFFFFF"/>
                    </a:solidFill>
                  </a:tcPr>
                </a:tc>
              </a:tr>
              <a:tr h="619125">
                <a:tc>
                  <a:txBody>
                    <a:bodyPr/>
                    <a:lstStyle/>
                    <a:p>
                      <a:r>
                        <a:rPr sz="1725" b="0">
                          <a:solidFill>
                            <a:srgbClr val="37352F"/>
                          </a:solidFill>
                          <a:latin typeface="Malgun Gothic"/>
                          <a:ea typeface="Malgun Gothic"/>
                          <a:cs typeface="Malgun Gothic"/>
                        </a:rPr>
                        <a:t>C 전농</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서울시립대 · 시립대앞사거리 · 전곡마을마당공원</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990m · 12분</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7F6B3E5A-D1C8-4B80-B798-2C51C7939864}"/>
              </a:ext>
            </a:extLst>
          </p:cNvPr>
          <p:cNvSpPr>
            <a:spLocks xmlns:a="http://schemas.openxmlformats.org/drawingml/2006/main" noGrp="1"/>
          </p:cNvSpPr>
          <p:nvPr/>
        </p:nvSpPr>
        <p:spPr>
          <a:xfrm xmlns:a="http://schemas.openxmlformats.org/drawingml/2006/main">
            <a:off x="3048000" y="63150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37352F"/>
                </a:solidFill>
                <a:latin typeface="Malgun Gothic"/>
                <a:ea typeface="Malgun Gothic"/>
                <a:cs typeface="Malgun Gothic"/>
              </a:defRPr>
            </a:pPr>
            <a:r>
              <a:rPr sz="2475" b="1">
                <a:solidFill>
                  <a:srgbClr val="37352F"/>
                </a:solidFill>
                <a:latin typeface="Malgun Gothic"/>
                <a:ea typeface="Malgun Gothic"/>
                <a:cs typeface="Malgun Gothic"/>
              </a:rPr>
              <a:t>9 / 16곳 포함</a:t>
            </a:r>
          </a:p>
        </p:txBody>
      </p:sp>
      <p:sp>
        <p:nvSpPr>
          <p:cNvPr id="64" name="">
            <a:extLst xmlns:a="http://schemas.openxmlformats.org/drawingml/2006/main">
              <a:ext uri="{FF2B5EF4-FFF2-40B4-BE49-F238E27FC236}">
                <a16:creationId xmlns:a16="http://schemas.microsoft.com/office/drawing/2014/main" id="{6D22CDD6-2012-4361-93DE-99DECC734C6A}"/>
              </a:ext>
            </a:extLst>
          </p:cNvPr>
          <p:cNvSpPr>
            <a:spLocks xmlns:a="http://schemas.openxmlformats.org/drawingml/2006/main" noGrp="1"/>
          </p:cNvSpPr>
          <p:nvPr/>
        </p:nvSpPr>
        <p:spPr>
          <a:xfrm xmlns:a="http://schemas.openxmlformats.org/drawingml/2006/main">
            <a:off x="9001125" y="6315075"/>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1">
                <a:solidFill>
                  <a:srgbClr val="37352F"/>
                </a:solidFill>
                <a:latin typeface="Malgun Gothic"/>
                <a:ea typeface="Malgun Gothic"/>
                <a:cs typeface="Malgun Gothic"/>
              </a:defRPr>
            </a:pPr>
            <a:r>
              <a:rPr sz="2475" b="1">
                <a:solidFill>
                  <a:srgbClr val="37352F"/>
                </a:solidFill>
                <a:latin typeface="Malgun Gothic"/>
                <a:ea typeface="Malgun Gothic"/>
                <a:cs typeface="Malgun Gothic"/>
              </a:rPr>
              <a:t>소외도 합의 약 70.3%</a:t>
            </a:r>
          </a:p>
        </p:txBody>
      </p:sp>
      <p:sp>
        <p:nvSpPr>
          <p:cNvPr id="65" name="">
            <a:extLst xmlns:a="http://schemas.openxmlformats.org/drawingml/2006/main">
              <a:ext uri="{FF2B5EF4-FFF2-40B4-BE49-F238E27FC236}">
                <a16:creationId xmlns:a16="http://schemas.microsoft.com/office/drawing/2014/main" id="{F15C545C-7D50-46D8-84DC-A427E45B9D81}"/>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17DF160D-CA33-403D-ADD5-2E3F4C9E7FB5}"/>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7" name="">
            <a:extLst xmlns:a="http://schemas.openxmlformats.org/drawingml/2006/main">
              <a:ext uri="{FF2B5EF4-FFF2-40B4-BE49-F238E27FC236}">
                <a16:creationId xmlns:a16="http://schemas.microsoft.com/office/drawing/2014/main" id="{68FB58A2-48C8-4F4B-A5E5-2B345AD1FF22}"/>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대표점 직선거리 × 1.25, 보행속도 80m/분 가정 · 현장 경로 확인 필요</a:t>
            </a:r>
          </a:p>
        </p:txBody>
      </p:sp>
    </p:spTree>
    <p:extLst>
      <p:ext uri="{BB962C8B-B14F-4D97-AF65-F5344CB8AC3E}">
        <p14:creationId xmlns:p14="http://schemas.microsoft.com/office/powerpoint/2010/main" val="144105105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D06A363D-75A9-4D72-89CA-484DE4609B6B}"/>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BE1A09-9BBD-4780-AE1F-EB9EAF85A9FC}"/>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7BFA722-B49B-4F4C-A688-9DA2450C134F}"/>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5B3AAFF0-28F7-4455-BEC5-A01F8E056E23}"/>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14E35048-F6B1-40FD-8072-F921B9E481C0}"/>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E8C2E734-E513-4352-A5FD-A5E0E6F9C63B}"/>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0FE52693-85DF-4F1A-A5CF-F1BCD053D96B}"/>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7405505E-FC91-4F80-BCF1-772CC86BB2A1}"/>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4B13B60D-5521-4600-9DA6-E76B2C7BC23D}"/>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336BE9FE-1987-452C-94D6-986814A7CD71}"/>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5A973FC-BE6A-4521-AC7F-5C5BA618574F}"/>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A48D02B-7E75-4151-866E-E50E31F38FF4}"/>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FEA685F-1B3E-454F-96C2-BA07CC271108}"/>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E00BCFA6-028E-4CFC-9AEF-C9920A39BAC4}"/>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BA88B968-8618-461F-9833-924229894D36}"/>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94B603F-3729-40FC-8FCB-079A1F3DF05D}"/>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297835B-0DCD-4BBE-813D-5E1A6EF2FC80}"/>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103E559-02D9-47E5-AC07-3A04983A913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73AF8D13-5BDE-4738-8BD7-931B2559090C}"/>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D43F55FF-3BA2-4684-B778-01F84671AF40}"/>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534FC13-9887-4810-91C0-045ECCA81D87}"/>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883DEB6-4208-4FCE-AAC9-792EF801C01C}"/>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AA5879C-CEDF-4BFC-A754-00503F713A60}"/>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194D4D8E-2AF5-4181-9894-ED4D6292E5F1}"/>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AD513B49-1C07-479D-A9F2-8A368C1B5F73}"/>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AD28E4B-0B2F-4ACA-879F-BBBB705B7527}"/>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247C752-84F4-467B-AFEA-4B083604B270}"/>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5740057-7432-4548-A9C8-D051ACB36E65}"/>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0BC38487-C0C6-4619-83A3-2F036488D706}"/>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B4B6EAEF-C0FF-41C2-91D2-315A8446592B}"/>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A3C39F0-43E5-44FE-BFA2-B575F473896C}"/>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41DD393-8A72-42CE-881F-3DE374DB6BCC}"/>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806C56A-88D9-4ADB-B92B-3564E6412864}"/>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7173DD7A-DAC3-4494-89D4-7C8F78C3FCA4}"/>
              </a:ext>
            </a:extLst>
          </p:cNvPr>
          <p:cNvSpPr>
            <a:spLocks xmlns:a="http://schemas.openxmlformats.org/drawingml/2006/main" noGrp="1"/>
          </p:cNvSpPr>
          <p:nvPr/>
        </p:nvSpPr>
        <p:spPr>
          <a:xfrm xmlns:a="http://schemas.openxmlformats.org/drawingml/2006/main">
            <a:off x="95250" y="501015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DF37047-D89D-4898-97F1-A134390EAF6A}"/>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6" name="">
            <a:extLst xmlns:a="http://schemas.openxmlformats.org/drawingml/2006/main">
              <a:ext uri="{FF2B5EF4-FFF2-40B4-BE49-F238E27FC236}">
                <a16:creationId xmlns:a16="http://schemas.microsoft.com/office/drawing/2014/main" id="{95284BF1-EF7F-4C95-B160-1530F64BD737}"/>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84AA8C9-B0CB-441A-8900-312AF45A0D4A}"/>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4EA06B4-DAD1-42AC-8B23-99DF78A78B70}"/>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5E172EB-8241-4FC8-9C06-E05651729310}"/>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웹 가이드</a:t>
            </a:r>
          </a:p>
        </p:txBody>
      </p:sp>
      <p:sp>
        <p:nvSpPr>
          <p:cNvPr id="40" name="">
            <a:extLst xmlns:a="http://schemas.openxmlformats.org/drawingml/2006/main">
              <a:ext uri="{FF2B5EF4-FFF2-40B4-BE49-F238E27FC236}">
                <a16:creationId xmlns:a16="http://schemas.microsoft.com/office/drawing/2014/main" id="{B241BAE7-514F-431F-90B5-AEE2514B23B7}"/>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FF28B8A7-D822-4774-A4FC-B46C8B25F9D1}"/>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9AB20F8-400B-489A-8C9B-B07BF6013E7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56950FE-0FE0-40C8-96E0-CD35C832C9A0}"/>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F214451-8287-4DA6-86F8-0EBC676EBC1E}"/>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ED41A02A-4CDC-4934-9CB7-DBC493187D9E}"/>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6CB3F450-302D-4F07-A3EC-57C6A5C907E2}"/>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4D75C39-29AD-41B4-89C9-965651AFB76D}"/>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37BF069-8F5E-4002-B4A4-44BAA6C1D298}"/>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499DD67D-57AF-4FD8-8B73-6C22A70DEAD8}"/>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55010501-A213-44C2-A993-62CE59656563}"/>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338EB72C-6EBA-4E04-AF18-6FA3AB7F9054}"/>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32D23621-4CCF-49AF-9DD7-3CCBD99067AF}"/>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방문객 웹 가이드</a:t>
            </a:r>
          </a:p>
        </p:txBody>
      </p:sp>
      <p:sp>
        <p:nvSpPr>
          <p:cNvPr id="53" name="">
            <a:extLst xmlns:a="http://schemas.openxmlformats.org/drawingml/2006/main">
              <a:ext uri="{FF2B5EF4-FFF2-40B4-BE49-F238E27FC236}">
                <a16:creationId xmlns:a16="http://schemas.microsoft.com/office/drawing/2014/main" id="{5D7B1218-40BB-4E5B-8E9B-7129558195FC}"/>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303EF46C-F0AE-411B-8600-B8D779F7FE6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73BF818C-992C-4C5C-BA74-6D1611871076}"/>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1A8E672-A6A0-457A-9B6B-621B1689C3A1}"/>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C3F6C67-7445-45DF-8A11-10A4662A4E5C}"/>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3807D5A9-8232-4CAD-9685-E90955BF374E}"/>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방문객 웹 가이드</a:t>
            </a:r>
          </a:p>
        </p:txBody>
      </p:sp>
      <p:sp>
        <p:nvSpPr>
          <p:cNvPr id="59" name="">
            <a:extLst xmlns:a="http://schemas.openxmlformats.org/drawingml/2006/main">
              <a:ext uri="{FF2B5EF4-FFF2-40B4-BE49-F238E27FC236}">
                <a16:creationId xmlns:a16="http://schemas.microsoft.com/office/drawing/2014/main" id="{74FBFA68-BD56-479A-99F2-F2DFAB7CC83A}"/>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취향 추천에서 상권별 배정 근거까지</a:t>
            </a:r>
          </a:p>
        </p:txBody>
      </p:sp>
      <p:sp>
        <p:nvSpPr>
          <p:cNvPr id="60" name="">
            <a:extLst xmlns:a="http://schemas.openxmlformats.org/drawingml/2006/main">
              <a:ext uri="{FF2B5EF4-FFF2-40B4-BE49-F238E27FC236}">
                <a16:creationId xmlns:a16="http://schemas.microsoft.com/office/drawing/2014/main" id="{14122C57-28A8-4FDB-8D73-EFC6647FD53C}"/>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A571725-6FC2-4FD1-8ACF-51ADB495B1BA}"/>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09 / 11</a:t>
            </a:r>
          </a:p>
        </p:txBody>
      </p:sp>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36badb61697e47ce"/>
          <a:stretch xmlns:a="http://schemas.openxmlformats.org/drawingml/2006/main"/>
        </p:blipFill>
        <p:spPr>
          <a:xfrm xmlns:a="http://schemas.openxmlformats.org/drawingml/2006/main">
            <a:off x="3722370" y="3371850"/>
            <a:ext cx="4937760" cy="3429000"/>
          </a:xfrm>
          <a:prstGeom xmlns:a="http://schemas.openxmlformats.org/drawingml/2006/main" prst="rect">
            <a:avLst/>
          </a:prstGeom>
        </p:spPr>
      </p:pic>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cfd085497f2545ca"/>
          <a:stretch xmlns:a="http://schemas.openxmlformats.org/drawingml/2006/main"/>
        </p:blipFill>
        <p:spPr>
          <a:xfrm xmlns:a="http://schemas.openxmlformats.org/drawingml/2006/main">
            <a:off x="9844052" y="3333750"/>
            <a:ext cx="4543495" cy="3743325"/>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007F844A-469E-48FC-B71C-A3BE3385B121}"/>
              </a:ext>
            </a:extLst>
          </p:cNvPr>
          <p:cNvSpPr>
            <a:spLocks xmlns:a="http://schemas.openxmlformats.org/drawingml/2006/main" noGrp="1"/>
          </p:cNvSpPr>
          <p:nvPr/>
        </p:nvSpPr>
        <p:spPr>
          <a:xfrm xmlns:a="http://schemas.openxmlformats.org/drawingml/2006/main">
            <a:off x="3048000" y="7305675"/>
            <a:ext cx="11506200" cy="64770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8E1863A9-8505-4B9B-9BBB-91F66A838EA9}"/>
              </a:ext>
            </a:extLst>
          </p:cNvPr>
          <p:cNvSpPr>
            <a:spLocks xmlns:a="http://schemas.openxmlformats.org/drawingml/2006/main" noGrp="1"/>
          </p:cNvSpPr>
          <p:nvPr/>
        </p:nvSpPr>
        <p:spPr>
          <a:xfrm xmlns:a="http://schemas.openxmlformats.org/drawingml/2006/main">
            <a:off x="3238500" y="7429500"/>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6" name="">
            <a:extLst xmlns:a="http://schemas.openxmlformats.org/drawingml/2006/main">
              <a:ext uri="{FF2B5EF4-FFF2-40B4-BE49-F238E27FC236}">
                <a16:creationId xmlns:a16="http://schemas.microsoft.com/office/drawing/2014/main" id="{D18ABDC7-912D-4D56-AB87-455C17CCD811}"/>
              </a:ext>
            </a:extLst>
          </p:cNvPr>
          <p:cNvSpPr>
            <a:spLocks xmlns:a="http://schemas.openxmlformats.org/drawingml/2006/main" noGrp="1"/>
          </p:cNvSpPr>
          <p:nvPr/>
        </p:nvSpPr>
        <p:spPr>
          <a:xfrm xmlns:a="http://schemas.openxmlformats.org/drawingml/2006/main">
            <a:off x="3714750" y="74199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취향 추천과 정책 배정을 구분하고, 상권 상세에서 배정 근거를 확인</a:t>
            </a:r>
          </a:p>
        </p:txBody>
      </p:sp>
    </p:spTree>
    <p:extLst>
      <p:ext uri="{BB962C8B-B14F-4D97-AF65-F5344CB8AC3E}">
        <p14:creationId xmlns:p14="http://schemas.microsoft.com/office/powerpoint/2010/main" val="3552878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
            <a:extLst xmlns:a="http://schemas.openxmlformats.org/drawingml/2006/main">
              <a:ext uri="{FF2B5EF4-FFF2-40B4-BE49-F238E27FC236}">
                <a16:creationId xmlns:a16="http://schemas.microsoft.com/office/drawing/2014/main" id="{F0A9A123-A4AB-4E12-812F-4984AAE088BF}"/>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8B1488-C4CD-4857-BA73-B660B26E213C}"/>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D11EE83-D3D2-4785-9DB3-93D97AD1406F}"/>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B8A1A675-CA85-4449-A38A-DDED9815B07B}"/>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CC5CC080-AE35-49CA-ACCE-A0EA207DC981}"/>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E9352233-CE2F-4AC4-94D6-64C227A211A8}"/>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BCE1E550-BADF-4578-B3EF-7F73ADBDD73B}"/>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403FA6E1-368E-4136-BF58-44E88EBA99B1}"/>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5B5A67D8-2172-4289-BDE4-AE1EB05DD5D6}"/>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4F7D0D22-2DAC-47F4-AE63-4FE926563D56}"/>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F6A4D0A-6682-4359-9D0F-71AA1778F2D0}"/>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142DD6B-365F-4D31-A421-34F171550910}"/>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88AF807-9BCF-469E-8BC3-A778513A6277}"/>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089530BD-7AA3-487B-B409-12527B46A17F}"/>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4B1CC4E6-2621-4978-9203-9DBD0AAEEDCF}"/>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B948B30-A807-4D01-ADB9-F1E6C320EACE}"/>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02F0BB7-B4A3-4C00-BFB8-3FD91A4A2AD9}"/>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95CD461-AF6B-4D88-A7C3-558E3D5737F0}"/>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62011102-4115-4BE3-8829-BCDE47DD7911}"/>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54BD576C-51AE-454C-A633-701C9EE36F03}"/>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36F9731-5F6D-4484-BD76-1F3AF9FC7C05}"/>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23279DD-969B-48FF-BAD8-4EABA5FDA3D8}"/>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2732B91-CA2F-4598-A940-49C0A8B1D532}"/>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8A43AAB1-8228-4E20-BEAE-C0977FA31B0F}"/>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F00BE530-210F-456E-8533-FFD6004FBF37}"/>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36374D4-5F02-488D-A61E-E3D4BC4D3BF7}"/>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B26ACFA-921F-4155-BCD6-EB1A2A100BB3}"/>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C1DD3BA-6296-45CC-BA44-2541B1CF01B3}"/>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A0006E5C-CC17-48DA-A91C-98D2937AD100}"/>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5D56B7A7-A16F-4572-A929-C83941563294}"/>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33CF50C-2DE0-40FC-9337-ECA752ABA30A}"/>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BF55CA7-1D9B-4A7D-BDD2-6234F1241C26}"/>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042EB51-5102-4943-8F84-F931E6718432}"/>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2AFDF78A-5E32-48CD-9310-0E7CEE74C51F}"/>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1881539B-8392-4125-9866-B4A3E5C124E0}"/>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5803E71-3A7B-4BAA-BA64-DF931EE562C6}"/>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C21E0CF-2733-456F-ADA9-FA005669B697}"/>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610049A-AD41-4693-828F-8768414C4D17}"/>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CB727945-E9F8-4B8F-BE94-AB4868BC09E9}"/>
              </a:ext>
            </a:extLst>
          </p:cNvPr>
          <p:cNvSpPr>
            <a:spLocks xmlns:a="http://schemas.openxmlformats.org/drawingml/2006/main" noGrp="1"/>
          </p:cNvSpPr>
          <p:nvPr/>
        </p:nvSpPr>
        <p:spPr>
          <a:xfrm xmlns:a="http://schemas.openxmlformats.org/drawingml/2006/main">
            <a:off x="95250" y="54197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2D6218C-0465-42DA-B894-9727025D9B12}"/>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42AF4B56-7E36-4D2E-8111-0EEB22696878}"/>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6DE72CF-F6DF-4144-A569-E7450652AD1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BE8F522F-75F4-4206-A170-E2A6F955041E}"/>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FF39FB51-3C30-438E-ABDD-D3A70DA52DD5}"/>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3E83DE96-F8F8-4618-A537-B0D5FE05C347}"/>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7CE1C68C-C41E-4A9D-B4D1-F523421FB619}"/>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CB72EB4-2EF6-4C51-A9AC-47930A370605}"/>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2657258-189B-46BA-9C44-85F93FA80073}"/>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A12BF62-9AD1-46DD-96DA-7FB6C70E25A3}"/>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92FB1C1A-3AC5-45EA-8139-3338CAFE0742}"/>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3B78C5C9-76A9-4390-B25E-45F2692D1511}"/>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2E0E5E9D-B034-42FB-BEAD-BD8F1F1392F3}"/>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운영과 성과 측정</a:t>
            </a:r>
          </a:p>
        </p:txBody>
      </p:sp>
      <p:sp>
        <p:nvSpPr>
          <p:cNvPr id="53" name="">
            <a:extLst xmlns:a="http://schemas.openxmlformats.org/drawingml/2006/main">
              <a:ext uri="{FF2B5EF4-FFF2-40B4-BE49-F238E27FC236}">
                <a16:creationId xmlns:a16="http://schemas.microsoft.com/office/drawing/2014/main" id="{1FA07DFF-07B1-4FBB-AA42-3BECBB375178}"/>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2AD08475-0D25-4A71-974B-186CF3E57A65}"/>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1DA4695D-830F-42BD-8C70-D40CA3180310}"/>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DD76114C-D698-4024-BB84-C810A0C10DB8}"/>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3146EA93-507B-4A26-8394-A46BDCBDC7D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EC633097-1A5C-448A-9864-4A2CAA213431}"/>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운영과 성과 측정</a:t>
            </a:r>
          </a:p>
        </p:txBody>
      </p:sp>
      <p:sp>
        <p:nvSpPr>
          <p:cNvPr id="59" name="">
            <a:extLst xmlns:a="http://schemas.openxmlformats.org/drawingml/2006/main">
              <a:ext uri="{FF2B5EF4-FFF2-40B4-BE49-F238E27FC236}">
                <a16:creationId xmlns:a16="http://schemas.microsoft.com/office/drawing/2014/main" id="{9FE750E2-F6C4-4589-93BC-EA32C38786DB}"/>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행사 전 협의부터 사후 평가까지의 실행 제안</a:t>
            </a:r>
          </a:p>
        </p:txBody>
      </p:sp>
      <p:sp>
        <p:nvSpPr>
          <p:cNvPr id="60" name="">
            <a:extLst xmlns:a="http://schemas.openxmlformats.org/drawingml/2006/main">
              <a:ext uri="{FF2B5EF4-FFF2-40B4-BE49-F238E27FC236}">
                <a16:creationId xmlns:a16="http://schemas.microsoft.com/office/drawing/2014/main" id="{7D70C92A-AEC8-440F-84D7-1A9A6D7328E4}"/>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EAE72581-69CC-48E0-816E-2539C9BEA151}"/>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10 / 11</a:t>
            </a:r>
          </a:p>
        </p:txBody>
      </p:sp>
      <p:graphicFrame>
        <p:nvGraphicFramePr>
          <p:cNvPr id="128" name=""/>
          <p:cNvGraphicFramePr/>
          <p:nvPr/>
        </p:nvGraphicFramePr>
        <p:xfrm>
          <a:off xmlns:a="http://schemas.openxmlformats.org/drawingml/2006/main" x="3048000" y="3343275"/>
          <a:ext xmlns:a="http://schemas.openxmlformats.org/drawingml/2006/main" cx="5286375" cy="3333750"/>
        </p:xfrm>
        <a:graphic xmlns:a="http://schemas.openxmlformats.org/drawingml/2006/main">
          <a:graphicData uri="http://schemas.openxmlformats.org/drawingml/2006/table">
            <a:tbl>
              <a:tblPr/>
              <a:tblGrid>
                <a:gridCol w="1476375"/>
                <a:gridCol w="3810000"/>
              </a:tblGrid>
              <a:tr h="666750">
                <a:tc>
                  <a:txBody>
                    <a:bodyPr/>
                    <a:lstStyle/>
                    <a:p>
                      <a:r>
                        <a:rPr sz="1800" b="1">
                          <a:solidFill>
                            <a:srgbClr val="37352F"/>
                          </a:solidFill>
                          <a:latin typeface="Malgun Gothic"/>
                          <a:ea typeface="Malgun Gothic"/>
                          <a:cs typeface="Malgun Gothic"/>
                        </a:rPr>
                        <a:t>시점</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실행</a:t>
                      </a:r>
                    </a:p>
                  </a:txBody>
                  <a:tcPr marL="85725" marR="85725" marT="28575" marB="28575">
                    <a:solidFill>
                      <a:srgbClr val="F1F1EF"/>
                    </a:solidFill>
                  </a:tcPr>
                </a:tc>
              </a:tr>
              <a:tr h="666750">
                <a:tc>
                  <a:txBody>
                    <a:bodyPr/>
                    <a:lstStyle/>
                    <a:p>
                      <a:r>
                        <a:rPr sz="1800" b="0">
                          <a:solidFill>
                            <a:srgbClr val="37352F"/>
                          </a:solidFill>
                          <a:latin typeface="Malgun Gothic"/>
                          <a:ea typeface="Malgun Gothic"/>
                          <a:cs typeface="Malgun Gothic"/>
                        </a:rPr>
                        <a:t>4주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상권·상인 협의</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2~3주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제휴 모집·경로 확인</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1주 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쿠폰·집계 점검</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당일·이후</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방문 안내·운영·평가</a:t>
                      </a:r>
                    </a:p>
                  </a:txBody>
                  <a:tcPr marL="85725" marR="85725" marT="28575" marB="28575">
                    <a:solidFill>
                      <a:srgbClr val="FFFFFF"/>
                    </a:solidFill>
                  </a:tcPr>
                </a:tc>
              </a:tr>
            </a:tbl>
          </a:graphicData>
        </a:graphic>
      </p:graphicFrame>
      <p:graphicFrame>
        <p:nvGraphicFramePr>
          <p:cNvPr id="129" name=""/>
          <p:cNvGraphicFramePr/>
          <p:nvPr/>
        </p:nvGraphicFramePr>
        <p:xfrm>
          <a:off xmlns:a="http://schemas.openxmlformats.org/drawingml/2006/main" x="8686800" y="3343275"/>
          <a:ext xmlns:a="http://schemas.openxmlformats.org/drawingml/2006/main" cx="5867400" cy="3333750"/>
        </p:xfrm>
        <a:graphic xmlns:a="http://schemas.openxmlformats.org/drawingml/2006/main">
          <a:graphicData uri="http://schemas.openxmlformats.org/drawingml/2006/table">
            <a:tbl>
              <a:tblPr/>
              <a:tblGrid>
                <a:gridCol w="1809750"/>
                <a:gridCol w="4057650"/>
              </a:tblGrid>
              <a:tr h="666750">
                <a:tc>
                  <a:txBody>
                    <a:bodyPr/>
                    <a:lstStyle/>
                    <a:p>
                      <a:r>
                        <a:rPr sz="1800" b="1">
                          <a:solidFill>
                            <a:srgbClr val="37352F"/>
                          </a:solidFill>
                          <a:latin typeface="Malgun Gothic"/>
                          <a:ea typeface="Malgun Gothic"/>
                          <a:cs typeface="Malgun Gothic"/>
                        </a:rPr>
                        <a:t>지표</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측정</a:t>
                      </a:r>
                    </a:p>
                  </a:txBody>
                  <a:tcPr marL="85725" marR="85725" marT="28575" marB="28575">
                    <a:solidFill>
                      <a:srgbClr val="F1F1EF"/>
                    </a:solidFill>
                  </a:tcPr>
                </a:tc>
              </a:tr>
              <a:tr h="666750">
                <a:tc>
                  <a:txBody>
                    <a:bodyPr/>
                    <a:lstStyle/>
                    <a:p>
                      <a:r>
                        <a:rPr sz="1800" b="0">
                          <a:solidFill>
                            <a:srgbClr val="37352F"/>
                          </a:solidFill>
                          <a:latin typeface="Malgun Gothic"/>
                          <a:ea typeface="Malgun Gothic"/>
                          <a:cs typeface="Malgun Gothic"/>
                        </a:rPr>
                        <a:t>모집 실적</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확정 수 / 배정 수</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방문·완주</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중복을 구분한 인증 로그</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소비 변화</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동의 매장·비교집단 검토</a:t>
                      </a:r>
                    </a:p>
                  </a:txBody>
                  <a:tcPr marL="85725" marR="85725" marT="28575" marB="28575">
                    <a:solidFill>
                      <a:srgbClr val="FFFFFF"/>
                    </a:solidFill>
                  </a:tcPr>
                </a:tc>
              </a:tr>
              <a:tr h="666750">
                <a:tc>
                  <a:txBody>
                    <a:bodyPr/>
                    <a:lstStyle/>
                    <a:p>
                      <a:r>
                        <a:rPr sz="1800" b="0">
                          <a:solidFill>
                            <a:srgbClr val="37352F"/>
                          </a:solidFill>
                          <a:latin typeface="Malgun Gothic"/>
                          <a:ea typeface="Malgun Gothic"/>
                          <a:cs typeface="Malgun Gothic"/>
                        </a:rPr>
                        <a:t>재참여</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상인 설문·운영 회고</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78BF8C6B-6821-485F-8BCD-18E877649716}"/>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A3FA5D2E-3D6A-4DE9-9CBD-BE7846A575F7}"/>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6" name="">
            <a:extLst xmlns:a="http://schemas.openxmlformats.org/drawingml/2006/main">
              <a:ext uri="{FF2B5EF4-FFF2-40B4-BE49-F238E27FC236}">
                <a16:creationId xmlns:a16="http://schemas.microsoft.com/office/drawing/2014/main" id="{2E4E07B1-51E4-4625-90ED-056DAB699FF0}"/>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대학·상인회·관계 기관·분석팀 역할 협의 · 인력·쿠폰 등의 비용은 별도 산정</a:t>
            </a:r>
          </a:p>
        </p:txBody>
      </p:sp>
    </p:spTree>
    <p:extLst>
      <p:ext uri="{BB962C8B-B14F-4D97-AF65-F5344CB8AC3E}">
        <p14:creationId xmlns:p14="http://schemas.microsoft.com/office/powerpoint/2010/main" val="132660687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08F94C68-92FA-4D3F-B562-1270470AFBDA}"/>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DFB33B-713F-455D-AF2A-38F6B50B9298}"/>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C5BD347-6AEA-4012-82D8-398A17B8A796}"/>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98C35851-22CC-4916-A3DD-6A658AD11697}"/>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22A6D290-634D-4149-B3EB-63A39F52B847}"/>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A33E8386-3FCF-48FC-AFAE-0B267F27838E}"/>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151876FC-46E0-4829-B1D4-02939F998835}"/>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CDDC41E9-EA07-4730-9453-5032C946561D}"/>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1419823A-9BAD-4EB4-A5EC-0967B4A43DFA}"/>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516C0743-E9C5-42AB-B139-3B1765C0F966}"/>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7CBF526-24AD-4C07-AC0D-47DCEEA809D6}"/>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965133B-ADE3-4F30-B97E-C475F48FDAB8}"/>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984AB7-0366-4B24-8BBD-C7BC72E21A17}"/>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8C8EF957-39C2-4CAF-B967-C0DA4A2B2A24}"/>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495C0694-06F6-4F9C-8BC6-4F3558CD3101}"/>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E88EC92-4099-475E-A17D-07C1B24A992A}"/>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8BBCE1B-8D17-4EBE-93E7-99436EF5C866}"/>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5B6A1B9-8982-41B2-94BF-88B09980E1DA}"/>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3E3BDA3E-032F-4964-BCCE-8E00DA23D345}"/>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FD509E82-78F1-42DF-82AB-7FCD710876E4}"/>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390D73B-24BA-4540-A8E9-83050FF2B22F}"/>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AC6102E-306C-40E2-ABF5-0B93701EE649}"/>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3EBB958-934A-419F-BEEE-8273E3ED233B}"/>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5E8BB207-BDEA-4E65-BA12-90D91E74AE6B}"/>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0196D8E2-DCF5-447D-B99A-7931C3D3F9A9}"/>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DD81EC5-29DB-43EF-B897-A7D5DF929197}"/>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133F18A-73CF-46ED-BF33-9B4BCA67C255}"/>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9F977CA-4602-43A1-9491-031EBF9FE636}"/>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C181240A-B3A2-4D31-B8CC-29D97FA4ADF1}"/>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3AD8770F-FF15-4319-B570-E9EBF71FE3F1}"/>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4BC237B7-3034-41AD-849A-6433E4A9EFC5}"/>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A7C7A14-47EC-41D1-884C-0D35D43CDE5E}"/>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9A36D8D-8324-4185-AEB8-BCA925D7DA3C}"/>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A66DF63E-7651-46FF-928F-56E697D3FDF7}"/>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73ADDB76-0F7F-4887-8C04-2EA951034810}"/>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61634AC-FC87-4AC1-AB64-D2DDAF03ED10}"/>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2AD7A6C-90B9-4B8E-AD2A-6414B9ADAE35}"/>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FEC4138-69DB-4171-AC24-67F1746E1698}"/>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D01899B4-2084-428F-80C7-3DB7BDFABEB1}"/>
              </a:ext>
            </a:extLst>
          </p:cNvPr>
          <p:cNvSpPr>
            <a:spLocks xmlns:a="http://schemas.openxmlformats.org/drawingml/2006/main" noGrp="1"/>
          </p:cNvSpPr>
          <p:nvPr/>
        </p:nvSpPr>
        <p:spPr>
          <a:xfrm xmlns:a="http://schemas.openxmlformats.org/drawingml/2006/main">
            <a:off x="95250" y="5419725"/>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B30582B-9268-4631-BEEB-F2F8DA34706A}"/>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1" name="">
            <a:extLst xmlns:a="http://schemas.openxmlformats.org/drawingml/2006/main">
              <a:ext uri="{FF2B5EF4-FFF2-40B4-BE49-F238E27FC236}">
                <a16:creationId xmlns:a16="http://schemas.microsoft.com/office/drawing/2014/main" id="{A418ED3A-259E-43C4-AAE7-881DE61EFAB4}"/>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ED1E9D7-8E4B-4613-8E16-55254C2E56A2}"/>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B72A9E7-23F0-42A5-835D-1FB4C4DAF3C1}"/>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E376462-FA6B-432B-BFEE-4C125365D904}"/>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운영과 제안</a:t>
            </a:r>
          </a:p>
        </p:txBody>
      </p:sp>
      <p:sp>
        <p:nvSpPr>
          <p:cNvPr id="45" name="">
            <a:extLst xmlns:a="http://schemas.openxmlformats.org/drawingml/2006/main">
              <a:ext uri="{FF2B5EF4-FFF2-40B4-BE49-F238E27FC236}">
                <a16:creationId xmlns:a16="http://schemas.microsoft.com/office/drawing/2014/main" id="{BD9253DF-3FAC-4C95-A39A-40E4A9454F74}"/>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578CF2B4-821A-4E65-AC22-3A0E3507D86A}"/>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48F6D2F6-0C0A-4A60-A266-EC31ABD31186}"/>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0240EF6-F076-4379-A438-3BC49FEF5A8A}"/>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8CD68A16-4A23-4ED5-AFEB-05CC8BB63C65}"/>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22F9D1FB-4116-483F-9F0E-0D862D5ADEDF}"/>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B04DF4AD-87BB-489E-8FD9-B763C80BC41F}"/>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305142DE-FA48-43F6-994A-C9D8185BE0B9}"/>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발표  /  시범 운영 제안</a:t>
            </a:r>
          </a:p>
        </p:txBody>
      </p:sp>
      <p:sp>
        <p:nvSpPr>
          <p:cNvPr id="53" name="">
            <a:extLst xmlns:a="http://schemas.openxmlformats.org/drawingml/2006/main">
              <a:ext uri="{FF2B5EF4-FFF2-40B4-BE49-F238E27FC236}">
                <a16:creationId xmlns:a16="http://schemas.microsoft.com/office/drawing/2014/main" id="{FAC669D0-3855-4886-9C99-87596518417A}"/>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B7002B91-7B63-4E18-9362-03413D4510EC}"/>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80C8D538-5874-4EA9-B3CD-F2F1324D4EF7}"/>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C488FC0-D9F9-4013-9087-78506D6E45C2}"/>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9456275-5E23-4D3D-8A73-B085079AAB80}"/>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8C90C71A-F171-4B66-B63E-226106659C32}"/>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시범 운영 제안</a:t>
            </a:r>
          </a:p>
        </p:txBody>
      </p:sp>
      <p:sp>
        <p:nvSpPr>
          <p:cNvPr id="59" name="">
            <a:extLst xmlns:a="http://schemas.openxmlformats.org/drawingml/2006/main">
              <a:ext uri="{FF2B5EF4-FFF2-40B4-BE49-F238E27FC236}">
                <a16:creationId xmlns:a16="http://schemas.microsoft.com/office/drawing/2014/main" id="{68FE4CA7-534A-4B2E-ACC0-29CC60610DB9}"/>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현장 검증과 제휴 협의를 위한 시범 운영</a:t>
            </a:r>
          </a:p>
        </p:txBody>
      </p:sp>
      <p:sp>
        <p:nvSpPr>
          <p:cNvPr id="60" name="">
            <a:extLst xmlns:a="http://schemas.openxmlformats.org/drawingml/2006/main">
              <a:ext uri="{FF2B5EF4-FFF2-40B4-BE49-F238E27FC236}">
                <a16:creationId xmlns:a16="http://schemas.microsoft.com/office/drawing/2014/main" id="{F913B346-F35E-43AD-B10C-46DE0BB9986C}"/>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03BA72ED-4659-4F32-BCE8-C5769FFB184F}"/>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11 / 11</a:t>
            </a:r>
          </a:p>
        </p:txBody>
      </p:sp>
      <p:sp>
        <p:nvSpPr>
          <p:cNvPr id="62" name="">
            <a:extLst xmlns:a="http://schemas.openxmlformats.org/drawingml/2006/main">
              <a:ext uri="{FF2B5EF4-FFF2-40B4-BE49-F238E27FC236}">
                <a16:creationId xmlns:a16="http://schemas.microsoft.com/office/drawing/2014/main" id="{AAFDAC20-5FCA-4162-A31D-0A1542592FFC}"/>
              </a:ext>
            </a:extLst>
          </p:cNvPr>
          <p:cNvSpPr>
            <a:spLocks xmlns:a="http://schemas.openxmlformats.org/drawingml/2006/main" noGrp="1"/>
          </p:cNvSpPr>
          <p:nvPr/>
        </p:nvSpPr>
        <p:spPr>
          <a:xfrm xmlns:a="http://schemas.openxmlformats.org/drawingml/2006/main">
            <a:off x="3048000" y="3571875"/>
            <a:ext cx="5381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37352F"/>
                </a:solidFill>
                <a:latin typeface="Malgun Gothic"/>
                <a:ea typeface="Malgun Gothic"/>
                <a:cs typeface="Malgun Gothic"/>
              </a:defRPr>
            </a:pPr>
            <a:r>
              <a:rPr sz="4800" b="1">
                <a:solidFill>
                  <a:srgbClr val="37352F"/>
                </a:solidFill>
                <a:latin typeface="Malgun Gothic"/>
                <a:ea typeface="Malgun Gothic"/>
                <a:cs typeface="Malgun Gothic"/>
              </a:rPr>
              <a:t>16개 상권</a:t>
            </a:r>
          </a:p>
        </p:txBody>
      </p:sp>
      <p:sp>
        <p:nvSpPr>
          <p:cNvPr id="63" name="">
            <a:extLst xmlns:a="http://schemas.openxmlformats.org/drawingml/2006/main">
              <a:ext uri="{FF2B5EF4-FFF2-40B4-BE49-F238E27FC236}">
                <a16:creationId xmlns:a16="http://schemas.microsoft.com/office/drawing/2014/main" id="{69A57203-B411-42D1-8BE8-BF6D5B3584A3}"/>
              </a:ext>
            </a:extLst>
          </p:cNvPr>
          <p:cNvSpPr>
            <a:spLocks xmlns:a="http://schemas.openxmlformats.org/drawingml/2006/main" noGrp="1"/>
          </p:cNvSpPr>
          <p:nvPr/>
        </p:nvSpPr>
        <p:spPr>
          <a:xfrm xmlns:a="http://schemas.openxmlformats.org/drawingml/2006/main">
            <a:off x="9020175" y="3571875"/>
            <a:ext cx="5429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00" b="1">
                <a:solidFill>
                  <a:srgbClr val="37352F"/>
                </a:solidFill>
                <a:latin typeface="Malgun Gothic"/>
                <a:ea typeface="Malgun Gothic"/>
                <a:cs typeface="Malgun Gothic"/>
              </a:defRPr>
            </a:pPr>
            <a:r>
              <a:rPr sz="4800" b="1">
                <a:solidFill>
                  <a:srgbClr val="37352F"/>
                </a:solidFill>
                <a:latin typeface="Malgun Gothic"/>
                <a:ea typeface="Malgun Gothic"/>
                <a:cs typeface="Malgun Gothic"/>
              </a:rPr>
              <a:t>60개 배정</a:t>
            </a:r>
          </a:p>
        </p:txBody>
      </p:sp>
      <p:sp>
        <p:nvSpPr>
          <p:cNvPr id="64" name="">
            <a:extLst xmlns:a="http://schemas.openxmlformats.org/drawingml/2006/main">
              <a:ext uri="{FF2B5EF4-FFF2-40B4-BE49-F238E27FC236}">
                <a16:creationId xmlns:a16="http://schemas.microsoft.com/office/drawing/2014/main" id="{8F010162-EF6F-4C18-9A9C-CAEB877CA943}"/>
              </a:ext>
            </a:extLst>
          </p:cNvPr>
          <p:cNvSpPr>
            <a:spLocks xmlns:a="http://schemas.openxmlformats.org/drawingml/2006/main" noGrp="1"/>
          </p:cNvSpPr>
          <p:nvPr/>
        </p:nvSpPr>
        <p:spPr>
          <a:xfrm xmlns:a="http://schemas.openxmlformats.org/drawingml/2006/main">
            <a:off x="3048000" y="4953000"/>
            <a:ext cx="11506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75" b="1">
                <a:solidFill>
                  <a:srgbClr val="487CA5"/>
                </a:solidFill>
                <a:latin typeface="Malgun Gothic"/>
                <a:ea typeface="Malgun Gothic"/>
                <a:cs typeface="Malgun Gothic"/>
              </a:defRPr>
            </a:pPr>
            <a:r>
              <a:rPr sz="3375" b="1">
                <a:solidFill>
                  <a:srgbClr val="487CA5"/>
                </a:solidFill>
                <a:latin typeface="Malgun Gothic"/>
                <a:ea typeface="Malgun Gothic"/>
                <a:cs typeface="Malgun Gothic"/>
              </a:rPr>
              <a:t>소외도 상위 5곳에 27개</a:t>
            </a:r>
          </a:p>
        </p:txBody>
      </p:sp>
      <p:sp>
        <p:nvSpPr>
          <p:cNvPr id="65" name="">
            <a:extLst xmlns:a="http://schemas.openxmlformats.org/drawingml/2006/main">
              <a:ext uri="{FF2B5EF4-FFF2-40B4-BE49-F238E27FC236}">
                <a16:creationId xmlns:a16="http://schemas.microsoft.com/office/drawing/2014/main" id="{78AAE926-C9FB-4243-B7EF-74236D9DFB7A}"/>
              </a:ext>
            </a:extLst>
          </p:cNvPr>
          <p:cNvSpPr>
            <a:spLocks xmlns:a="http://schemas.openxmlformats.org/drawingml/2006/main" noGrp="1"/>
          </p:cNvSpPr>
          <p:nvPr/>
        </p:nvSpPr>
        <p:spPr>
          <a:xfrm xmlns:a="http://schemas.openxmlformats.org/drawingml/2006/main">
            <a:off x="3048000" y="6038850"/>
            <a:ext cx="11506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참여 상점을 모집하고, 실제 방문과 소비 자료를 모아</a:t>
            </a:r>
          </a:p>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다음 행사 배정에 반영하겠습니다</a:t>
            </a:r>
          </a:p>
        </p:txBody>
      </p:sp>
      <p:sp>
        <p:nvSpPr>
          <p:cNvPr id="66" name="">
            <a:extLst xmlns:a="http://schemas.openxmlformats.org/drawingml/2006/main">
              <a:ext uri="{FF2B5EF4-FFF2-40B4-BE49-F238E27FC236}">
                <a16:creationId xmlns:a16="http://schemas.microsoft.com/office/drawing/2014/main" id="{2505581E-B633-4E19-8290-3AC05D7C9E52}"/>
              </a:ext>
            </a:extLst>
          </p:cNvPr>
          <p:cNvSpPr>
            <a:spLocks xmlns:a="http://schemas.openxmlformats.org/drawingml/2006/main" noGrp="1"/>
          </p:cNvSpPr>
          <p:nvPr/>
        </p:nvSpPr>
        <p:spPr>
          <a:xfrm xmlns:a="http://schemas.openxmlformats.org/drawingml/2006/main">
            <a:off x="3048000" y="7391400"/>
            <a:ext cx="11506200" cy="57150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ED834B5F-44B6-4E55-80F6-62EA0C812E3C}"/>
              </a:ext>
            </a:extLst>
          </p:cNvPr>
          <p:cNvSpPr>
            <a:spLocks xmlns:a="http://schemas.openxmlformats.org/drawingml/2006/main" noGrp="1"/>
          </p:cNvSpPr>
          <p:nvPr/>
        </p:nvSpPr>
        <p:spPr>
          <a:xfrm xmlns:a="http://schemas.openxmlformats.org/drawingml/2006/main">
            <a:off x="3238500" y="751522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8" name="">
            <a:extLst xmlns:a="http://schemas.openxmlformats.org/drawingml/2006/main">
              <a:ext uri="{FF2B5EF4-FFF2-40B4-BE49-F238E27FC236}">
                <a16:creationId xmlns:a16="http://schemas.microsoft.com/office/drawing/2014/main" id="{34F32122-F50F-4DF2-B169-4E917934A860}"/>
              </a:ext>
            </a:extLst>
          </p:cNvPr>
          <p:cNvSpPr>
            <a:spLocks xmlns:a="http://schemas.openxmlformats.org/drawingml/2006/main" noGrp="1"/>
          </p:cNvSpPr>
          <p:nvPr/>
        </p:nvSpPr>
        <p:spPr>
          <a:xfrm xmlns:a="http://schemas.openxmlformats.org/drawingml/2006/main">
            <a:off x="3714750" y="75057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시범 운영 기회를 요청드립니다</a:t>
            </a:r>
          </a:p>
        </p:txBody>
      </p:sp>
    </p:spTree>
    <p:extLst>
      <p:ext uri="{BB962C8B-B14F-4D97-AF65-F5344CB8AC3E}">
        <p14:creationId xmlns:p14="http://schemas.microsoft.com/office/powerpoint/2010/main" val="21261066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188C17CB-BC2E-4A53-9083-C6549E4CECE0}"/>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EE9BAB-856C-46DB-AE69-C13EF7A2B392}"/>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B61A26-D460-4BA4-93D8-7F9EB6BABC13}"/>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D080F9B-792A-4F21-A994-B6F0DB3F17F5}"/>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EFB5DDB6-CEAC-4349-A3E5-953CF557A51A}"/>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147F0756-9B5A-4DC2-AD18-D960F924B029}"/>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6EC73265-3DBE-4092-8CC5-CF309F7FD392}"/>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247FFE68-3CC8-43D1-8364-05BDBB56A36C}"/>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6AE30189-5A66-4097-895D-C7E8164CC54F}"/>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9A64F101-CCEE-4F6D-A00B-6265864A1F7C}"/>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A783D47-D93B-4F38-A9A6-B117DE6A71EA}"/>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CEF4E53-B383-45E9-9814-9BD6B37B9D25}"/>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9E21193-5906-4FB5-8210-B45FA75137AB}"/>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C6EB761A-0AD5-47B1-AC98-C9B28E276407}"/>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379E4F04-FCE3-43B6-87E7-5E7FBDD683E0}"/>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C50D5EF-D614-4603-8CDF-A2B1450579B7}"/>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9055846-EEBC-4E53-BF65-69F16BE3D525}"/>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0647945-95FC-48A1-9035-0D6032A74C9D}"/>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826C8AD9-F5E2-4F03-82CA-8116AB0E7B9D}"/>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EAE1EB14-1501-4BD7-8084-62C5A60221E4}"/>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7C8977D-5286-4357-8468-0CF11EECA764}"/>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8749EC1-B67F-4FC4-B9F3-3D23CA35781F}"/>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929C575-E822-4436-9A78-83088681B056}"/>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C7E282FF-A85B-4A44-8310-0D3A5EABE603}"/>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7343F9DF-14FF-4346-AAB8-73197303EE75}"/>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D68A3B5-6275-47A8-B364-B8384C55A787}"/>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D2B9D44-5A4C-4711-94F4-5D06FC9EE915}"/>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A8C1262-0E31-4879-ACDE-17CA09C84653}"/>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FEA7B89F-90CF-4B94-9ED7-C7B98FCA9A68}"/>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C0A65883-3792-481D-A24A-DCE93220FCAD}"/>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3DBC4F2-7153-43CC-B966-6E680AF91D3F}"/>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BF92FC9-C44D-4862-9B17-9521B61572CF}"/>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5DCF43A-5A47-484D-B72E-2C04904AAC79}"/>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F13DAD81-A4E3-488F-9299-7A32B2F3D2EA}"/>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4A2C9029-C525-4277-A9E6-6C5858EED134}"/>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20569BE-5DAB-4433-B647-07231A833DE4}"/>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39850DD-70F9-4CAC-98C6-D1F3A8625D2D}"/>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F969BE2-1073-4270-BBE8-1D82D8CFA3AA}"/>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B2407748-8AAD-496D-8BCA-959528E28AFA}"/>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89413DD4-B9FA-41FE-9029-40149DC6E0E9}"/>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408453E4-23BE-4241-B0AD-096EE5CB4E8F}"/>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A008C41-88A0-429A-BCF1-2ADAAA002C75}"/>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901614E-C7D5-493B-BD7D-AC3B0958705E}"/>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74825426-3771-4C47-8E5C-56722BC65929}"/>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72F7791-85C5-4377-848B-7AED0BA17EF1}"/>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9E2A08EE-D855-4833-A435-95470FBEC07D}"/>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E081DC5-0399-4A4C-A77C-49D262D6C2E3}"/>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BB0BC85-FDEA-4143-856D-C670493479DB}"/>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4E78304-5AAB-4639-920A-1F80BBB2FFE9}"/>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68D3A82A-DEEB-47A9-B409-18D3AD358F4E}"/>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551A5B99-5E6A-48E0-B08D-172FA7372CDF}"/>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5C6AFF43-434A-4CEB-9445-AB13073B0D4F}"/>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전체 배정표</a:t>
            </a:r>
          </a:p>
        </p:txBody>
      </p:sp>
      <p:sp>
        <p:nvSpPr>
          <p:cNvPr id="53" name="">
            <a:extLst xmlns:a="http://schemas.openxmlformats.org/drawingml/2006/main">
              <a:ext uri="{FF2B5EF4-FFF2-40B4-BE49-F238E27FC236}">
                <a16:creationId xmlns:a16="http://schemas.microsoft.com/office/drawing/2014/main" id="{1D908CAF-43D1-414E-8E0F-254F0B90DFBC}"/>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A0D77B26-B605-449C-85FE-25EA51E18CD0}"/>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CCA82AAC-E028-4E71-B122-21BA777466FF}"/>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797ACEF-B7A3-4287-BDA4-4363782202FC}"/>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1BD4E246-5FC5-4136-B914-2B110A046EE4}"/>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89CB561F-551A-48C5-BEFD-7FD1A154139C}"/>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전체 배정표</a:t>
            </a:r>
          </a:p>
        </p:txBody>
      </p:sp>
      <p:sp>
        <p:nvSpPr>
          <p:cNvPr id="59" name="">
            <a:extLst xmlns:a="http://schemas.openxmlformats.org/drawingml/2006/main">
              <a:ext uri="{FF2B5EF4-FFF2-40B4-BE49-F238E27FC236}">
                <a16:creationId xmlns:a16="http://schemas.microsoft.com/office/drawing/2014/main" id="{3A9D6435-A336-462F-8353-48D0F1CB3BCD}"/>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B10-14 공개값 · D·L·R·M은 소수 셋째 자리 반올림</a:t>
            </a:r>
          </a:p>
        </p:txBody>
      </p:sp>
      <p:sp>
        <p:nvSpPr>
          <p:cNvPr id="60" name="">
            <a:extLst xmlns:a="http://schemas.openxmlformats.org/drawingml/2006/main">
              <a:ext uri="{FF2B5EF4-FFF2-40B4-BE49-F238E27FC236}">
                <a16:creationId xmlns:a16="http://schemas.microsoft.com/office/drawing/2014/main" id="{355AA272-1785-42FA-A9CC-16D628D2EAB4}"/>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567AD654-F40B-4C31-A8EF-388008F1C78F}"/>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A</a:t>
            </a:r>
          </a:p>
        </p:txBody>
      </p:sp>
      <p:graphicFrame>
        <p:nvGraphicFramePr>
          <p:cNvPr id="126" name=""/>
          <p:cNvGraphicFramePr/>
          <p:nvPr/>
        </p:nvGraphicFramePr>
        <p:xfrm>
          <a:off xmlns:a="http://schemas.openxmlformats.org/drawingml/2006/main" x="3048000" y="3524250"/>
          <a:ext xmlns:a="http://schemas.openxmlformats.org/drawingml/2006/main" cx="5600700" cy="3762375"/>
        </p:xfrm>
        <a:graphic xmlns:a="http://schemas.openxmlformats.org/drawingml/2006/main">
          <a:graphicData uri="http://schemas.openxmlformats.org/drawingml/2006/table">
            <a:tbl>
              <a:tblPr/>
              <a:tblGrid>
                <a:gridCol w="1866900"/>
                <a:gridCol w="609600"/>
                <a:gridCol w="609600"/>
                <a:gridCol w="609600"/>
                <a:gridCol w="609600"/>
                <a:gridCol w="647700"/>
                <a:gridCol w="647700"/>
              </a:tblGrid>
              <a:tr h="418042">
                <a:tc>
                  <a:txBody>
                    <a:bodyPr/>
                    <a:lstStyle/>
                    <a:p>
                      <a:r>
                        <a:rPr sz="1275" b="1">
                          <a:solidFill>
                            <a:srgbClr val="37352F"/>
                          </a:solidFill>
                          <a:latin typeface="Malgun Gothic"/>
                          <a:ea typeface="Malgun Gothic"/>
                          <a:cs typeface="Malgun Gothic"/>
                        </a:rPr>
                        <a:t>상권</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D</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L</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R</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M</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전</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후</a:t>
                      </a:r>
                    </a:p>
                  </a:txBody>
                  <a:tcPr marL="85725" marR="85725" marT="28575" marB="28575">
                    <a:solidFill>
                      <a:srgbClr val="F1F1EF"/>
                    </a:solidFill>
                  </a:tcPr>
                </a:tc>
              </a:tr>
              <a:tr h="418042">
                <a:tc>
                  <a:txBody>
                    <a:bodyPr/>
                    <a:lstStyle/>
                    <a:p>
                      <a:r>
                        <a:rPr sz="1275" b="0">
                          <a:solidFill>
                            <a:srgbClr val="37352F"/>
                          </a:solidFill>
                          <a:latin typeface="Malgun Gothic"/>
                          <a:ea typeface="Malgun Gothic"/>
                          <a:cs typeface="Malgun Gothic"/>
                        </a:rPr>
                        <a:t>시립대앞사거리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1.000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0.807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0.669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이경시장</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1.000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0.661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회기역 1번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0.713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회기시장</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0.527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시조사삼거리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0.716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0.510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전곡마을마당공원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0.756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0.448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6</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경희대삼거리</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0.281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0.937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0.351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서울시립대</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0.281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0.438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0.970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0.340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r>
            </a:tbl>
          </a:graphicData>
        </a:graphic>
      </p:graphicFrame>
      <p:graphicFrame>
        <p:nvGraphicFramePr>
          <p:cNvPr id="127" name=""/>
          <p:cNvGraphicFramePr/>
          <p:nvPr/>
        </p:nvGraphicFramePr>
        <p:xfrm>
          <a:off xmlns:a="http://schemas.openxmlformats.org/drawingml/2006/main" x="8953500" y="3524250"/>
          <a:ext xmlns:a="http://schemas.openxmlformats.org/drawingml/2006/main" cx="5600700" cy="3762375"/>
        </p:xfrm>
        <a:graphic xmlns:a="http://schemas.openxmlformats.org/drawingml/2006/main">
          <a:graphicData uri="http://schemas.openxmlformats.org/drawingml/2006/table">
            <a:tbl>
              <a:tblPr/>
              <a:tblGrid>
                <a:gridCol w="1866900"/>
                <a:gridCol w="609600"/>
                <a:gridCol w="609600"/>
                <a:gridCol w="609600"/>
                <a:gridCol w="609600"/>
                <a:gridCol w="647700"/>
                <a:gridCol w="647700"/>
              </a:tblGrid>
              <a:tr h="418042">
                <a:tc>
                  <a:txBody>
                    <a:bodyPr/>
                    <a:lstStyle/>
                    <a:p>
                      <a:r>
                        <a:rPr sz="1275" b="1">
                          <a:solidFill>
                            <a:srgbClr val="37352F"/>
                          </a:solidFill>
                          <a:latin typeface="Malgun Gothic"/>
                          <a:ea typeface="Malgun Gothic"/>
                          <a:cs typeface="Malgun Gothic"/>
                        </a:rPr>
                        <a:t>상권</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D</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L</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R</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M</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전</a:t>
                      </a:r>
                    </a:p>
                  </a:txBody>
                  <a:tcPr marL="85725" marR="85725" marT="28575" marB="28575">
                    <a:solidFill>
                      <a:srgbClr val="F1F1EF"/>
                    </a:solidFill>
                  </a:tcPr>
                </a:tc>
                <a:tc>
                  <a:txBody>
                    <a:bodyPr/>
                    <a:lstStyle/>
                    <a:p>
                      <a:r>
                        <a:rPr sz="1275" b="1">
                          <a:solidFill>
                            <a:srgbClr val="37352F"/>
                          </a:solidFill>
                          <a:latin typeface="Malgun Gothic"/>
                          <a:ea typeface="Malgun Gothic"/>
                          <a:cs typeface="Malgun Gothic"/>
                        </a:rPr>
                        <a:t>후</a:t>
                      </a:r>
                    </a:p>
                  </a:txBody>
                  <a:tcPr marL="85725" marR="85725" marT="28575" marB="28575">
                    <a:solidFill>
                      <a:srgbClr val="F1F1EF"/>
                    </a:solidFill>
                  </a:tcPr>
                </a:tc>
              </a:tr>
              <a:tr h="418042">
                <a:tc>
                  <a:txBody>
                    <a:bodyPr/>
                    <a:lstStyle/>
                    <a:p>
                      <a:r>
                        <a:rPr sz="1275" b="0">
                          <a:solidFill>
                            <a:srgbClr val="37352F"/>
                          </a:solidFill>
                          <a:latin typeface="Malgun Gothic"/>
                          <a:ea typeface="Malgun Gothic"/>
                          <a:cs typeface="Malgun Gothic"/>
                        </a:rPr>
                        <a:t>회기역</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0.500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0.375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0.695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0.301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청량초등학교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0.875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0.820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0.271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경희대후문</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0.250</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0.827</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0.264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삼육보건대학교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0.732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0.263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회기역 2번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0.188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0.938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0.609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0.255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경희대학교</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0.062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0.958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0.216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외대앞역 1번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0.406</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0.925</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0.208</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4</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r h="418042">
                <a:tc>
                  <a:txBody>
                    <a:bodyPr/>
                    <a:lstStyle/>
                    <a:p>
                      <a:r>
                        <a:rPr sz="1275" b="0">
                          <a:solidFill>
                            <a:srgbClr val="37352F"/>
                          </a:solidFill>
                          <a:latin typeface="Malgun Gothic"/>
                          <a:ea typeface="Malgun Gothic"/>
                          <a:cs typeface="Malgun Gothic"/>
                        </a:rPr>
                        <a:t>외대앞역 2번</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0.062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0.312</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0.869</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0.121</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3</a:t>
                      </a:r>
                    </a:p>
                  </a:txBody>
                  <a:tcPr marL="85725" marR="85725" marT="28575" marB="28575">
                    <a:solidFill>
                      <a:srgbClr val="FFFFFF"/>
                    </a:solidFill>
                  </a:tcPr>
                </a:tc>
                <a:tc>
                  <a:txBody>
                    <a:bodyPr/>
                    <a:lstStyle/>
                    <a:p>
                      <a:r>
                        <a:rPr sz="1275" b="0">
                          <a:solidFill>
                            <a:srgbClr val="37352F"/>
                          </a:solidFill>
                          <a:latin typeface="Malgun Gothic"/>
                          <a:ea typeface="Malgun Gothic"/>
                          <a:cs typeface="Malgun Gothic"/>
                        </a:rPr>
                        <a:t>2</a:t>
                      </a:r>
                    </a:p>
                  </a:txBody>
                  <a:tcPr marL="85725" marR="85725" marT="28575" marB="28575">
                    <a:solidFill>
                      <a:srgbClr val="FFFFFF"/>
                    </a:solidFill>
                  </a:tcPr>
                </a:tc>
              </a:tr>
            </a:tbl>
          </a:graphicData>
        </a:graphic>
      </p:graphicFrame>
      <p:sp>
        <p:nvSpPr>
          <p:cNvPr id="64" name="">
            <a:extLst xmlns:a="http://schemas.openxmlformats.org/drawingml/2006/main">
              <a:ext uri="{FF2B5EF4-FFF2-40B4-BE49-F238E27FC236}">
                <a16:creationId xmlns:a16="http://schemas.microsoft.com/office/drawing/2014/main" id="{CF30FF2D-5862-42C9-A478-2AAA8F24E405}"/>
              </a:ext>
            </a:extLst>
          </p:cNvPr>
          <p:cNvSpPr>
            <a:spLocks xmlns:a="http://schemas.openxmlformats.org/drawingml/2006/main" noGrp="1"/>
          </p:cNvSpPr>
          <p:nvPr/>
        </p:nvSpPr>
        <p:spPr>
          <a:xfrm xmlns:a="http://schemas.openxmlformats.org/drawingml/2006/main">
            <a:off x="3048000" y="7743825"/>
            <a:ext cx="11506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전: 기존 / 후: 최종. 기존 대상 50개 + 연계 10개 = 전체 60개, 최종 대상 60개 + 연계 0개 = 전체 60개</a:t>
            </a:r>
          </a:p>
        </p:txBody>
      </p:sp>
    </p:spTree>
    <p:extLst>
      <p:ext uri="{BB962C8B-B14F-4D97-AF65-F5344CB8AC3E}">
        <p14:creationId xmlns:p14="http://schemas.microsoft.com/office/powerpoint/2010/main" val="6528253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1AC50BB4-15F4-4712-B544-D69CE174E47B}"/>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BC02D8-B53D-442B-9299-98306DDE2533}"/>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4B9620C-72CC-4728-978C-72FB9F8FFE7B}"/>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01EF4D60-8391-4426-949F-E27AED5E6E0A}"/>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2B43375-8993-48F3-B6F9-C65497138FEA}"/>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BA31E419-2949-4CBE-A565-AC497EA73D7C}"/>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F83DF372-602A-47E0-89A1-8B69EAE14AA0}"/>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DCB66ABC-49E3-42BE-9CFE-D0D3B860DAE3}"/>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9A438F8E-9BCA-454F-ADA1-EBE316F3AAF5}"/>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6964E860-160D-4D85-8A3D-92D3F07161DD}"/>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CA47886-185A-4FB3-87AA-4FF0E6266902}"/>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7728B9F-2856-4B29-8CFD-FC73C3642071}"/>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9E8306F-DDD6-4374-A4F2-4343097E9008}"/>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A055A7F5-F1BC-426C-9E37-C9A467FFAAF7}"/>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C7F454A1-C835-4A9E-96A7-094D22436D54}"/>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1CBDBAC-4A3D-4A89-9258-CBF9268726FB}"/>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C2E6AE9-D147-4D47-9EBC-769395DA55D2}"/>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3563D33-1D5B-4A80-BA76-EE7A08045711}"/>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1532D805-5B7F-45C7-9F51-9B01C22FB446}"/>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B408108E-6DED-4AF4-B504-D9E61B17BDC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33CABF5-7E6D-4B18-97B2-96EE8D37E4BA}"/>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46B4072-610D-4AE7-9688-6E618F50BFF8}"/>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C439D4E-10A5-4D38-97B9-6861ED9F3899}"/>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670AAF00-5915-4656-9CA3-24CC6D9E5248}"/>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4DC506B7-4690-4A48-85DA-75596664B8CE}"/>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1D88667-8AC8-4831-A25C-C455C3A76437}"/>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5C77546-4D81-49EC-9472-2CD4F90D2CA1}"/>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54A0A1F-D3C2-4917-8730-E3E82B47520E}"/>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360813B9-2B95-4B7F-8672-B2CF925F90B2}"/>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EB074915-BC09-4440-8AB4-5E5B8BDEBCEC}"/>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85E75D8-0273-4373-8D38-4BE9E2AAE5BB}"/>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D69A1442-982E-4C53-99CB-AA601587704B}"/>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5CCD783-DF15-43DD-880D-1C94A6407BD3}"/>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7DAF0FDF-BE10-45E0-B1A4-5CD019A06FD5}"/>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5627ADC5-714A-4E4D-B6D3-8C0BA08C5505}"/>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5A4A773-D194-4C48-A17D-771D41DF5F31}"/>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E38821D-C366-4FAC-B727-F04AED008A3B}"/>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4D17F12-09AD-45EB-BF51-078A27C74582}"/>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AA2950C4-6649-41AD-B17F-FA9547360E23}"/>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D2E76221-49F6-4386-8970-3D2DCAC5D923}"/>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1169EDAF-E8E8-45A0-BD5E-E8198AC227D3}"/>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F068853-5E8D-429E-8A1B-70E42BB966E2}"/>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93561D5-AD13-4DD7-B55D-356F338F6BC6}"/>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9E9487B8-C105-483F-8E58-3EB7E7ACA0D6}"/>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72F2079-87F2-45DC-8D17-1CBE91C610C0}"/>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7255990F-141E-4D1F-A55B-F1CBD9D220AD}"/>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C06DFBD8-BA92-4CFE-AF6A-EF2DEFA81F10}"/>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759DD10-43A5-4AF7-9F52-F01FA806BA46}"/>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45CFDDD-B6AC-4F71-8036-500A1F98CB29}"/>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965B811B-1E35-451B-8181-0EDDD7C910C4}"/>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F9096C97-05DC-44AF-8667-31A835971D4B}"/>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B8E79B01-A109-4F09-A129-851DC5F252A1}"/>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목적함수와 검증</a:t>
            </a:r>
          </a:p>
        </p:txBody>
      </p:sp>
      <p:sp>
        <p:nvSpPr>
          <p:cNvPr id="53" name="">
            <a:extLst xmlns:a="http://schemas.openxmlformats.org/drawingml/2006/main">
              <a:ext uri="{FF2B5EF4-FFF2-40B4-BE49-F238E27FC236}">
                <a16:creationId xmlns:a16="http://schemas.microsoft.com/office/drawing/2014/main" id="{477AAD5A-F326-49A7-89B3-65D71F0506AE}"/>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6EE91430-0242-46D8-9F15-94822C3B7B86}"/>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61106DB3-CB66-4668-956E-4CB9C8AE53B3}"/>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EB2D74FF-0C80-4845-A648-8EE03660FFA6}"/>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E6DA1611-DAD5-45AA-AAF2-A86834B2F152}"/>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5212C6F-5ED6-4790-A0B6-B80A81ADBA41}"/>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목적함수와 검증</a:t>
            </a:r>
          </a:p>
        </p:txBody>
      </p:sp>
      <p:sp>
        <p:nvSpPr>
          <p:cNvPr id="59" name="">
            <a:extLst xmlns:a="http://schemas.openxmlformats.org/drawingml/2006/main">
              <a:ext uri="{FF2B5EF4-FFF2-40B4-BE49-F238E27FC236}">
                <a16:creationId xmlns:a16="http://schemas.microsoft.com/office/drawing/2014/main" id="{0F26C9C5-FE4D-4150-9326-BC2FC5CBC34B}"/>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주어진 목적함수와 제약 아래의 최적해</a:t>
            </a:r>
          </a:p>
        </p:txBody>
      </p:sp>
      <p:sp>
        <p:nvSpPr>
          <p:cNvPr id="60" name="">
            <a:extLst xmlns:a="http://schemas.openxmlformats.org/drawingml/2006/main">
              <a:ext uri="{FF2B5EF4-FFF2-40B4-BE49-F238E27FC236}">
                <a16:creationId xmlns:a16="http://schemas.microsoft.com/office/drawing/2014/main" id="{7E431EA2-7CA5-4ED6-8D39-91D2C85A3A2E}"/>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528F4FA2-5B82-4850-A411-505E7DA531F6}"/>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B</a:t>
            </a:r>
          </a:p>
        </p:txBody>
      </p:sp>
      <p:sp>
        <p:nvSpPr>
          <p:cNvPr id="62" name="">
            <a:extLst xmlns:a="http://schemas.openxmlformats.org/drawingml/2006/main">
              <a:ext uri="{FF2B5EF4-FFF2-40B4-BE49-F238E27FC236}">
                <a16:creationId xmlns:a16="http://schemas.microsoft.com/office/drawing/2014/main" id="{D5F07E26-41B7-42DF-843C-CAEB6113F30F}"/>
              </a:ext>
            </a:extLst>
          </p:cNvPr>
          <p:cNvSpPr>
            <a:spLocks xmlns:a="http://schemas.openxmlformats.org/drawingml/2006/main" noGrp="1"/>
          </p:cNvSpPr>
          <p:nvPr/>
        </p:nvSpPr>
        <p:spPr>
          <a:xfrm xmlns:a="http://schemas.openxmlformats.org/drawingml/2006/main">
            <a:off x="3048000" y="3419475"/>
            <a:ext cx="11506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525" b="1">
                <a:solidFill>
                  <a:srgbClr val="37352F"/>
                </a:solidFill>
                <a:latin typeface="Malgun Gothic"/>
                <a:ea typeface="Malgun Gothic"/>
                <a:cs typeface="Malgun Gothic"/>
              </a:defRPr>
            </a:pPr>
            <a:r>
              <a:rPr sz="3525" b="1">
                <a:solidFill>
                  <a:srgbClr val="37352F"/>
                </a:solidFill>
                <a:latin typeface="Malgun Gothic"/>
                <a:ea typeface="Malgun Gothic"/>
                <a:cs typeface="Malgun Gothic"/>
              </a:rPr>
              <a:t>max Σ Mᵢ√kᵢ</a:t>
            </a:r>
          </a:p>
        </p:txBody>
      </p:sp>
      <p:sp>
        <p:nvSpPr>
          <p:cNvPr id="63" name="">
            <a:extLst xmlns:a="http://schemas.openxmlformats.org/drawingml/2006/main">
              <a:ext uri="{FF2B5EF4-FFF2-40B4-BE49-F238E27FC236}">
                <a16:creationId xmlns:a16="http://schemas.microsoft.com/office/drawing/2014/main" id="{0737AF40-7F35-48FA-944A-ED8876A5CBF5}"/>
              </a:ext>
            </a:extLst>
          </p:cNvPr>
          <p:cNvSpPr>
            <a:spLocks xmlns:a="http://schemas.openxmlformats.org/drawingml/2006/main" noGrp="1"/>
          </p:cNvSpPr>
          <p:nvPr/>
        </p:nvSpPr>
        <p:spPr>
          <a:xfrm xmlns:a="http://schemas.openxmlformats.org/drawingml/2006/main">
            <a:off x="3048000" y="4295775"/>
            <a:ext cx="11506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37352F"/>
                </a:solidFill>
                <a:latin typeface="Malgun Gothic"/>
                <a:ea typeface="Malgun Gothic"/>
                <a:cs typeface="Malgun Gothic"/>
              </a:defRPr>
            </a:pPr>
            <a:r>
              <a:rPr sz="2325" b="0">
                <a:solidFill>
                  <a:srgbClr val="37352F"/>
                </a:solidFill>
                <a:latin typeface="Malgun Gothic"/>
                <a:ea typeface="Malgun Gothic"/>
                <a:cs typeface="Malgun Gothic"/>
              </a:rPr>
              <a:t>Σ kᵢ = 60    2 ≤ kᵢ ≤ min(6, ⌊0.20 × 점포 수⌋)</a:t>
            </a:r>
          </a:p>
        </p:txBody>
      </p:sp>
      <p:graphicFrame>
        <p:nvGraphicFramePr>
          <p:cNvPr id="129" name=""/>
          <p:cNvGraphicFramePr/>
          <p:nvPr/>
        </p:nvGraphicFramePr>
        <p:xfrm>
          <a:off xmlns:a="http://schemas.openxmlformats.org/drawingml/2006/main" x="3048000" y="5343525"/>
          <a:ext xmlns:a="http://schemas.openxmlformats.org/drawingml/2006/main" cx="11506200" cy="1752600"/>
        </p:xfrm>
        <a:graphic xmlns:a="http://schemas.openxmlformats.org/drawingml/2006/main">
          <a:graphicData uri="http://schemas.openxmlformats.org/drawingml/2006/table">
            <a:tbl>
              <a:tblPr/>
              <a:tblGrid>
                <a:gridCol w="5753100"/>
                <a:gridCol w="5753100"/>
              </a:tblGrid>
              <a:tr h="438150">
                <a:tc>
                  <a:txBody>
                    <a:bodyPr/>
                    <a:lstStyle/>
                    <a:p>
                      <a:r>
                        <a:rPr sz="1725" b="1">
                          <a:solidFill>
                            <a:srgbClr val="37352F"/>
                          </a:solidFill>
                          <a:latin typeface="Malgun Gothic"/>
                          <a:ea typeface="Malgun Gothic"/>
                          <a:cs typeface="Malgun Gothic"/>
                        </a:rPr>
                        <a:t>기록된 검증</a:t>
                      </a:r>
                    </a:p>
                  </a:txBody>
                  <a:tcPr marL="85725" marR="85725" marT="28575" marB="28575">
                    <a:solidFill>
                      <a:srgbClr val="F1F1EF"/>
                    </a:solidFill>
                  </a:tcPr>
                </a:tc>
                <a:tc>
                  <a:txBody>
                    <a:bodyPr/>
                    <a:lstStyle/>
                    <a:p>
                      <a:r>
                        <a:rPr sz="1725" b="1">
                          <a:solidFill>
                            <a:srgbClr val="37352F"/>
                          </a:solidFill>
                          <a:latin typeface="Malgun Gothic"/>
                          <a:ea typeface="Malgun Gothic"/>
                          <a:cs typeface="Malgun Gothic"/>
                        </a:rPr>
                        <a:t>결과</a:t>
                      </a:r>
                    </a:p>
                  </a:txBody>
                  <a:tcPr marL="85725" marR="85725" marT="28575" marB="28575">
                    <a:solidFill>
                      <a:srgbClr val="F1F1EF"/>
                    </a:solidFill>
                  </a:tcPr>
                </a:tc>
              </a:tr>
              <a:tr h="438150">
                <a:tc>
                  <a:txBody>
                    <a:bodyPr/>
                    <a:lstStyle/>
                    <a:p>
                      <a:r>
                        <a:rPr sz="1725" b="0">
                          <a:solidFill>
                            <a:srgbClr val="37352F"/>
                          </a:solidFill>
                          <a:latin typeface="Malgun Gothic"/>
                          <a:ea typeface="Malgun Gothic"/>
                          <a:cs typeface="Malgun Gothic"/>
                        </a:rPr>
                        <a:t>DP와 탐욕 배정</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목적값 12.14232로 일치</a:t>
                      </a:r>
                    </a:p>
                  </a:txBody>
                  <a:tcPr marL="85725" marR="85725" marT="28575" marB="28575">
                    <a:solidFill>
                      <a:srgbClr val="FFFFFF"/>
                    </a:solidFill>
                  </a:tcPr>
                </a:tc>
              </a:tr>
              <a:tr h="438150">
                <a:tc>
                  <a:txBody>
                    <a:bodyPr/>
                    <a:lstStyle/>
                    <a:p>
                      <a:r>
                        <a:rPr sz="1725" b="0">
                          <a:solidFill>
                            <a:srgbClr val="37352F"/>
                          </a:solidFill>
                          <a:latin typeface="Malgun Gothic"/>
                          <a:ea typeface="Malgun Gothic"/>
                          <a:cs typeface="Malgun Gothic"/>
                        </a:rPr>
                        <a:t>β 0.6~2.0/km 민감도</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상위 5곳 중 4~5곳 유지</a:t>
                      </a:r>
                    </a:p>
                  </a:txBody>
                  <a:tcPr marL="85725" marR="85725" marT="28575" marB="28575">
                    <a:solidFill>
                      <a:srgbClr val="FFFFFF"/>
                    </a:solidFill>
                  </a:tcPr>
                </a:tc>
              </a:tr>
              <a:tr h="438150">
                <a:tc>
                  <a:txBody>
                    <a:bodyPr/>
                    <a:lstStyle/>
                    <a:p>
                      <a:r>
                        <a:rPr sz="1725" b="0">
                          <a:solidFill>
                            <a:srgbClr val="37352F"/>
                          </a:solidFill>
                          <a:latin typeface="Malgun Gothic"/>
                          <a:ea typeface="Malgun Gothic"/>
                          <a:cs typeface="Malgun Gothic"/>
                        </a:rPr>
                        <a:t>원본 입력·거리 파일</a:t>
                      </a:r>
                    </a:p>
                  </a:txBody>
                  <a:tcPr marL="85725" marR="85725" marT="28575" marB="28575">
                    <a:solidFill>
                      <a:srgbClr val="FFFFFF"/>
                    </a:solidFill>
                  </a:tcPr>
                </a:tc>
                <a:tc>
                  <a:txBody>
                    <a:bodyPr/>
                    <a:lstStyle/>
                    <a:p>
                      <a:r>
                        <a:rPr sz="1725" b="0">
                          <a:solidFill>
                            <a:srgbClr val="37352F"/>
                          </a:solidFill>
                          <a:latin typeface="Malgun Gothic"/>
                          <a:ea typeface="Malgun Gothic"/>
                          <a:cs typeface="Malgun Gothic"/>
                        </a:rPr>
                        <a:t>현재 폴더에 없어 재실행하지 않음</a:t>
                      </a:r>
                    </a:p>
                  </a:txBody>
                  <a:tcPr marL="85725" marR="85725" marT="28575" marB="28575">
                    <a:solidFill>
                      <a:srgbClr val="FFFFFF"/>
                    </a:solidFill>
                  </a:tcPr>
                </a:tc>
              </a:tr>
            </a:tbl>
          </a:graphicData>
        </a:graphic>
      </p:graphicFrame>
      <p:sp>
        <p:nvSpPr>
          <p:cNvPr id="65" name="">
            <a:extLst xmlns:a="http://schemas.openxmlformats.org/drawingml/2006/main">
              <a:ext uri="{FF2B5EF4-FFF2-40B4-BE49-F238E27FC236}">
                <a16:creationId xmlns:a16="http://schemas.microsoft.com/office/drawing/2014/main" id="{C82477AE-88D1-426F-BFD7-D1E97CFA544A}"/>
              </a:ext>
            </a:extLst>
          </p:cNvPr>
          <p:cNvSpPr>
            <a:spLocks xmlns:a="http://schemas.openxmlformats.org/drawingml/2006/main" noGrp="1"/>
          </p:cNvSpPr>
          <p:nvPr/>
        </p:nvSpPr>
        <p:spPr>
          <a:xfrm xmlns:a="http://schemas.openxmlformats.org/drawingml/2006/main">
            <a:off x="3048000" y="75342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B10-14 검증 기록. 실제 매출 효과의 최적성을 검증한 것이 아님</a:t>
            </a:r>
          </a:p>
        </p:txBody>
      </p:sp>
    </p:spTree>
    <p:extLst>
      <p:ext uri="{BB962C8B-B14F-4D97-AF65-F5344CB8AC3E}">
        <p14:creationId xmlns:p14="http://schemas.microsoft.com/office/powerpoint/2010/main" val="178237066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4AE9266F-B78E-42C1-A3E4-C772D45985CB}"/>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CD39C6-3796-4808-913A-0C7FE81E5A31}"/>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20077E4-5499-4296-9274-FEE9E617B3A2}"/>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739D1A32-CACD-4FCA-A38C-24D1C1E29D8E}"/>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A89CD00E-37AC-4703-BF1B-D20DAB4C4889}"/>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42739C7E-9D5F-49BF-8569-43A95FD928C6}"/>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0F04E9C5-99F5-467A-AD3E-B79E0333436B}"/>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1EAF2342-362F-40FF-9DBF-F723A6FFAC09}"/>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F1D593C2-91D0-4358-883A-ECA15D051208}"/>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EA4293C3-5B5E-41B6-9382-BC519CB4728E}"/>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4A75D44-1CC4-4C97-9C66-05EA85BD208C}"/>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9973613-C25E-4249-9B1A-84DE1DCD80E3}"/>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AD95573-AED7-40DD-9D9B-E9BE54BDF2B3}"/>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374A126C-EB92-455F-A5CD-91876D1F4C82}"/>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B7D25597-BACC-4546-9FBC-3288BF87910E}"/>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0462724-66DF-4537-9851-6E8A3A6838E9}"/>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2C0B07-585D-47C5-8CDE-7172BB518988}"/>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7A770A0-6FE0-424F-9D78-02C99D7123EB}"/>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C61579B5-2BEC-4D68-B9CB-0F30B88BAAE5}"/>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931FB754-A872-422B-A705-17B324A06CFA}"/>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BF9112C-0D2B-4EB8-951B-D090E8082FED}"/>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608766D-5970-4993-B8FE-DF956AEDC258}"/>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1AF53CE-E534-4065-9740-36F1F65EACF4}"/>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59A55314-1332-4EA6-BCF6-C19103C8F2B7}"/>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DBEB8685-AEE4-4D85-B24A-EA3618EE70B6}"/>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2CEE5C9-A06C-40A6-BE95-8B5744ECD640}"/>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AA20201-2C04-46E6-A662-1A5EBE303D06}"/>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5583B8B-E10F-4912-8EC5-F256ADD0D5D4}"/>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4EBB648E-93E6-407A-B8C6-223596BF0FAB}"/>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E68CA94A-5433-4205-93F9-1B6E4E6D31C3}"/>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30D696C-A0B6-483E-8BCB-DCED32A1E69E}"/>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2E364E9-55CA-4729-87C3-CAD81E7ABFB9}"/>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9F627EB-2098-4C9F-A519-201F9024C683}"/>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B5D07D0C-8B7E-4B64-998C-E49BB5D624F1}"/>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9F5D4AA6-C621-4D87-B3EA-D27FE0B3F3EF}"/>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1574DDD-0264-4C19-89DB-3E96A687DF9D}"/>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F159CF0-9479-409B-AD3B-6D6F6B2CBE23}"/>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737732B-FB7D-41DA-B0A7-5F0367741292}"/>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AE332D31-AAE9-470E-9DE8-01766EB3D472}"/>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D3CD5D0C-FDEB-495D-BD73-B749B907F037}"/>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61931F8-FF02-4FE8-81E1-E73177265111}"/>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AF842D2-EDCF-4392-BFEB-D68548455648}"/>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03129993-BFA9-47DE-8781-7C48B65116A9}"/>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70A4ED7E-49C5-4933-A2C1-FF467DF818C6}"/>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581D924-7B40-4C5E-A5E0-7E6CF6EE9F2A}"/>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040D91A5-9CED-4A1B-8BAC-12FAA2815CE8}"/>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F9543B81-B78C-4BAE-A08E-E49C0DE7A965}"/>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68A37855-7F5C-47BA-84CA-0741E95B9135}"/>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DE866518-C27B-4433-A4E6-D244B64457D3}"/>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AACE84CE-E855-4594-A50B-0C1B5EF37A54}"/>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5ECB2DD3-FC6F-494A-9445-741B610B3167}"/>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CF38FD79-3E3D-4075-9671-2C57273F4E53}"/>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지수의 Shapley 설명</a:t>
            </a:r>
          </a:p>
        </p:txBody>
      </p:sp>
      <p:sp>
        <p:nvSpPr>
          <p:cNvPr id="53" name="">
            <a:extLst xmlns:a="http://schemas.openxmlformats.org/drawingml/2006/main">
              <a:ext uri="{FF2B5EF4-FFF2-40B4-BE49-F238E27FC236}">
                <a16:creationId xmlns:a16="http://schemas.microsoft.com/office/drawing/2014/main" id="{A0DD30B2-69B5-4136-B2CD-67531E72E8C4}"/>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4EAADFF4-2925-4925-98EF-DC9C25B15507}"/>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F87DBE81-4107-4EEC-81AA-31B0C2B74005}"/>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2BE47B8E-DFCD-4F29-B3EA-705CA7542883}"/>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65EA59EA-46D1-4295-AD91-AE0928DAF0EC}"/>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159CCB3-6ED1-4F48-AC06-28776BF33E1C}"/>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지수의 Shapley 설명</a:t>
            </a:r>
          </a:p>
        </p:txBody>
      </p:sp>
      <p:sp>
        <p:nvSpPr>
          <p:cNvPr id="59" name="">
            <a:extLst xmlns:a="http://schemas.openxmlformats.org/drawingml/2006/main">
              <a:ext uri="{FF2B5EF4-FFF2-40B4-BE49-F238E27FC236}">
                <a16:creationId xmlns:a16="http://schemas.microsoft.com/office/drawing/2014/main" id="{FAB54112-739F-4729-8B1C-E441121C0666}"/>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평균 절대 Shapley 비중 · 기존 분석 기록</a:t>
            </a:r>
          </a:p>
        </p:txBody>
      </p:sp>
      <p:sp>
        <p:nvSpPr>
          <p:cNvPr id="60" name="">
            <a:extLst xmlns:a="http://schemas.openxmlformats.org/drawingml/2006/main">
              <a:ext uri="{FF2B5EF4-FFF2-40B4-BE49-F238E27FC236}">
                <a16:creationId xmlns:a16="http://schemas.microsoft.com/office/drawing/2014/main" id="{C578CB05-B4CA-4ACF-9293-EFC542B28D57}"/>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5B277AA-1317-4262-A62E-90E590BCD053}"/>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C</a:t>
            </a:r>
          </a:p>
        </p:txBody>
      </p:sp>
      <p:graphicFrame>
        <p:nvGraphicFramePr>
          <p:cNvPr id="127" name="Chart"/>
          <p:cNvGraphicFramePr/>
          <p:nvPr/>
        </p:nvGraphicFramePr>
        <p:xfrm>
          <a:off xmlns:a="http://schemas.openxmlformats.org/drawingml/2006/main" x="3048000" y="3381375"/>
          <a:ext xmlns:a="http://schemas.openxmlformats.org/drawingml/2006/main" cx="11506200" cy="3171825"/>
        </p:xfrm>
        <a:graphic xmlns:a="http://schemas.openxmlformats.org/drawingml/2006/main">
          <a:graphicData uri="http://schemas.openxmlformats.org/drawingml/2006/chart">
            <c:chart xmlns:r="http://schemas.openxmlformats.org/officeDocument/2006/relationships" xmlns:c="http://schemas.openxmlformats.org/drawingml/2006/chart" r:id="Rc93c4e1c2c534100"/>
          </a:graphicData>
        </a:graphic>
      </p:graphicFrame>
      <p:sp>
        <p:nvSpPr>
          <p:cNvPr id="63" name="">
            <a:extLst xmlns:a="http://schemas.openxmlformats.org/drawingml/2006/main">
              <a:ext uri="{FF2B5EF4-FFF2-40B4-BE49-F238E27FC236}">
                <a16:creationId xmlns:a16="http://schemas.microsoft.com/office/drawing/2014/main" id="{72826128-7680-4339-85A2-B365A1CC4381}"/>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3F3ACD30-EE38-4D44-98D6-0C3E9961189F}"/>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5" name="">
            <a:extLst xmlns:a="http://schemas.openxmlformats.org/drawingml/2006/main">
              <a:ext uri="{FF2B5EF4-FFF2-40B4-BE49-F238E27FC236}">
                <a16:creationId xmlns:a16="http://schemas.microsoft.com/office/drawing/2014/main" id="{C357ACF8-CA4F-42A8-9768-18A49FAB9B28}"/>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지수 출력의 설명이며 축제 매출에 대한 인과 기여율이 아님</a:t>
            </a:r>
          </a:p>
        </p:txBody>
      </p:sp>
    </p:spTree>
    <p:extLst>
      <p:ext uri="{BB962C8B-B14F-4D97-AF65-F5344CB8AC3E}">
        <p14:creationId xmlns:p14="http://schemas.microsoft.com/office/powerpoint/2010/main" val="134010445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CD067A65-DC34-43DB-8E51-7FE208B697B6}"/>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65AEC8-5A4C-4698-8B68-7329995A5F45}"/>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749A0B-479A-4941-B9B5-8F3B1F6DF34C}"/>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E95B1B7A-8514-4F39-A200-08359548D6D4}"/>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920D4837-6F7E-410E-B0C5-7831DE62B9C4}"/>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1687C689-0A56-4145-8B86-3EEBA8066E00}"/>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A38F5675-159B-4235-9CC6-292D623C3466}"/>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DB841839-3993-463A-A209-1DF26BDB58A7}"/>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E9B85209-EED2-4CCD-8B4A-A32FF6748A81}"/>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BB7A3124-CEB8-4B50-A282-D401A6E4A8D6}"/>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A7EA032-1E3D-470C-A6AC-821EF576D728}"/>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C60C40-5C7B-406C-9862-8D055AB41CB2}"/>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2EC627A-18E8-4A89-8B66-1F4B643226E0}"/>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8B68F54F-5A76-4299-ACD5-06B9BE6585BA}"/>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52C9E371-5A8A-4BC4-9EC1-37637A134603}"/>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CEA7310-B0EA-4ABA-BD90-FD978831950F}"/>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F7D05AC-6CE3-4935-A28A-A38CF539A09F}"/>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D481882-A4C0-4C78-81CB-50566EBF26FB}"/>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C84BCEFB-F60C-45EF-B316-3DCF3ABA8C1F}"/>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0D542B44-951C-4622-BB71-40FA3919926D}"/>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FD52491-809F-4CAD-BC3E-69BB9CA1ED92}"/>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96FD201-D388-4030-A664-6EA0114018BF}"/>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86B9344-4178-4E17-B10C-055B241C7033}"/>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72ED2925-BF89-43C8-B319-922C95AE9099}"/>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FA0BB499-6BFD-4C8E-B0C7-D8465F9E5C86}"/>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D206683-CA05-44AB-A2E0-1D06503E538E}"/>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D487EDC-6FDE-438F-8395-5D0435945D14}"/>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A7D8F99-F909-4C6F-BFAC-1D61F34A84D6}"/>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7E04D132-4881-4983-9BAE-08C08A970F87}"/>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E20396E2-D832-4262-8F64-872E5566660D}"/>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F72F956-F346-4776-8EFD-8AD7B9DCEC82}"/>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712DD01-475B-4C8D-9E5B-FF50D5A963AA}"/>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152285F-D4FB-407C-A37D-37B5B578A089}"/>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D6A2C960-39EF-49C9-964E-3D57DE9086E9}"/>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20997748-900B-4E7C-BF0F-8EF3EFBCB64F}"/>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F9C4C44-AC0E-4295-92A1-6B3AEF90D5A0}"/>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FFFA50A-22BD-4037-9C89-CA15E09B04FF}"/>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9B130840-E917-43FE-A8BD-90B208A5B657}"/>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69990834-C04D-4BC1-B535-3EC5776B27C8}"/>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33E53993-92CF-48FD-8043-B9B8DE2BD2DC}"/>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EC6E327-CA4B-480B-8227-A21236D42DFD}"/>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989F0A2-94B2-4D1C-BD1D-D91EC53A0C1B}"/>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B9D3A0C-D292-4801-A868-2690A3DB8455}"/>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C17BE255-DD78-4107-B15F-C3F38AE0EA90}"/>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CBA406F6-D43A-41D1-A103-97829ED2DDEF}"/>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B12167EE-DA44-4EE9-8867-F482EB1B7019}"/>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D3E58E15-6900-407B-A0A7-4B0E8ED3A1CF}"/>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A74B642-C4D2-481A-8A38-537D597D2727}"/>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FB249F18-0F32-4316-84A3-0A28D68D4F5A}"/>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E531FFDC-6211-4F1F-94A0-89954509787B}"/>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B74EAB51-9CED-4EC2-BBE6-F1549889D5B3}"/>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96581966-087C-4C2B-A908-AD451D2E00DB}"/>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데이터 범위와 한계</a:t>
            </a:r>
          </a:p>
        </p:txBody>
      </p:sp>
      <p:sp>
        <p:nvSpPr>
          <p:cNvPr id="53" name="">
            <a:extLst xmlns:a="http://schemas.openxmlformats.org/drawingml/2006/main">
              <a:ext uri="{FF2B5EF4-FFF2-40B4-BE49-F238E27FC236}">
                <a16:creationId xmlns:a16="http://schemas.microsoft.com/office/drawing/2014/main" id="{858C3A0C-700A-4BEC-A95B-1E62548150BC}"/>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B7B157EF-5D07-4B1D-B183-FA4BA613F591}"/>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9E210487-2EE1-47B7-A839-EE045B2FDAB2}"/>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1CD4F10-3DF7-44D4-817B-C0F99FA7C64A}"/>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38740012-8C7D-44CD-97E7-FE4A501B0E4B}"/>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5DA4BC7E-23BE-4A99-B7E2-170529890B39}"/>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데이터 범위와 한계</a:t>
            </a:r>
          </a:p>
        </p:txBody>
      </p:sp>
      <p:sp>
        <p:nvSpPr>
          <p:cNvPr id="59" name="">
            <a:extLst xmlns:a="http://schemas.openxmlformats.org/drawingml/2006/main">
              <a:ext uri="{FF2B5EF4-FFF2-40B4-BE49-F238E27FC236}">
                <a16:creationId xmlns:a16="http://schemas.microsoft.com/office/drawing/2014/main" id="{6E1D1A04-06C9-497D-A237-285FF835F7F5}"/>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분기·모집 단위·대체값을 구분</a:t>
            </a:r>
          </a:p>
        </p:txBody>
      </p:sp>
      <p:sp>
        <p:nvSpPr>
          <p:cNvPr id="60" name="">
            <a:extLst xmlns:a="http://schemas.openxmlformats.org/drawingml/2006/main">
              <a:ext uri="{FF2B5EF4-FFF2-40B4-BE49-F238E27FC236}">
                <a16:creationId xmlns:a16="http://schemas.microsoft.com/office/drawing/2014/main" id="{AFE426FB-E9D4-4618-8BA8-EBDA92421B10}"/>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CE471283-D020-4922-A31A-66D57951EB38}"/>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D</a:t>
            </a:r>
          </a:p>
        </p:txBody>
      </p:sp>
      <p:graphicFrame>
        <p:nvGraphicFramePr>
          <p:cNvPr id="125" name=""/>
          <p:cNvGraphicFramePr/>
          <p:nvPr/>
        </p:nvGraphicFramePr>
        <p:xfrm>
          <a:off xmlns:a="http://schemas.openxmlformats.org/drawingml/2006/main" x="3048000" y="3352800"/>
          <a:ext xmlns:a="http://schemas.openxmlformats.org/drawingml/2006/main" cx="11506200" cy="3810000"/>
        </p:xfrm>
        <a:graphic xmlns:a="http://schemas.openxmlformats.org/drawingml/2006/main">
          <a:graphicData uri="http://schemas.openxmlformats.org/drawingml/2006/table">
            <a:tbl>
              <a:tblPr/>
              <a:tblGrid>
                <a:gridCol w="2619375"/>
                <a:gridCol w="8886825"/>
              </a:tblGrid>
              <a:tr h="544286">
                <a:tc>
                  <a:txBody>
                    <a:bodyPr/>
                    <a:lstStyle/>
                    <a:p>
                      <a:r>
                        <a:rPr sz="1800" b="1">
                          <a:solidFill>
                            <a:srgbClr val="37352F"/>
                          </a:solidFill>
                          <a:latin typeface="Malgun Gothic"/>
                          <a:ea typeface="Malgun Gothic"/>
                          <a:cs typeface="Malgun Gothic"/>
                        </a:rPr>
                        <a:t>항목</a:t>
                      </a:r>
                    </a:p>
                  </a:txBody>
                  <a:tcPr marL="85725" marR="85725" marT="28575" marB="28575">
                    <a:solidFill>
                      <a:srgbClr val="F1F1EF"/>
                    </a:solidFill>
                  </a:tcPr>
                </a:tc>
                <a:tc>
                  <a:txBody>
                    <a:bodyPr/>
                    <a:lstStyle/>
                    <a:p>
                      <a:r>
                        <a:rPr sz="1800" b="1">
                          <a:solidFill>
                            <a:srgbClr val="37352F"/>
                          </a:solidFill>
                          <a:latin typeface="Malgun Gothic"/>
                          <a:ea typeface="Malgun Gothic"/>
                          <a:cs typeface="Malgun Gothic"/>
                        </a:rPr>
                        <a:t>적용 기준</a:t>
                      </a:r>
                    </a:p>
                  </a:txBody>
                  <a:tcPr marL="85725" marR="85725" marT="28575" marB="28575">
                    <a:solidFill>
                      <a:srgbClr val="F1F1EF"/>
                    </a:solidFill>
                  </a:tcPr>
                </a:tc>
              </a:tr>
              <a:tr h="544286">
                <a:tc>
                  <a:txBody>
                    <a:bodyPr/>
                    <a:lstStyle/>
                    <a:p>
                      <a:r>
                        <a:rPr sz="1800" b="0">
                          <a:solidFill>
                            <a:srgbClr val="37352F"/>
                          </a:solidFill>
                          <a:latin typeface="Malgun Gothic"/>
                          <a:ea typeface="Malgun Gothic"/>
                          <a:cs typeface="Malgun Gothic"/>
                        </a:rPr>
                        <a:t>웹 전체</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현재 명단 23곳 · 4,374점포</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정책 대상</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코어 9 + 참여 7 = 16곳 · 2,699점포</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이경시장</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2026년 1분기 매출 대체 / 현재 점포 수</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D·L·R·M</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PDF 공개값 소수 셋째 자리 / 거리 재계산 아님</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시계열</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유동은 재현 / 장기 매출은 구성안 기록값</a:t>
                      </a:r>
                    </a:p>
                  </a:txBody>
                  <a:tcPr marL="85725" marR="85725" marT="28575" marB="28575">
                    <a:solidFill>
                      <a:srgbClr val="FFFFFF"/>
                    </a:solidFill>
                  </a:tcPr>
                </a:tc>
              </a:tr>
              <a:tr h="544286">
                <a:tc>
                  <a:txBody>
                    <a:bodyPr/>
                    <a:lstStyle/>
                    <a:p>
                      <a:r>
                        <a:rPr sz="1800" b="0">
                          <a:solidFill>
                            <a:srgbClr val="37352F"/>
                          </a:solidFill>
                          <a:latin typeface="Malgun Gothic"/>
                          <a:ea typeface="Malgun Gothic"/>
                          <a:cs typeface="Malgun Gothic"/>
                        </a:rPr>
                        <a:t>배정·체험</a:t>
                      </a:r>
                    </a:p>
                  </a:txBody>
                  <a:tcPr marL="85725" marR="85725" marT="28575" marB="28575">
                    <a:solidFill>
                      <a:srgbClr val="FFFFFF"/>
                    </a:solidFill>
                  </a:tcPr>
                </a:tc>
                <a:tc>
                  <a:txBody>
                    <a:bodyPr/>
                    <a:lstStyle/>
                    <a:p>
                      <a:r>
                        <a:rPr sz="1800" b="0">
                          <a:solidFill>
                            <a:srgbClr val="37352F"/>
                          </a:solidFill>
                          <a:latin typeface="Malgun Gothic"/>
                          <a:ea typeface="Malgun Gothic"/>
                          <a:cs typeface="Malgun Gothic"/>
                        </a:rPr>
                        <a:t>모집 계획 / 가상 스탬프·쿠폰은 실제 사용 불가</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F6842415-AA40-4324-8B49-A5E61313DB6C}"/>
              </a:ext>
            </a:extLst>
          </p:cNvPr>
          <p:cNvSpPr>
            <a:spLocks xmlns:a="http://schemas.openxmlformats.org/drawingml/2006/main" noGrp="1"/>
          </p:cNvSpPr>
          <p:nvPr/>
        </p:nvSpPr>
        <p:spPr>
          <a:xfrm xmlns:a="http://schemas.openxmlformats.org/drawingml/2006/main">
            <a:off x="3048000" y="7581900"/>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787774"/>
                </a:solidFill>
                <a:latin typeface="Malgun Gothic"/>
                <a:ea typeface="Malgun Gothic"/>
                <a:cs typeface="Malgun Gothic"/>
              </a:defRPr>
            </a:pPr>
            <a:r>
              <a:rPr sz="1725" b="0">
                <a:solidFill>
                  <a:srgbClr val="787774"/>
                </a:solidFill>
                <a:latin typeface="Malgun Gothic"/>
                <a:ea typeface="Malgun Gothic"/>
                <a:cs typeface="Malgun Gothic"/>
              </a:rPr>
              <a:t>교정된 연계존 명단이 없어 구성안의 4,402점포는 적용하지 않음</a:t>
            </a:r>
          </a:p>
        </p:txBody>
      </p:sp>
    </p:spTree>
    <p:extLst>
      <p:ext uri="{BB962C8B-B14F-4D97-AF65-F5344CB8AC3E}">
        <p14:creationId xmlns:p14="http://schemas.microsoft.com/office/powerpoint/2010/main" val="197929103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4FFABEDD-0ACE-484F-81BC-34CBB480A8B7}"/>
              </a:ext>
            </a:extLst>
          </p:cNvPr>
          <p:cNvSpPr>
            <a:spLocks xmlns:a="http://schemas.openxmlformats.org/drawingml/2006/main" noGrp="1"/>
          </p:cNvSpPr>
          <p:nvPr/>
        </p:nvSpPr>
        <p:spPr>
          <a:xfrm xmlns:a="http://schemas.openxmlformats.org/drawingml/2006/main">
            <a:off x="0" y="0"/>
            <a:ext cx="2438400" cy="8572500"/>
          </a:xfrm>
          <a:prstGeom xmlns:a="http://schemas.openxmlformats.org/drawingml/2006/main" prst="rect">
            <a:avLst/>
          </a:prstGeom>
          <a:solidFill xmlns:a="http://schemas.openxmlformats.org/drawingml/2006/main">
            <a:srgbClr val="F7F7F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03E5C6-F924-4FDF-932F-9BE196999725}"/>
              </a:ext>
            </a:extLst>
          </p:cNvPr>
          <p:cNvSpPr>
            <a:spLocks xmlns:a="http://schemas.openxmlformats.org/drawingml/2006/main" noGrp="1"/>
          </p:cNvSpPr>
          <p:nvPr/>
        </p:nvSpPr>
        <p:spPr>
          <a:xfrm xmlns:a="http://schemas.openxmlformats.org/drawingml/2006/main">
            <a:off x="2438400" y="0"/>
            <a:ext cx="9525"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1EFFE2F-8F57-4ACD-A49B-6056AC342C70}"/>
              </a:ext>
            </a:extLst>
          </p:cNvPr>
          <p:cNvSpPr>
            <a:spLocks xmlns:a="http://schemas.openxmlformats.org/drawingml/2006/main" noGrp="1"/>
          </p:cNvSpPr>
          <p:nvPr/>
        </p:nvSpPr>
        <p:spPr>
          <a:xfrm xmlns:a="http://schemas.openxmlformats.org/drawingml/2006/main">
            <a:off x="209550" y="2095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37352F"/>
                </a:solidFill>
                <a:latin typeface="Malgun Gothic"/>
                <a:ea typeface="Malgun Gothic"/>
                <a:cs typeface="Malgun Gothic"/>
              </a:defRPr>
            </a:pPr>
            <a:r>
              <a:rPr sz="1800" b="1">
                <a:solidFill>
                  <a:srgbClr val="37352F"/>
                </a:solidFill>
                <a:latin typeface="Malgun Gothic"/>
                <a:ea typeface="Malgun Gothic"/>
                <a:cs typeface="Malgun Gothic"/>
              </a:rPr>
              <a:t>T  TROIKA</a:t>
            </a:r>
          </a:p>
        </p:txBody>
      </p:sp>
      <p:sp>
        <p:nvSpPr>
          <p:cNvPr id="4" name="">
            <a:extLst xmlns:a="http://schemas.openxmlformats.org/drawingml/2006/main">
              <a:ext uri="{FF2B5EF4-FFF2-40B4-BE49-F238E27FC236}">
                <a16:creationId xmlns:a16="http://schemas.microsoft.com/office/drawing/2014/main" id="{21935F58-FF8D-4803-A50A-EAB4B5E01710}"/>
              </a:ext>
            </a:extLst>
          </p:cNvPr>
          <p:cNvSpPr>
            <a:spLocks xmlns:a="http://schemas.openxmlformats.org/drawingml/2006/main" noGrp="1"/>
          </p:cNvSpPr>
          <p:nvPr/>
        </p:nvSpPr>
        <p:spPr>
          <a:xfrm xmlns:a="http://schemas.openxmlformats.org/drawingml/2006/main">
            <a:off x="219075" y="8382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검색</a:t>
            </a:r>
          </a:p>
        </p:txBody>
      </p:sp>
      <p:sp>
        <p:nvSpPr>
          <p:cNvPr id="5" name="">
            <a:extLst xmlns:a="http://schemas.openxmlformats.org/drawingml/2006/main">
              <a:ext uri="{FF2B5EF4-FFF2-40B4-BE49-F238E27FC236}">
                <a16:creationId xmlns:a16="http://schemas.microsoft.com/office/drawing/2014/main" id="{51045F92-A523-469A-8E2B-72D1971E64AA}"/>
              </a:ext>
            </a:extLst>
          </p:cNvPr>
          <p:cNvSpPr>
            <a:spLocks xmlns:a="http://schemas.openxmlformats.org/drawingml/2006/main" noGrp="1"/>
          </p:cNvSpPr>
          <p:nvPr/>
        </p:nvSpPr>
        <p:spPr>
          <a:xfrm xmlns:a="http://schemas.openxmlformats.org/drawingml/2006/main">
            <a:off x="219075" y="1190625"/>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홈</a:t>
            </a:r>
          </a:p>
        </p:txBody>
      </p:sp>
      <p:sp>
        <p:nvSpPr>
          <p:cNvPr id="6" name="">
            <a:extLst xmlns:a="http://schemas.openxmlformats.org/drawingml/2006/main">
              <a:ext uri="{FF2B5EF4-FFF2-40B4-BE49-F238E27FC236}">
                <a16:creationId xmlns:a16="http://schemas.microsoft.com/office/drawing/2014/main" id="{2C0CB6E3-6C7E-4219-BD48-71B807EBAF94}"/>
              </a:ext>
            </a:extLst>
          </p:cNvPr>
          <p:cNvSpPr>
            <a:spLocks xmlns:a="http://schemas.openxmlformats.org/drawingml/2006/main" noGrp="1"/>
          </p:cNvSpPr>
          <p:nvPr/>
        </p:nvSpPr>
        <p:spPr>
          <a:xfrm xmlns:a="http://schemas.openxmlformats.org/drawingml/2006/main">
            <a:off x="219075" y="1543050"/>
            <a:ext cx="2076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787774"/>
                </a:solidFill>
                <a:latin typeface="Malgun Gothic"/>
                <a:ea typeface="Malgun Gothic"/>
                <a:cs typeface="Malgun Gothic"/>
              </a:defRPr>
            </a:pPr>
            <a:r>
              <a:rPr sz="1425" b="0">
                <a:solidFill>
                  <a:srgbClr val="787774"/>
                </a:solidFill>
                <a:latin typeface="Malgun Gothic"/>
                <a:ea typeface="Malgun Gothic"/>
                <a:cs typeface="Malgun Gothic"/>
              </a:rPr>
              <a:t>▣  받은 편지함</a:t>
            </a:r>
          </a:p>
        </p:txBody>
      </p:sp>
      <p:sp>
        <p:nvSpPr>
          <p:cNvPr id="7" name="">
            <a:extLst xmlns:a="http://schemas.openxmlformats.org/drawingml/2006/main">
              <a:ext uri="{FF2B5EF4-FFF2-40B4-BE49-F238E27FC236}">
                <a16:creationId xmlns:a16="http://schemas.microsoft.com/office/drawing/2014/main" id="{629B5442-2CB7-4774-BD99-F1F565E5EE90}"/>
              </a:ext>
            </a:extLst>
          </p:cNvPr>
          <p:cNvSpPr>
            <a:spLocks xmlns:a="http://schemas.openxmlformats.org/drawingml/2006/main" noGrp="1"/>
          </p:cNvSpPr>
          <p:nvPr/>
        </p:nvSpPr>
        <p:spPr>
          <a:xfrm xmlns:a="http://schemas.openxmlformats.org/drawingml/2006/main">
            <a:off x="219075" y="22002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787774"/>
                </a:solidFill>
                <a:latin typeface="Malgun Gothic"/>
                <a:ea typeface="Malgun Gothic"/>
                <a:cs typeface="Malgun Gothic"/>
              </a:defRPr>
            </a:pPr>
            <a:r>
              <a:rPr sz="1200" b="0">
                <a:solidFill>
                  <a:srgbClr val="787774"/>
                </a:solidFill>
                <a:latin typeface="Malgun Gothic"/>
                <a:ea typeface="Malgun Gothic"/>
                <a:cs typeface="Malgun Gothic"/>
              </a:rPr>
              <a:t>팀스페이스</a:t>
            </a:r>
          </a:p>
        </p:txBody>
      </p:sp>
      <p:sp>
        <p:nvSpPr>
          <p:cNvPr id="8" name="">
            <a:extLst xmlns:a="http://schemas.openxmlformats.org/drawingml/2006/main">
              <a:ext uri="{FF2B5EF4-FFF2-40B4-BE49-F238E27FC236}">
                <a16:creationId xmlns:a16="http://schemas.microsoft.com/office/drawing/2014/main" id="{17D5D1E3-9E5B-4921-B9B5-76C30D6C2A2A}"/>
              </a:ext>
            </a:extLst>
          </p:cNvPr>
          <p:cNvSpPr>
            <a:spLocks xmlns:a="http://schemas.openxmlformats.org/drawingml/2006/main" noGrp="1"/>
          </p:cNvSpPr>
          <p:nvPr/>
        </p:nvSpPr>
        <p:spPr>
          <a:xfrm xmlns:a="http://schemas.openxmlformats.org/drawingml/2006/main">
            <a:off x="190500" y="25241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37352F"/>
                </a:solidFill>
                <a:latin typeface="Malgun Gothic"/>
                <a:ea typeface="Malgun Gothic"/>
                <a:cs typeface="Malgun Gothic"/>
              </a:defRPr>
            </a:pPr>
            <a:r>
              <a:rPr sz="1425" b="1">
                <a:solidFill>
                  <a:srgbClr val="37352F"/>
                </a:solidFill>
                <a:latin typeface="Malgun Gothic"/>
                <a:ea typeface="Malgun Gothic"/>
                <a:cs typeface="Malgun Gothic"/>
              </a:rPr>
              <a:t>⌄  TROIKA 정책제안</a:t>
            </a:r>
          </a:p>
        </p:txBody>
      </p:sp>
      <p:sp>
        <p:nvSpPr>
          <p:cNvPr id="9" name="">
            <a:extLst xmlns:a="http://schemas.openxmlformats.org/drawingml/2006/main">
              <a:ext uri="{FF2B5EF4-FFF2-40B4-BE49-F238E27FC236}">
                <a16:creationId xmlns:a16="http://schemas.microsoft.com/office/drawing/2014/main" id="{AC2ED4C7-E8CB-4124-BDC7-35777F9F42AC}"/>
              </a:ext>
            </a:extLst>
          </p:cNvPr>
          <p:cNvSpPr>
            <a:spLocks xmlns:a="http://schemas.openxmlformats.org/drawingml/2006/main" noGrp="1"/>
          </p:cNvSpPr>
          <p:nvPr/>
        </p:nvSpPr>
        <p:spPr>
          <a:xfrm xmlns:a="http://schemas.openxmlformats.org/drawingml/2006/main">
            <a:off x="295275" y="30765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0" name="">
            <a:extLst xmlns:a="http://schemas.openxmlformats.org/drawingml/2006/main">
              <a:ext uri="{FF2B5EF4-FFF2-40B4-BE49-F238E27FC236}">
                <a16:creationId xmlns:a16="http://schemas.microsoft.com/office/drawing/2014/main" id="{343FDDEA-1545-44FB-93FC-40B69A8FB307}"/>
              </a:ext>
            </a:extLst>
          </p:cNvPr>
          <p:cNvSpPr>
            <a:spLocks xmlns:a="http://schemas.openxmlformats.org/drawingml/2006/main" noGrp="1"/>
          </p:cNvSpPr>
          <p:nvPr/>
        </p:nvSpPr>
        <p:spPr>
          <a:xfrm xmlns:a="http://schemas.openxmlformats.org/drawingml/2006/main">
            <a:off x="323755" y="31236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76E790-E42F-4C4B-867C-46BCDD37EA8E}"/>
              </a:ext>
            </a:extLst>
          </p:cNvPr>
          <p:cNvSpPr>
            <a:spLocks xmlns:a="http://schemas.openxmlformats.org/drawingml/2006/main" noGrp="1"/>
          </p:cNvSpPr>
          <p:nvPr/>
        </p:nvSpPr>
        <p:spPr>
          <a:xfrm xmlns:a="http://schemas.openxmlformats.org/drawingml/2006/main">
            <a:off x="323755" y="31508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731838F-A2BF-4BB8-9F59-C6203DBB321E}"/>
              </a:ext>
            </a:extLst>
          </p:cNvPr>
          <p:cNvSpPr>
            <a:spLocks xmlns:a="http://schemas.openxmlformats.org/drawingml/2006/main" noGrp="1"/>
          </p:cNvSpPr>
          <p:nvPr/>
        </p:nvSpPr>
        <p:spPr>
          <a:xfrm xmlns:a="http://schemas.openxmlformats.org/drawingml/2006/main">
            <a:off x="323755" y="31781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60681EA-11F2-49C2-9F3C-E6C313C43B5E}"/>
              </a:ext>
            </a:extLst>
          </p:cNvPr>
          <p:cNvSpPr>
            <a:spLocks xmlns:a="http://schemas.openxmlformats.org/drawingml/2006/main" noGrp="1"/>
          </p:cNvSpPr>
          <p:nvPr/>
        </p:nvSpPr>
        <p:spPr>
          <a:xfrm xmlns:a="http://schemas.openxmlformats.org/drawingml/2006/main">
            <a:off x="581025" y="29908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프로젝트 개요</a:t>
            </a:r>
          </a:p>
        </p:txBody>
      </p:sp>
      <p:sp>
        <p:nvSpPr>
          <p:cNvPr id="14" name="">
            <a:extLst xmlns:a="http://schemas.openxmlformats.org/drawingml/2006/main">
              <a:ext uri="{FF2B5EF4-FFF2-40B4-BE49-F238E27FC236}">
                <a16:creationId xmlns:a16="http://schemas.microsoft.com/office/drawing/2014/main" id="{FAB5A82D-C82C-4402-AFD0-EBB7EBA6C0E8}"/>
              </a:ext>
            </a:extLst>
          </p:cNvPr>
          <p:cNvSpPr>
            <a:spLocks xmlns:a="http://schemas.openxmlformats.org/drawingml/2006/main" noGrp="1"/>
          </p:cNvSpPr>
          <p:nvPr/>
        </p:nvSpPr>
        <p:spPr>
          <a:xfrm xmlns:a="http://schemas.openxmlformats.org/drawingml/2006/main">
            <a:off x="295275" y="34861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15" name="">
            <a:extLst xmlns:a="http://schemas.openxmlformats.org/drawingml/2006/main">
              <a:ext uri="{FF2B5EF4-FFF2-40B4-BE49-F238E27FC236}">
                <a16:creationId xmlns:a16="http://schemas.microsoft.com/office/drawing/2014/main" id="{C668304F-D351-4E12-B4DE-402EC4E200B8}"/>
              </a:ext>
            </a:extLst>
          </p:cNvPr>
          <p:cNvSpPr>
            <a:spLocks xmlns:a="http://schemas.openxmlformats.org/drawingml/2006/main" noGrp="1"/>
          </p:cNvSpPr>
          <p:nvPr/>
        </p:nvSpPr>
        <p:spPr>
          <a:xfrm xmlns:a="http://schemas.openxmlformats.org/drawingml/2006/main">
            <a:off x="323755" y="35332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508D78C-ECF7-4B16-B10E-E0506F8D3A81}"/>
              </a:ext>
            </a:extLst>
          </p:cNvPr>
          <p:cNvSpPr>
            <a:spLocks xmlns:a="http://schemas.openxmlformats.org/drawingml/2006/main" noGrp="1"/>
          </p:cNvSpPr>
          <p:nvPr/>
        </p:nvSpPr>
        <p:spPr>
          <a:xfrm xmlns:a="http://schemas.openxmlformats.org/drawingml/2006/main">
            <a:off x="323755" y="35604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7736C7B-D468-4AFB-8117-69CFAA4B0FB1}"/>
              </a:ext>
            </a:extLst>
          </p:cNvPr>
          <p:cNvSpPr>
            <a:spLocks xmlns:a="http://schemas.openxmlformats.org/drawingml/2006/main" noGrp="1"/>
          </p:cNvSpPr>
          <p:nvPr/>
        </p:nvSpPr>
        <p:spPr>
          <a:xfrm xmlns:a="http://schemas.openxmlformats.org/drawingml/2006/main">
            <a:off x="323755" y="35876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DF4C69E-E80F-4D73-8547-2055B3340173}"/>
              </a:ext>
            </a:extLst>
          </p:cNvPr>
          <p:cNvSpPr>
            <a:spLocks xmlns:a="http://schemas.openxmlformats.org/drawingml/2006/main" noGrp="1"/>
          </p:cNvSpPr>
          <p:nvPr/>
        </p:nvSpPr>
        <p:spPr>
          <a:xfrm xmlns:a="http://schemas.openxmlformats.org/drawingml/2006/main">
            <a:off x="581025" y="34004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문제와 참여 범위</a:t>
            </a:r>
          </a:p>
        </p:txBody>
      </p:sp>
      <p:sp>
        <p:nvSpPr>
          <p:cNvPr id="19" name="">
            <a:extLst xmlns:a="http://schemas.openxmlformats.org/drawingml/2006/main">
              <a:ext uri="{FF2B5EF4-FFF2-40B4-BE49-F238E27FC236}">
                <a16:creationId xmlns:a16="http://schemas.microsoft.com/office/drawing/2014/main" id="{41E824A1-708F-4E91-8B82-5546BDA7E08F}"/>
              </a:ext>
            </a:extLst>
          </p:cNvPr>
          <p:cNvSpPr>
            <a:spLocks xmlns:a="http://schemas.openxmlformats.org/drawingml/2006/main" noGrp="1"/>
          </p:cNvSpPr>
          <p:nvPr/>
        </p:nvSpPr>
        <p:spPr>
          <a:xfrm xmlns:a="http://schemas.openxmlformats.org/drawingml/2006/main">
            <a:off x="295275" y="38957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0" name="">
            <a:extLst xmlns:a="http://schemas.openxmlformats.org/drawingml/2006/main">
              <a:ext uri="{FF2B5EF4-FFF2-40B4-BE49-F238E27FC236}">
                <a16:creationId xmlns:a16="http://schemas.microsoft.com/office/drawing/2014/main" id="{F91FC723-68B1-49C9-A0C5-C143790B1645}"/>
              </a:ext>
            </a:extLst>
          </p:cNvPr>
          <p:cNvSpPr>
            <a:spLocks xmlns:a="http://schemas.openxmlformats.org/drawingml/2006/main" noGrp="1"/>
          </p:cNvSpPr>
          <p:nvPr/>
        </p:nvSpPr>
        <p:spPr>
          <a:xfrm xmlns:a="http://schemas.openxmlformats.org/drawingml/2006/main">
            <a:off x="323755" y="39427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532D744-69FF-4713-8BB7-042B83E9FAC6}"/>
              </a:ext>
            </a:extLst>
          </p:cNvPr>
          <p:cNvSpPr>
            <a:spLocks xmlns:a="http://schemas.openxmlformats.org/drawingml/2006/main" noGrp="1"/>
          </p:cNvSpPr>
          <p:nvPr/>
        </p:nvSpPr>
        <p:spPr>
          <a:xfrm xmlns:a="http://schemas.openxmlformats.org/drawingml/2006/main">
            <a:off x="323755" y="39700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ED0EA45-326C-4D63-88F7-ACDCA022A2DD}"/>
              </a:ext>
            </a:extLst>
          </p:cNvPr>
          <p:cNvSpPr>
            <a:spLocks xmlns:a="http://schemas.openxmlformats.org/drawingml/2006/main" noGrp="1"/>
          </p:cNvSpPr>
          <p:nvPr/>
        </p:nvSpPr>
        <p:spPr>
          <a:xfrm xmlns:a="http://schemas.openxmlformats.org/drawingml/2006/main">
            <a:off x="323755" y="39972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D0A52D1-EDEE-45E8-896D-D05EA0D46862}"/>
              </a:ext>
            </a:extLst>
          </p:cNvPr>
          <p:cNvSpPr>
            <a:spLocks xmlns:a="http://schemas.openxmlformats.org/drawingml/2006/main" noGrp="1"/>
          </p:cNvSpPr>
          <p:nvPr/>
        </p:nvSpPr>
        <p:spPr>
          <a:xfrm xmlns:a="http://schemas.openxmlformats.org/drawingml/2006/main">
            <a:off x="581025" y="38100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거리와 배정 기준</a:t>
            </a:r>
          </a:p>
        </p:txBody>
      </p:sp>
      <p:sp>
        <p:nvSpPr>
          <p:cNvPr id="24" name="">
            <a:extLst xmlns:a="http://schemas.openxmlformats.org/drawingml/2006/main">
              <a:ext uri="{FF2B5EF4-FFF2-40B4-BE49-F238E27FC236}">
                <a16:creationId xmlns:a16="http://schemas.microsoft.com/office/drawing/2014/main" id="{19B12238-BE90-4C18-B58F-123C9826FD71}"/>
              </a:ext>
            </a:extLst>
          </p:cNvPr>
          <p:cNvSpPr>
            <a:spLocks xmlns:a="http://schemas.openxmlformats.org/drawingml/2006/main" noGrp="1"/>
          </p:cNvSpPr>
          <p:nvPr/>
        </p:nvSpPr>
        <p:spPr>
          <a:xfrm xmlns:a="http://schemas.openxmlformats.org/drawingml/2006/main">
            <a:off x="295275" y="43053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25" name="">
            <a:extLst xmlns:a="http://schemas.openxmlformats.org/drawingml/2006/main">
              <a:ext uri="{FF2B5EF4-FFF2-40B4-BE49-F238E27FC236}">
                <a16:creationId xmlns:a16="http://schemas.microsoft.com/office/drawing/2014/main" id="{D83CFFC7-5B04-4DB9-A28E-41B47743BBA2}"/>
              </a:ext>
            </a:extLst>
          </p:cNvPr>
          <p:cNvSpPr>
            <a:spLocks xmlns:a="http://schemas.openxmlformats.org/drawingml/2006/main" noGrp="1"/>
          </p:cNvSpPr>
          <p:nvPr/>
        </p:nvSpPr>
        <p:spPr>
          <a:xfrm xmlns:a="http://schemas.openxmlformats.org/drawingml/2006/main">
            <a:off x="323755" y="43523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195CCCF-7434-4C51-9576-B739FC9D204F}"/>
              </a:ext>
            </a:extLst>
          </p:cNvPr>
          <p:cNvSpPr>
            <a:spLocks xmlns:a="http://schemas.openxmlformats.org/drawingml/2006/main" noGrp="1"/>
          </p:cNvSpPr>
          <p:nvPr/>
        </p:nvSpPr>
        <p:spPr>
          <a:xfrm xmlns:a="http://schemas.openxmlformats.org/drawingml/2006/main">
            <a:off x="323755" y="43795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08AF33D-34F5-42E0-9C92-B743A7EE9E3E}"/>
              </a:ext>
            </a:extLst>
          </p:cNvPr>
          <p:cNvSpPr>
            <a:spLocks xmlns:a="http://schemas.openxmlformats.org/drawingml/2006/main" noGrp="1"/>
          </p:cNvSpPr>
          <p:nvPr/>
        </p:nvSpPr>
        <p:spPr>
          <a:xfrm xmlns:a="http://schemas.openxmlformats.org/drawingml/2006/main">
            <a:off x="323755" y="44068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6FC86D0-9901-4F27-AF8F-00BDA53C91F6}"/>
              </a:ext>
            </a:extLst>
          </p:cNvPr>
          <p:cNvSpPr>
            <a:spLocks xmlns:a="http://schemas.openxmlformats.org/drawingml/2006/main" noGrp="1"/>
          </p:cNvSpPr>
          <p:nvPr/>
        </p:nvSpPr>
        <p:spPr>
          <a:xfrm xmlns:a="http://schemas.openxmlformats.org/drawingml/2006/main">
            <a:off x="581025" y="42195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배정 결과</a:t>
            </a:r>
          </a:p>
        </p:txBody>
      </p:sp>
      <p:sp>
        <p:nvSpPr>
          <p:cNvPr id="29" name="">
            <a:extLst xmlns:a="http://schemas.openxmlformats.org/drawingml/2006/main">
              <a:ext uri="{FF2B5EF4-FFF2-40B4-BE49-F238E27FC236}">
                <a16:creationId xmlns:a16="http://schemas.microsoft.com/office/drawing/2014/main" id="{0B849DC3-F783-4E62-8EE9-4D24F021D301}"/>
              </a:ext>
            </a:extLst>
          </p:cNvPr>
          <p:cNvSpPr>
            <a:spLocks xmlns:a="http://schemas.openxmlformats.org/drawingml/2006/main" noGrp="1"/>
          </p:cNvSpPr>
          <p:nvPr/>
        </p:nvSpPr>
        <p:spPr>
          <a:xfrm xmlns:a="http://schemas.openxmlformats.org/drawingml/2006/main">
            <a:off x="295275" y="471487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0" name="">
            <a:extLst xmlns:a="http://schemas.openxmlformats.org/drawingml/2006/main">
              <a:ext uri="{FF2B5EF4-FFF2-40B4-BE49-F238E27FC236}">
                <a16:creationId xmlns:a16="http://schemas.microsoft.com/office/drawing/2014/main" id="{9E8E4377-3E51-4ED9-BEDC-5F748EA8B930}"/>
              </a:ext>
            </a:extLst>
          </p:cNvPr>
          <p:cNvSpPr>
            <a:spLocks xmlns:a="http://schemas.openxmlformats.org/drawingml/2006/main" noGrp="1"/>
          </p:cNvSpPr>
          <p:nvPr/>
        </p:nvSpPr>
        <p:spPr>
          <a:xfrm xmlns:a="http://schemas.openxmlformats.org/drawingml/2006/main">
            <a:off x="323755" y="476192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A2D81A9-8DF7-490C-803F-1C4AD0CB5B91}"/>
              </a:ext>
            </a:extLst>
          </p:cNvPr>
          <p:cNvSpPr>
            <a:spLocks xmlns:a="http://schemas.openxmlformats.org/drawingml/2006/main" noGrp="1"/>
          </p:cNvSpPr>
          <p:nvPr/>
        </p:nvSpPr>
        <p:spPr>
          <a:xfrm xmlns:a="http://schemas.openxmlformats.org/drawingml/2006/main">
            <a:off x="323755" y="478917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23FA4AA2-9284-46D8-B37C-3341F8623A33}"/>
              </a:ext>
            </a:extLst>
          </p:cNvPr>
          <p:cNvSpPr>
            <a:spLocks xmlns:a="http://schemas.openxmlformats.org/drawingml/2006/main" noGrp="1"/>
          </p:cNvSpPr>
          <p:nvPr/>
        </p:nvSpPr>
        <p:spPr>
          <a:xfrm xmlns:a="http://schemas.openxmlformats.org/drawingml/2006/main">
            <a:off x="323755" y="481641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6BE039C-A92B-432F-AA8B-DF56E55AADB4}"/>
              </a:ext>
            </a:extLst>
          </p:cNvPr>
          <p:cNvSpPr>
            <a:spLocks xmlns:a="http://schemas.openxmlformats.org/drawingml/2006/main" noGrp="1"/>
          </p:cNvSpPr>
          <p:nvPr/>
        </p:nvSpPr>
        <p:spPr>
          <a:xfrm xmlns:a="http://schemas.openxmlformats.org/drawingml/2006/main">
            <a:off x="581025" y="462915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탐방 코스</a:t>
            </a:r>
          </a:p>
        </p:txBody>
      </p:sp>
      <p:sp>
        <p:nvSpPr>
          <p:cNvPr id="34" name="">
            <a:extLst xmlns:a="http://schemas.openxmlformats.org/drawingml/2006/main">
              <a:ext uri="{FF2B5EF4-FFF2-40B4-BE49-F238E27FC236}">
                <a16:creationId xmlns:a16="http://schemas.microsoft.com/office/drawing/2014/main" id="{4D79A773-3427-4D61-8C5D-56DA30F84E58}"/>
              </a:ext>
            </a:extLst>
          </p:cNvPr>
          <p:cNvSpPr>
            <a:spLocks xmlns:a="http://schemas.openxmlformats.org/drawingml/2006/main" noGrp="1"/>
          </p:cNvSpPr>
          <p:nvPr/>
        </p:nvSpPr>
        <p:spPr>
          <a:xfrm xmlns:a="http://schemas.openxmlformats.org/drawingml/2006/main">
            <a:off x="295275" y="512445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35" name="">
            <a:extLst xmlns:a="http://schemas.openxmlformats.org/drawingml/2006/main">
              <a:ext uri="{FF2B5EF4-FFF2-40B4-BE49-F238E27FC236}">
                <a16:creationId xmlns:a16="http://schemas.microsoft.com/office/drawing/2014/main" id="{048CCB4B-EC3D-425C-9C6C-3A923EDB73D1}"/>
              </a:ext>
            </a:extLst>
          </p:cNvPr>
          <p:cNvSpPr>
            <a:spLocks xmlns:a="http://schemas.openxmlformats.org/drawingml/2006/main" noGrp="1"/>
          </p:cNvSpPr>
          <p:nvPr/>
        </p:nvSpPr>
        <p:spPr>
          <a:xfrm xmlns:a="http://schemas.openxmlformats.org/drawingml/2006/main">
            <a:off x="323755" y="517150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62256F5-EE32-4552-ACC2-8F9CE41B2911}"/>
              </a:ext>
            </a:extLst>
          </p:cNvPr>
          <p:cNvSpPr>
            <a:spLocks xmlns:a="http://schemas.openxmlformats.org/drawingml/2006/main" noGrp="1"/>
          </p:cNvSpPr>
          <p:nvPr/>
        </p:nvSpPr>
        <p:spPr>
          <a:xfrm xmlns:a="http://schemas.openxmlformats.org/drawingml/2006/main">
            <a:off x="323755" y="519874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3253E1C-27A3-4CA4-8813-55AFA6BD3FC4}"/>
              </a:ext>
            </a:extLst>
          </p:cNvPr>
          <p:cNvSpPr>
            <a:spLocks xmlns:a="http://schemas.openxmlformats.org/drawingml/2006/main" noGrp="1"/>
          </p:cNvSpPr>
          <p:nvPr/>
        </p:nvSpPr>
        <p:spPr>
          <a:xfrm xmlns:a="http://schemas.openxmlformats.org/drawingml/2006/main">
            <a:off x="323755" y="522598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2C81AB7-719C-497A-8AA5-E9C97F9D18F4}"/>
              </a:ext>
            </a:extLst>
          </p:cNvPr>
          <p:cNvSpPr>
            <a:spLocks xmlns:a="http://schemas.openxmlformats.org/drawingml/2006/main" noGrp="1"/>
          </p:cNvSpPr>
          <p:nvPr/>
        </p:nvSpPr>
        <p:spPr>
          <a:xfrm xmlns:a="http://schemas.openxmlformats.org/drawingml/2006/main">
            <a:off x="581025" y="503872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웹 가이드</a:t>
            </a:r>
          </a:p>
        </p:txBody>
      </p:sp>
      <p:sp>
        <p:nvSpPr>
          <p:cNvPr id="39" name="">
            <a:extLst xmlns:a="http://schemas.openxmlformats.org/drawingml/2006/main">
              <a:ext uri="{FF2B5EF4-FFF2-40B4-BE49-F238E27FC236}">
                <a16:creationId xmlns:a16="http://schemas.microsoft.com/office/drawing/2014/main" id="{975B98E8-BAFD-49B7-AA05-0535DD2975D4}"/>
              </a:ext>
            </a:extLst>
          </p:cNvPr>
          <p:cNvSpPr>
            <a:spLocks xmlns:a="http://schemas.openxmlformats.org/drawingml/2006/main" noGrp="1"/>
          </p:cNvSpPr>
          <p:nvPr/>
        </p:nvSpPr>
        <p:spPr>
          <a:xfrm xmlns:a="http://schemas.openxmlformats.org/drawingml/2006/main">
            <a:off x="295275" y="5534025"/>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0" name="">
            <a:extLst xmlns:a="http://schemas.openxmlformats.org/drawingml/2006/main">
              <a:ext uri="{FF2B5EF4-FFF2-40B4-BE49-F238E27FC236}">
                <a16:creationId xmlns:a16="http://schemas.microsoft.com/office/drawing/2014/main" id="{114AD1CC-47C2-4DC7-996F-D1AFEC2BA8D5}"/>
              </a:ext>
            </a:extLst>
          </p:cNvPr>
          <p:cNvSpPr>
            <a:spLocks xmlns:a="http://schemas.openxmlformats.org/drawingml/2006/main" noGrp="1"/>
          </p:cNvSpPr>
          <p:nvPr/>
        </p:nvSpPr>
        <p:spPr>
          <a:xfrm xmlns:a="http://schemas.openxmlformats.org/drawingml/2006/main">
            <a:off x="323755" y="5581079"/>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827C83A-AC5D-4C66-9810-D72F8616836D}"/>
              </a:ext>
            </a:extLst>
          </p:cNvPr>
          <p:cNvSpPr>
            <a:spLocks xmlns:a="http://schemas.openxmlformats.org/drawingml/2006/main" noGrp="1"/>
          </p:cNvSpPr>
          <p:nvPr/>
        </p:nvSpPr>
        <p:spPr>
          <a:xfrm xmlns:a="http://schemas.openxmlformats.org/drawingml/2006/main">
            <a:off x="323755" y="5608320"/>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66D5C7F-3783-4CF0-A9D8-CD0CB1778122}"/>
              </a:ext>
            </a:extLst>
          </p:cNvPr>
          <p:cNvSpPr>
            <a:spLocks xmlns:a="http://schemas.openxmlformats.org/drawingml/2006/main" noGrp="1"/>
          </p:cNvSpPr>
          <p:nvPr/>
        </p:nvSpPr>
        <p:spPr>
          <a:xfrm xmlns:a="http://schemas.openxmlformats.org/drawingml/2006/main">
            <a:off x="323755" y="5635562"/>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3F91342-37F0-45F2-A7A9-1E5092AA43B7}"/>
              </a:ext>
            </a:extLst>
          </p:cNvPr>
          <p:cNvSpPr>
            <a:spLocks xmlns:a="http://schemas.openxmlformats.org/drawingml/2006/main" noGrp="1"/>
          </p:cNvSpPr>
          <p:nvPr/>
        </p:nvSpPr>
        <p:spPr>
          <a:xfrm xmlns:a="http://schemas.openxmlformats.org/drawingml/2006/main">
            <a:off x="581025" y="5448300"/>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운영과 제안</a:t>
            </a:r>
          </a:p>
        </p:txBody>
      </p:sp>
      <p:sp>
        <p:nvSpPr>
          <p:cNvPr id="44" name="">
            <a:extLst xmlns:a="http://schemas.openxmlformats.org/drawingml/2006/main">
              <a:ext uri="{FF2B5EF4-FFF2-40B4-BE49-F238E27FC236}">
                <a16:creationId xmlns:a16="http://schemas.microsoft.com/office/drawing/2014/main" id="{6DF47039-AA37-44AA-9B96-2DA96ED0F48E}"/>
              </a:ext>
            </a:extLst>
          </p:cNvPr>
          <p:cNvSpPr>
            <a:spLocks xmlns:a="http://schemas.openxmlformats.org/drawingml/2006/main" noGrp="1"/>
          </p:cNvSpPr>
          <p:nvPr/>
        </p:nvSpPr>
        <p:spPr>
          <a:xfrm xmlns:a="http://schemas.openxmlformats.org/drawingml/2006/main">
            <a:off x="95250" y="5829300"/>
            <a:ext cx="2247900" cy="371475"/>
          </a:xfrm>
          <a:prstGeom xmlns:a="http://schemas.openxmlformats.org/drawingml/2006/main" prst="rect">
            <a:avLst/>
          </a:prstGeom>
          <a:solidFill xmlns:a="http://schemas.openxmlformats.org/drawingml/2006/main">
            <a:srgbClr val="E9E9E6"/>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E37E030A-2204-4E1F-A654-1E9A3ECF73AC}"/>
              </a:ext>
            </a:extLst>
          </p:cNvPr>
          <p:cNvSpPr>
            <a:spLocks xmlns:a="http://schemas.openxmlformats.org/drawingml/2006/main" noGrp="1"/>
          </p:cNvSpPr>
          <p:nvPr/>
        </p:nvSpPr>
        <p:spPr>
          <a:xfrm xmlns:a="http://schemas.openxmlformats.org/drawingml/2006/main">
            <a:off x="295275" y="5943600"/>
            <a:ext cx="123825" cy="151067"/>
          </a:xfrm>
          <a:prstGeom xmlns:a="http://schemas.openxmlformats.org/drawingml/2006/main" prst="rect">
            <a:avLst/>
          </a:prstGeom>
          <a:noFill xmlns:a="http://schemas.openxmlformats.org/drawingml/2006/main"/>
          <a:ln xmlns:a="http://schemas.openxmlformats.org/drawingml/2006/main" w="9525">
            <a:solidFill>
              <a:srgbClr val="787774"/>
            </a:solidFill>
          </a:ln>
        </p:spPr>
      </p:sp>
      <p:sp>
        <p:nvSpPr>
          <p:cNvPr id="46" name="">
            <a:extLst xmlns:a="http://schemas.openxmlformats.org/drawingml/2006/main">
              <a:ext uri="{FF2B5EF4-FFF2-40B4-BE49-F238E27FC236}">
                <a16:creationId xmlns:a16="http://schemas.microsoft.com/office/drawing/2014/main" id="{E8DF0349-E97A-472B-AAB8-A94016F2CD4C}"/>
              </a:ext>
            </a:extLst>
          </p:cNvPr>
          <p:cNvSpPr>
            <a:spLocks xmlns:a="http://schemas.openxmlformats.org/drawingml/2006/main" noGrp="1"/>
          </p:cNvSpPr>
          <p:nvPr/>
        </p:nvSpPr>
        <p:spPr>
          <a:xfrm xmlns:a="http://schemas.openxmlformats.org/drawingml/2006/main">
            <a:off x="323755" y="5990654"/>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78C4DA56-03AE-447A-B005-092526998965}"/>
              </a:ext>
            </a:extLst>
          </p:cNvPr>
          <p:cNvSpPr>
            <a:spLocks xmlns:a="http://schemas.openxmlformats.org/drawingml/2006/main" noGrp="1"/>
          </p:cNvSpPr>
          <p:nvPr/>
        </p:nvSpPr>
        <p:spPr>
          <a:xfrm xmlns:a="http://schemas.openxmlformats.org/drawingml/2006/main">
            <a:off x="323755" y="6017895"/>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EF30E8F-A20B-4F24-8CFA-C4E61AC9AA1C}"/>
              </a:ext>
            </a:extLst>
          </p:cNvPr>
          <p:cNvSpPr>
            <a:spLocks xmlns:a="http://schemas.openxmlformats.org/drawingml/2006/main" noGrp="1"/>
          </p:cNvSpPr>
          <p:nvPr/>
        </p:nvSpPr>
        <p:spPr>
          <a:xfrm xmlns:a="http://schemas.openxmlformats.org/drawingml/2006/main">
            <a:off x="323755" y="6045137"/>
            <a:ext cx="65627" cy="9525"/>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B7F2AB1-E3FF-42CA-BAFC-EB2544278D4C}"/>
              </a:ext>
            </a:extLst>
          </p:cNvPr>
          <p:cNvSpPr>
            <a:spLocks xmlns:a="http://schemas.openxmlformats.org/drawingml/2006/main" noGrp="1"/>
          </p:cNvSpPr>
          <p:nvPr/>
        </p:nvSpPr>
        <p:spPr>
          <a:xfrm xmlns:a="http://schemas.openxmlformats.org/drawingml/2006/main">
            <a:off x="581025" y="5857875"/>
            <a:ext cx="17049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1">
                <a:solidFill>
                  <a:srgbClr val="37352F"/>
                </a:solidFill>
                <a:latin typeface="Malgun Gothic"/>
                <a:ea typeface="Malgun Gothic"/>
                <a:cs typeface="Malgun Gothic"/>
              </a:defRPr>
            </a:pPr>
            <a:r>
              <a:rPr sz="1350" b="1">
                <a:solidFill>
                  <a:srgbClr val="37352F"/>
                </a:solidFill>
                <a:latin typeface="Malgun Gothic"/>
                <a:ea typeface="Malgun Gothic"/>
                <a:cs typeface="Malgun Gothic"/>
              </a:rPr>
              <a:t>근거 자료</a:t>
            </a:r>
          </a:p>
        </p:txBody>
      </p:sp>
      <p:sp>
        <p:nvSpPr>
          <p:cNvPr id="50" name="">
            <a:extLst xmlns:a="http://schemas.openxmlformats.org/drawingml/2006/main">
              <a:ext uri="{FF2B5EF4-FFF2-40B4-BE49-F238E27FC236}">
                <a16:creationId xmlns:a16="http://schemas.microsoft.com/office/drawing/2014/main" id="{12AD2ACF-4DEB-4E36-ACF5-83E1B380FCE6}"/>
              </a:ext>
            </a:extLst>
          </p:cNvPr>
          <p:cNvSpPr>
            <a:spLocks xmlns:a="http://schemas.openxmlformats.org/drawingml/2006/main" noGrp="1"/>
          </p:cNvSpPr>
          <p:nvPr/>
        </p:nvSpPr>
        <p:spPr>
          <a:xfrm xmlns:a="http://schemas.openxmlformats.org/drawingml/2006/main">
            <a:off x="209550" y="7524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설정</a:t>
            </a:r>
          </a:p>
        </p:txBody>
      </p:sp>
      <p:sp>
        <p:nvSpPr>
          <p:cNvPr id="51" name="">
            <a:extLst xmlns:a="http://schemas.openxmlformats.org/drawingml/2006/main">
              <a:ext uri="{FF2B5EF4-FFF2-40B4-BE49-F238E27FC236}">
                <a16:creationId xmlns:a16="http://schemas.microsoft.com/office/drawing/2014/main" id="{89F081AF-F75E-410E-B6CE-AEBC83E92F49}"/>
              </a:ext>
            </a:extLst>
          </p:cNvPr>
          <p:cNvSpPr>
            <a:spLocks xmlns:a="http://schemas.openxmlformats.org/drawingml/2006/main" noGrp="1"/>
          </p:cNvSpPr>
          <p:nvPr/>
        </p:nvSpPr>
        <p:spPr>
          <a:xfrm xmlns:a="http://schemas.openxmlformats.org/drawingml/2006/main">
            <a:off x="209550" y="7905750"/>
            <a:ext cx="1952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787774"/>
                </a:solidFill>
                <a:latin typeface="Malgun Gothic"/>
                <a:ea typeface="Malgun Gothic"/>
                <a:cs typeface="Malgun Gothic"/>
              </a:defRPr>
            </a:pPr>
            <a:r>
              <a:rPr sz="1275" b="0">
                <a:solidFill>
                  <a:srgbClr val="787774"/>
                </a:solidFill>
                <a:latin typeface="Malgun Gothic"/>
                <a:ea typeface="Malgun Gothic"/>
                <a:cs typeface="Malgun Gothic"/>
              </a:rPr>
              <a:t>▤  휴지통</a:t>
            </a:r>
          </a:p>
        </p:txBody>
      </p:sp>
      <p:sp>
        <p:nvSpPr>
          <p:cNvPr id="52" name="">
            <a:extLst xmlns:a="http://schemas.openxmlformats.org/drawingml/2006/main">
              <a:ext uri="{FF2B5EF4-FFF2-40B4-BE49-F238E27FC236}">
                <a16:creationId xmlns:a16="http://schemas.microsoft.com/office/drawing/2014/main" id="{75ACCD04-AD59-4056-BB16-11EA23A75437}"/>
              </a:ext>
            </a:extLst>
          </p:cNvPr>
          <p:cNvSpPr>
            <a:spLocks xmlns:a="http://schemas.openxmlformats.org/drawingml/2006/main" noGrp="1"/>
          </p:cNvSpPr>
          <p:nvPr/>
        </p:nvSpPr>
        <p:spPr>
          <a:xfrm xmlns:a="http://schemas.openxmlformats.org/drawingml/2006/main">
            <a:off x="2781300" y="1905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37352F"/>
                </a:solidFill>
                <a:latin typeface="Malgun Gothic"/>
                <a:ea typeface="Malgun Gothic"/>
                <a:cs typeface="Malgun Gothic"/>
              </a:defRPr>
            </a:pPr>
            <a:r>
              <a:rPr sz="1350" b="0">
                <a:solidFill>
                  <a:srgbClr val="37352F"/>
                </a:solidFill>
                <a:latin typeface="Malgun Gothic"/>
                <a:ea typeface="Malgun Gothic"/>
                <a:cs typeface="Malgun Gothic"/>
              </a:rPr>
              <a:t>TROIKA  /  근거 자료  /  거리 기준과 클리핑</a:t>
            </a:r>
          </a:p>
        </p:txBody>
      </p:sp>
      <p:sp>
        <p:nvSpPr>
          <p:cNvPr id="53" name="">
            <a:extLst xmlns:a="http://schemas.openxmlformats.org/drawingml/2006/main">
              <a:ext uri="{FF2B5EF4-FFF2-40B4-BE49-F238E27FC236}">
                <a16:creationId xmlns:a16="http://schemas.microsoft.com/office/drawing/2014/main" id="{079EEAD8-D5FE-4DF6-AB5A-4C14309FC33E}"/>
              </a:ext>
            </a:extLst>
          </p:cNvPr>
          <p:cNvSpPr>
            <a:spLocks xmlns:a="http://schemas.openxmlformats.org/drawingml/2006/main" noGrp="1"/>
          </p:cNvSpPr>
          <p:nvPr/>
        </p:nvSpPr>
        <p:spPr>
          <a:xfrm xmlns:a="http://schemas.openxmlformats.org/drawingml/2006/main">
            <a:off x="13144500" y="190500"/>
            <a:ext cx="1857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787774"/>
                </a:solidFill>
                <a:latin typeface="Malgun Gothic"/>
                <a:ea typeface="Malgun Gothic"/>
                <a:cs typeface="Malgun Gothic"/>
              </a:defRPr>
            </a:pPr>
            <a:r>
              <a:rPr sz="1350" b="0">
                <a:solidFill>
                  <a:srgbClr val="787774"/>
                </a:solidFill>
                <a:latin typeface="Malgun Gothic"/>
                <a:ea typeface="Malgun Gothic"/>
                <a:cs typeface="Malgun Gothic"/>
              </a:rPr>
              <a:t>공유   ☆   ···</a:t>
            </a:r>
          </a:p>
        </p:txBody>
      </p:sp>
      <p:sp>
        <p:nvSpPr>
          <p:cNvPr id="54" name="">
            <a:extLst xmlns:a="http://schemas.openxmlformats.org/drawingml/2006/main">
              <a:ext uri="{FF2B5EF4-FFF2-40B4-BE49-F238E27FC236}">
                <a16:creationId xmlns:a16="http://schemas.microsoft.com/office/drawing/2014/main" id="{7C4A0A44-FCF3-404F-8826-E6DF3DB23487}"/>
              </a:ext>
            </a:extLst>
          </p:cNvPr>
          <p:cNvSpPr>
            <a:spLocks xmlns:a="http://schemas.openxmlformats.org/drawingml/2006/main" noGrp="1"/>
          </p:cNvSpPr>
          <p:nvPr/>
        </p:nvSpPr>
        <p:spPr>
          <a:xfrm xmlns:a="http://schemas.openxmlformats.org/drawingml/2006/main">
            <a:off x="3162300" y="1057275"/>
            <a:ext cx="381000" cy="464820"/>
          </a:xfrm>
          <a:prstGeom xmlns:a="http://schemas.openxmlformats.org/drawingml/2006/main" prst="rect">
            <a:avLst/>
          </a:prstGeom>
          <a:noFill xmlns:a="http://schemas.openxmlformats.org/drawingml/2006/main"/>
          <a:ln xmlns:a="http://schemas.openxmlformats.org/drawingml/2006/main" w="19050">
            <a:solidFill>
              <a:srgbClr val="787774"/>
            </a:solidFill>
          </a:ln>
        </p:spPr>
      </p:sp>
      <p:sp>
        <p:nvSpPr>
          <p:cNvPr id="55" name="">
            <a:extLst xmlns:a="http://schemas.openxmlformats.org/drawingml/2006/main">
              <a:ext uri="{FF2B5EF4-FFF2-40B4-BE49-F238E27FC236}">
                <a16:creationId xmlns:a16="http://schemas.microsoft.com/office/drawing/2014/main" id="{D4CD5B04-2960-4837-8543-6C574ABAAABB}"/>
              </a:ext>
            </a:extLst>
          </p:cNvPr>
          <p:cNvSpPr>
            <a:spLocks xmlns:a="http://schemas.openxmlformats.org/drawingml/2006/main" noGrp="1"/>
          </p:cNvSpPr>
          <p:nvPr/>
        </p:nvSpPr>
        <p:spPr>
          <a:xfrm xmlns:a="http://schemas.openxmlformats.org/drawingml/2006/main">
            <a:off x="3249930" y="120205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61BF010B-95C0-4203-B00D-E31488DACC37}"/>
              </a:ext>
            </a:extLst>
          </p:cNvPr>
          <p:cNvSpPr>
            <a:spLocks xmlns:a="http://schemas.openxmlformats.org/drawingml/2006/main" noGrp="1"/>
          </p:cNvSpPr>
          <p:nvPr/>
        </p:nvSpPr>
        <p:spPr>
          <a:xfrm xmlns:a="http://schemas.openxmlformats.org/drawingml/2006/main">
            <a:off x="3249930" y="128587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B456FC28-C08A-47B0-8CF3-DD92F85E3FC5}"/>
              </a:ext>
            </a:extLst>
          </p:cNvPr>
          <p:cNvSpPr>
            <a:spLocks xmlns:a="http://schemas.openxmlformats.org/drawingml/2006/main" noGrp="1"/>
          </p:cNvSpPr>
          <p:nvPr/>
        </p:nvSpPr>
        <p:spPr>
          <a:xfrm xmlns:a="http://schemas.openxmlformats.org/drawingml/2006/main">
            <a:off x="3249930" y="1369695"/>
            <a:ext cx="201930" cy="19050"/>
          </a:xfrm>
          <a:prstGeom xmlns:a="http://schemas.openxmlformats.org/drawingml/2006/main" prst="rect">
            <a:avLst/>
          </a:prstGeom>
          <a:solidFill xmlns:a="http://schemas.openxmlformats.org/drawingml/2006/main">
            <a:srgbClr val="787774"/>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F26A32E5-7E06-4B34-8012-24F1008AFEFA}"/>
              </a:ext>
            </a:extLst>
          </p:cNvPr>
          <p:cNvSpPr>
            <a:spLocks xmlns:a="http://schemas.openxmlformats.org/drawingml/2006/main" noGrp="1"/>
          </p:cNvSpPr>
          <p:nvPr/>
        </p:nvSpPr>
        <p:spPr>
          <a:xfrm xmlns:a="http://schemas.openxmlformats.org/drawingml/2006/main">
            <a:off x="3048000" y="1685925"/>
            <a:ext cx="11525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7352F"/>
                </a:solidFill>
                <a:latin typeface="Malgun Gothic"/>
                <a:ea typeface="Malgun Gothic"/>
                <a:cs typeface="Malgun Gothic"/>
              </a:defRPr>
            </a:pPr>
            <a:r>
              <a:rPr sz="3225" b="1">
                <a:solidFill>
                  <a:srgbClr val="37352F"/>
                </a:solidFill>
                <a:latin typeface="Malgun Gothic"/>
                <a:ea typeface="Malgun Gothic"/>
                <a:cs typeface="Malgun Gothic"/>
              </a:rPr>
              <a:t>거리 기준과 클리핑</a:t>
            </a:r>
          </a:p>
        </p:txBody>
      </p:sp>
      <p:sp>
        <p:nvSpPr>
          <p:cNvPr id="59" name="">
            <a:extLst xmlns:a="http://schemas.openxmlformats.org/drawingml/2006/main">
              <a:ext uri="{FF2B5EF4-FFF2-40B4-BE49-F238E27FC236}">
                <a16:creationId xmlns:a16="http://schemas.microsoft.com/office/drawing/2014/main" id="{C9C7A6A3-F5A6-4467-ACF9-A99C029CC385}"/>
              </a:ext>
            </a:extLst>
          </p:cNvPr>
          <p:cNvSpPr>
            <a:spLocks xmlns:a="http://schemas.openxmlformats.org/drawingml/2006/main" noGrp="1"/>
          </p:cNvSpPr>
          <p:nvPr/>
        </p:nvSpPr>
        <p:spPr>
          <a:xfrm xmlns:a="http://schemas.openxmlformats.org/drawingml/2006/main">
            <a:off x="3048000" y="2466975"/>
            <a:ext cx="11506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787774"/>
                </a:solidFill>
                <a:latin typeface="Malgun Gothic"/>
                <a:ea typeface="Malgun Gothic"/>
                <a:cs typeface="Malgun Gothic"/>
              </a:defRPr>
            </a:pPr>
            <a:r>
              <a:rPr sz="1800" b="0">
                <a:solidFill>
                  <a:srgbClr val="787774"/>
                </a:solidFill>
                <a:latin typeface="Malgun Gothic"/>
                <a:ea typeface="Malgun Gothic"/>
                <a:cs typeface="Malgun Gothic"/>
              </a:rPr>
              <a:t>서로 다른 거리 기준과 정규화 방식</a:t>
            </a:r>
          </a:p>
        </p:txBody>
      </p:sp>
      <p:sp>
        <p:nvSpPr>
          <p:cNvPr id="60" name="">
            <a:extLst xmlns:a="http://schemas.openxmlformats.org/drawingml/2006/main">
              <a:ext uri="{FF2B5EF4-FFF2-40B4-BE49-F238E27FC236}">
                <a16:creationId xmlns:a16="http://schemas.microsoft.com/office/drawing/2014/main" id="{3A1EBF2C-58C1-4670-967F-1873816ED5B5}"/>
              </a:ext>
            </a:extLst>
          </p:cNvPr>
          <p:cNvSpPr>
            <a:spLocks xmlns:a="http://schemas.openxmlformats.org/drawingml/2006/main" noGrp="1"/>
          </p:cNvSpPr>
          <p:nvPr/>
        </p:nvSpPr>
        <p:spPr>
          <a:xfrm xmlns:a="http://schemas.openxmlformats.org/drawingml/2006/main">
            <a:off x="3048000" y="3067050"/>
            <a:ext cx="11506200" cy="9525"/>
          </a:xfrm>
          <a:prstGeom xmlns:a="http://schemas.openxmlformats.org/drawingml/2006/main" prst="rect">
            <a:avLst/>
          </a:prstGeom>
          <a:solidFill xmlns:a="http://schemas.openxmlformats.org/drawingml/2006/main">
            <a:srgbClr val="E9E9E7"/>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1A0892C5-C34A-4EB0-8C8F-71B1F9E05566}"/>
              </a:ext>
            </a:extLst>
          </p:cNvPr>
          <p:cNvSpPr>
            <a:spLocks xmlns:a="http://schemas.openxmlformats.org/drawingml/2006/main" noGrp="1"/>
          </p:cNvSpPr>
          <p:nvPr/>
        </p:nvSpPr>
        <p:spPr>
          <a:xfrm xmlns:a="http://schemas.openxmlformats.org/drawingml/2006/main">
            <a:off x="13335000" y="81153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0">
                <a:solidFill>
                  <a:srgbClr val="787774"/>
                </a:solidFill>
                <a:latin typeface="Malgun Gothic"/>
                <a:ea typeface="Malgun Gothic"/>
                <a:cs typeface="Malgun Gothic"/>
              </a:defRPr>
            </a:pPr>
            <a:r>
              <a:rPr sz="1125" b="0">
                <a:solidFill>
                  <a:srgbClr val="787774"/>
                </a:solidFill>
                <a:latin typeface="Malgun Gothic"/>
                <a:ea typeface="Malgun Gothic"/>
                <a:cs typeface="Malgun Gothic"/>
              </a:rPr>
              <a:t>부록 E</a:t>
            </a:r>
          </a:p>
        </p:txBody>
      </p:sp>
      <p:graphicFrame>
        <p:nvGraphicFramePr>
          <p:cNvPr id="127" name=""/>
          <p:cNvGraphicFramePr/>
          <p:nvPr/>
        </p:nvGraphicFramePr>
        <p:xfrm>
          <a:off xmlns:a="http://schemas.openxmlformats.org/drawingml/2006/main" x="3048000" y="3362325"/>
          <a:ext xmlns:a="http://schemas.openxmlformats.org/drawingml/2006/main" cx="11506200" cy="3524250"/>
        </p:xfrm>
        <a:graphic xmlns:a="http://schemas.openxmlformats.org/drawingml/2006/main">
          <a:graphicData uri="http://schemas.openxmlformats.org/drawingml/2006/table">
            <a:tbl>
              <a:tblPr/>
              <a:tblGrid>
                <a:gridCol w="2762250"/>
                <a:gridCol w="8743950"/>
              </a:tblGrid>
              <a:tr h="587375">
                <a:tc>
                  <a:txBody>
                    <a:bodyPr/>
                    <a:lstStyle/>
                    <a:p>
                      <a:r>
                        <a:rPr sz="1875" b="1">
                          <a:solidFill>
                            <a:srgbClr val="37352F"/>
                          </a:solidFill>
                          <a:latin typeface="Malgun Gothic"/>
                          <a:ea typeface="Malgun Gothic"/>
                          <a:cs typeface="Malgun Gothic"/>
                        </a:rPr>
                        <a:t>기준</a:t>
                      </a:r>
                    </a:p>
                  </a:txBody>
                  <a:tcPr marL="85725" marR="85725" marT="28575" marB="28575">
                    <a:solidFill>
                      <a:srgbClr val="F1F1EF"/>
                    </a:solidFill>
                  </a:tcPr>
                </a:tc>
                <a:tc>
                  <a:txBody>
                    <a:bodyPr/>
                    <a:lstStyle/>
                    <a:p>
                      <a:r>
                        <a:rPr sz="1875" b="1">
                          <a:solidFill>
                            <a:srgbClr val="37352F"/>
                          </a:solidFill>
                          <a:latin typeface="Malgun Gothic"/>
                          <a:ea typeface="Malgun Gothic"/>
                          <a:cs typeface="Malgun Gothic"/>
                        </a:rPr>
                        <a:t>용도와 해석</a:t>
                      </a:r>
                    </a:p>
                  </a:txBody>
                  <a:tcPr marL="85725" marR="85725" marT="28575" marB="28575">
                    <a:solidFill>
                      <a:srgbClr val="F1F1EF"/>
                    </a:solidFill>
                  </a:tcPr>
                </a:tc>
              </a:tr>
              <a:tr h="587375">
                <a:tc>
                  <a:txBody>
                    <a:bodyPr/>
                    <a:lstStyle/>
                    <a:p>
                      <a:r>
                        <a:rPr sz="1875" b="0">
                          <a:solidFill>
                            <a:srgbClr val="37352F"/>
                          </a:solidFill>
                          <a:latin typeface="Malgun Gothic"/>
                          <a:ea typeface="Malgun Gothic"/>
                          <a:cs typeface="Malgun Gothic"/>
                        </a:rPr>
                        <a:t>300m</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삼각형 외곽 참여 범위 규칙</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583m</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평시 20대 비중 모형의 반감거리</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425m 분절점</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추가 설명력 유의하지 않음 · F=1.51</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500점포 클리핑</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옛 min-max 점포 항의 방어 장치</a:t>
                      </a:r>
                    </a:p>
                  </a:txBody>
                  <a:tcPr marL="85725" marR="85725" marT="28575" marB="28575">
                    <a:solidFill>
                      <a:srgbClr val="FFFFFF"/>
                    </a:solidFill>
                  </a:tcPr>
                </a:tc>
              </a:tr>
              <a:tr h="587375">
                <a:tc>
                  <a:txBody>
                    <a:bodyPr/>
                    <a:lstStyle/>
                    <a:p>
                      <a:r>
                        <a:rPr sz="1875" b="0">
                          <a:solidFill>
                            <a:srgbClr val="37352F"/>
                          </a:solidFill>
                          <a:latin typeface="Malgun Gothic"/>
                          <a:ea typeface="Malgun Gothic"/>
                          <a:cs typeface="Malgun Gothic"/>
                        </a:rPr>
                        <a:t>현재 배정</a:t>
                      </a:r>
                    </a:p>
                  </a:txBody>
                  <a:tcPr marL="85725" marR="85725" marT="28575" marB="28575">
                    <a:solidFill>
                      <a:srgbClr val="FFFFFF"/>
                    </a:solidFill>
                  </a:tcPr>
                </a:tc>
                <a:tc>
                  <a:txBody>
                    <a:bodyPr/>
                    <a:lstStyle/>
                    <a:p>
                      <a:r>
                        <a:rPr sz="1875" b="0">
                          <a:solidFill>
                            <a:srgbClr val="37352F"/>
                          </a:solidFill>
                          <a:latin typeface="Malgun Gothic"/>
                          <a:ea typeface="Malgun Gothic"/>
                          <a:cs typeface="Malgun Gothic"/>
                        </a:rPr>
                        <a:t>16곳 내 백분위·비율 지표와 최대6개 상한</a:t>
                      </a:r>
                    </a:p>
                  </a:txBody>
                  <a:tcPr marL="85725" marR="85725" marT="28575" marB="28575">
                    <a:solidFill>
                      <a:srgbClr val="FFFFFF"/>
                    </a:solidFill>
                  </a:tcPr>
                </a:tc>
              </a:tr>
            </a:tbl>
          </a:graphicData>
        </a:graphic>
      </p:graphicFrame>
      <p:sp>
        <p:nvSpPr>
          <p:cNvPr id="63" name="">
            <a:extLst xmlns:a="http://schemas.openxmlformats.org/drawingml/2006/main">
              <a:ext uri="{FF2B5EF4-FFF2-40B4-BE49-F238E27FC236}">
                <a16:creationId xmlns:a16="http://schemas.microsoft.com/office/drawing/2014/main" id="{A34DD9CD-6479-47D0-B435-1A2519314370}"/>
              </a:ext>
            </a:extLst>
          </p:cNvPr>
          <p:cNvSpPr>
            <a:spLocks xmlns:a="http://schemas.openxmlformats.org/drawingml/2006/main" noGrp="1"/>
          </p:cNvSpPr>
          <p:nvPr/>
        </p:nvSpPr>
        <p:spPr>
          <a:xfrm xmlns:a="http://schemas.openxmlformats.org/drawingml/2006/main">
            <a:off x="3048000" y="7067550"/>
            <a:ext cx="11506200" cy="666750"/>
          </a:xfrm>
          <a:prstGeom xmlns:a="http://schemas.openxmlformats.org/drawingml/2006/main" prst="rect">
            <a:avLst/>
          </a:prstGeom>
          <a:solidFill xmlns:a="http://schemas.openxmlformats.org/drawingml/2006/main">
            <a:srgbClr val="F1F1E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A9DD750C-1D69-46C0-95F1-EAF42EC6623E}"/>
              </a:ext>
            </a:extLst>
          </p:cNvPr>
          <p:cNvSpPr>
            <a:spLocks xmlns:a="http://schemas.openxmlformats.org/drawingml/2006/main" noGrp="1"/>
          </p:cNvSpPr>
          <p:nvPr/>
        </p:nvSpPr>
        <p:spPr>
          <a:xfrm xmlns:a="http://schemas.openxmlformats.org/drawingml/2006/main">
            <a:off x="3238500" y="7191375"/>
            <a:ext cx="342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37352F"/>
                </a:solidFill>
                <a:latin typeface="Malgun Gothic"/>
                <a:ea typeface="Malgun Gothic"/>
                <a:cs typeface="Malgun Gothic"/>
              </a:defRPr>
            </a:pPr>
            <a:r>
              <a:rPr sz="2100" b="0">
                <a:solidFill>
                  <a:srgbClr val="37352F"/>
                </a:solidFill>
                <a:latin typeface="Malgun Gothic"/>
                <a:ea typeface="Malgun Gothic"/>
                <a:cs typeface="Malgun Gothic"/>
              </a:rPr>
              <a:t>☞</a:t>
            </a:r>
          </a:p>
        </p:txBody>
      </p:sp>
      <p:sp>
        <p:nvSpPr>
          <p:cNvPr id="65" name="">
            <a:extLst xmlns:a="http://schemas.openxmlformats.org/drawingml/2006/main">
              <a:ext uri="{FF2B5EF4-FFF2-40B4-BE49-F238E27FC236}">
                <a16:creationId xmlns:a16="http://schemas.microsoft.com/office/drawing/2014/main" id="{548D9902-9752-41D5-BEC7-C67ADB97C8D0}"/>
              </a:ext>
            </a:extLst>
          </p:cNvPr>
          <p:cNvSpPr>
            <a:spLocks xmlns:a="http://schemas.openxmlformats.org/drawingml/2006/main" noGrp="1"/>
          </p:cNvSpPr>
          <p:nvPr/>
        </p:nvSpPr>
        <p:spPr>
          <a:xfrm xmlns:a="http://schemas.openxmlformats.org/drawingml/2006/main">
            <a:off x="3714750" y="7181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37352F"/>
                </a:solidFill>
                <a:latin typeface="Malgun Gothic"/>
                <a:ea typeface="Malgun Gothic"/>
                <a:cs typeface="Malgun Gothic"/>
              </a:defRPr>
            </a:pPr>
            <a:r>
              <a:rPr sz="2025" b="0">
                <a:solidFill>
                  <a:srgbClr val="37352F"/>
                </a:solidFill>
                <a:latin typeface="Malgun Gothic"/>
                <a:ea typeface="Malgun Gothic"/>
                <a:cs typeface="Malgun Gothic"/>
              </a:rPr>
              <a:t>“400m에서 확실히 급감” 또는 “추가 예산 0원”으로 설명하지 않음</a:t>
            </a:r>
          </a:p>
        </p:txBody>
      </p:sp>
    </p:spTree>
    <p:extLst>
      <p:ext uri="{BB962C8B-B14F-4D97-AF65-F5344CB8AC3E}">
        <p14:creationId xmlns:p14="http://schemas.microsoft.com/office/powerpoint/2010/main" val="14399324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2026-09-13T07:44:08.5330000Z</dcterms:created>
  <dcterms:modified xsi:type="dcterms:W3CDTF">2026-09-13T07:44:08.5330000Z</dcterms:modified>
</coreProperties>
</file>