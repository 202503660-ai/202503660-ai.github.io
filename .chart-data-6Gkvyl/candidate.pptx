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cd2d7ad1cf948ae" /><Relationship Type="http://schemas.openxmlformats.org/officeDocument/2006/relationships/extended-properties" Target="/docProps/app.xml" Id="R4e634950a3a34805" /><Relationship Type="http://schemas.openxmlformats.org/officeDocument/2006/relationships/officeDocument" Target="/ppt/presentation.xml" Id="R321d632450db4854" /></Relationships>
</file>

<file path=ppt/presentation.xml><?xml version="1.0" encoding="utf-8"?>
<p:presentation xmlns:p="http://schemas.openxmlformats.org/presentationml/2006/main">
  <p:sldMasterIdLst>
    <p:sldMasterId xmlns:r="http://schemas.openxmlformats.org/officeDocument/2006/relationships" id="2147483648" r:id="Re724d62f90c44a58"/>
  </p:sldMasterIdLst>
  <p:notesMasterIdLst>
    <p:notesMasterId xmlns:r="http://schemas.openxmlformats.org/officeDocument/2006/relationships" r:id="Raf455f588d834eb4"/>
  </p:notesMasterIdLst>
  <p:sldIdLst>
    <p:sldId xmlns:r="http://schemas.openxmlformats.org/officeDocument/2006/relationships" id="256" r:id="Rbce9384555d44d59"/>
    <p:sldId xmlns:r="http://schemas.openxmlformats.org/officeDocument/2006/relationships" id="257" r:id="R758df4c861ac47b0"/>
    <p:sldId xmlns:r="http://schemas.openxmlformats.org/officeDocument/2006/relationships" id="258" r:id="Rb26d855324574b6f"/>
    <p:sldId xmlns:r="http://schemas.openxmlformats.org/officeDocument/2006/relationships" id="259" r:id="R1368be9ad47a4cc7"/>
    <p:sldId xmlns:r="http://schemas.openxmlformats.org/officeDocument/2006/relationships" id="260" r:id="Rcebec3d931534a78"/>
    <p:sldId xmlns:r="http://schemas.openxmlformats.org/officeDocument/2006/relationships" id="261" r:id="R4103acf05a5c44bd"/>
    <p:sldId xmlns:r="http://schemas.openxmlformats.org/officeDocument/2006/relationships" id="262" r:id="Rbd58aac364dd48e6"/>
    <p:sldId xmlns:r="http://schemas.openxmlformats.org/officeDocument/2006/relationships" id="263" r:id="Rd2cf24bf282647fa"/>
    <p:sldId xmlns:r="http://schemas.openxmlformats.org/officeDocument/2006/relationships" id="264" r:id="Rc32bee3831c04b3a"/>
    <p:sldId xmlns:r="http://schemas.openxmlformats.org/officeDocument/2006/relationships" id="265" r:id="Rf214d484d8474c12"/>
    <p:sldId xmlns:r="http://schemas.openxmlformats.org/officeDocument/2006/relationships" id="266" r:id="R3bf8aa8b2da24fc5"/>
    <p:sldId xmlns:r="http://schemas.openxmlformats.org/officeDocument/2006/relationships" id="267" r:id="R91f5b2ccc3a54bb4"/>
    <p:sldId xmlns:r="http://schemas.openxmlformats.org/officeDocument/2006/relationships" id="268" r:id="R10a2fb1085ec47f3"/>
    <p:sldId xmlns:r="http://schemas.openxmlformats.org/officeDocument/2006/relationships" id="269" r:id="R317b9116639e451d"/>
    <p:sldId xmlns:r="http://schemas.openxmlformats.org/officeDocument/2006/relationships" id="270" r:id="R1a45943213f941bc"/>
    <p:sldId xmlns:r="http://schemas.openxmlformats.org/officeDocument/2006/relationships" id="271" r:id="R704699f183dd44ed"/>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4fc0f5de6a4de1" /><Relationship Type="http://schemas.openxmlformats.org/officeDocument/2006/relationships/slideMaster" Target="/ppt/slideMasters/slideMaster1.xml" Id="Re724d62f90c44a58" /><Relationship Type="http://schemas.openxmlformats.org/officeDocument/2006/relationships/notesMaster" Target="/ppt/notesMasters/notesMaster1.xml" Id="Raf455f588d834eb4" /><Relationship Type="http://schemas.openxmlformats.org/officeDocument/2006/relationships/presProps" Target="/ppt/presProps.xml" Id="Raee331c4c8184d30" /><Relationship Type="http://schemas.openxmlformats.org/officeDocument/2006/relationships/tableStyles" Target="/ppt/tableStyles.xml" Id="Rfea0aff27d18489c" /><Relationship Type="http://schemas.openxmlformats.org/officeDocument/2006/relationships/slide" Target="/ppt/slides/slide1.xml" Id="Rbce9384555d44d59" /><Relationship Type="http://schemas.openxmlformats.org/officeDocument/2006/relationships/slide" Target="/ppt/slides/slide2.xml" Id="R758df4c861ac47b0" /><Relationship Type="http://schemas.openxmlformats.org/officeDocument/2006/relationships/slide" Target="/ppt/slides/slide3.xml" Id="Rb26d855324574b6f" /><Relationship Type="http://schemas.openxmlformats.org/officeDocument/2006/relationships/slide" Target="/ppt/slides/slide4.xml" Id="R1368be9ad47a4cc7" /><Relationship Type="http://schemas.openxmlformats.org/officeDocument/2006/relationships/slide" Target="/ppt/slides/slide5.xml" Id="Rcebec3d931534a78" /><Relationship Type="http://schemas.openxmlformats.org/officeDocument/2006/relationships/slide" Target="/ppt/slides/slide6.xml" Id="R4103acf05a5c44bd" /><Relationship Type="http://schemas.openxmlformats.org/officeDocument/2006/relationships/slide" Target="/ppt/slides/slide7.xml" Id="Rbd58aac364dd48e6" /><Relationship Type="http://schemas.openxmlformats.org/officeDocument/2006/relationships/slide" Target="/ppt/slides/slide8.xml" Id="Rd2cf24bf282647fa" /><Relationship Type="http://schemas.openxmlformats.org/officeDocument/2006/relationships/slide" Target="/ppt/slides/slide9.xml" Id="Rc32bee3831c04b3a" /><Relationship Type="http://schemas.openxmlformats.org/officeDocument/2006/relationships/slide" Target="/ppt/slides/slide10.xml" Id="Rf214d484d8474c12" /><Relationship Type="http://schemas.openxmlformats.org/officeDocument/2006/relationships/slide" Target="/ppt/slides/slide11.xml" Id="R3bf8aa8b2da24fc5" /><Relationship Type="http://schemas.openxmlformats.org/officeDocument/2006/relationships/slide" Target="/ppt/slides/slide12.xml" Id="R91f5b2ccc3a54bb4" /><Relationship Type="http://schemas.openxmlformats.org/officeDocument/2006/relationships/slide" Target="/ppt/slides/slide13.xml" Id="R10a2fb1085ec47f3" /><Relationship Type="http://schemas.openxmlformats.org/officeDocument/2006/relationships/slide" Target="/ppt/slides/slide14.xml" Id="R317b9116639e451d" /><Relationship Type="http://schemas.openxmlformats.org/officeDocument/2006/relationships/slide" Target="/ppt/slides/slide15.xml" Id="R1a45943213f941bc" /><Relationship Type="http://schemas.openxmlformats.org/officeDocument/2006/relationships/slide" Target="/ppt/slides/slide16.xml" Id="R704699f183dd44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6cf65502674e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26028bf2f84941" /><Relationship Type="http://schemas.openxmlformats.org/officeDocument/2006/relationships/notesMaster" Target="/ppt/notesMasters/notesMaster1.xml" Id="Rf7be1ead2bdb48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515ead1ad64d11" /><Relationship Type="http://schemas.openxmlformats.org/officeDocument/2006/relationships/notesMaster" Target="/ppt/notesMasters/notesMaster1.xml" Id="Re8af3b42684b42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d062490c4f4a39" /><Relationship Type="http://schemas.openxmlformats.org/officeDocument/2006/relationships/notesMaster" Target="/ppt/notesMasters/notesMaster1.xml" Id="R2e05dfd1168148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ae4de499c246e1" /><Relationship Type="http://schemas.openxmlformats.org/officeDocument/2006/relationships/notesMaster" Target="/ppt/notesMasters/notesMaster1.xml" Id="Rbc06ce398c144a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6529be13c34eeb" /><Relationship Type="http://schemas.openxmlformats.org/officeDocument/2006/relationships/notesMaster" Target="/ppt/notesMasters/notesMaster1.xml" Id="R9d4e8e1342f04f8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680e29fbe04c86" /><Relationship Type="http://schemas.openxmlformats.org/officeDocument/2006/relationships/notesMaster" Target="/ppt/notesMasters/notesMaster1.xml" Id="R05135153dbfa4b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f0f58928254702" /><Relationship Type="http://schemas.openxmlformats.org/officeDocument/2006/relationships/notesMaster" Target="/ppt/notesMasters/notesMaster1.xml" Id="R56c753f7a80546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926c9504b44d73" /><Relationship Type="http://schemas.openxmlformats.org/officeDocument/2006/relationships/notesMaster" Target="/ppt/notesMasters/notesMaster1.xml" Id="R015e0773b2884be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8532930b4bd484e" /><Relationship Type="http://schemas.openxmlformats.org/officeDocument/2006/relationships/notesMaster" Target="/ppt/notesMasters/notesMaster1.xml" Id="R779716d148bf47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210ead75f18485c" /><Relationship Type="http://schemas.openxmlformats.org/officeDocument/2006/relationships/notesMaster" Target="/ppt/notesMasters/notesMaster1.xml" Id="R9449240a5ad04b3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22478fea2c044b2" /><Relationship Type="http://schemas.openxmlformats.org/officeDocument/2006/relationships/notesMaster" Target="/ppt/notesMasters/notesMaster1.xml" Id="R6a2cc6864ce44d5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b0d68b7abe04962" /><Relationship Type="http://schemas.openxmlformats.org/officeDocument/2006/relationships/notesMaster" Target="/ppt/notesMasters/notesMaster1.xml" Id="R9961aaf1eea946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4154e97c5794221" /><Relationship Type="http://schemas.openxmlformats.org/officeDocument/2006/relationships/notesMaster" Target="/ppt/notesMasters/notesMaster1.xml" Id="Re08a87df58a7424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e629570178949a2" /><Relationship Type="http://schemas.openxmlformats.org/officeDocument/2006/relationships/notesMaster" Target="/ppt/notesMasters/notesMaster1.xml" Id="R0dae1c76ea224e9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0c9e1baa6b34332" /><Relationship Type="http://schemas.openxmlformats.org/officeDocument/2006/relationships/notesMaster" Target="/ppt/notesMasters/notesMaster1.xml" Id="R4a1ef5a5434646b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c361b9b94c34043" /><Relationship Type="http://schemas.openxmlformats.org/officeDocument/2006/relationships/notesMaster" Target="/ppt/notesMasters/notesMaster1.xml" Id="R6ec406c8879e43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10초</a:t>
            </a:r>
          </a:p>
          <a:p xmlns:a="http://schemas.openxmlformats.org/drawingml/2006/main">
            <a:r>
              <a:t>안녕하세요. 저희는 회기·이문·전농의 16개 상권에 스탬프 60개를 어떻게 배정할지 제안합니다.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35초</a:t>
            </a:r>
          </a:p>
          <a:p xmlns:a="http://schemas.openxmlformats.org/drawingml/2006/main">
            <a:r>
              <a:t>코어 9개 상권에서 20대 유동의 이동평균 지수는 기준 수준에 가깝습니다. 최종 구성안에 기록된 20대 추정매출 지수는 73.4로 낮아졌습니다. 이번 폴더에서 유동 추이는 재현했지만 장기 매출 원자료는 없어 기록값을 구분했습니다. 이 차이를 방문과 지역 소비를 연결하는 운영 장치의 검토 배경으로 삼았습니다. 축제의 효과나 감소 원인을 증명한 결과는 아닙니다.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35초</a:t>
            </a:r>
          </a:p>
          <a:p xmlns:a="http://schemas.openxmlformats.org/drawingml/2006/main">
            <a:r>
              <a:t>참여 범위는 세 대학앞 상권을 감싼 볼록껍질의 외곽에 300미터를 더하고, 상권 면적의 절반 이상이 들어오는 곳을 선택하는 규칙입니다. 문서상 코어 9곳과 참여 7곳, 총 16곳입니다. 여기 지도는 공식 중심점 위치도이며 실제 경계를 재현한 것은 아닙니다. 연계존 7곳은 교통 연계를 검토합니다.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35초</a:t>
            </a:r>
          </a:p>
          <a:p xmlns:a="http://schemas.openxmlformats.org/drawingml/2006/main">
            <a:r>
              <a:t>도달 지수에는 평시 20대 비중과 거리의 관계에서 추정한 감쇠계수를 사용합니다. 기록된 베타는 킬로미터당 1.189이며 반감거리는 약 583미터입니다. 이 곡선은 그 계수를 적용한 모형값입니다. 축제 당일 방문을 측정한 결과가 아니고, 앞의 300미터 참여 규칙과도 용도가 다릅니다.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45초</a:t>
            </a:r>
          </a:p>
          <a:p xmlns:a="http://schemas.openxmlformats.org/drawingml/2006/main">
            <a:r>
              <a:t>배정 기준은 소외도 M입니다. D는 최근의 하락, L은 낮은 점포당 매출, R은 거리 기반 도달을 뜻합니다. D는 네 지표를 백분위화해 평균한 뒤 다시 백분위화합니다. D와 L을 대칭적으로 결합하고 R을 곱합니다. 시립대앞사거리는 M이 0.669로 6개, 경희대앞은 0.216으로 최소 참여 2개를 배정합니다. 취향 추천 점수와는 별개의 정책 지수입니다.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45초</a:t>
            </a:r>
          </a:p>
          <a:p xmlns:a="http://schemas.openxmlformats.org/drawingml/2006/main">
            <a:r>
              <a:t>60개 총량 안에서 코어에 36개, 참여에 24개를 배정했습니다. 연계존은 0개입니다. 상권별 최소 2개를 보장하고, 최대 6개 또는 전체 점포 수의 20퍼센트 중 작은 값을 상한으로 둡니다. 시조사삼거리와 회기역 1번은 2개에서 6개로 늘었습니다. 이경시장은 점포 19곳의 20퍼센트를 내림한 상한 때문에 3개입니다. 확정 제휴 매장 수가 아닌 모집 배정안입니다.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40초</a:t>
            </a:r>
          </a:p>
          <a:p xmlns:a="http://schemas.openxmlformats.org/drawingml/2006/main">
            <a:r>
              <a:t>전체 60개로 분모를 통일하면 소외도 상위 다섯 곳의 몫은 13개, 21.7퍼센트에서 27개, 45퍼센트로 늘어납니다. 같은 총량에서 14개를 더 배정하는 방향으로 바뀐 것입니다. 배정과 점포당 매출의 상관도 양에서 음으로 전환했습니다. 이 숫자는 매출 증가 효과가 아니라 계획상 배정량의 변화입니다.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35초</a:t>
            </a:r>
          </a:p>
          <a:p xmlns:a="http://schemas.openxmlformats.org/drawingml/2006/main">
            <a:r>
              <a:t>분석에서는 세 상권을 묶는 코스도 제안했습니다. 회기권은 회기역 1번, 회기시장, 시조사삼거리입니다. 이문권과 전농권도 각각 세 곳을 연결합니다. 세 코스는 소외도 상위 다섯 곳을 모두 포함합니다. 거리는 대표점 직선거리에 우회계수를 적용한 가정값이므로 실제 보행경로와 방문 순서는 현장 확인이 필요합니다. 웹의 기존 테마 코스와는 구분합니다.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45초</a:t>
            </a:r>
          </a:p>
          <a:p xmlns:a="http://schemas.openxmlformats.org/drawingml/2006/main">
            <a:r>
              <a:t>[추천 화면 10초] 방문객은 취향에 맞는 상권을 찾습니다. [지도 목록에서 시립대앞사거리 열기 15초] 상세 화면에서 스탬프 6개와 소외도 0.669를 확인합니다. [근거 설명 15초] D·L·R과 상한, 출처를 함께 보여주어 배정 이유를 설명합니다. 방문객 추천과 운영자 배정은 목적이 다릅니다. [발표 복귀 5초] 네트워크가 끊기면 동일한 캡처로 설명합니다.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50초</a:t>
            </a:r>
          </a:p>
          <a:p xmlns:a="http://schemas.openxmlformats.org/drawingml/2006/main">
            <a:r>
              <a:t>실행은 행사 4주 전 협의부터 시작합니다. 2~3주 전에는 제휴 모집과 경로를 확인하고, 1주 전에는 쿠폰과 집계를 점검합니다. 대학 운영진은 방문 안내, 상인회와 상점은 모집과 쿠폰, 관계 기관은 현장 지원, 분석팀은 배정과 평가를 담당하도록 제안합니다. 모집 실적과 완주율을 집계하고, 동의한 매장의 매출과 객수를 비교합니다. 요일과 날씨, 학사일정도 고려해야 합니다. 인력과 제작물, 쿠폰 재원은 별도 산정합니다.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25초</a:t>
            </a:r>
          </a:p>
          <a:p xmlns:a="http://schemas.openxmlformats.org/drawingml/2006/main">
            <a:r>
              <a:t>제안의 규모는 16개 상권과 60개 배정입니다. 그중 소외도 상위 다섯 곳에 27개를 배정했습니다. 이 배정안으로 참여 상점을 모집하고 실제 방문과 소비 자료를 모아 다음 행사에 반영하겠습니다. 현장 검증과 제휴 협의를 진행할 시범 운영 기회를 요청드립니다.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B10-14 PDF 7–8쪽의 공개 배정표. 소수 셋째 자리 반올림 값이며 재계산 결과가 아닙니다.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목적함수와 제약 아래의 최적성입니다. 실제 매출 증가를 최대화한다고 검증한 것은 아닙니다. DP 결과와 민감도는 B10-14에 기록된 검증이며 이번 폴더에서 원본 입력으로 재실행하지 않았습니다.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D 41.5%, L 41.6%, R 16.9%는 기록된 평균 절대 Shapley 비중입니다. 지수 출력의 설명이며 인과적 매출 기여율이 아닙니다.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전체 웹 명단은 현재 로컬 데이터를 유지합니다. 구성안의 4,402점포는 교정 명단이 없어 적용하지 않습니다. 자료가 없다고 0으로 바꾸거나 임의의 관측치를 만들지 않습니다.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300m는 범위 규칙이고 583m는 감쇠모형의 반감거리입니다. 425m 분절점의 추가 설명력은 유의하지 않습니다. 새 지수에 옛 점포 수 min-max 항이 없으므로 500개 클리핑을 복원하지 않습니다.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06e9c2f2714a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8cd9a8a07945f2" /><Relationship Type="http://schemas.openxmlformats.org/officeDocument/2006/relationships/slideLayout" Target="/ppt/slideLayouts/slideLayout1.xml" Id="R54cfae7fd41648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cfae7fd41648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91a267b8ad5416b" /><Relationship Type="http://schemas.openxmlformats.org/officeDocument/2006/relationships/notesSlide" Target="/ppt/notesSlides/notesSlide1.xml" Id="R1900cb30a92d4d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6a3cb7244af41d7" /><Relationship Type="http://schemas.openxmlformats.org/officeDocument/2006/relationships/chart" Target="/ppt/slides/charts/chart1.xml" Id="R2a2745caa9804d77" /><Relationship Type="http://schemas.openxmlformats.org/officeDocument/2006/relationships/notesSlide" Target="/ppt/notesSlides/notesSlide2.xml" Id="Rd26c6e80ce5644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98ad8edaa6a414a" /><Relationship Type="http://schemas.openxmlformats.org/officeDocument/2006/relationships/chart" Target="/ppt/slides/charts/chart2.xml" Id="R168e06a0278a4f5f" /><Relationship Type="http://schemas.openxmlformats.org/officeDocument/2006/relationships/notesSlide" Target="/ppt/notesSlides/notesSlide3.xml" Id="Rdce2667dc7d94e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684b7ec898c419f" /><Relationship Type="http://schemas.openxmlformats.org/officeDocument/2006/relationships/chart" Target="/ppt/slides/charts/chart3.xml" Id="R14cdb24551454e23" /><Relationship Type="http://schemas.openxmlformats.org/officeDocument/2006/relationships/notesSlide" Target="/ppt/notesSlides/notesSlide4.xml" Id="Rb716ebb9988f45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1012e6848894384" /><Relationship Type="http://schemas.openxmlformats.org/officeDocument/2006/relationships/notesSlide" Target="/ppt/notesSlides/notesSlide5.xml" Id="R493de062826242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d24b50736e245d9" /><Relationship Type="http://schemas.openxmlformats.org/officeDocument/2006/relationships/chart" Target="/ppt/slides/charts/chart4.xml" Id="Rf4b43763263545af" /><Relationship Type="http://schemas.openxmlformats.org/officeDocument/2006/relationships/notesSlide" Target="/ppt/notesSlides/notesSlide6.xml" Id="Rc07c92a7752a42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9365716eae8405d" /><Relationship Type="http://schemas.openxmlformats.org/officeDocument/2006/relationships/chart" Target="/ppt/slides/charts/chart5.xml" Id="R731621d6db2f4952" /><Relationship Type="http://schemas.openxmlformats.org/officeDocument/2006/relationships/notesSlide" Target="/ppt/notesSlides/notesSlide7.xml" Id="R153bb946024b43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001d23e319245a1" /><Relationship Type="http://schemas.openxmlformats.org/officeDocument/2006/relationships/notesSlide" Target="/ppt/notesSlides/notesSlide8.xml" Id="Recebda0dcf88456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b0147eeec944eb3" /><Relationship Type="http://schemas.openxmlformats.org/officeDocument/2006/relationships/image" Target="/ppt/media/image.png" Id="Rf58a72ea9b4b48ed" /><Relationship Type="http://schemas.openxmlformats.org/officeDocument/2006/relationships/image" Target="/ppt/media/image2.png" Id="Rf7fdac7a5f594ee5" /><Relationship Type="http://schemas.openxmlformats.org/officeDocument/2006/relationships/notesSlide" Target="/ppt/notesSlides/notesSlide9.xml" Id="R425df586f9e14f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0c295dd31f34fe4" /><Relationship Type="http://schemas.openxmlformats.org/officeDocument/2006/relationships/notesSlide" Target="/ppt/notesSlides/notesSlide10.xml" Id="R968370dffb754c6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0773f35994e4dfa" /><Relationship Type="http://schemas.openxmlformats.org/officeDocument/2006/relationships/notesSlide" Target="/ppt/notesSlides/notesSlide11.xml" Id="R343384f24e6240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4fe7286fb9f43b6" /><Relationship Type="http://schemas.openxmlformats.org/officeDocument/2006/relationships/notesSlide" Target="/ppt/notesSlides/notesSlide12.xml" Id="Rd918d9bc061742b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482856df40c4846" /><Relationship Type="http://schemas.openxmlformats.org/officeDocument/2006/relationships/notesSlide" Target="/ppt/notesSlides/notesSlide13.xml" Id="Rd834a8e131874b0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2fd00e8c8054211" /><Relationship Type="http://schemas.openxmlformats.org/officeDocument/2006/relationships/chart" Target="/ppt/slides/charts/chart6.xml" Id="R077541e3c16847aa" /><Relationship Type="http://schemas.openxmlformats.org/officeDocument/2006/relationships/notesSlide" Target="/ppt/notesSlides/notesSlide14.xml" Id="Rf877e2c5628d4ad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77e0ee9dc8c44d4" /><Relationship Type="http://schemas.openxmlformats.org/officeDocument/2006/relationships/notesSlide" Target="/ppt/notesSlides/notesSlide15.xml" Id="Rd9a398ebbe13420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07253186a2b46dd" /><Relationship Type="http://schemas.openxmlformats.org/officeDocument/2006/relationships/notesSlide" Target="/ppt/notesSlides/notesSlide16.xml" Id="R808f21b84f66479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20대 유동</c:v>
          </c:tx>
          <c:spPr>
            <a:ln xmlns:a="http://schemas.openxmlformats.org/drawingml/2006/main" w="28575">
              <a:solidFill>
                <a:srgbClr val="487CA5"/>
              </a:solidFill>
            </a:ln>
          </c:spPr>
          <c:marker>
            <c:symbol val="none"/>
          </c:marker>
          <c:cat>
            <c:strRef>
              <c:f>'Chart Data'!$A$2:$A$16</c:f>
              <c:strCache>
                <c:ptCount val="15"/>
                <c:pt idx="0">
                  <c:v>22.4Q</c:v>
                </c:pt>
                <c:pt idx="1">
                  <c:v>23.1Q</c:v>
                </c:pt>
                <c:pt idx="2">
                  <c:v>23.2Q</c:v>
                </c:pt>
                <c:pt idx="3">
                  <c:v>23.3Q</c:v>
                </c:pt>
                <c:pt idx="4">
                  <c:v>23.4Q</c:v>
                </c:pt>
                <c:pt idx="5">
                  <c:v>24.1Q</c:v>
                </c:pt>
                <c:pt idx="6">
                  <c:v>24.2Q</c:v>
                </c:pt>
                <c:pt idx="7">
                  <c:v>24.3Q</c:v>
                </c:pt>
                <c:pt idx="8">
                  <c:v>24.4Q</c:v>
                </c:pt>
                <c:pt idx="9">
                  <c:v>25.1Q</c:v>
                </c:pt>
                <c:pt idx="10">
                  <c:v>25.2Q</c:v>
                </c:pt>
                <c:pt idx="11">
                  <c:v>25.3Q</c:v>
                </c:pt>
                <c:pt idx="12">
                  <c:v>25.4Q</c:v>
                </c:pt>
                <c:pt idx="13">
                  <c:v>26.1Q</c:v>
                </c:pt>
                <c:pt idx="14">
                  <c:v>26.2Q</c:v>
                </c:pt>
              </c:strCache>
            </c:strRef>
          </c:cat>
          <c:val>
            <c:numRef>
              <c:f>'Chart Data'!$B$2:$B$16</c:f>
              <c:numCache>
                <c:formatCode>0</c:formatCode>
                <c:ptCount val="15"/>
                <c:pt idx="0">
                  <c:v>100</c:v>
                </c:pt>
                <c:pt idx="1">
                  <c:v>103.682533</c:v>
                </c:pt>
                <c:pt idx="2">
                  <c:v>107.369128</c:v>
                </c:pt>
                <c:pt idx="3">
                  <c:v>106.884237</c:v>
                </c:pt>
                <c:pt idx="4">
                  <c:v>107.919965</c:v>
                </c:pt>
                <c:pt idx="5">
                  <c:v>106.247696</c:v>
                </c:pt>
                <c:pt idx="6">
                  <c:v>105.63071</c:v>
                </c:pt>
                <c:pt idx="7">
                  <c:v>104.34615</c:v>
                </c:pt>
                <c:pt idx="8">
                  <c:v>102.699915</c:v>
                </c:pt>
                <c:pt idx="9">
                  <c:v>102.146107</c:v>
                </c:pt>
                <c:pt idx="10">
                  <c:v>101.425705</c:v>
                </c:pt>
                <c:pt idx="11">
                  <c:v>101.198844</c:v>
                </c:pt>
                <c:pt idx="12">
                  <c:v>100.128618</c:v>
                </c:pt>
                <c:pt idx="13">
                  <c:v>99.80175</c:v>
                </c:pt>
                <c:pt idx="14">
                  <c:v>100.665485</c:v>
                </c:pt>
              </c:numCache>
            </c:numRef>
          </c: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115"/>
          <c:min val="85"/>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marker"/>
        <c:ser>
          <c:idx val="0"/>
          <c:order val="0"/>
          <c:tx>
            <c:v>코어</c:v>
          </c:tx>
          <c:spPr>
            <a:solidFill xmlns:a="http://schemas.openxmlformats.org/drawingml/2006/main">
              <a:srgbClr val="487CA5"/>
            </a:solidFill>
          </c:spPr>
          <c:marker>
            <c:symbol val="circle"/>
            <c:size val="9"/>
          </c:marker>
          <c:xVal>
            <c:numRef>
              <c:f>'Chart Data'!$A$2:$A$10</c:f>
              <c:numCache>
                <c:formatCode>General</c:formatCode>
                <c:ptCount val="9"/>
                <c:pt idx="0">
                  <c:v>204632</c:v>
                </c:pt>
                <c:pt idx="1">
                  <c:v>204533</c:v>
                </c:pt>
                <c:pt idx="2">
                  <c:v>205089</c:v>
                </c:pt>
                <c:pt idx="3">
                  <c:v>205403</c:v>
                </c:pt>
                <c:pt idx="4">
                  <c:v>205156</c:v>
                </c:pt>
                <c:pt idx="5">
                  <c:v>204907</c:v>
                </c:pt>
                <c:pt idx="6">
                  <c:v>204784</c:v>
                </c:pt>
                <c:pt idx="7">
                  <c:v>205004</c:v>
                </c:pt>
                <c:pt idx="8">
                  <c:v>204642</c:v>
                </c:pt>
              </c:numCache>
            </c:numRef>
          </c:xVal>
          <c:yVal>
            <c:numRef>
              <c:f>'Chart Data'!$B$2:$B$10</c:f>
              <c:numCache>
                <c:formatCode>0</c:formatCode>
                <c:ptCount val="9"/>
                <c:pt idx="0">
                  <c:v>454773</c:v>
                </c:pt>
                <c:pt idx="1">
                  <c:v>454605</c:v>
                </c:pt>
                <c:pt idx="2">
                  <c:v>454430</c:v>
                </c:pt>
                <c:pt idx="3">
                  <c:v>455074</c:v>
                </c:pt>
                <c:pt idx="4">
                  <c:v>454641</c:v>
                </c:pt>
                <c:pt idx="5">
                  <c:v>454615</c:v>
                </c:pt>
                <c:pt idx="6">
                  <c:v>454008</c:v>
                </c:pt>
                <c:pt idx="7">
                  <c:v>454831</c:v>
                </c:pt>
                <c:pt idx="8">
                  <c:v>454283</c:v>
                </c:pt>
              </c:numCache>
            </c:numRef>
          </c:yVal>
        </c:ser>
        <c:ser>
          <c:idx val="1"/>
          <c:order val="1"/>
          <c:tx>
            <c:v>참여</c:v>
          </c:tx>
          <c:spPr>
            <a:solidFill xmlns:a="http://schemas.openxmlformats.org/drawingml/2006/main">
              <a:srgbClr val="B59369"/>
            </a:solidFill>
          </c:spPr>
          <c:marker>
            <c:symbol val="circle"/>
            <c:size val="9"/>
          </c:marker>
          <c:xVal>
            <c:numRef>
              <c:f>'Chart Data'!$C$2:$C$8</c:f>
              <c:numCache>
                <c:formatCode>General</c:formatCode>
                <c:ptCount val="7"/>
                <c:pt idx="0">
                  <c:v>204987</c:v>
                </c:pt>
                <c:pt idx="1">
                  <c:v>205315</c:v>
                </c:pt>
                <c:pt idx="2">
                  <c:v>205611</c:v>
                </c:pt>
                <c:pt idx="3">
                  <c:v>205838</c:v>
                </c:pt>
                <c:pt idx="4">
                  <c:v>204615</c:v>
                </c:pt>
                <c:pt idx="5">
                  <c:v>204828</c:v>
                </c:pt>
                <c:pt idx="6">
                  <c:v>205428</c:v>
                </c:pt>
              </c:numCache>
            </c:numRef>
          </c:xVal>
          <c:yVal>
            <c:numRef>
              <c:f>'Chart Data'!$D$2:$D$8</c:f>
              <c:numCache>
                <c:formatCode>0</c:formatCode>
                <c:ptCount val="7"/>
                <c:pt idx="0">
                  <c:v>455329</c:v>
                </c:pt>
                <c:pt idx="1">
                  <c:v>454241</c:v>
                </c:pt>
                <c:pt idx="2">
                  <c:v>454967</c:v>
                </c:pt>
                <c:pt idx="3">
                  <c:v>455017</c:v>
                </c:pt>
                <c:pt idx="4">
                  <c:v>453829</c:v>
                </c:pt>
                <c:pt idx="5">
                  <c:v>453365</c:v>
                </c:pt>
                <c:pt idx="6">
                  <c:v>454564</c:v>
                </c:pt>
              </c:numCache>
            </c:numRef>
          </c:yVal>
        </c:ser>
        <c:ser>
          <c:idx val="2"/>
          <c:order val="2"/>
          <c:tx>
            <c:v>연계</c:v>
          </c:tx>
          <c:spPr>
            <a:solidFill xmlns:a="http://schemas.openxmlformats.org/drawingml/2006/main">
              <a:srgbClr val="C9C9C6"/>
            </a:solidFill>
          </c:spPr>
          <c:marker>
            <c:symbol val="circle"/>
            <c:size val="9"/>
          </c:marker>
          <c:xVal>
            <c:numRef>
              <c:f>'Chart Data'!$E$2:$E$8</c:f>
              <c:numCache>
                <c:formatCode>General</c:formatCode>
                <c:ptCount val="7"/>
                <c:pt idx="0">
                  <c:v>204223</c:v>
                </c:pt>
                <c:pt idx="1">
                  <c:v>205511</c:v>
                </c:pt>
                <c:pt idx="2">
                  <c:v>205012</c:v>
                </c:pt>
                <c:pt idx="3">
                  <c:v>205156</c:v>
                </c:pt>
                <c:pt idx="4">
                  <c:v>204076</c:v>
                </c:pt>
                <c:pt idx="5">
                  <c:v>204193</c:v>
                </c:pt>
                <c:pt idx="6">
                  <c:v>204578</c:v>
                </c:pt>
              </c:numCache>
            </c:numRef>
          </c:xVal>
          <c:yVal>
            <c:numRef>
              <c:f>'Chart Data'!$F$2:$F$8</c:f>
              <c:numCache>
                <c:formatCode>0</c:formatCode>
                <c:ptCount val="7"/>
                <c:pt idx="0">
                  <c:v>453496</c:v>
                </c:pt>
                <c:pt idx="1">
                  <c:v>456109</c:v>
                </c:pt>
                <c:pt idx="2">
                  <c:v>453131</c:v>
                </c:pt>
                <c:pt idx="3">
                  <c:v>453263</c:v>
                </c:pt>
                <c:pt idx="4">
                  <c:v>452936</c:v>
                </c:pt>
                <c:pt idx="5">
                  <c:v>453064</c:v>
                </c:pt>
                <c:pt idx="6">
                  <c:v>453280</c:v>
                </c:pt>
              </c:numCache>
            </c:numRef>
          </c:y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valAx>
      <c:valAx>
        <c:axId val="48650112"/>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ser>
          <c:idx val="0"/>
          <c:order val="0"/>
          <c:tx>
            <c:v>상대 도달 지수 R</c:v>
          </c:tx>
          <c:spPr>
            <a:ln xmlns:a="http://schemas.openxmlformats.org/drawingml/2006/main" w="28575">
              <a:solidFill>
                <a:srgbClr val="487CA5"/>
              </a:solidFill>
            </a:ln>
          </c:spPr>
          <c:marker>
            <c:symbol val="none"/>
          </c:marker>
          <c:cat>
            <c:strRef>
              <c:f>'Chart Data'!$A$2:$A$7</c:f>
              <c:strCache>
                <c:ptCount val="6"/>
                <c:pt idx="0">
                  <c:v>0</c:v>
                </c:pt>
                <c:pt idx="1">
                  <c:v>200</c:v>
                </c:pt>
                <c:pt idx="2">
                  <c:v>400</c:v>
                </c:pt>
                <c:pt idx="3">
                  <c:v>600</c:v>
                </c:pt>
                <c:pt idx="4">
                  <c:v>800</c:v>
                </c:pt>
                <c:pt idx="5">
                  <c:v>1,000</c:v>
                </c:pt>
              </c:strCache>
            </c:strRef>
          </c:cat>
          <c:val>
            <c:numRef>
              <c:f>'Chart Data'!$B$2:$B$7</c:f>
              <c:numCache>
                <c:formatCode>0.00</c:formatCode>
                <c:ptCount val="6"/>
                <c:pt idx="0">
                  <c:v>1</c:v>
                </c:pt>
                <c:pt idx="1">
                  <c:v>0.78836</c:v>
                </c:pt>
                <c:pt idx="2">
                  <c:v>0.621512</c:v>
                </c:pt>
                <c:pt idx="3">
                  <c:v>0.489975</c:v>
                </c:pt>
                <c:pt idx="4">
                  <c:v>0.386277</c:v>
                </c:pt>
                <c:pt idx="5">
                  <c:v>0.304526</c:v>
                </c:pt>
              </c:numCache>
            </c:numRef>
          </c: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거리 (m)</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상대 도달 지수 R</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0.2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기존</c:v>
          </c:tx>
          <c:spPr>
            <a:solidFill xmlns:a="http://schemas.openxmlformats.org/drawingml/2006/main">
              <a:srgbClr val="D9D9D6"/>
            </a:solidFill>
          </c:spPr>
          <c:cat>
            <c:strRef>
              <c:f>'Chart Data'!$A$2:$A$5</c:f>
              <c:strCache>
                <c:ptCount val="4"/>
                <c:pt idx="0">
                  <c:v>시립대앞사거리</c:v>
                </c:pt>
                <c:pt idx="1">
                  <c:v>회기역 1번</c:v>
                </c:pt>
                <c:pt idx="2">
                  <c:v>시조사삼거리</c:v>
                </c:pt>
                <c:pt idx="3">
                  <c:v>이경시장</c:v>
                </c:pt>
              </c:strCache>
            </c:strRef>
          </c:cat>
          <c:val>
            <c:numRef>
              <c:f>'Chart Data'!$B$2:$B$5</c:f>
              <c:numCache>
                <c:formatCode>0</c:formatCode>
                <c:ptCount val="4"/>
                <c:pt idx="0">
                  <c:v>3</c:v>
                </c:pt>
                <c:pt idx="1">
                  <c:v>2</c:v>
                </c:pt>
                <c:pt idx="2">
                  <c:v>2</c:v>
                </c:pt>
                <c:pt idx="3">
                  <c:v>3</c:v>
                </c:pt>
              </c:numCache>
            </c:numRef>
          </c:val>
        </c:ser>
        <c:ser>
          <c:idx val="1"/>
          <c:order val="1"/>
          <c:tx>
            <c:v>최종</c:v>
          </c:tx>
          <c:spPr>
            <a:solidFill xmlns:a="http://schemas.openxmlformats.org/drawingml/2006/main">
              <a:srgbClr val="487CA5"/>
            </a:solidFill>
          </c:spPr>
          <c:cat>
            <c:strRef>
              <c:f>'Chart Data'!$C$2:$C$5</c:f>
              <c:strCache>
                <c:ptCount val="4"/>
                <c:pt idx="0">
                  <c:v>시립대앞사거리</c:v>
                </c:pt>
                <c:pt idx="1">
                  <c:v>회기역 1번</c:v>
                </c:pt>
                <c:pt idx="2">
                  <c:v>시조사삼거리</c:v>
                </c:pt>
                <c:pt idx="3">
                  <c:v>이경시장</c:v>
                </c:pt>
              </c:strCache>
            </c:strRef>
          </c:cat>
          <c:val>
            <c:numRef>
              <c:f>'Chart Data'!$D$2:$D$5</c:f>
              <c:numCache>
                <c:formatCode>0</c:formatCode>
                <c:ptCount val="4"/>
                <c:pt idx="0">
                  <c:v>6</c:v>
                </c:pt>
                <c:pt idx="1">
                  <c:v>6</c:v>
                </c:pt>
                <c:pt idx="2">
                  <c:v>6</c:v>
                </c:pt>
                <c:pt idx="3">
                  <c:v>3</c:v>
                </c:pt>
              </c:numCache>
            </c:numRef>
          </c:val>
        </c:ser>
        <c:dLbls>
          <c:txPr>
            <a:bodyPr xmlns:a="http://schemas.openxmlformats.org/drawingml/2006/main" anchorCtr="1"/>
            <a:lstStyle xmlns:a="http://schemas.openxmlformats.org/drawingml/2006/main"/>
            <a:p xmlns:a="http://schemas.openxmlformats.org/drawingml/2006/main">
              <a:pPr>
                <a:defRPr sz="1575">
                  <a:latin typeface="Malgun Gothic"/>
                  <a:ea typeface="Malgun Gothic"/>
                  <a:cs typeface="Malgun Gothic"/>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7"/>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소외도 상위 5곳</c:v>
          </c:tx>
          <c:spPr>
            <a:solidFill xmlns:a="http://schemas.openxmlformats.org/drawingml/2006/main">
              <a:srgbClr val="487CA5"/>
            </a:solidFill>
          </c:spPr>
          <c:cat>
            <c:strRef>
              <c:f>'Chart Data'!$A$2:$A$3</c:f>
              <c:strCache>
                <c:ptCount val="2"/>
                <c:pt idx="0">
                  <c:v>기존 배정</c:v>
                </c:pt>
                <c:pt idx="1">
                  <c:v>최종 배정</c:v>
                </c:pt>
              </c:strCache>
            </c:strRef>
          </c:cat>
          <c:val>
            <c:numRef>
              <c:f>'Chart Data'!$B$2:$B$3</c:f>
              <c:numCache>
                <c:formatCode>0</c:formatCode>
                <c:ptCount val="2"/>
                <c:pt idx="0">
                  <c:v>13</c:v>
                </c:pt>
                <c:pt idx="1">
                  <c:v>27</c:v>
                </c:pt>
              </c:numCache>
            </c:numRef>
          </c:val>
        </c:ser>
        <c:ser>
          <c:idx val="1"/>
          <c:order val="1"/>
          <c:tx>
            <c:v>나머지 대상 11곳</c:v>
          </c:tx>
          <c:spPr>
            <a:solidFill xmlns:a="http://schemas.openxmlformats.org/drawingml/2006/main">
              <a:srgbClr val="CBCBC7"/>
            </a:solidFill>
          </c:spPr>
          <c:cat>
            <c:strRef>
              <c:f>'Chart Data'!$C$2:$C$3</c:f>
              <c:strCache>
                <c:ptCount val="2"/>
                <c:pt idx="0">
                  <c:v>기존 배정</c:v>
                </c:pt>
                <c:pt idx="1">
                  <c:v>최종 배정</c:v>
                </c:pt>
              </c:strCache>
            </c:strRef>
          </c:cat>
          <c:val>
            <c:numRef>
              <c:f>'Chart Data'!$D$2:$D$3</c:f>
              <c:numCache>
                <c:formatCode>0</c:formatCode>
                <c:ptCount val="2"/>
                <c:pt idx="0">
                  <c:v>37</c:v>
                </c:pt>
                <c:pt idx="1">
                  <c:v>33</c:v>
                </c:pt>
              </c:numCache>
            </c:numRef>
          </c:val>
        </c:ser>
        <c:ser>
          <c:idx val="2"/>
          <c:order val="2"/>
          <c:tx>
            <c:v>연계 7곳</c:v>
          </c:tx>
          <c:spPr>
            <a:solidFill xmlns:a="http://schemas.openxmlformats.org/drawingml/2006/main">
              <a:srgbClr val="EAEAE7"/>
            </a:solidFill>
          </c:spPr>
          <c:dLbls>
            <c:dLbl>
              <c:idx val="1"/>
              <c:showLegendKey val="0"/>
              <c:showVal val="0"/>
              <c:showCatName val="0"/>
              <c:showSerName val="0"/>
              <c:showPercent val="0"/>
              <c:showBubbleSize val="0"/>
            </c:dLbl>
          </c:dLbls>
          <c:cat>
            <c:strRef>
              <c:f>'Chart Data'!$E$2:$E$3</c:f>
              <c:strCache>
                <c:ptCount val="2"/>
                <c:pt idx="0">
                  <c:v>기존 배정</c:v>
                </c:pt>
                <c:pt idx="1">
                  <c:v>최종 배정</c:v>
                </c:pt>
              </c:strCache>
            </c:strRef>
          </c:cat>
          <c:val>
            <c:numRef>
              <c:f>'Chart Data'!$F$2:$F$3</c:f>
              <c:numCache>
                <c:formatCode>0</c:formatCode>
                <c:ptCount val="2"/>
                <c:pt idx="0">
                  <c:v>10</c:v>
                </c:pt>
                <c:pt idx="1">
                  <c:v>0</c:v>
                </c:pt>
              </c:numCache>
            </c:numRef>
          </c:val>
        </c:ser>
        <c:dLbls>
          <c:txPr>
            <a:bodyPr xmlns:a="http://schemas.openxmlformats.org/drawingml/2006/main" anchorCtr="1"/>
            <a:lstStyle xmlns:a="http://schemas.openxmlformats.org/drawingml/2006/main"/>
            <a:p xmlns:a="http://schemas.openxmlformats.org/drawingml/2006/main">
              <a:pPr>
                <a:defRPr sz="1575">
                  <a:latin typeface="Malgun Gothic"/>
                  <a:ea typeface="Malgun Gothic"/>
                  <a:cs typeface="Malgun Gothic"/>
                </a:defRPr>
              </a:pPr>
            </a:p>
          </c:txPr>
          <c:dLblPos val="ctr"/>
          <c:showLegendKey val="0"/>
          <c:showVal val="1"/>
          <c:showCatName val="0"/>
          <c:showSerName val="0"/>
          <c:showPercent val="0"/>
          <c:showBubbleSize val="0"/>
          <c:showLeaderLines val="0"/>
        </c:dLbls>
        <c:overlap val="10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60"/>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평균 절대 Shapley 비중 (%)</c:v>
          </c:tx>
          <c:spPr>
            <a:solidFill xmlns:a="http://schemas.openxmlformats.org/drawingml/2006/main">
              <a:srgbClr val="487CA5"/>
            </a:solidFill>
          </c:spPr>
          <c:cat>
            <c:strRef>
              <c:f>'Chart Data'!$A$2:$A$4</c:f>
              <c:strCache>
                <c:ptCount val="3"/>
                <c:pt idx="0">
                  <c:v>D 하락</c:v>
                </c:pt>
                <c:pt idx="1">
                  <c:v>L 저활력</c:v>
                </c:pt>
                <c:pt idx="2">
                  <c:v>R 도달</c:v>
                </c:pt>
              </c:strCache>
            </c:strRef>
          </c:cat>
          <c:val>
            <c:numRef>
              <c:f>'Chart Data'!$B$2:$B$4</c:f>
              <c:numCache>
                <c:formatCode>0</c:formatCode>
                <c:ptCount val="3"/>
                <c:pt idx="0">
                  <c:v>41.5</c:v>
                </c:pt>
                <c:pt idx="1">
                  <c:v>41.6</c:v>
                </c:pt>
                <c:pt idx="2">
                  <c:v>16.9</c:v>
                </c:pt>
              </c:numCache>
            </c:numRef>
          </c:val>
        </c:ser>
        <c:dLbls>
          <c:txPr>
            <a:bodyPr xmlns:a="http://schemas.openxmlformats.org/drawingml/2006/main" anchorCtr="1"/>
            <a:lstStyle xmlns:a="http://schemas.openxmlformats.org/drawingml/2006/main"/>
            <a:p xmlns:a="http://schemas.openxmlformats.org/drawingml/2006/main">
              <a:pPr>
                <a:defRPr sz="1575">
                  <a:latin typeface="Malgun Gothic"/>
                  <a:ea typeface="Malgun Gothic"/>
                  <a:cs typeface="Malgun Gothic"/>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50"/>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98EBDB98-1B65-48C6-A991-B47F45531966}"/>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9DDE85-DCAD-4F96-9402-91638783ED71}"/>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9DE028A-6FD2-4E13-BDCA-87CB32BD67CD}"/>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8F5EE2E7-1381-4B0E-AE4B-2556277C4CA3}"/>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3EA7AEE2-F8E3-478F-B999-36188AB40146}"/>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D3F3FF17-3288-4F49-B562-3E6DBEFA64E1}"/>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04E89A34-0CFA-4916-9C08-7590E935150C}"/>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A6B336E1-DBA2-4819-8B5E-48E012E77E76}"/>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8C08CD14-C439-46DE-9A66-78188B70EC7E}"/>
              </a:ext>
            </a:extLst>
          </p:cNvPr>
          <p:cNvSpPr>
            <a:spLocks xmlns:a="http://schemas.openxmlformats.org/drawingml/2006/main" noGrp="1"/>
          </p:cNvSpPr>
          <p:nvPr/>
        </p:nvSpPr>
        <p:spPr>
          <a:xfrm xmlns:a="http://schemas.openxmlformats.org/drawingml/2006/main">
            <a:off x="95250" y="296227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14021E2-ACD7-4FB6-A190-34360D25CBBB}"/>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1" name="">
            <a:extLst xmlns:a="http://schemas.openxmlformats.org/drawingml/2006/main">
              <a:ext uri="{FF2B5EF4-FFF2-40B4-BE49-F238E27FC236}">
                <a16:creationId xmlns:a16="http://schemas.microsoft.com/office/drawing/2014/main" id="{AD08E9D7-E346-46E6-93BB-715C83CD097F}"/>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1FF5EDA-F45E-4B7E-AC73-F9A099ADD1B4}"/>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66D526B-4FEA-4A1D-8470-1ED9A3CCCEB6}"/>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826005A-FD8F-4CA6-91BD-9B3EC0840CF6}"/>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프로젝트 개요</a:t>
            </a:r>
          </a:p>
        </p:txBody>
      </p:sp>
      <p:sp>
        <p:nvSpPr>
          <p:cNvPr id="15" name="">
            <a:extLst xmlns:a="http://schemas.openxmlformats.org/drawingml/2006/main">
              <a:ext uri="{FF2B5EF4-FFF2-40B4-BE49-F238E27FC236}">
                <a16:creationId xmlns:a16="http://schemas.microsoft.com/office/drawing/2014/main" id="{400C9003-E2CD-4113-B7B1-3A3765557300}"/>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6" name="">
            <a:extLst xmlns:a="http://schemas.openxmlformats.org/drawingml/2006/main">
              <a:ext uri="{FF2B5EF4-FFF2-40B4-BE49-F238E27FC236}">
                <a16:creationId xmlns:a16="http://schemas.microsoft.com/office/drawing/2014/main" id="{1C31A25B-AD30-4C7E-A0EE-762E0CEFD662}"/>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7CAD21A-B17D-44B7-8913-0BAEAE17443C}"/>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815E804-365E-4CC9-8012-B674E1AA28CC}"/>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F955E57-45FC-4A90-8E7A-BE7FA1F4793E}"/>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20" name="">
            <a:extLst xmlns:a="http://schemas.openxmlformats.org/drawingml/2006/main">
              <a:ext uri="{FF2B5EF4-FFF2-40B4-BE49-F238E27FC236}">
                <a16:creationId xmlns:a16="http://schemas.microsoft.com/office/drawing/2014/main" id="{7350A9D5-250B-4DEB-8CDA-514CC09C924F}"/>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1D2AE16F-2EEA-4822-8B5B-C8B02D7D477B}"/>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FE9F558-16A7-4A3E-B9B9-2FCB858C022F}"/>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1BB4AEC-F597-4804-BDE0-775CB6C5E612}"/>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01DB717-1300-44E0-BB35-84A7B77F63CF}"/>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DD8D2C27-6B47-4852-9379-2A663AA47D7A}"/>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981ED6F1-5430-4740-8B13-BD621F1A3C88}"/>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8B20D30-6214-4C91-A494-C7EB3625F68F}"/>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0EE5A9F-0BFA-4C38-8C12-1DADF52BE95B}"/>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80E91808-5F3C-4D43-A9B7-92BC5B4C6ECE}"/>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876D8D79-8A35-43BE-A960-1402EE8DF51B}"/>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484CD486-570A-4E86-833A-091BB3EAA771}"/>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AF6F38F-097E-4FC7-B09F-4C6B2402EB2C}"/>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EB8BFDD8-51C2-4407-8133-BBE3E26899F0}"/>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BCC4BAAB-D4E2-472B-ACFD-367C2142E8B5}"/>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B418549B-F229-4AA7-A9E9-D4446D0639A2}"/>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FDD5BFD0-EDCF-41CB-9786-D600A107B6AA}"/>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098F1440-FECB-4B32-A2E9-00558563DAFE}"/>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C564C411-6F3D-4FB5-8D74-DEB23D466094}"/>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E5016EC7-668B-4CCD-8D57-F71F3C9FE6A3}"/>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A04B4EFF-FB9F-4F7D-A341-E1425450CC42}"/>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88242F5E-9AB1-43F6-BA42-941B65F70F35}"/>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E41802A9-9F52-4197-B05F-2A7FDBD8DF37}"/>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1510E2A1-25BF-4421-BD3D-5B52BD013F13}"/>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6083C68C-34D5-4A05-B271-7F67C3279441}"/>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3F53D5ED-9589-48B4-8267-C485F235C37F}"/>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B42088DA-0745-49E1-BFD9-A851F5165E0B}"/>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33BF2969-DD05-431A-A6FE-9B103A22C455}"/>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DA798DFD-C48A-4F9A-85DB-EBF3CC29C713}"/>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BDD0722F-991E-4DEA-A2DD-684395E3F159}"/>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2D434484-88E1-4228-B1BD-8FA0D35E8E11}"/>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30C8A2D1-C137-4DE0-B55D-F28BC565D8C4}"/>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69CDAF4F-8B31-456C-9435-2DEE08289E45}"/>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TROIKA 스탬프 배정안</a:t>
            </a:r>
          </a:p>
        </p:txBody>
      </p:sp>
      <p:sp>
        <p:nvSpPr>
          <p:cNvPr id="53" name="">
            <a:extLst xmlns:a="http://schemas.openxmlformats.org/drawingml/2006/main">
              <a:ext uri="{FF2B5EF4-FFF2-40B4-BE49-F238E27FC236}">
                <a16:creationId xmlns:a16="http://schemas.microsoft.com/office/drawing/2014/main" id="{D5415C10-675E-4C2A-8E6F-0C9EC3AD39D9}"/>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E1C46B95-E46D-40B7-BE78-015D6FD7F1E0}"/>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6C4F141D-E6BB-4720-AA03-8F6A331AE5FA}"/>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BFF5FB49-48B2-40A9-851F-52AF34B4D596}"/>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D83983B1-9250-46BC-93BF-4D5CCC91837F}"/>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FC61B82C-627A-456C-AE22-E912DEFE6165}"/>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TROIKA 스탬프 배정안</a:t>
            </a:r>
          </a:p>
        </p:txBody>
      </p:sp>
      <p:sp>
        <p:nvSpPr>
          <p:cNvPr id="59" name="">
            <a:extLst xmlns:a="http://schemas.openxmlformats.org/drawingml/2006/main">
              <a:ext uri="{FF2B5EF4-FFF2-40B4-BE49-F238E27FC236}">
                <a16:creationId xmlns:a16="http://schemas.microsoft.com/office/drawing/2014/main" id="{8ACC7D37-2945-43F6-BCD6-A6AA79539BDC}"/>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서울시 상권 자료 기반 정책제안</a:t>
            </a:r>
          </a:p>
        </p:txBody>
      </p:sp>
      <p:sp>
        <p:nvSpPr>
          <p:cNvPr id="60" name="">
            <a:extLst xmlns:a="http://schemas.openxmlformats.org/drawingml/2006/main">
              <a:ext uri="{FF2B5EF4-FFF2-40B4-BE49-F238E27FC236}">
                <a16:creationId xmlns:a16="http://schemas.microsoft.com/office/drawing/2014/main" id="{4CF5B836-83DB-486A-99C2-EB32E67BACDD}"/>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F75C0AB2-FE3C-4AAC-9F3D-F49A60F70DE7}"/>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01 / 11</a:t>
            </a:r>
          </a:p>
        </p:txBody>
      </p:sp>
      <p:sp>
        <p:nvSpPr>
          <p:cNvPr id="62" name="">
            <a:extLst xmlns:a="http://schemas.openxmlformats.org/drawingml/2006/main">
              <a:ext uri="{FF2B5EF4-FFF2-40B4-BE49-F238E27FC236}">
                <a16:creationId xmlns:a16="http://schemas.microsoft.com/office/drawing/2014/main" id="{A893A5E8-083B-419F-B6B7-ACCBEDEBD95C}"/>
              </a:ext>
            </a:extLst>
          </p:cNvPr>
          <p:cNvSpPr>
            <a:spLocks xmlns:a="http://schemas.openxmlformats.org/drawingml/2006/main" noGrp="1"/>
          </p:cNvSpPr>
          <p:nvPr/>
        </p:nvSpPr>
        <p:spPr>
          <a:xfrm xmlns:a="http://schemas.openxmlformats.org/drawingml/2006/main">
            <a:off x="3048000" y="3419475"/>
            <a:ext cx="1123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525" b="1">
                <a:solidFill>
                  <a:srgbClr val="37352F"/>
                </a:solidFill>
                <a:latin typeface="Malgun Gothic"/>
                <a:ea typeface="Malgun Gothic"/>
                <a:cs typeface="Malgun Gothic"/>
              </a:defRPr>
            </a:pPr>
            <a:r>
              <a:rPr sz="3525" b="1">
                <a:solidFill>
                  <a:srgbClr val="37352F"/>
                </a:solidFill>
                <a:latin typeface="Malgun Gothic"/>
                <a:ea typeface="Malgun Gothic"/>
                <a:cs typeface="Malgun Gothic"/>
              </a:rPr>
              <a:t>회기·이문·전농 상권을 잇는</a:t>
            </a:r>
          </a:p>
          <a:p xmlns:a="http://schemas.openxmlformats.org/drawingml/2006/main">
            <a:pPr>
              <a:defRPr sz="3525" b="1">
                <a:solidFill>
                  <a:srgbClr val="37352F"/>
                </a:solidFill>
                <a:latin typeface="Malgun Gothic"/>
                <a:ea typeface="Malgun Gothic"/>
                <a:cs typeface="Malgun Gothic"/>
              </a:defRPr>
            </a:pPr>
            <a:r>
              <a:rPr sz="3525" b="1">
                <a:solidFill>
                  <a:srgbClr val="37352F"/>
                </a:solidFill>
                <a:latin typeface="Malgun Gothic"/>
                <a:ea typeface="Malgun Gothic"/>
                <a:cs typeface="Malgun Gothic"/>
              </a:rPr>
              <a:t>스탬프 모집 배정</a:t>
            </a:r>
          </a:p>
        </p:txBody>
      </p:sp>
      <p:sp>
        <p:nvSpPr>
          <p:cNvPr id="63" name="">
            <a:extLst xmlns:a="http://schemas.openxmlformats.org/drawingml/2006/main">
              <a:ext uri="{FF2B5EF4-FFF2-40B4-BE49-F238E27FC236}">
                <a16:creationId xmlns:a16="http://schemas.microsoft.com/office/drawing/2014/main" id="{8F964EAA-7FD3-4022-B33C-D7D2B1A5DD83}"/>
              </a:ext>
            </a:extLst>
          </p:cNvPr>
          <p:cNvSpPr>
            <a:spLocks xmlns:a="http://schemas.openxmlformats.org/drawingml/2006/main" noGrp="1"/>
          </p:cNvSpPr>
          <p:nvPr/>
        </p:nvSpPr>
        <p:spPr>
          <a:xfrm xmlns:a="http://schemas.openxmlformats.org/drawingml/2006/main">
            <a:off x="3048000" y="5038725"/>
            <a:ext cx="5143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75" b="1">
                <a:solidFill>
                  <a:srgbClr val="37352F"/>
                </a:solidFill>
                <a:latin typeface="Malgun Gothic"/>
                <a:ea typeface="Malgun Gothic"/>
                <a:cs typeface="Malgun Gothic"/>
              </a:defRPr>
            </a:pPr>
            <a:r>
              <a:rPr sz="4875" b="1">
                <a:solidFill>
                  <a:srgbClr val="37352F"/>
                </a:solidFill>
                <a:latin typeface="Malgun Gothic"/>
                <a:ea typeface="Malgun Gothic"/>
                <a:cs typeface="Malgun Gothic"/>
              </a:rPr>
              <a:t>16개 상권</a:t>
            </a:r>
          </a:p>
        </p:txBody>
      </p:sp>
      <p:sp>
        <p:nvSpPr>
          <p:cNvPr id="64" name="">
            <a:extLst xmlns:a="http://schemas.openxmlformats.org/drawingml/2006/main">
              <a:ext uri="{FF2B5EF4-FFF2-40B4-BE49-F238E27FC236}">
                <a16:creationId xmlns:a16="http://schemas.microsoft.com/office/drawing/2014/main" id="{8DE2F104-4550-43A2-A0A8-643ED76A3D8C}"/>
              </a:ext>
            </a:extLst>
          </p:cNvPr>
          <p:cNvSpPr>
            <a:spLocks xmlns:a="http://schemas.openxmlformats.org/drawingml/2006/main" noGrp="1"/>
          </p:cNvSpPr>
          <p:nvPr/>
        </p:nvSpPr>
        <p:spPr>
          <a:xfrm xmlns:a="http://schemas.openxmlformats.org/drawingml/2006/main">
            <a:off x="8934450" y="5038725"/>
            <a:ext cx="5619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75" b="1">
                <a:solidFill>
                  <a:srgbClr val="37352F"/>
                </a:solidFill>
                <a:latin typeface="Malgun Gothic"/>
                <a:ea typeface="Malgun Gothic"/>
                <a:cs typeface="Malgun Gothic"/>
              </a:defRPr>
            </a:pPr>
            <a:r>
              <a:rPr sz="4875" b="1">
                <a:solidFill>
                  <a:srgbClr val="37352F"/>
                </a:solidFill>
                <a:latin typeface="Malgun Gothic"/>
                <a:ea typeface="Malgun Gothic"/>
                <a:cs typeface="Malgun Gothic"/>
              </a:rPr>
              <a:t>60개 배정</a:t>
            </a:r>
          </a:p>
        </p:txBody>
      </p:sp>
      <p:sp>
        <p:nvSpPr>
          <p:cNvPr id="65" name="">
            <a:extLst xmlns:a="http://schemas.openxmlformats.org/drawingml/2006/main">
              <a:ext uri="{FF2B5EF4-FFF2-40B4-BE49-F238E27FC236}">
                <a16:creationId xmlns:a16="http://schemas.microsoft.com/office/drawing/2014/main" id="{9DAA6243-D104-4BDA-ACDF-EBA7DC170A5E}"/>
              </a:ext>
            </a:extLst>
          </p:cNvPr>
          <p:cNvSpPr>
            <a:spLocks xmlns:a="http://schemas.openxmlformats.org/drawingml/2006/main" noGrp="1"/>
          </p:cNvSpPr>
          <p:nvPr/>
        </p:nvSpPr>
        <p:spPr>
          <a:xfrm xmlns:a="http://schemas.openxmlformats.org/drawingml/2006/main">
            <a:off x="3048000" y="6543675"/>
            <a:ext cx="11506200" cy="790575"/>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ECB288AF-ABFF-4BAB-A354-FFDDC70F182B}"/>
              </a:ext>
            </a:extLst>
          </p:cNvPr>
          <p:cNvSpPr>
            <a:spLocks xmlns:a="http://schemas.openxmlformats.org/drawingml/2006/main" noGrp="1"/>
          </p:cNvSpPr>
          <p:nvPr/>
        </p:nvSpPr>
        <p:spPr>
          <a:xfrm xmlns:a="http://schemas.openxmlformats.org/drawingml/2006/main">
            <a:off x="3238500" y="666750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7" name="">
            <a:extLst xmlns:a="http://schemas.openxmlformats.org/drawingml/2006/main">
              <a:ext uri="{FF2B5EF4-FFF2-40B4-BE49-F238E27FC236}">
                <a16:creationId xmlns:a16="http://schemas.microsoft.com/office/drawing/2014/main" id="{C9BF1128-EE53-4973-857E-2C9E01B4CAB9}"/>
              </a:ext>
            </a:extLst>
          </p:cNvPr>
          <p:cNvSpPr>
            <a:spLocks xmlns:a="http://schemas.openxmlformats.org/drawingml/2006/main" noGrp="1"/>
          </p:cNvSpPr>
          <p:nvPr/>
        </p:nvSpPr>
        <p:spPr>
          <a:xfrm xmlns:a="http://schemas.openxmlformats.org/drawingml/2006/main">
            <a:off x="3714750" y="6657975"/>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지원 필요도가 높은 상권으로 방문을 연결하는 시범 운영 제안</a:t>
            </a:r>
          </a:p>
        </p:txBody>
      </p:sp>
      <p:sp>
        <p:nvSpPr>
          <p:cNvPr id="68" name="">
            <a:extLst xmlns:a="http://schemas.openxmlformats.org/drawingml/2006/main">
              <a:ext uri="{FF2B5EF4-FFF2-40B4-BE49-F238E27FC236}">
                <a16:creationId xmlns:a16="http://schemas.microsoft.com/office/drawing/2014/main" id="{8BC21074-6A7C-4B60-852F-D9704F8DF477}"/>
              </a:ext>
            </a:extLst>
          </p:cNvPr>
          <p:cNvSpPr>
            <a:spLocks xmlns:a="http://schemas.openxmlformats.org/drawingml/2006/main" noGrp="1"/>
          </p:cNvSpPr>
          <p:nvPr/>
        </p:nvSpPr>
        <p:spPr>
          <a:xfrm xmlns:a="http://schemas.openxmlformats.org/drawingml/2006/main">
            <a:off x="3048000" y="774382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787774"/>
                </a:solidFill>
                <a:latin typeface="Malgun Gothic"/>
                <a:ea typeface="Malgun Gothic"/>
                <a:cs typeface="Malgun Gothic"/>
              </a:defRPr>
            </a:pPr>
            <a:r>
              <a:rPr sz="1500" b="0">
                <a:solidFill>
                  <a:srgbClr val="787774"/>
                </a:solidFill>
                <a:latin typeface="Malgun Gothic"/>
                <a:ea typeface="Malgun Gothic"/>
                <a:cs typeface="Malgun Gothic"/>
              </a:rPr>
              <a:t>TROIKA  ·  2026.09</a:t>
            </a:r>
          </a:p>
        </p:txBody>
      </p:sp>
    </p:spTree>
    <p:extLst>
      <p:ext uri="{BB962C8B-B14F-4D97-AF65-F5344CB8AC3E}">
        <p14:creationId xmlns:p14="http://schemas.microsoft.com/office/powerpoint/2010/main" val="159311605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 name="">
            <a:extLst xmlns:a="http://schemas.openxmlformats.org/drawingml/2006/main">
              <a:ext uri="{FF2B5EF4-FFF2-40B4-BE49-F238E27FC236}">
                <a16:creationId xmlns:a16="http://schemas.microsoft.com/office/drawing/2014/main" id="{777E02B6-A3D8-4794-AD05-CB4999309F7D}"/>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8D09CD-CD82-4282-964F-9F8F5341BC0D}"/>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0D44102-48F5-495A-9442-55A2F37CDD08}"/>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12628580-11BC-43FD-B7CE-BB53D6411359}"/>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118ED576-FB2C-4474-A586-CE2A525EDD04}"/>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E83AC366-3173-405D-A8EF-7A5EC59B59F2}"/>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63F56E3B-CB01-48E0-B78E-AAB27AF1D93D}"/>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4E9CE50D-83D4-4948-AC5D-849D13230627}"/>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C787BC90-578F-4F48-930C-008AE5E69442}"/>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965685AE-05B3-441E-A4E7-942D86247600}"/>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C8A5561-BFCF-4BCD-82AF-55504E90D86F}"/>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5805276-ADCF-466B-845B-E435997B1114}"/>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17375AB-2200-40AB-A150-AEF1294B3932}"/>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CD639C83-377E-440B-A865-4571C0DB62A2}"/>
              </a:ext>
            </a:extLst>
          </p:cNvPr>
          <p:cNvSpPr>
            <a:spLocks xmlns:a="http://schemas.openxmlformats.org/drawingml/2006/main" noGrp="1"/>
          </p:cNvSpPr>
          <p:nvPr/>
        </p:nvSpPr>
        <p:spPr>
          <a:xfrm xmlns:a="http://schemas.openxmlformats.org/drawingml/2006/main">
            <a:off x="95250" y="337185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3E2E48C-FC16-48D2-8DCF-EEB21679AB7C}"/>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6" name="">
            <a:extLst xmlns:a="http://schemas.openxmlformats.org/drawingml/2006/main">
              <a:ext uri="{FF2B5EF4-FFF2-40B4-BE49-F238E27FC236}">
                <a16:creationId xmlns:a16="http://schemas.microsoft.com/office/drawing/2014/main" id="{3AD78B41-C948-46F4-AF7B-60463A3C84C6}"/>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D2FCDA5-D10A-4D17-A922-22FA335DD9AF}"/>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BA14F4E-8BE4-4231-A27B-69855A323CC9}"/>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2116335-CEFA-4B4C-9D2A-989E7737CD5D}"/>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문제와 참여 범위</a:t>
            </a:r>
          </a:p>
        </p:txBody>
      </p:sp>
      <p:sp>
        <p:nvSpPr>
          <p:cNvPr id="20" name="">
            <a:extLst xmlns:a="http://schemas.openxmlformats.org/drawingml/2006/main">
              <a:ext uri="{FF2B5EF4-FFF2-40B4-BE49-F238E27FC236}">
                <a16:creationId xmlns:a16="http://schemas.microsoft.com/office/drawing/2014/main" id="{AEF5F729-4A2A-495F-9E40-7A20CF630634}"/>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05C6A96C-FBF2-4E36-8516-04D0136B6B5D}"/>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DA9B4FB-BA54-4BE6-945A-C9E55A6F0BCD}"/>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00D37A3-D98F-4282-A434-6CA5430F7073}"/>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5BAB699-9BEE-4331-91A2-BBD1F1238C52}"/>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8B89FE5F-EEE4-4D87-92E7-AB4FC077757E}"/>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A942198F-24B7-4ED3-B1BC-2F96D7A83AAD}"/>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A2A4DC6-9C0B-4E07-B17D-1E2184E3DD0B}"/>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2A96B16-33EE-4DDA-886A-7ED4851FE459}"/>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A696D53-EDEF-4A2E-8A35-DDCE380C19B0}"/>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9DF042DC-641B-4F2A-8E2C-6256E3153E20}"/>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6CE7FA81-E161-4399-9895-9C923CAC9DD4}"/>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C50FB34-E479-4A0D-9867-B7ACC4EFA5ED}"/>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9FEB1226-2137-4E74-B33E-2907E25DF96C}"/>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DDB6046F-1C9F-4D5B-8C49-E0995EFB2ACB}"/>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B98D62C4-5516-4768-AAD1-BC3D13AB5CD9}"/>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7D1363D8-CB1B-4F18-9936-DD79805D4190}"/>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2FEF58F1-9093-4B5D-BA3C-BAEF194DC1C5}"/>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86348CD9-5B7C-4AAB-8F04-6334BA9F47EA}"/>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FF13D39C-8988-42F0-9233-AE7C8554D871}"/>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033E9B46-43ED-4E71-B758-719076320FB1}"/>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8D6EBD2D-BA8B-484E-83E6-DA8CA9565F70}"/>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D190895-27D0-4B41-9D19-9396CF4035C1}"/>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C325AF73-6AEF-4814-ABED-5181377935DF}"/>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D1578062-266C-42B1-8103-E2830622982C}"/>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DF043280-8549-4589-8701-DFAEAF2E412A}"/>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A0A86E4E-CB9F-46F8-A5E7-6338B55B54C9}"/>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45D141FC-59E1-4269-B856-7F699D923598}"/>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56FCF7CB-656F-4779-B193-11FAF855837A}"/>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4355A6A9-9AAC-4FA2-BF18-35710171B8AC}"/>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AEDA28D5-DECA-4B01-996B-A5222E679DB9}"/>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CBD4F682-A14D-489F-866C-D82E1571D14E}"/>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F749C4FF-4524-4BB6-8BDB-D58F7F45B575}"/>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20대 유동과 추정매출</a:t>
            </a:r>
          </a:p>
        </p:txBody>
      </p:sp>
      <p:sp>
        <p:nvSpPr>
          <p:cNvPr id="53" name="">
            <a:extLst xmlns:a="http://schemas.openxmlformats.org/drawingml/2006/main">
              <a:ext uri="{FF2B5EF4-FFF2-40B4-BE49-F238E27FC236}">
                <a16:creationId xmlns:a16="http://schemas.microsoft.com/office/drawing/2014/main" id="{ECF8CA84-9A7B-462A-A29B-BE19DC55B175}"/>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784687B3-3714-429B-A2DE-6104408D1D1B}"/>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71769679-50B8-4FD8-AB37-F47F43E9A390}"/>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4D5E7B46-F2AD-4635-AB6A-719DADC29CE2}"/>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40E2A91B-6B25-4B12-AD6E-521ED4BCBA3E}"/>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BABB495C-49F5-45F8-A698-6DD3A27C1545}"/>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20대 유동과 추정매출</a:t>
            </a:r>
          </a:p>
        </p:txBody>
      </p:sp>
      <p:sp>
        <p:nvSpPr>
          <p:cNvPr id="59" name="">
            <a:extLst xmlns:a="http://schemas.openxmlformats.org/drawingml/2006/main">
              <a:ext uri="{FF2B5EF4-FFF2-40B4-BE49-F238E27FC236}">
                <a16:creationId xmlns:a16="http://schemas.microsoft.com/office/drawing/2014/main" id="{E5FECAB8-9787-481A-828D-1B0ABF639BA0}"/>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코어 9곳의 4분기 이동평균 · 2022년 4분기 = 100</a:t>
            </a:r>
          </a:p>
        </p:txBody>
      </p:sp>
      <p:sp>
        <p:nvSpPr>
          <p:cNvPr id="60" name="">
            <a:extLst xmlns:a="http://schemas.openxmlformats.org/drawingml/2006/main">
              <a:ext uri="{FF2B5EF4-FFF2-40B4-BE49-F238E27FC236}">
                <a16:creationId xmlns:a16="http://schemas.microsoft.com/office/drawing/2014/main" id="{9320B9FF-4AB8-4E22-89A5-8C2D626674C4}"/>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4F62F6A8-6B08-4774-9247-AFC4265A77A6}"/>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02 / 11</a:t>
            </a:r>
          </a:p>
        </p:txBody>
      </p:sp>
      <p:graphicFrame>
        <p:nvGraphicFramePr>
          <p:cNvPr id="132" name="Chart"/>
          <p:cNvGraphicFramePr/>
          <p:nvPr/>
        </p:nvGraphicFramePr>
        <p:xfrm>
          <a:off xmlns:a="http://schemas.openxmlformats.org/drawingml/2006/main" x="3048000" y="3305175"/>
          <a:ext xmlns:a="http://schemas.openxmlformats.org/drawingml/2006/main" cx="7048500" cy="3238500"/>
        </p:xfrm>
        <a:graphic xmlns:a="http://schemas.openxmlformats.org/drawingml/2006/main">
          <a:graphicData uri="http://schemas.openxmlformats.org/drawingml/2006/chart">
            <c:chart xmlns:r="http://schemas.openxmlformats.org/officeDocument/2006/relationships" xmlns:c="http://schemas.openxmlformats.org/drawingml/2006/chart" r:id="R2a2745caa9804d77"/>
          </a:graphicData>
        </a:graphic>
      </p:graphicFrame>
      <p:sp>
        <p:nvSpPr>
          <p:cNvPr id="63" name="">
            <a:extLst xmlns:a="http://schemas.openxmlformats.org/drawingml/2006/main">
              <a:ext uri="{FF2B5EF4-FFF2-40B4-BE49-F238E27FC236}">
                <a16:creationId xmlns:a16="http://schemas.microsoft.com/office/drawing/2014/main" id="{C320ECEC-FAD9-4DEB-AE17-BA115F2AA6EB}"/>
              </a:ext>
            </a:extLst>
          </p:cNvPr>
          <p:cNvSpPr>
            <a:spLocks xmlns:a="http://schemas.openxmlformats.org/drawingml/2006/main" noGrp="1"/>
          </p:cNvSpPr>
          <p:nvPr/>
        </p:nvSpPr>
        <p:spPr>
          <a:xfrm xmlns:a="http://schemas.openxmlformats.org/drawingml/2006/main">
            <a:off x="10572750" y="335280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650" b="1">
                <a:solidFill>
                  <a:srgbClr val="487CA5"/>
                </a:solidFill>
                <a:latin typeface="Malgun Gothic"/>
                <a:ea typeface="Malgun Gothic"/>
                <a:cs typeface="Malgun Gothic"/>
              </a:defRPr>
            </a:pPr>
            <a:r>
              <a:rPr sz="4650" b="1">
                <a:solidFill>
                  <a:srgbClr val="487CA5"/>
                </a:solidFill>
                <a:latin typeface="Malgun Gothic"/>
                <a:ea typeface="Malgun Gothic"/>
                <a:cs typeface="Malgun Gothic"/>
              </a:rPr>
              <a:t>100.7</a:t>
            </a:r>
          </a:p>
        </p:txBody>
      </p:sp>
      <p:sp>
        <p:nvSpPr>
          <p:cNvPr id="64" name="">
            <a:extLst xmlns:a="http://schemas.openxmlformats.org/drawingml/2006/main">
              <a:ext uri="{FF2B5EF4-FFF2-40B4-BE49-F238E27FC236}">
                <a16:creationId xmlns:a16="http://schemas.microsoft.com/office/drawing/2014/main" id="{CF688F54-C1F0-477F-944A-EE68EABF06E9}"/>
              </a:ext>
            </a:extLst>
          </p:cNvPr>
          <p:cNvSpPr>
            <a:spLocks xmlns:a="http://schemas.openxmlformats.org/drawingml/2006/main" noGrp="1"/>
          </p:cNvSpPr>
          <p:nvPr/>
        </p:nvSpPr>
        <p:spPr>
          <a:xfrm xmlns:a="http://schemas.openxmlformats.org/drawingml/2006/main">
            <a:off x="10572750" y="4162425"/>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37352F"/>
                </a:solidFill>
                <a:latin typeface="Malgun Gothic"/>
                <a:ea typeface="Malgun Gothic"/>
                <a:cs typeface="Malgun Gothic"/>
              </a:defRPr>
            </a:pPr>
            <a:r>
              <a:rPr sz="1725" b="0">
                <a:solidFill>
                  <a:srgbClr val="37352F"/>
                </a:solidFill>
                <a:latin typeface="Malgun Gothic"/>
                <a:ea typeface="Malgun Gothic"/>
                <a:cs typeface="Malgun Gothic"/>
              </a:rPr>
              <a:t>20대 유동 · 원자료 재현</a:t>
            </a:r>
          </a:p>
        </p:txBody>
      </p:sp>
      <p:sp>
        <p:nvSpPr>
          <p:cNvPr id="65" name="">
            <a:extLst xmlns:a="http://schemas.openxmlformats.org/drawingml/2006/main">
              <a:ext uri="{FF2B5EF4-FFF2-40B4-BE49-F238E27FC236}">
                <a16:creationId xmlns:a16="http://schemas.microsoft.com/office/drawing/2014/main" id="{DBEB3592-4059-4752-815D-B0CF3377F550}"/>
              </a:ext>
            </a:extLst>
          </p:cNvPr>
          <p:cNvSpPr>
            <a:spLocks xmlns:a="http://schemas.openxmlformats.org/drawingml/2006/main" noGrp="1"/>
          </p:cNvSpPr>
          <p:nvPr/>
        </p:nvSpPr>
        <p:spPr>
          <a:xfrm xmlns:a="http://schemas.openxmlformats.org/drawingml/2006/main">
            <a:off x="10572750" y="488632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37352F"/>
                </a:solidFill>
                <a:latin typeface="Malgun Gothic"/>
                <a:ea typeface="Malgun Gothic"/>
                <a:cs typeface="Malgun Gothic"/>
              </a:defRPr>
            </a:pPr>
            <a:r>
              <a:rPr sz="2925" b="1">
                <a:solidFill>
                  <a:srgbClr val="37352F"/>
                </a:solidFill>
                <a:latin typeface="Malgun Gothic"/>
                <a:ea typeface="Malgun Gothic"/>
                <a:cs typeface="Malgun Gothic"/>
              </a:rPr>
              <a:t>73.4 / 93.0</a:t>
            </a:r>
          </a:p>
        </p:txBody>
      </p:sp>
      <p:sp>
        <p:nvSpPr>
          <p:cNvPr id="66" name="">
            <a:extLst xmlns:a="http://schemas.openxmlformats.org/drawingml/2006/main">
              <a:ext uri="{FF2B5EF4-FFF2-40B4-BE49-F238E27FC236}">
                <a16:creationId xmlns:a16="http://schemas.microsoft.com/office/drawing/2014/main" id="{A46ADA50-4B24-420D-81A0-3F8A81B22A89}"/>
              </a:ext>
            </a:extLst>
          </p:cNvPr>
          <p:cNvSpPr>
            <a:spLocks xmlns:a="http://schemas.openxmlformats.org/drawingml/2006/main" noGrp="1"/>
          </p:cNvSpPr>
          <p:nvPr/>
        </p:nvSpPr>
        <p:spPr>
          <a:xfrm xmlns:a="http://schemas.openxmlformats.org/drawingml/2006/main">
            <a:off x="10572750" y="563880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37352F"/>
                </a:solidFill>
                <a:latin typeface="Malgun Gothic"/>
                <a:ea typeface="Malgun Gothic"/>
                <a:cs typeface="Malgun Gothic"/>
              </a:defRPr>
            </a:pPr>
            <a:r>
              <a:rPr sz="1725" b="0">
                <a:solidFill>
                  <a:srgbClr val="37352F"/>
                </a:solidFill>
                <a:latin typeface="Malgun Gothic"/>
                <a:ea typeface="Malgun Gothic"/>
                <a:cs typeface="Malgun Gothic"/>
              </a:rPr>
              <a:t>20대 / 전체 추정매출</a:t>
            </a:r>
          </a:p>
          <a:p xmlns:a="http://schemas.openxmlformats.org/drawingml/2006/main">
            <a:pPr>
              <a:defRPr sz="1725" b="0">
                <a:solidFill>
                  <a:srgbClr val="37352F"/>
                </a:solidFill>
                <a:latin typeface="Malgun Gothic"/>
                <a:ea typeface="Malgun Gothic"/>
                <a:cs typeface="Malgun Gothic"/>
              </a:defRPr>
            </a:pPr>
            <a:r>
              <a:rPr sz="1725" b="0">
                <a:solidFill>
                  <a:srgbClr val="37352F"/>
                </a:solidFill>
                <a:latin typeface="Malgun Gothic"/>
                <a:ea typeface="Malgun Gothic"/>
                <a:cs typeface="Malgun Gothic"/>
              </a:rPr>
              <a:t>구성안 기록값</a:t>
            </a:r>
          </a:p>
        </p:txBody>
      </p:sp>
      <p:sp>
        <p:nvSpPr>
          <p:cNvPr id="67" name="">
            <a:extLst xmlns:a="http://schemas.openxmlformats.org/drawingml/2006/main">
              <a:ext uri="{FF2B5EF4-FFF2-40B4-BE49-F238E27FC236}">
                <a16:creationId xmlns:a16="http://schemas.microsoft.com/office/drawing/2014/main" id="{8BBF43A2-9087-48D8-8AF4-2417AFE2A43A}"/>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D34BECB4-BDA0-43A4-932D-728630494320}"/>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9" name="">
            <a:extLst xmlns:a="http://schemas.openxmlformats.org/drawingml/2006/main">
              <a:ext uri="{FF2B5EF4-FFF2-40B4-BE49-F238E27FC236}">
                <a16:creationId xmlns:a16="http://schemas.microsoft.com/office/drawing/2014/main" id="{EB20A32E-40E8-4A54-B3A1-1CC88E5EDE72}"/>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방문을 지역 소비로 연결하는 운영 장치를 검토</a:t>
            </a:r>
          </a:p>
        </p:txBody>
      </p:sp>
      <p:sp>
        <p:nvSpPr>
          <p:cNvPr id="70" name="">
            <a:extLst xmlns:a="http://schemas.openxmlformats.org/drawingml/2006/main">
              <a:ext uri="{FF2B5EF4-FFF2-40B4-BE49-F238E27FC236}">
                <a16:creationId xmlns:a16="http://schemas.microsoft.com/office/drawing/2014/main" id="{05A7D45C-112D-4B6C-9409-2AFC3BED18C5}"/>
              </a:ext>
            </a:extLst>
          </p:cNvPr>
          <p:cNvSpPr>
            <a:spLocks xmlns:a="http://schemas.openxmlformats.org/drawingml/2006/main" noGrp="1"/>
          </p:cNvSpPr>
          <p:nvPr/>
        </p:nvSpPr>
        <p:spPr>
          <a:xfrm xmlns:a="http://schemas.openxmlformats.org/drawingml/2006/main">
            <a:off x="3048000" y="7829550"/>
            <a:ext cx="11506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매출 CSV는 2025년 1분기 이후만 제공되어 장기 추이는 미복원. 축제 전후 효과 분석이 아님</a:t>
            </a:r>
          </a:p>
        </p:txBody>
      </p:sp>
    </p:spTree>
    <p:extLst>
      <p:ext uri="{BB962C8B-B14F-4D97-AF65-F5344CB8AC3E}">
        <p14:creationId xmlns:p14="http://schemas.microsoft.com/office/powerpoint/2010/main" val="15803875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0" name="">
            <a:extLst xmlns:a="http://schemas.openxmlformats.org/drawingml/2006/main">
              <a:ext uri="{FF2B5EF4-FFF2-40B4-BE49-F238E27FC236}">
                <a16:creationId xmlns:a16="http://schemas.microsoft.com/office/drawing/2014/main" id="{9A4F1B61-81BB-4719-8989-97D5FE140C5A}"/>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1CE4828-4B21-4DCB-A8E5-D0532DB2E93F}"/>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6F0C010-F6BF-44DA-B2BB-28F4C9D32E37}"/>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08912060-F318-44BA-BF86-6306C31FA95E}"/>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88E99490-E4A5-4AAB-9C48-0CB1DEF1ECDE}"/>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9052714B-52D6-4984-9FF7-F2FCBB271FA2}"/>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2D6F6C6C-0695-4DC9-9553-DFC0C55A94B0}"/>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C3DD541B-6BDE-4CFB-896B-4AF9F8BAF345}"/>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FA73A456-6627-4FE6-BE75-E9225AE64192}"/>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C010749F-8A3E-402E-8B1D-C63D700777C6}"/>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0392F99-FA1A-4753-A42E-D9A73BB2D3F4}"/>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F487A47-296F-45F8-AF9B-81D3E9A4F017}"/>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EBFC05D-941E-4E77-8227-AFDD54883441}"/>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D88801E4-BDF1-4AD3-9C59-587881FF77FF}"/>
              </a:ext>
            </a:extLst>
          </p:cNvPr>
          <p:cNvSpPr>
            <a:spLocks xmlns:a="http://schemas.openxmlformats.org/drawingml/2006/main" noGrp="1"/>
          </p:cNvSpPr>
          <p:nvPr/>
        </p:nvSpPr>
        <p:spPr>
          <a:xfrm xmlns:a="http://schemas.openxmlformats.org/drawingml/2006/main">
            <a:off x="95250" y="337185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DE7DB76-274F-4DD4-A5FA-9CD085CCCBBD}"/>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6" name="">
            <a:extLst xmlns:a="http://schemas.openxmlformats.org/drawingml/2006/main">
              <a:ext uri="{FF2B5EF4-FFF2-40B4-BE49-F238E27FC236}">
                <a16:creationId xmlns:a16="http://schemas.microsoft.com/office/drawing/2014/main" id="{AC0883DE-A8C1-4622-8AE3-7065FFB91FD9}"/>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276ED1A-28E8-42C3-B11F-8B34927B4CEA}"/>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C7C1C26-4EEC-4C4B-B98D-5DADA7856AAC}"/>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E4CAF10-F72F-4BAE-9B00-2E739917B55B}"/>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문제와 참여 범위</a:t>
            </a:r>
          </a:p>
        </p:txBody>
      </p:sp>
      <p:sp>
        <p:nvSpPr>
          <p:cNvPr id="20" name="">
            <a:extLst xmlns:a="http://schemas.openxmlformats.org/drawingml/2006/main">
              <a:ext uri="{FF2B5EF4-FFF2-40B4-BE49-F238E27FC236}">
                <a16:creationId xmlns:a16="http://schemas.microsoft.com/office/drawing/2014/main" id="{E761E1E7-B468-4FBD-A711-CCC7D24432BC}"/>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3D58E3D9-01AE-4B70-8600-F9BDD51E67CD}"/>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3B66264-A0A3-4EF8-835F-CB55FBBFA044}"/>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67E6A6F-671B-4A80-9481-89931DCD5A50}"/>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632E4E3-8448-48CB-BA8C-F4C815EFDF63}"/>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5A01C947-02E2-4315-BB83-F693D1010129}"/>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166B16D1-7592-49AF-B4B0-B453CC900D4C}"/>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0519DC8-8ECB-425C-8894-DF304F95A6AD}"/>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33216EA-4129-4ADE-8AE1-4734323DA3E3}"/>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304DA68-C0BC-476B-9FE1-15BAC54D3DEE}"/>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09248787-1186-4B68-B052-AF8EFDDD1EBA}"/>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C1914523-E868-4C11-80FF-DD931F986402}"/>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653FD75-18DD-453B-8903-63FF59CCB5B1}"/>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643A0CD-36AE-444B-9A47-C233FFC80373}"/>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8D396736-9C4D-4530-902C-A55558BF6CFE}"/>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B9B6DE67-3206-40E5-A4A3-53C99BBAF608}"/>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01E073E1-7B79-4ACE-A1A4-AC7FD5D2E94D}"/>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A86F48EE-15CE-4E4C-BAAF-C3BEB5FAEE0D}"/>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EEF1EB55-D364-4AC9-B802-64E001E54443}"/>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FF21B2FC-646D-4DA6-83B3-983CDC4DC846}"/>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91F3C2D2-10D0-42F3-8303-67A024A6AD30}"/>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E59F1F55-7180-4B6C-AABC-ED7F29A600BD}"/>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3E97E552-2690-4E12-9091-A8291765CE7D}"/>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9FA36921-D75B-4129-8C89-5CBAC5494ACC}"/>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CAC65305-95B3-4AB6-B903-6A5A0BD507EF}"/>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335839FA-3925-4026-B5AC-6E372011843D}"/>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6CD99569-D936-425D-8DD1-3C9E42E0CD07}"/>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4BF9588F-AA38-4426-96CA-FE9E8E55F645}"/>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9E94ECFF-2294-4555-935A-DFAA3F77A79B}"/>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E33CAB48-ADBB-45DF-8442-667410C2364D}"/>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87E18693-4326-4F8B-B838-B7090CAF1125}"/>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864ED380-173B-47C2-A6E3-43F2CE25B192}"/>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EAB3EAD1-2DF4-4C26-B9CD-BB1DB972C2F2}"/>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축제 참여 범위</a:t>
            </a:r>
          </a:p>
        </p:txBody>
      </p:sp>
      <p:sp>
        <p:nvSpPr>
          <p:cNvPr id="53" name="">
            <a:extLst xmlns:a="http://schemas.openxmlformats.org/drawingml/2006/main">
              <a:ext uri="{FF2B5EF4-FFF2-40B4-BE49-F238E27FC236}">
                <a16:creationId xmlns:a16="http://schemas.microsoft.com/office/drawing/2014/main" id="{151EA821-D889-4283-B985-FA6897925463}"/>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C81E8046-B987-4A9F-8462-B4CE8A0D3BC1}"/>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38EE1AD6-3BC1-4519-A4DD-D6FE207E39BE}"/>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FD87450A-D18A-41BD-8040-8FCB5D294A81}"/>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F765C648-2020-4CB4-8E4C-43D62DF9EEB0}"/>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896EF246-7DC6-447B-B8C8-2F9EFEA6162E}"/>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축제 참여 범위</a:t>
            </a:r>
          </a:p>
        </p:txBody>
      </p:sp>
      <p:sp>
        <p:nvSpPr>
          <p:cNvPr id="59" name="">
            <a:extLst xmlns:a="http://schemas.openxmlformats.org/drawingml/2006/main">
              <a:ext uri="{FF2B5EF4-FFF2-40B4-BE49-F238E27FC236}">
                <a16:creationId xmlns:a16="http://schemas.microsoft.com/office/drawing/2014/main" id="{EF05BA23-40D4-4566-A178-741E8A235754}"/>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코어 9곳 + 참여 7곳 = 16곳 · 집계 점포 2,699곳</a:t>
            </a:r>
          </a:p>
        </p:txBody>
      </p:sp>
      <p:sp>
        <p:nvSpPr>
          <p:cNvPr id="60" name="">
            <a:extLst xmlns:a="http://schemas.openxmlformats.org/drawingml/2006/main">
              <a:ext uri="{FF2B5EF4-FFF2-40B4-BE49-F238E27FC236}">
                <a16:creationId xmlns:a16="http://schemas.microsoft.com/office/drawing/2014/main" id="{E90EEFF1-6160-4E2F-8EEE-7FCB5E63459A}"/>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6418570A-D485-47A4-A46B-F73CD0ABB9FC}"/>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03 / 11</a:t>
            </a:r>
          </a:p>
        </p:txBody>
      </p:sp>
      <p:graphicFrame>
        <p:nvGraphicFramePr>
          <p:cNvPr id="131" name="Chart"/>
          <p:cNvGraphicFramePr/>
          <p:nvPr/>
        </p:nvGraphicFramePr>
        <p:xfrm>
          <a:off xmlns:a="http://schemas.openxmlformats.org/drawingml/2006/main" x="3048000" y="3333750"/>
          <a:ext xmlns:a="http://schemas.openxmlformats.org/drawingml/2006/main" cx="5143500" cy="3486150"/>
        </p:xfrm>
        <a:graphic xmlns:a="http://schemas.openxmlformats.org/drawingml/2006/main">
          <a:graphicData uri="http://schemas.openxmlformats.org/drawingml/2006/chart">
            <c:chart xmlns:r="http://schemas.openxmlformats.org/officeDocument/2006/relationships" xmlns:c="http://schemas.openxmlformats.org/drawingml/2006/chart" r:id="R168e06a0278a4f5f"/>
          </a:graphicData>
        </a:graphic>
      </p:graphicFrame>
      <p:sp>
        <p:nvSpPr>
          <p:cNvPr id="63" name="">
            <a:extLst xmlns:a="http://schemas.openxmlformats.org/drawingml/2006/main">
              <a:ext uri="{FF2B5EF4-FFF2-40B4-BE49-F238E27FC236}">
                <a16:creationId xmlns:a16="http://schemas.microsoft.com/office/drawing/2014/main" id="{3A025313-5818-40FB-925D-468C59CF5285}"/>
              </a:ext>
            </a:extLst>
          </p:cNvPr>
          <p:cNvSpPr>
            <a:spLocks xmlns:a="http://schemas.openxmlformats.org/drawingml/2006/main" noGrp="1"/>
          </p:cNvSpPr>
          <p:nvPr/>
        </p:nvSpPr>
        <p:spPr>
          <a:xfrm xmlns:a="http://schemas.openxmlformats.org/drawingml/2006/main">
            <a:off x="8667750" y="3495675"/>
            <a:ext cx="581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37352F"/>
                </a:solidFill>
                <a:latin typeface="Malgun Gothic"/>
                <a:ea typeface="Malgun Gothic"/>
                <a:cs typeface="Malgun Gothic"/>
              </a:defRPr>
            </a:pPr>
            <a:r>
              <a:rPr sz="2100" b="1">
                <a:solidFill>
                  <a:srgbClr val="37352F"/>
                </a:solidFill>
                <a:latin typeface="Malgun Gothic"/>
                <a:ea typeface="Malgun Gothic"/>
                <a:cs typeface="Malgun Gothic"/>
              </a:rPr>
              <a:t>① 세 대학앞 상권의 볼록껍질</a:t>
            </a:r>
          </a:p>
        </p:txBody>
      </p:sp>
      <p:sp>
        <p:nvSpPr>
          <p:cNvPr id="64" name="">
            <a:extLst xmlns:a="http://schemas.openxmlformats.org/drawingml/2006/main">
              <a:ext uri="{FF2B5EF4-FFF2-40B4-BE49-F238E27FC236}">
                <a16:creationId xmlns:a16="http://schemas.microsoft.com/office/drawing/2014/main" id="{E4807E93-25DA-4CB1-8988-E015BD3AC1E8}"/>
              </a:ext>
            </a:extLst>
          </p:cNvPr>
          <p:cNvSpPr>
            <a:spLocks xmlns:a="http://schemas.openxmlformats.org/drawingml/2006/main" noGrp="1"/>
          </p:cNvSpPr>
          <p:nvPr/>
        </p:nvSpPr>
        <p:spPr>
          <a:xfrm xmlns:a="http://schemas.openxmlformats.org/drawingml/2006/main">
            <a:off x="8667750" y="4352925"/>
            <a:ext cx="581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37352F"/>
                </a:solidFill>
                <a:latin typeface="Malgun Gothic"/>
                <a:ea typeface="Malgun Gothic"/>
                <a:cs typeface="Malgun Gothic"/>
              </a:defRPr>
            </a:pPr>
            <a:r>
              <a:rPr sz="2100" b="1">
                <a:solidFill>
                  <a:srgbClr val="37352F"/>
                </a:solidFill>
                <a:latin typeface="Malgun Gothic"/>
                <a:ea typeface="Malgun Gothic"/>
                <a:cs typeface="Malgun Gothic"/>
              </a:rPr>
              <a:t>② 외곽으로 300m 버퍼</a:t>
            </a:r>
          </a:p>
        </p:txBody>
      </p:sp>
      <p:sp>
        <p:nvSpPr>
          <p:cNvPr id="65" name="">
            <a:extLst xmlns:a="http://schemas.openxmlformats.org/drawingml/2006/main">
              <a:ext uri="{FF2B5EF4-FFF2-40B4-BE49-F238E27FC236}">
                <a16:creationId xmlns:a16="http://schemas.microsoft.com/office/drawing/2014/main" id="{ECA113B9-D80B-41E7-8FF3-ECAC5DC3A108}"/>
              </a:ext>
            </a:extLst>
          </p:cNvPr>
          <p:cNvSpPr>
            <a:spLocks xmlns:a="http://schemas.openxmlformats.org/drawingml/2006/main" noGrp="1"/>
          </p:cNvSpPr>
          <p:nvPr/>
        </p:nvSpPr>
        <p:spPr>
          <a:xfrm xmlns:a="http://schemas.openxmlformats.org/drawingml/2006/main">
            <a:off x="8667750" y="5210175"/>
            <a:ext cx="581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37352F"/>
                </a:solidFill>
                <a:latin typeface="Malgun Gothic"/>
                <a:ea typeface="Malgun Gothic"/>
                <a:cs typeface="Malgun Gothic"/>
              </a:defRPr>
            </a:pPr>
            <a:r>
              <a:rPr sz="2100" b="1">
                <a:solidFill>
                  <a:srgbClr val="37352F"/>
                </a:solidFill>
                <a:latin typeface="Malgun Gothic"/>
                <a:ea typeface="Malgun Gothic"/>
                <a:cs typeface="Malgun Gothic"/>
              </a:rPr>
              <a:t>③ 면적 중첩률 50% 이상 선택</a:t>
            </a:r>
          </a:p>
        </p:txBody>
      </p:sp>
      <p:sp>
        <p:nvSpPr>
          <p:cNvPr id="66" name="">
            <a:extLst xmlns:a="http://schemas.openxmlformats.org/drawingml/2006/main">
              <a:ext uri="{FF2B5EF4-FFF2-40B4-BE49-F238E27FC236}">
                <a16:creationId xmlns:a16="http://schemas.microsoft.com/office/drawing/2014/main" id="{1324F0E2-332D-4908-A764-32027B4E5FF9}"/>
              </a:ext>
            </a:extLst>
          </p:cNvPr>
          <p:cNvSpPr>
            <a:spLocks xmlns:a="http://schemas.openxmlformats.org/drawingml/2006/main" noGrp="1"/>
          </p:cNvSpPr>
          <p:nvPr/>
        </p:nvSpPr>
        <p:spPr>
          <a:xfrm xmlns:a="http://schemas.openxmlformats.org/drawingml/2006/main">
            <a:off x="8667750" y="6067425"/>
            <a:ext cx="581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787774"/>
                </a:solidFill>
                <a:latin typeface="Malgun Gothic"/>
                <a:ea typeface="Malgun Gothic"/>
                <a:cs typeface="Malgun Gothic"/>
              </a:defRPr>
            </a:pPr>
            <a:r>
              <a:rPr sz="1650" b="0">
                <a:solidFill>
                  <a:srgbClr val="787774"/>
                </a:solidFill>
                <a:latin typeface="Malgun Gothic"/>
                <a:ea typeface="Malgun Gothic"/>
                <a:cs typeface="Malgun Gothic"/>
              </a:rPr>
              <a:t>왼쪽은 공식 중심점 위치도</a:t>
            </a:r>
          </a:p>
          <a:p xmlns:a="http://schemas.openxmlformats.org/drawingml/2006/main">
            <a:pPr>
              <a:defRPr sz="1650" b="0">
                <a:solidFill>
                  <a:srgbClr val="787774"/>
                </a:solidFill>
                <a:latin typeface="Malgun Gothic"/>
                <a:ea typeface="Malgun Gothic"/>
                <a:cs typeface="Malgun Gothic"/>
              </a:defRPr>
            </a:pPr>
            <a:r>
              <a:rPr sz="1650" b="0">
                <a:solidFill>
                  <a:srgbClr val="787774"/>
                </a:solidFill>
                <a:latin typeface="Malgun Gothic"/>
                <a:ea typeface="Malgun Gothic"/>
                <a:cs typeface="Malgun Gothic"/>
              </a:rPr>
              <a:t>경계·버퍼를 재현한 지도가 아님</a:t>
            </a:r>
          </a:p>
        </p:txBody>
      </p:sp>
      <p:sp>
        <p:nvSpPr>
          <p:cNvPr id="67" name="">
            <a:extLst xmlns:a="http://schemas.openxmlformats.org/drawingml/2006/main">
              <a:ext uri="{FF2B5EF4-FFF2-40B4-BE49-F238E27FC236}">
                <a16:creationId xmlns:a16="http://schemas.microsoft.com/office/drawing/2014/main" id="{6879D0C9-C346-43DB-9957-3D147E90B92A}"/>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ECB07874-6DCE-46A8-8082-41A8508D3832}"/>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9" name="">
            <a:extLst xmlns:a="http://schemas.openxmlformats.org/drawingml/2006/main">
              <a:ext uri="{FF2B5EF4-FFF2-40B4-BE49-F238E27FC236}">
                <a16:creationId xmlns:a16="http://schemas.microsoft.com/office/drawing/2014/main" id="{EEDE0927-6696-4AE7-8952-3777906B5A4A}"/>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연계존 7곳은 스탬프 0개, 교통 연계 검토</a:t>
            </a:r>
          </a:p>
        </p:txBody>
      </p:sp>
    </p:spTree>
    <p:extLst>
      <p:ext uri="{BB962C8B-B14F-4D97-AF65-F5344CB8AC3E}">
        <p14:creationId xmlns:p14="http://schemas.microsoft.com/office/powerpoint/2010/main" val="105585932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56735158-8EB5-48FD-A3C2-FF3ECFBC00CE}"/>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B7F834-1231-485A-BDC5-5162182F5806}"/>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119FA62-5F15-4AA3-89EA-2D744A771094}"/>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BE2E62E9-2C46-4673-9F26-BA4724ACFA17}"/>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7D6B56AF-3738-46E9-9C3E-57B0504BC19F}"/>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A89CD69D-DD3E-4718-931A-CAA98097B81E}"/>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E9E6E420-F9B3-4E41-A003-927E526284B8}"/>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DD9F408B-A2C5-46CE-BEAA-0475C38DDF83}"/>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0FDB69C9-CBA7-4924-888D-AB795BCAB6E2}"/>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CB6CB3B4-DAD1-4DE7-B077-D2EE064D20C9}"/>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B3AC13C-4AE1-4B51-A077-754F40D06DE5}"/>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485A63A-FC79-418A-A7D2-07A325C3ED47}"/>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934CD25-2CE7-4F80-B795-9BBB5A907124}"/>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7F5233F6-896E-47AE-897E-31CD5C01B068}"/>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E141C028-2920-46D2-8162-9D674CF59F45}"/>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659E4E4-895A-4ED6-A25F-D6F567D52B56}"/>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C33F8AF-CEC0-4F6B-B021-192BE3C5E524}"/>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CD8290B-B96A-4274-B846-53856B2878DD}"/>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AFB8A752-645A-4FE0-A433-9F5D289E2E4C}"/>
              </a:ext>
            </a:extLst>
          </p:cNvPr>
          <p:cNvSpPr>
            <a:spLocks xmlns:a="http://schemas.openxmlformats.org/drawingml/2006/main" noGrp="1"/>
          </p:cNvSpPr>
          <p:nvPr/>
        </p:nvSpPr>
        <p:spPr>
          <a:xfrm xmlns:a="http://schemas.openxmlformats.org/drawingml/2006/main">
            <a:off x="95250" y="378142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3AC88C0-4E29-4E32-8B1F-B0688A95A74B}"/>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9F725859-5C77-4B75-9684-E5E03B63EF8F}"/>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83D9DB7-E0CE-46D3-8452-760A030A42BF}"/>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83DC936-565D-44A8-9765-CBAFB45B4350}"/>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5674646-EBD2-45B5-8AEF-AA785524DBC5}"/>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E1B06B7F-2B68-49FE-A94B-8200DFE30B76}"/>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EC527EFB-C4D5-4E6F-AFCC-E40F03490A41}"/>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C6CC420-D0FE-4101-AD72-34D1D7F8F61F}"/>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2E0B764-18C9-4B5D-94D8-9F32329B3E00}"/>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EC02174-7572-4495-914A-43DC2B5CA1AA}"/>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692A9E87-1A8E-4262-A805-0220B7DFCA54}"/>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7AE48363-D73A-46EB-A747-9C8386CE8AF3}"/>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2C31E8F7-79C4-48E6-B4FD-3DA3F5F5710E}"/>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DF5BAC5-F4E2-4194-B218-77135A0B90B5}"/>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71952710-9263-46D5-B963-084472BC6BF7}"/>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0195FC10-7763-4FE5-ABCD-73C1A20196DF}"/>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3AC42D82-BA4B-4D3B-B9B7-A9F9DC85FAD3}"/>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1F070D16-143D-43D9-9484-47B28C07A6B4}"/>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55CC65BD-ECD1-4B37-BAF2-089AFA68DC53}"/>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45E20B8C-E3B8-48E3-9238-500C165733B0}"/>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907AFA73-92AF-4D53-B949-5B3E5998F875}"/>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A43FAB95-7525-4B0D-BE40-B5304DAC52B2}"/>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53833DAA-3BA0-44C0-9CB3-F7715A21422F}"/>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FBC09E9F-C02E-447A-97D7-C21A793C7A3A}"/>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9DC6AAC5-26AF-4A35-8A5E-C7A06D46A528}"/>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9BBABB2F-5063-4DD5-9070-E58ABA5B8780}"/>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E27B1AB7-68DC-46D3-BD2B-9558D18210AF}"/>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D180E007-A7E8-4714-AD26-2E90DBA8890D}"/>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1F7AAF03-827F-483F-AA84-1EC3212DC0F9}"/>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DE2F2B17-277F-4FFF-96DC-19ED6A5D3A67}"/>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DE474D4E-1564-49D3-BEFD-E84BEC940784}"/>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D9CE924B-4B53-451B-BAF0-EA85E4CE8DE4}"/>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2BB9A6DA-475F-4318-9400-8711E3E79942}"/>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평시 20대 비중의 거리감쇠</a:t>
            </a:r>
          </a:p>
        </p:txBody>
      </p:sp>
      <p:sp>
        <p:nvSpPr>
          <p:cNvPr id="53" name="">
            <a:extLst xmlns:a="http://schemas.openxmlformats.org/drawingml/2006/main">
              <a:ext uri="{FF2B5EF4-FFF2-40B4-BE49-F238E27FC236}">
                <a16:creationId xmlns:a16="http://schemas.microsoft.com/office/drawing/2014/main" id="{784F6255-F9AA-46AB-B620-A23E99E389AB}"/>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CAD565C1-105A-4360-82C5-E092636F3201}"/>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8981D203-78A9-43F2-80A6-C05386BCB086}"/>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DA14567B-E1FF-48BB-B4E9-38C76C57566D}"/>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86DAEF13-2A79-4B23-AA6A-7A5F77FB70E2}"/>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DE1ECDC1-1F66-4F27-9B73-9D96D7B18F51}"/>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평시 20대 비중의 거리감쇠</a:t>
            </a:r>
          </a:p>
        </p:txBody>
      </p:sp>
      <p:sp>
        <p:nvSpPr>
          <p:cNvPr id="59" name="">
            <a:extLst xmlns:a="http://schemas.openxmlformats.org/drawingml/2006/main">
              <a:ext uri="{FF2B5EF4-FFF2-40B4-BE49-F238E27FC236}">
                <a16:creationId xmlns:a16="http://schemas.microsoft.com/office/drawing/2014/main" id="{7A67E392-7B64-44DA-8AA1-58E1AE4C9570}"/>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평시 유동인구 중 20대 비중과 거리의 관계</a:t>
            </a:r>
          </a:p>
        </p:txBody>
      </p:sp>
      <p:sp>
        <p:nvSpPr>
          <p:cNvPr id="60" name="">
            <a:extLst xmlns:a="http://schemas.openxmlformats.org/drawingml/2006/main">
              <a:ext uri="{FF2B5EF4-FFF2-40B4-BE49-F238E27FC236}">
                <a16:creationId xmlns:a16="http://schemas.microsoft.com/office/drawing/2014/main" id="{D61C5F58-8DE6-4959-BE1C-F592A7509B75}"/>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FBC0769A-8DA9-4151-938B-4BF8C2732DAB}"/>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04 / 11</a:t>
            </a:r>
          </a:p>
        </p:txBody>
      </p:sp>
      <p:graphicFrame>
        <p:nvGraphicFramePr>
          <p:cNvPr id="130" name="Chart"/>
          <p:cNvGraphicFramePr/>
          <p:nvPr/>
        </p:nvGraphicFramePr>
        <p:xfrm>
          <a:off xmlns:a="http://schemas.openxmlformats.org/drawingml/2006/main" x="3048000" y="3333750"/>
          <a:ext xmlns:a="http://schemas.openxmlformats.org/drawingml/2006/main" cx="7239000" cy="3476625"/>
        </p:xfrm>
        <a:graphic xmlns:a="http://schemas.openxmlformats.org/drawingml/2006/main">
          <a:graphicData uri="http://schemas.openxmlformats.org/drawingml/2006/chart">
            <c:chart xmlns:r="http://schemas.openxmlformats.org/officeDocument/2006/relationships" xmlns:c="http://schemas.openxmlformats.org/drawingml/2006/chart" r:id="R14cdb24551454e23"/>
          </a:graphicData>
        </a:graphic>
      </p:graphicFrame>
      <p:sp>
        <p:nvSpPr>
          <p:cNvPr id="63" name="">
            <a:extLst xmlns:a="http://schemas.openxmlformats.org/drawingml/2006/main">
              <a:ext uri="{FF2B5EF4-FFF2-40B4-BE49-F238E27FC236}">
                <a16:creationId xmlns:a16="http://schemas.microsoft.com/office/drawing/2014/main" id="{811398B5-1750-4613-82EE-1A910672A9CD}"/>
              </a:ext>
            </a:extLst>
          </p:cNvPr>
          <p:cNvSpPr>
            <a:spLocks xmlns:a="http://schemas.openxmlformats.org/drawingml/2006/main" noGrp="1"/>
          </p:cNvSpPr>
          <p:nvPr/>
        </p:nvSpPr>
        <p:spPr>
          <a:xfrm xmlns:a="http://schemas.openxmlformats.org/drawingml/2006/main">
            <a:off x="10668000" y="3476625"/>
            <a:ext cx="371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950" b="1">
                <a:solidFill>
                  <a:srgbClr val="37352F"/>
                </a:solidFill>
                <a:latin typeface="Malgun Gothic"/>
                <a:ea typeface="Malgun Gothic"/>
                <a:cs typeface="Malgun Gothic"/>
              </a:defRPr>
            </a:pPr>
            <a:r>
              <a:rPr sz="4950" b="1">
                <a:solidFill>
                  <a:srgbClr val="37352F"/>
                </a:solidFill>
                <a:latin typeface="Malgun Gothic"/>
                <a:ea typeface="Malgun Gothic"/>
                <a:cs typeface="Malgun Gothic"/>
              </a:rPr>
              <a:t>583m</a:t>
            </a:r>
          </a:p>
        </p:txBody>
      </p:sp>
      <p:sp>
        <p:nvSpPr>
          <p:cNvPr id="64" name="">
            <a:extLst xmlns:a="http://schemas.openxmlformats.org/drawingml/2006/main">
              <a:ext uri="{FF2B5EF4-FFF2-40B4-BE49-F238E27FC236}">
                <a16:creationId xmlns:a16="http://schemas.microsoft.com/office/drawing/2014/main" id="{23E7E370-5FAF-44C6-9CD2-E503D8FE8DA0}"/>
              </a:ext>
            </a:extLst>
          </p:cNvPr>
          <p:cNvSpPr>
            <a:spLocks xmlns:a="http://schemas.openxmlformats.org/drawingml/2006/main" noGrp="1"/>
          </p:cNvSpPr>
          <p:nvPr/>
        </p:nvSpPr>
        <p:spPr>
          <a:xfrm xmlns:a="http://schemas.openxmlformats.org/drawingml/2006/main">
            <a:off x="10668000" y="440055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반감거리</a:t>
            </a:r>
          </a:p>
        </p:txBody>
      </p:sp>
      <p:sp>
        <p:nvSpPr>
          <p:cNvPr id="65" name="">
            <a:extLst xmlns:a="http://schemas.openxmlformats.org/drawingml/2006/main">
              <a:ext uri="{FF2B5EF4-FFF2-40B4-BE49-F238E27FC236}">
                <a16:creationId xmlns:a16="http://schemas.microsoft.com/office/drawing/2014/main" id="{EA0B6753-699A-4D71-8DD4-05933E2940A4}"/>
              </a:ext>
            </a:extLst>
          </p:cNvPr>
          <p:cNvSpPr>
            <a:spLocks xmlns:a="http://schemas.openxmlformats.org/drawingml/2006/main" noGrp="1"/>
          </p:cNvSpPr>
          <p:nvPr/>
        </p:nvSpPr>
        <p:spPr>
          <a:xfrm xmlns:a="http://schemas.openxmlformats.org/drawingml/2006/main">
            <a:off x="10668000" y="5238750"/>
            <a:ext cx="3714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β = 1.189/km</a:t>
            </a:r>
          </a:p>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R² = 0.533</a:t>
            </a:r>
          </a:p>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기존 표본 23곳</a:t>
            </a:r>
          </a:p>
        </p:txBody>
      </p:sp>
      <p:sp>
        <p:nvSpPr>
          <p:cNvPr id="66" name="">
            <a:extLst xmlns:a="http://schemas.openxmlformats.org/drawingml/2006/main">
              <a:ext uri="{FF2B5EF4-FFF2-40B4-BE49-F238E27FC236}">
                <a16:creationId xmlns:a16="http://schemas.microsoft.com/office/drawing/2014/main" id="{CDE82D6E-0D5F-4E1A-84B6-3DD44E9EFCE1}"/>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9947F13B-2E4E-4CBE-A226-5DCDBA3E9B10}"/>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8" name="">
            <a:extLst xmlns:a="http://schemas.openxmlformats.org/drawingml/2006/main">
              <a:ext uri="{FF2B5EF4-FFF2-40B4-BE49-F238E27FC236}">
                <a16:creationId xmlns:a16="http://schemas.microsoft.com/office/drawing/2014/main" id="{B16FF885-5335-40FE-B0D6-FBEA98FB9401}"/>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기록된 β로 그린 모형 곡선 · 축제 당일의 실측 효과가 아님</a:t>
            </a:r>
          </a:p>
        </p:txBody>
      </p:sp>
    </p:spTree>
    <p:extLst>
      <p:ext uri="{BB962C8B-B14F-4D97-AF65-F5344CB8AC3E}">
        <p14:creationId xmlns:p14="http://schemas.microsoft.com/office/powerpoint/2010/main" val="18482803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F7210624-1EAE-4934-A5A0-1DF47B884AD2}"/>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6D814B-DFDB-4202-B179-CA22630C539E}"/>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3C7507D-A496-4D90-9CDA-5766180EEFD0}"/>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A4ADC5BA-1586-4CF1-869E-9160E353995A}"/>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7FAD147B-48B7-4744-A1D9-B34D29334AB3}"/>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7286063B-5110-4A03-8C72-A13082796815}"/>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68CB4595-1078-4C1E-AD5E-F2360197EB3D}"/>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ACCC7D8C-E69C-4F97-B39D-60905D244666}"/>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161260FE-20D4-44A9-953D-B2D809809777}"/>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23416EA9-3DEB-49A7-98A7-DD6CF925C395}"/>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5A128FB-2AF4-430F-9F51-A11F236D6A45}"/>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00A0D11-15AC-44FB-8DC5-9B6A872E0A5F}"/>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D61745C-1944-427A-8521-4924A25D6BE6}"/>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871A549C-A1F7-404B-B811-1666974176D7}"/>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1B35FC9C-B971-4295-95AB-AF2F587D8842}"/>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FEACA09-3181-4220-8486-2D82F3FAD5D0}"/>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9EF17C6-ABA9-4184-A110-0C2EE8F69332}"/>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DBF8009-2BF2-4FB9-A35E-BF7E01B45DCA}"/>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C48A589F-C7F7-4471-804F-A038F04546C8}"/>
              </a:ext>
            </a:extLst>
          </p:cNvPr>
          <p:cNvSpPr>
            <a:spLocks xmlns:a="http://schemas.openxmlformats.org/drawingml/2006/main" noGrp="1"/>
          </p:cNvSpPr>
          <p:nvPr/>
        </p:nvSpPr>
        <p:spPr>
          <a:xfrm xmlns:a="http://schemas.openxmlformats.org/drawingml/2006/main">
            <a:off x="95250" y="378142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AE3AEB4-9AED-492D-B10F-7B124AEBCD6D}"/>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8BB05EF7-2346-4ECE-81E1-0EB3DA211741}"/>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8DD4A86-03FA-493C-8D38-6A65027B7D3F}"/>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3027603-A31C-49C1-B3B6-517E7EEE351A}"/>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CA42812-75FC-4502-8A18-D6F4CB31F568}"/>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89AE592B-E55F-4C94-B09A-39A12AAF112D}"/>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70D35555-C685-4296-A085-E402920A3EF7}"/>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1209E82-FC57-437B-B052-2644CF70B7C0}"/>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9AA87F0-C77D-4252-8BAC-9607291D25B5}"/>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A6243E8-52B8-48FD-9B92-68CE59B7A4FA}"/>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E73168E3-E364-485A-BF64-09000B3F3269}"/>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A2508CAE-8516-4237-B6C0-8BB5B0CE5FEE}"/>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69FE84C9-B43F-410D-B1C6-0B61AF0FA183}"/>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95D89B9-53E6-4F82-BF93-8D7CC297F67B}"/>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28170073-7968-4A61-8E63-C85E46314BBB}"/>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F0B82DDE-CA4A-436D-B913-1F2C02B32B3F}"/>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403FB55E-4438-4DFD-9B48-44CD8ADB1C76}"/>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D871FB27-6667-47BA-93BF-695C0EF5037D}"/>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752F17E0-484D-491F-8A8A-A4E5948C7A48}"/>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43AD7B5B-3769-44CA-A6CF-A4FE510CAB95}"/>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BA0B4721-0048-4F10-A17B-0B905CB9B1CD}"/>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8D7D9D0A-675A-4DF3-A373-9D6506ABA760}"/>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C3745CC0-9569-495A-9029-FAAFDBC6C6E0}"/>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94467411-FC06-4B6D-921B-041D2A8185A2}"/>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15F5A86E-7BEC-4FB3-A98F-E92775CF4468}"/>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A67253A5-42E7-4FA8-B5FC-A409F570A921}"/>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B666E9B3-2007-4475-A165-D554B0ED7343}"/>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8AE569D6-E9A3-4CB3-BE8D-FC129E1EC380}"/>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080BB4F6-B177-4765-830F-F1B86BA2A7D8}"/>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66139454-E53C-4841-A7B2-209F2BEC0666}"/>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0A869F8B-699C-4E67-9E4A-BB4729918745}"/>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F483FDCD-70EF-4E89-8364-7D75324B4B58}"/>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A02F5708-D4DC-4CDA-BCB0-E77BA1059749}"/>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스탬프 배정 기준</a:t>
            </a:r>
          </a:p>
        </p:txBody>
      </p:sp>
      <p:sp>
        <p:nvSpPr>
          <p:cNvPr id="53" name="">
            <a:extLst xmlns:a="http://schemas.openxmlformats.org/drawingml/2006/main">
              <a:ext uri="{FF2B5EF4-FFF2-40B4-BE49-F238E27FC236}">
                <a16:creationId xmlns:a16="http://schemas.microsoft.com/office/drawing/2014/main" id="{45036F7E-240E-4546-A32C-5B96C8CD4B66}"/>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3351A813-4503-49DC-B632-C46697F72986}"/>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ACA37DC1-22AA-47A7-8AD1-83066CAF3BBE}"/>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1A153E4E-CBAF-4A68-8A43-31C684315762}"/>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ADEC9FCF-25B4-4B81-946F-96F4A4DFAB46}"/>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7FC92D99-227E-471B-959D-C76911028302}"/>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스탬프 배정 기준</a:t>
            </a:r>
          </a:p>
        </p:txBody>
      </p:sp>
      <p:sp>
        <p:nvSpPr>
          <p:cNvPr id="59" name="">
            <a:extLst xmlns:a="http://schemas.openxmlformats.org/drawingml/2006/main">
              <a:ext uri="{FF2B5EF4-FFF2-40B4-BE49-F238E27FC236}">
                <a16:creationId xmlns:a16="http://schemas.microsoft.com/office/drawing/2014/main" id="{1763A8B0-FB18-499B-BA38-DC4EFD1A1717}"/>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하락 D · 저활력 L · 거리 기반 도달 R</a:t>
            </a:r>
          </a:p>
        </p:txBody>
      </p:sp>
      <p:sp>
        <p:nvSpPr>
          <p:cNvPr id="60" name="">
            <a:extLst xmlns:a="http://schemas.openxmlformats.org/drawingml/2006/main">
              <a:ext uri="{FF2B5EF4-FFF2-40B4-BE49-F238E27FC236}">
                <a16:creationId xmlns:a16="http://schemas.microsoft.com/office/drawing/2014/main" id="{8B9CDAA2-C05A-49D2-A899-F856275701FC}"/>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DA9B306D-DB6D-411A-B372-F9C7666C9754}"/>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05 / 11</a:t>
            </a:r>
          </a:p>
        </p:txBody>
      </p:sp>
      <p:sp>
        <p:nvSpPr>
          <p:cNvPr id="62" name="">
            <a:extLst xmlns:a="http://schemas.openxmlformats.org/drawingml/2006/main">
              <a:ext uri="{FF2B5EF4-FFF2-40B4-BE49-F238E27FC236}">
                <a16:creationId xmlns:a16="http://schemas.microsoft.com/office/drawing/2014/main" id="{5506178A-BCBE-4C91-AA5C-20B19E8E0CE0}"/>
              </a:ext>
            </a:extLst>
          </p:cNvPr>
          <p:cNvSpPr>
            <a:spLocks xmlns:a="http://schemas.openxmlformats.org/drawingml/2006/main" noGrp="1"/>
          </p:cNvSpPr>
          <p:nvPr/>
        </p:nvSpPr>
        <p:spPr>
          <a:xfrm xmlns:a="http://schemas.openxmlformats.org/drawingml/2006/main">
            <a:off x="3048000" y="3371850"/>
            <a:ext cx="11506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575" b="1">
                <a:solidFill>
                  <a:srgbClr val="37352F"/>
                </a:solidFill>
                <a:latin typeface="Malgun Gothic"/>
                <a:ea typeface="Malgun Gothic"/>
                <a:cs typeface="Malgun Gothic"/>
              </a:defRPr>
            </a:pPr>
            <a:r>
              <a:rPr sz="4575" b="1">
                <a:solidFill>
                  <a:srgbClr val="37352F"/>
                </a:solidFill>
                <a:latin typeface="Malgun Gothic"/>
                <a:ea typeface="Malgun Gothic"/>
                <a:cs typeface="Malgun Gothic"/>
              </a:rPr>
              <a:t>M = √(D × L) × R</a:t>
            </a:r>
          </a:p>
        </p:txBody>
      </p:sp>
      <p:graphicFrame>
        <p:nvGraphicFramePr>
          <p:cNvPr id="131" name=""/>
          <p:cNvGraphicFramePr/>
          <p:nvPr/>
        </p:nvGraphicFramePr>
        <p:xfrm>
          <a:off xmlns:a="http://schemas.openxmlformats.org/drawingml/2006/main" x="3048000" y="4543425"/>
          <a:ext xmlns:a="http://schemas.openxmlformats.org/drawingml/2006/main" cx="11506200" cy="1476375"/>
        </p:xfrm>
        <a:graphic xmlns:a="http://schemas.openxmlformats.org/drawingml/2006/main">
          <a:graphicData uri="http://schemas.openxmlformats.org/drawingml/2006/table">
            <a:tbl>
              <a:tblPr/>
              <a:tblGrid>
                <a:gridCol w="3835400"/>
                <a:gridCol w="3835400"/>
                <a:gridCol w="3835400"/>
              </a:tblGrid>
              <a:tr h="738188">
                <a:tc>
                  <a:txBody>
                    <a:bodyPr/>
                    <a:lstStyle/>
                    <a:p>
                      <a:r>
                        <a:rPr sz="1800" b="1">
                          <a:solidFill>
                            <a:srgbClr val="37352F"/>
                          </a:solidFill>
                          <a:latin typeface="Malgun Gothic"/>
                          <a:ea typeface="Malgun Gothic"/>
                          <a:cs typeface="Malgun Gothic"/>
                        </a:rPr>
                        <a:t>D 하락</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L 저활력</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R 도달</a:t>
                      </a:r>
                    </a:p>
                  </a:txBody>
                  <a:tcPr marL="85725" marR="85725" marT="28575" marB="28575">
                    <a:solidFill>
                      <a:srgbClr val="F1F1EF"/>
                    </a:solidFill>
                  </a:tcPr>
                </a:tc>
              </a:tr>
              <a:tr h="738188">
                <a:tc>
                  <a:txBody>
                    <a:bodyPr/>
                    <a:lstStyle/>
                    <a:p>
                      <a:r>
                        <a:rPr sz="1800" b="0">
                          <a:solidFill>
                            <a:srgbClr val="37352F"/>
                          </a:solidFill>
                          <a:latin typeface="Malgun Gothic"/>
                          <a:ea typeface="Malgun Gothic"/>
                          <a:cs typeface="Malgun Gothic"/>
                        </a:rPr>
                        <a:t>20대 소비강도·점포 변화</a:t>
                      </a:r>
                    </a:p>
                    <a:p>
                      <a:r>
                        <a:rPr sz="1800" b="0">
                          <a:solidFill>
                            <a:srgbClr val="37352F"/>
                          </a:solidFill>
                          <a:latin typeface="Malgun Gothic"/>
                          <a:ea typeface="Malgun Gothic"/>
                          <a:cs typeface="Malgun Gothic"/>
                        </a:rPr>
                        <a:t>폐업률·전체 매출 변화</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점포당 추정매출의</a:t>
                      </a:r>
                    </a:p>
                    <a:p>
                      <a:r>
                        <a:rPr sz="1800" b="0">
                          <a:solidFill>
                            <a:srgbClr val="37352F"/>
                          </a:solidFill>
                          <a:latin typeface="Malgun Gothic"/>
                          <a:ea typeface="Malgun Gothic"/>
                          <a:cs typeface="Malgun Gothic"/>
                        </a:rPr>
                        <a:t>역순위 백분위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exp(−1.189 × 거리[km])</a:t>
                      </a:r>
                    </a:p>
                    <a:p>
                      <a:r>
                        <a:rPr sz="1800" b="0">
                          <a:solidFill>
                            <a:srgbClr val="37352F"/>
                          </a:solidFill>
                          <a:latin typeface="Malgun Gothic"/>
                          <a:ea typeface="Malgun Gothic"/>
                          <a:cs typeface="Malgun Gothic"/>
                        </a:rPr>
                        <a:t>무대 대리점과 상권 경계</a:t>
                      </a:r>
                    </a:p>
                  </a:txBody>
                  <a:tcPr marL="85725" marR="85725" marT="28575" marB="28575">
                    <a:solidFill>
                      <a:srgbClr val="FFFFFF"/>
                    </a:solidFill>
                  </a:tcPr>
                </a:tc>
              </a:tr>
            </a:tbl>
          </a:graphicData>
        </a:graphic>
      </p:graphicFrame>
      <p:sp>
        <p:nvSpPr>
          <p:cNvPr id="64" name="">
            <a:extLst xmlns:a="http://schemas.openxmlformats.org/drawingml/2006/main">
              <a:ext uri="{FF2B5EF4-FFF2-40B4-BE49-F238E27FC236}">
                <a16:creationId xmlns:a16="http://schemas.microsoft.com/office/drawing/2014/main" id="{12A889F7-0118-4FBB-8489-CF17420E8A45}"/>
              </a:ext>
            </a:extLst>
          </p:cNvPr>
          <p:cNvSpPr>
            <a:spLocks xmlns:a="http://schemas.openxmlformats.org/drawingml/2006/main" noGrp="1"/>
          </p:cNvSpPr>
          <p:nvPr/>
        </p:nvSpPr>
        <p:spPr>
          <a:xfrm xmlns:a="http://schemas.openxmlformats.org/drawingml/2006/main">
            <a:off x="3048000" y="634365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487CA5"/>
                </a:solidFill>
                <a:latin typeface="Malgun Gothic"/>
                <a:ea typeface="Malgun Gothic"/>
                <a:cs typeface="Malgun Gothic"/>
              </a:defRPr>
            </a:pPr>
            <a:r>
              <a:rPr sz="2175" b="1">
                <a:solidFill>
                  <a:srgbClr val="487CA5"/>
                </a:solidFill>
                <a:latin typeface="Malgun Gothic"/>
                <a:ea typeface="Malgun Gothic"/>
                <a:cs typeface="Malgun Gothic"/>
              </a:rPr>
              <a:t>시립대앞사거리  0.669 · 6개</a:t>
            </a:r>
          </a:p>
        </p:txBody>
      </p:sp>
      <p:sp>
        <p:nvSpPr>
          <p:cNvPr id="65" name="">
            <a:extLst xmlns:a="http://schemas.openxmlformats.org/drawingml/2006/main">
              <a:ext uri="{FF2B5EF4-FFF2-40B4-BE49-F238E27FC236}">
                <a16:creationId xmlns:a16="http://schemas.microsoft.com/office/drawing/2014/main" id="{CBE5AA57-5779-4F2A-AFE5-00C251ACD77F}"/>
              </a:ext>
            </a:extLst>
          </p:cNvPr>
          <p:cNvSpPr>
            <a:spLocks xmlns:a="http://schemas.openxmlformats.org/drawingml/2006/main" noGrp="1"/>
          </p:cNvSpPr>
          <p:nvPr/>
        </p:nvSpPr>
        <p:spPr>
          <a:xfrm xmlns:a="http://schemas.openxmlformats.org/drawingml/2006/main">
            <a:off x="9372600" y="6343650"/>
            <a:ext cx="5191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37352F"/>
                </a:solidFill>
                <a:latin typeface="Malgun Gothic"/>
                <a:ea typeface="Malgun Gothic"/>
                <a:cs typeface="Malgun Gothic"/>
              </a:defRPr>
            </a:pPr>
            <a:r>
              <a:rPr sz="2175" b="1">
                <a:solidFill>
                  <a:srgbClr val="37352F"/>
                </a:solidFill>
                <a:latin typeface="Malgun Gothic"/>
                <a:ea typeface="Malgun Gothic"/>
                <a:cs typeface="Malgun Gothic"/>
              </a:rPr>
              <a:t>경희대앞  0.216 · 2개</a:t>
            </a:r>
          </a:p>
        </p:txBody>
      </p:sp>
      <p:sp>
        <p:nvSpPr>
          <p:cNvPr id="66" name="">
            <a:extLst xmlns:a="http://schemas.openxmlformats.org/drawingml/2006/main">
              <a:ext uri="{FF2B5EF4-FFF2-40B4-BE49-F238E27FC236}">
                <a16:creationId xmlns:a16="http://schemas.microsoft.com/office/drawing/2014/main" id="{CE5FF707-4ACD-47AA-9E5C-FA2B7EF8494C}"/>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27CAA568-C038-4D4C-B237-8C5F5540F499}"/>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8" name="">
            <a:extLst xmlns:a="http://schemas.openxmlformats.org/drawingml/2006/main">
              <a:ext uri="{FF2B5EF4-FFF2-40B4-BE49-F238E27FC236}">
                <a16:creationId xmlns:a16="http://schemas.microsoft.com/office/drawing/2014/main" id="{8DC0D6FF-F271-4C5E-8716-67C4245D378F}"/>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D와 L을 대칭적으로 결합한 자체 설계 지수 · 취향 추천과 별도</a:t>
            </a:r>
          </a:p>
        </p:txBody>
      </p:sp>
    </p:spTree>
    <p:extLst>
      <p:ext uri="{BB962C8B-B14F-4D97-AF65-F5344CB8AC3E}">
        <p14:creationId xmlns:p14="http://schemas.microsoft.com/office/powerpoint/2010/main" val="158564585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7A034767-D764-4C8F-A66B-F475E32A7670}"/>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FCAA80-8C96-4770-9BBE-B5CB7F8D70EA}"/>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D2E5CE3-0040-4039-A1AF-877273A490F4}"/>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D60BE8CC-252C-47E7-B387-8DFDFDD8D2C6}"/>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06A526AD-3594-4EA2-89F6-AAA77B74B288}"/>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4BA31061-9ECA-426D-99AE-71377C508669}"/>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ACF7230A-9BDE-4A3F-903E-063EE456BC73}"/>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8903FDDE-F9F4-4CB6-ACA3-B7AF7EB654E8}"/>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650E9D9F-8AE7-4B1D-A4F4-2656C5DB568A}"/>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8A35AFA5-F1A6-46E5-8F8A-2DE76EC3A634}"/>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C977ED5-1BF4-4512-96FD-9166A52A9908}"/>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BB62D07-C21D-42ED-A3F4-4FDA0D2128EB}"/>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26BBFB5-389A-48EA-86F5-03B4E5986697}"/>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B463CDA9-5787-4A45-9C58-B29E6393A322}"/>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C6F30DA0-12E0-43BB-8831-8F0558827F9E}"/>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E9005CA-E507-48DD-8579-2F5680BA3EAF}"/>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E2DBEFC-D0DB-49F6-8032-04D199227AC7}"/>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2B0AFCD-8995-4621-8571-DAD2458ECA83}"/>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67F4AF25-B26A-40B8-9419-398FAD00ED14}"/>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BE5378F0-5FF4-497D-9067-66459F4D78FE}"/>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6DDFC43-9A0F-4286-90E9-DFF20924F471}"/>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7B55363-25CA-4368-8AD4-297D9790D494}"/>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64DE256-9BA6-4891-9160-20CBCAE9415E}"/>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09828629-A2C0-42AD-9499-85F19319AE01}"/>
              </a:ext>
            </a:extLst>
          </p:cNvPr>
          <p:cNvSpPr>
            <a:spLocks xmlns:a="http://schemas.openxmlformats.org/drawingml/2006/main" noGrp="1"/>
          </p:cNvSpPr>
          <p:nvPr/>
        </p:nvSpPr>
        <p:spPr>
          <a:xfrm xmlns:a="http://schemas.openxmlformats.org/drawingml/2006/main">
            <a:off x="95250" y="41910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17F5C1A-24AB-4ED9-8626-5A932AC5A3DE}"/>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AE039F04-FD83-4DD1-A2BD-4AD98101A26E}"/>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EDCAF6D-52C7-44CD-AACB-B6FF0F00B893}"/>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D37EEE8-6B19-40AF-9216-D95E1A4ABBC6}"/>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F7204563-0D02-4735-8936-1CCD0BF2C152}"/>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3D0D0AEB-8D8C-4DD9-918E-0285E588EE75}"/>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C868D5FD-D57E-4CFD-BE77-FEB22EC8F094}"/>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FED6B22-6E13-4C83-B220-D1B67B1421D5}"/>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BC1C6134-F571-45B4-AC01-2963D3AFE062}"/>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418BED64-165A-4F2C-92B7-80375A7F3C05}"/>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CEA2E6A8-C558-424F-87F5-86BF5C2FB7F5}"/>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5D386697-7DBB-4011-BD16-05072D9F2A94}"/>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B64F1A7F-3844-4D41-8909-9724DBA69A8F}"/>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7F66581C-6C65-4FEE-B671-3A41F3F7BF17}"/>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5B1683AF-516B-4F06-A8D4-4BFAA701A2BF}"/>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6D8CFD94-4CB7-4144-881C-CDD603B4E469}"/>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F2708D7B-B136-4F54-92CB-5DF1361011D4}"/>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2A7E4E1D-604B-44D1-A0FB-78F922E08102}"/>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4574EA52-27A1-4C6A-BCF6-6652379EEC3D}"/>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6897D8DC-2DCB-48BA-BED4-974CD3997C99}"/>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EAD095EB-5416-410A-88FE-9679BEEED8D4}"/>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7EF2A509-0ED6-494B-BAE4-A1CF1A81944B}"/>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D411E0FC-E95B-4C25-A250-0F6D34496570}"/>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1DF90638-1047-490F-9EEC-D8999CB9EDA9}"/>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7D4F8060-426E-4755-AE7E-BA43F0144A02}"/>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A0EB31F8-751F-4032-BCC9-DAA68A2B1E7C}"/>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39E7EC59-AF2C-4917-8983-144125B17CBB}"/>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44817CF3-03ED-42ED-A0C5-1C985C5F67A7}"/>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16개 상권의 최종 배정</a:t>
            </a:r>
          </a:p>
        </p:txBody>
      </p:sp>
      <p:sp>
        <p:nvSpPr>
          <p:cNvPr id="53" name="">
            <a:extLst xmlns:a="http://schemas.openxmlformats.org/drawingml/2006/main">
              <a:ext uri="{FF2B5EF4-FFF2-40B4-BE49-F238E27FC236}">
                <a16:creationId xmlns:a16="http://schemas.microsoft.com/office/drawing/2014/main" id="{79D75382-C347-4ED7-B659-AF39BE278D03}"/>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0A717A58-EB65-41F2-887C-2C9BC3B1A279}"/>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0371DF6E-92F1-4F69-BF2A-588B79571226}"/>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415A7F6C-CFE1-4CAC-8211-64DED87C5E4F}"/>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2500C0CE-EA1B-424F-A6B1-AD38F0B803C4}"/>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0A654A32-EDAD-46FE-B9CE-967C89D6D267}"/>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16개 상권의 최종 배정</a:t>
            </a:r>
          </a:p>
        </p:txBody>
      </p:sp>
      <p:sp>
        <p:nvSpPr>
          <p:cNvPr id="59" name="">
            <a:extLst xmlns:a="http://schemas.openxmlformats.org/drawingml/2006/main">
              <a:ext uri="{FF2B5EF4-FFF2-40B4-BE49-F238E27FC236}">
                <a16:creationId xmlns:a16="http://schemas.microsoft.com/office/drawing/2014/main" id="{61F7AC38-223A-4A48-9D39-D24605B93C00}"/>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총 60개 · 코어 36 / 참여 24 / 연계 0</a:t>
            </a:r>
          </a:p>
        </p:txBody>
      </p:sp>
      <p:sp>
        <p:nvSpPr>
          <p:cNvPr id="60" name="">
            <a:extLst xmlns:a="http://schemas.openxmlformats.org/drawingml/2006/main">
              <a:ext uri="{FF2B5EF4-FFF2-40B4-BE49-F238E27FC236}">
                <a16:creationId xmlns:a16="http://schemas.microsoft.com/office/drawing/2014/main" id="{FBCCF954-F1B1-46E1-95BE-E784EDDE08CF}"/>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37469E66-26FE-47C3-832D-D06F61D493E3}"/>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06 / 11</a:t>
            </a:r>
          </a:p>
        </p:txBody>
      </p:sp>
      <p:graphicFrame>
        <p:nvGraphicFramePr>
          <p:cNvPr id="130" name="Chart"/>
          <p:cNvGraphicFramePr/>
          <p:nvPr/>
        </p:nvGraphicFramePr>
        <p:xfrm>
          <a:off xmlns:a="http://schemas.openxmlformats.org/drawingml/2006/main" x="3048000" y="333375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f4b43763263545af"/>
          </a:graphicData>
        </a:graphic>
      </p:graphicFrame>
      <p:sp>
        <p:nvSpPr>
          <p:cNvPr id="63" name="">
            <a:extLst xmlns:a="http://schemas.openxmlformats.org/drawingml/2006/main">
              <a:ext uri="{FF2B5EF4-FFF2-40B4-BE49-F238E27FC236}">
                <a16:creationId xmlns:a16="http://schemas.microsoft.com/office/drawing/2014/main" id="{6A9A9984-0840-459E-9A75-0E798749F200}"/>
              </a:ext>
            </a:extLst>
          </p:cNvPr>
          <p:cNvSpPr>
            <a:spLocks xmlns:a="http://schemas.openxmlformats.org/drawingml/2006/main" noGrp="1"/>
          </p:cNvSpPr>
          <p:nvPr/>
        </p:nvSpPr>
        <p:spPr>
          <a:xfrm xmlns:a="http://schemas.openxmlformats.org/drawingml/2006/main">
            <a:off x="10572750" y="3552825"/>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37352F"/>
                </a:solidFill>
                <a:latin typeface="Malgun Gothic"/>
                <a:ea typeface="Malgun Gothic"/>
                <a:cs typeface="Malgun Gothic"/>
              </a:defRPr>
            </a:pPr>
            <a:r>
              <a:rPr sz="2550" b="1">
                <a:solidFill>
                  <a:srgbClr val="37352F"/>
                </a:solidFill>
                <a:latin typeface="Malgun Gothic"/>
                <a:ea typeface="Malgun Gothic"/>
                <a:cs typeface="Malgun Gothic"/>
              </a:rPr>
              <a:t>최소 2개</a:t>
            </a:r>
          </a:p>
        </p:txBody>
      </p:sp>
      <p:sp>
        <p:nvSpPr>
          <p:cNvPr id="64" name="">
            <a:extLst xmlns:a="http://schemas.openxmlformats.org/drawingml/2006/main">
              <a:ext uri="{FF2B5EF4-FFF2-40B4-BE49-F238E27FC236}">
                <a16:creationId xmlns:a16="http://schemas.microsoft.com/office/drawing/2014/main" id="{74D8D8FE-F0A3-4BFC-AFBF-2BB73A23CD38}"/>
              </a:ext>
            </a:extLst>
          </p:cNvPr>
          <p:cNvSpPr>
            <a:spLocks xmlns:a="http://schemas.openxmlformats.org/drawingml/2006/main" noGrp="1"/>
          </p:cNvSpPr>
          <p:nvPr/>
        </p:nvSpPr>
        <p:spPr>
          <a:xfrm xmlns:a="http://schemas.openxmlformats.org/drawingml/2006/main">
            <a:off x="10572750" y="438150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37352F"/>
                </a:solidFill>
                <a:latin typeface="Malgun Gothic"/>
                <a:ea typeface="Malgun Gothic"/>
                <a:cs typeface="Malgun Gothic"/>
              </a:defRPr>
            </a:pPr>
            <a:r>
              <a:rPr sz="2550" b="1">
                <a:solidFill>
                  <a:srgbClr val="37352F"/>
                </a:solidFill>
                <a:latin typeface="Malgun Gothic"/>
                <a:ea typeface="Malgun Gothic"/>
                <a:cs typeface="Malgun Gothic"/>
              </a:rPr>
              <a:t>최대 6개</a:t>
            </a:r>
          </a:p>
        </p:txBody>
      </p:sp>
      <p:sp>
        <p:nvSpPr>
          <p:cNvPr id="65" name="">
            <a:extLst xmlns:a="http://schemas.openxmlformats.org/drawingml/2006/main">
              <a:ext uri="{FF2B5EF4-FFF2-40B4-BE49-F238E27FC236}">
                <a16:creationId xmlns:a16="http://schemas.microsoft.com/office/drawing/2014/main" id="{205350F2-E9F1-4A24-B7FC-494E0165F5E1}"/>
              </a:ext>
            </a:extLst>
          </p:cNvPr>
          <p:cNvSpPr>
            <a:spLocks xmlns:a="http://schemas.openxmlformats.org/drawingml/2006/main" noGrp="1"/>
          </p:cNvSpPr>
          <p:nvPr/>
        </p:nvSpPr>
        <p:spPr>
          <a:xfrm xmlns:a="http://schemas.openxmlformats.org/drawingml/2006/main">
            <a:off x="10572750" y="5257800"/>
            <a:ext cx="3619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점포 수의 20% 이내</a:t>
            </a:r>
          </a:p>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정수 상한은 내림</a:t>
            </a:r>
          </a:p>
        </p:txBody>
      </p:sp>
      <p:sp>
        <p:nvSpPr>
          <p:cNvPr id="66" name="">
            <a:extLst xmlns:a="http://schemas.openxmlformats.org/drawingml/2006/main">
              <a:ext uri="{FF2B5EF4-FFF2-40B4-BE49-F238E27FC236}">
                <a16:creationId xmlns:a16="http://schemas.microsoft.com/office/drawing/2014/main" id="{81BA44B8-4094-44B4-AC34-CA02BD112494}"/>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C75F235B-A851-4A64-ADB8-7D4D3E2DD264}"/>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8" name="">
            <a:extLst xmlns:a="http://schemas.openxmlformats.org/drawingml/2006/main">
              <a:ext uri="{FF2B5EF4-FFF2-40B4-BE49-F238E27FC236}">
                <a16:creationId xmlns:a16="http://schemas.microsoft.com/office/drawing/2014/main" id="{89457730-B62F-43E4-80AE-A7D23D0F7A9F}"/>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이경시장: 19점포 × 20%를 내림하여 최대 3개</a:t>
            </a:r>
          </a:p>
        </p:txBody>
      </p:sp>
    </p:spTree>
    <p:extLst>
      <p:ext uri="{BB962C8B-B14F-4D97-AF65-F5344CB8AC3E}">
        <p14:creationId xmlns:p14="http://schemas.microsoft.com/office/powerpoint/2010/main" val="11717165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DE8A349F-F3FE-43F0-8B4B-4D796699BE95}"/>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376A302-56C8-4770-9173-2C8648071BF1}"/>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4587F26-B14E-453E-8EB8-CC6037493924}"/>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8DA5C856-D265-4FAE-B8C1-F0010D9B94DA}"/>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94CB07A2-B3BA-490B-B0F7-5125CC2DD1C6}"/>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C40BA139-64E4-469F-BE83-1E85614CCFE6}"/>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44CA61A1-D37E-4A45-B817-2A59169DC07B}"/>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1CC362AE-406E-42BC-9BD9-37B2881719C2}"/>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499A2A73-D777-4B01-B574-D1DA54249E4F}"/>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0872902A-90CC-417D-BA04-3B0DFE4FD2F1}"/>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2C00A64-3912-41E8-9E1F-F0CEF469AA40}"/>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F4693AB-AFDE-4731-903B-A6C5E48672C6}"/>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5F482C5-A985-4CC3-AA53-DD551918904B}"/>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8C8CEF66-CBF8-445D-B894-9C71A0868553}"/>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CB719780-2CA4-4919-8E7A-DEF55E5F6441}"/>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06CD8EF-1D51-4002-B45C-AD02E11B706E}"/>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1AE8482-D5B6-49D6-BECC-B7A25DDAB3D0}"/>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1524F9F-F41B-486D-8518-CC6CC699594D}"/>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62D53E6C-B790-4D66-B864-C2CE839BB228}"/>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E4FD84DA-9A42-4194-9D7D-B49A5CC21EBB}"/>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3914AB5-16BF-4F88-B9B8-D46D94291C05}"/>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21E7F9C-081D-4671-B359-CB5FB238CA0D}"/>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B079A64-BB28-4EA2-89BF-A29755D721B3}"/>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02269F83-158E-4FB4-B61A-429ABBE22093}"/>
              </a:ext>
            </a:extLst>
          </p:cNvPr>
          <p:cNvSpPr>
            <a:spLocks xmlns:a="http://schemas.openxmlformats.org/drawingml/2006/main" noGrp="1"/>
          </p:cNvSpPr>
          <p:nvPr/>
        </p:nvSpPr>
        <p:spPr>
          <a:xfrm xmlns:a="http://schemas.openxmlformats.org/drawingml/2006/main">
            <a:off x="95250" y="41910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FCB1BAB-042D-4E51-BC52-DA7CF4A5D533}"/>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B06A5F86-4FE6-4450-ABB6-4A5C3B43E829}"/>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AF9B07D-ACFF-487F-9DEA-4244840C2A7B}"/>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DDCF24D-3CF6-40F2-838F-84B14F5B66EE}"/>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AC74840-78B8-4CB3-B503-CEFA8E9FADD9}"/>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2129063C-8830-4E03-B2B0-FEB0CD9D1F78}"/>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BD0E9EC6-B175-47F9-AEE2-B1CFB9BBE1B9}"/>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3374F1F2-744D-48CA-A95B-0892B4A1E0F3}"/>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8B27F5B-DB9B-462E-A1C6-FBA9363BC214}"/>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E20F78C2-3164-4C69-B257-10B71DFA5A0F}"/>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AED76F2D-3897-4141-99F4-CD67594B59DF}"/>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7D053A23-71B6-4052-AEF2-647EA9FFBFED}"/>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C86726C2-3081-4D79-9B6C-44EBC42D5916}"/>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2454A7D0-F3C5-47D4-AADC-4CB7FCA5C758}"/>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B08B2634-10BB-4147-85FB-D8B7FD2C82D3}"/>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DBB91758-B73A-428B-96A5-F9A501D6CD52}"/>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B5C9C4C0-1119-4686-8168-D2D1BAC4DFFA}"/>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EC122E94-86E4-45B7-8406-A4F1E3EB930B}"/>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E0A764DA-A8DE-4764-9C90-8C2F30FBEA7C}"/>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7921F0BD-F77F-46A9-8286-241E2A39FE0B}"/>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2C52EE88-24EA-4BCD-B38A-1F7DEB8E07BB}"/>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D5BDDF81-1A87-4184-AD4B-7FA42313AEC8}"/>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B2B1B187-9DC0-4E97-B1C2-7A9E4F41B0D7}"/>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091092DD-468D-44F9-8927-8078C547B119}"/>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E0CE2850-787E-4ABB-A566-AEEBDBFE3DAF}"/>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903E4B24-DBE0-4FBB-950D-64721960E6F8}"/>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B23A2B80-13A4-4F3D-B228-C225F13C0C85}"/>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247CD922-BD20-4507-BCE9-1404D5FB78F5}"/>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상위 5곳 배정 변화</a:t>
            </a:r>
          </a:p>
        </p:txBody>
      </p:sp>
      <p:sp>
        <p:nvSpPr>
          <p:cNvPr id="53" name="">
            <a:extLst xmlns:a="http://schemas.openxmlformats.org/drawingml/2006/main">
              <a:ext uri="{FF2B5EF4-FFF2-40B4-BE49-F238E27FC236}">
                <a16:creationId xmlns:a16="http://schemas.microsoft.com/office/drawing/2014/main" id="{682FDB0A-5A8E-4164-8830-BA435E3A394E}"/>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AFA6F3AD-44F1-4472-87BC-59C0DEDCCC4E}"/>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E6C6A71B-122D-44A5-AF1E-560A1E18291E}"/>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1072C6DB-BF13-4DC1-9006-5291988A93F2}"/>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5F3FA767-DC55-4D31-9E0D-949D275F5209}"/>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1F88FB8A-E165-4864-9498-E79E78AF2A71}"/>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상위 5곳 배정 변화</a:t>
            </a:r>
          </a:p>
        </p:txBody>
      </p:sp>
      <p:sp>
        <p:nvSpPr>
          <p:cNvPr id="59" name="">
            <a:extLst xmlns:a="http://schemas.openxmlformats.org/drawingml/2006/main">
              <a:ext uri="{FF2B5EF4-FFF2-40B4-BE49-F238E27FC236}">
                <a16:creationId xmlns:a16="http://schemas.microsoft.com/office/drawing/2014/main" id="{954B956F-8442-44BC-BD75-1D676AC90D4A}"/>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전후 모두 전체 60개를 분모로 비교</a:t>
            </a:r>
          </a:p>
        </p:txBody>
      </p:sp>
      <p:sp>
        <p:nvSpPr>
          <p:cNvPr id="60" name="">
            <a:extLst xmlns:a="http://schemas.openxmlformats.org/drawingml/2006/main">
              <a:ext uri="{FF2B5EF4-FFF2-40B4-BE49-F238E27FC236}">
                <a16:creationId xmlns:a16="http://schemas.microsoft.com/office/drawing/2014/main" id="{CE185D4C-7344-4FC1-BC31-82A8B1D666E5}"/>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82068D28-F9E3-4D4A-BD3F-E1C212B4A709}"/>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07 / 11</a:t>
            </a:r>
          </a:p>
        </p:txBody>
      </p:sp>
      <p:graphicFrame>
        <p:nvGraphicFramePr>
          <p:cNvPr id="129" name="Chart"/>
          <p:cNvGraphicFramePr/>
          <p:nvPr/>
        </p:nvGraphicFramePr>
        <p:xfrm>
          <a:off xmlns:a="http://schemas.openxmlformats.org/drawingml/2006/main" x="3048000" y="3381375"/>
          <a:ext xmlns:a="http://schemas.openxmlformats.org/drawingml/2006/main" cx="11506200" cy="2781300"/>
        </p:xfrm>
        <a:graphic xmlns:a="http://schemas.openxmlformats.org/drawingml/2006/main">
          <a:graphicData uri="http://schemas.openxmlformats.org/drawingml/2006/chart">
            <c:chart xmlns:r="http://schemas.openxmlformats.org/officeDocument/2006/relationships" xmlns:c="http://schemas.openxmlformats.org/drawingml/2006/chart" r:id="R731621d6db2f4952"/>
          </a:graphicData>
        </a:graphic>
      </p:graphicFrame>
      <p:sp>
        <p:nvSpPr>
          <p:cNvPr id="63" name="">
            <a:extLst xmlns:a="http://schemas.openxmlformats.org/drawingml/2006/main">
              <a:ext uri="{FF2B5EF4-FFF2-40B4-BE49-F238E27FC236}">
                <a16:creationId xmlns:a16="http://schemas.microsoft.com/office/drawing/2014/main" id="{49F02209-378C-40DB-9C81-46EA08C17F27}"/>
              </a:ext>
            </a:extLst>
          </p:cNvPr>
          <p:cNvSpPr>
            <a:spLocks xmlns:a="http://schemas.openxmlformats.org/drawingml/2006/main" noGrp="1"/>
          </p:cNvSpPr>
          <p:nvPr/>
        </p:nvSpPr>
        <p:spPr>
          <a:xfrm xmlns:a="http://schemas.openxmlformats.org/drawingml/2006/main">
            <a:off x="3048000" y="6305550"/>
            <a:ext cx="542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37352F"/>
                </a:solidFill>
                <a:latin typeface="Malgun Gothic"/>
                <a:ea typeface="Malgun Gothic"/>
                <a:cs typeface="Malgun Gothic"/>
              </a:defRPr>
            </a:pPr>
            <a:r>
              <a:rPr sz="2775" b="1">
                <a:solidFill>
                  <a:srgbClr val="37352F"/>
                </a:solidFill>
                <a:latin typeface="Malgun Gothic"/>
                <a:ea typeface="Malgun Gothic"/>
                <a:cs typeface="Malgun Gothic"/>
              </a:rPr>
              <a:t>13개 (21.7%)</a:t>
            </a:r>
          </a:p>
        </p:txBody>
      </p:sp>
      <p:sp>
        <p:nvSpPr>
          <p:cNvPr id="64" name="">
            <a:extLst xmlns:a="http://schemas.openxmlformats.org/drawingml/2006/main">
              <a:ext uri="{FF2B5EF4-FFF2-40B4-BE49-F238E27FC236}">
                <a16:creationId xmlns:a16="http://schemas.microsoft.com/office/drawing/2014/main" id="{7F2C2552-2218-4E57-9DF8-C2B6EC37DBAD}"/>
              </a:ext>
            </a:extLst>
          </p:cNvPr>
          <p:cNvSpPr>
            <a:spLocks xmlns:a="http://schemas.openxmlformats.org/drawingml/2006/main" noGrp="1"/>
          </p:cNvSpPr>
          <p:nvPr/>
        </p:nvSpPr>
        <p:spPr>
          <a:xfrm xmlns:a="http://schemas.openxmlformats.org/drawingml/2006/main">
            <a:off x="9315450" y="630555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487CA5"/>
                </a:solidFill>
                <a:latin typeface="Malgun Gothic"/>
                <a:ea typeface="Malgun Gothic"/>
                <a:cs typeface="Malgun Gothic"/>
              </a:defRPr>
            </a:pPr>
            <a:r>
              <a:rPr sz="2775" b="1">
                <a:solidFill>
                  <a:srgbClr val="487CA5"/>
                </a:solidFill>
                <a:latin typeface="Malgun Gothic"/>
                <a:ea typeface="Malgun Gothic"/>
                <a:cs typeface="Malgun Gothic"/>
              </a:rPr>
              <a:t>27개 (45.0%)</a:t>
            </a:r>
          </a:p>
        </p:txBody>
      </p:sp>
      <p:sp>
        <p:nvSpPr>
          <p:cNvPr id="65" name="">
            <a:extLst xmlns:a="http://schemas.openxmlformats.org/drawingml/2006/main">
              <a:ext uri="{FF2B5EF4-FFF2-40B4-BE49-F238E27FC236}">
                <a16:creationId xmlns:a16="http://schemas.microsoft.com/office/drawing/2014/main" id="{2DD0878B-A9C4-424B-A0DB-B524B9FD56F6}"/>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16439DCA-25E9-476A-90EC-FCD06F0CE1C5}"/>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7" name="">
            <a:extLst xmlns:a="http://schemas.openxmlformats.org/drawingml/2006/main">
              <a:ext uri="{FF2B5EF4-FFF2-40B4-BE49-F238E27FC236}">
                <a16:creationId xmlns:a16="http://schemas.microsoft.com/office/drawing/2014/main" id="{631D843C-24B9-49AF-ADD1-A7B1981A70C1}"/>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상위 5곳에 14개 추가 배정 · 매출 증가율을 뜻하지 않음</a:t>
            </a:r>
          </a:p>
        </p:txBody>
      </p:sp>
    </p:spTree>
    <p:extLst>
      <p:ext uri="{BB962C8B-B14F-4D97-AF65-F5344CB8AC3E}">
        <p14:creationId xmlns:p14="http://schemas.microsoft.com/office/powerpoint/2010/main" val="124754192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F3FE5D1C-5DB2-4563-84D6-B0CC521AB2C5}"/>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006351-F5A1-4F48-9787-EE06928ED344}"/>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2C2A37E-E4AE-4D46-82EF-DBC961955346}"/>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E7A40512-7A2E-40AC-A136-AC4B4683E5D8}"/>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D1E21CCF-AF92-4961-9B00-7C3B0901EA0E}"/>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327FB838-0284-4B31-917C-889B7FE2E9C6}"/>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FEDD2BA6-BB40-41C4-840A-782FF14C1371}"/>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680ECCE7-8EE5-41B8-90E0-39E497ABFB6B}"/>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D755E37C-4F64-4B1C-8C27-B59BF6DBE6D0}"/>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261F444A-6EFD-413B-BCA4-395B891AF303}"/>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A4D8128-835F-4334-BF62-CC6FE179C132}"/>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A69C3B8-83D3-4EB5-9A9B-B9BD086D4052}"/>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EFA250A-9235-4B91-9778-A62744556477}"/>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30BA9A2A-4E40-487A-8859-5E97D78F16EF}"/>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1B9A0460-BF42-4514-ABB5-9E982F77AE89}"/>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5060EDB-55F4-40ED-BBDF-EFDCD9B0F6B0}"/>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3D9D9D4-C805-49CE-8DAC-B2EADEDE5D3C}"/>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F3B3402-C5C3-494E-A56E-2E95324D552E}"/>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63863B48-13E5-409E-A5A0-60CCF8581DD5}"/>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179FC5B8-4500-4FBF-B00B-FC87D24375ED}"/>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D99D12F-6A6B-4D08-ADF3-C2C4F288266A}"/>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92F68C5-85FC-4C8B-B783-DDA7759C12DA}"/>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F935D1B-D880-4012-BEE9-110D79AD543E}"/>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B3F1913A-A577-4FE9-B20D-C9B28320A35B}"/>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35651BBC-7C24-4D04-B4D2-35FF40263E33}"/>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F951374-32C5-48BE-8624-385B7AF1244F}"/>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C49538A-AAEA-4472-8B0C-D626F171396F}"/>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30329FF-216B-48B6-90F1-C5E54D142463}"/>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5D27E003-6CE4-41D4-8E54-16C7B090673F}"/>
              </a:ext>
            </a:extLst>
          </p:cNvPr>
          <p:cNvSpPr>
            <a:spLocks xmlns:a="http://schemas.openxmlformats.org/drawingml/2006/main" noGrp="1"/>
          </p:cNvSpPr>
          <p:nvPr/>
        </p:nvSpPr>
        <p:spPr>
          <a:xfrm xmlns:a="http://schemas.openxmlformats.org/drawingml/2006/main">
            <a:off x="95250" y="460057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04ACF84-6BAF-4D79-8507-A1E142EE95BC}"/>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37054AD6-186F-4DF4-B1EB-FD72212E82D3}"/>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16AF1CA-3873-4A90-A5AC-3CE4072E2777}"/>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08C9C3C-7361-45FC-9AEF-ED37B6167113}"/>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8997B3E9-E458-44CC-AEDA-C08EF42C401A}"/>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D9660CC0-DABA-44E9-82C4-F319D605E25B}"/>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E4212474-C050-4750-9925-C396C58DA97C}"/>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28457A8A-C618-4E57-95BE-2A488A5582AF}"/>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C14EBD97-B888-46AB-A0FA-F0131FFA788D}"/>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851C6F88-74D0-4AB3-B732-1ACF949245F4}"/>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8D6AC821-3546-41B4-A2F9-9747077B6CDA}"/>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8DB6030F-FFC1-455C-AA36-8C9B2E2C8DDC}"/>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C1CB08B2-1F3F-4C2D-A50A-2C4FF3995B88}"/>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14BE594B-2938-4441-B7D0-DB8C533F2E60}"/>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19594505-B148-4B00-AD5E-1C76164D9682}"/>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E75CC4A4-71C4-4133-BA02-B23685A3E167}"/>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3F3C40FE-CCDB-4C11-9E0B-9594A8A3612B}"/>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C6B206D6-AA16-422D-A235-35B9DEDE22A6}"/>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49226C05-F86B-4B7E-A3E7-F699E6096E16}"/>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6B320FCA-F725-42A8-AD86-4A7E8DC58C85}"/>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C674E3FB-9228-450C-96A6-94AD580B4F0C}"/>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7D82D109-CA79-4A7E-BB78-8978FA3E30D9}"/>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BD36DE0C-3916-4B1D-854B-C010D1810F0F}"/>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3개 상권을 잇는 코스</a:t>
            </a:r>
          </a:p>
        </p:txBody>
      </p:sp>
      <p:sp>
        <p:nvSpPr>
          <p:cNvPr id="53" name="">
            <a:extLst xmlns:a="http://schemas.openxmlformats.org/drawingml/2006/main">
              <a:ext uri="{FF2B5EF4-FFF2-40B4-BE49-F238E27FC236}">
                <a16:creationId xmlns:a16="http://schemas.microsoft.com/office/drawing/2014/main" id="{3FE21B76-906A-4059-A130-5DCA9435A096}"/>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BE5B4427-88C4-4B52-8D41-2FEEF8BBA34F}"/>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18520A57-CBC0-4A0D-8D1F-B16909DF2CEE}"/>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6DF5CEDA-DA38-4DB1-8894-E346B1C54A46}"/>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A36DD89C-636B-4E88-BF2C-B082162EB80D}"/>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41A9B711-591A-49D7-B9CB-B3D86F031324}"/>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3개 상권을 잇는 코스</a:t>
            </a:r>
          </a:p>
        </p:txBody>
      </p:sp>
      <p:sp>
        <p:nvSpPr>
          <p:cNvPr id="59" name="">
            <a:extLst xmlns:a="http://schemas.openxmlformats.org/drawingml/2006/main">
              <a:ext uri="{FF2B5EF4-FFF2-40B4-BE49-F238E27FC236}">
                <a16:creationId xmlns:a16="http://schemas.microsoft.com/office/drawing/2014/main" id="{300A3722-2091-40C2-90ED-8ED9B99F87BC}"/>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기존 분석의 코스 제안 · 웹의 권역별 테마 목록과 구분</a:t>
            </a:r>
          </a:p>
        </p:txBody>
      </p:sp>
      <p:sp>
        <p:nvSpPr>
          <p:cNvPr id="60" name="">
            <a:extLst xmlns:a="http://schemas.openxmlformats.org/drawingml/2006/main">
              <a:ext uri="{FF2B5EF4-FFF2-40B4-BE49-F238E27FC236}">
                <a16:creationId xmlns:a16="http://schemas.microsoft.com/office/drawing/2014/main" id="{54FA8562-5816-4705-B6E6-1D6C2ABC0D38}"/>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556AAD90-D24E-48B1-A093-926A140C34C4}"/>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08 / 11</a:t>
            </a:r>
          </a:p>
        </p:txBody>
      </p:sp>
      <p:graphicFrame>
        <p:nvGraphicFramePr>
          <p:cNvPr id="129" name=""/>
          <p:cNvGraphicFramePr/>
          <p:nvPr/>
        </p:nvGraphicFramePr>
        <p:xfrm>
          <a:off xmlns:a="http://schemas.openxmlformats.org/drawingml/2006/main" x="3048000" y="3448050"/>
          <a:ext xmlns:a="http://schemas.openxmlformats.org/drawingml/2006/main" cx="11506200" cy="2476500"/>
        </p:xfrm>
        <a:graphic xmlns:a="http://schemas.openxmlformats.org/drawingml/2006/main">
          <a:graphicData uri="http://schemas.openxmlformats.org/drawingml/2006/table">
            <a:tbl>
              <a:tblPr/>
              <a:tblGrid>
                <a:gridCol w="1524000"/>
                <a:gridCol w="7524750"/>
                <a:gridCol w="2457450"/>
              </a:tblGrid>
              <a:tr h="619125">
                <a:tc>
                  <a:txBody>
                    <a:bodyPr/>
                    <a:lstStyle/>
                    <a:p>
                      <a:r>
                        <a:rPr sz="1725" b="1">
                          <a:solidFill>
                            <a:srgbClr val="37352F"/>
                          </a:solidFill>
                          <a:latin typeface="Malgun Gothic"/>
                          <a:ea typeface="Malgun Gothic"/>
                          <a:cs typeface="Malgun Gothic"/>
                        </a:rPr>
                        <a:t>권역</a:t>
                      </a:r>
                    </a:p>
                  </a:txBody>
                  <a:tcPr marL="85725" marR="85725" marT="28575" marB="28575">
                    <a:solidFill>
                      <a:srgbClr val="F1F1EF"/>
                    </a:solidFill>
                  </a:tcPr>
                </a:tc>
                <a:tc>
                  <a:txBody>
                    <a:bodyPr/>
                    <a:lstStyle/>
                    <a:p>
                      <a:r>
                        <a:rPr sz="1725" b="1">
                          <a:solidFill>
                            <a:srgbClr val="37352F"/>
                          </a:solidFill>
                          <a:latin typeface="Malgun Gothic"/>
                          <a:ea typeface="Malgun Gothic"/>
                          <a:cs typeface="Malgun Gothic"/>
                        </a:rPr>
                        <a:t>포함 상권</a:t>
                      </a:r>
                    </a:p>
                  </a:txBody>
                  <a:tcPr marL="85725" marR="85725" marT="28575" marB="28575">
                    <a:solidFill>
                      <a:srgbClr val="F1F1EF"/>
                    </a:solidFill>
                  </a:tcPr>
                </a:tc>
                <a:tc>
                  <a:txBody>
                    <a:bodyPr/>
                    <a:lstStyle/>
                    <a:p>
                      <a:r>
                        <a:rPr sz="1725" b="1">
                          <a:solidFill>
                            <a:srgbClr val="37352F"/>
                          </a:solidFill>
                          <a:latin typeface="Malgun Gothic"/>
                          <a:ea typeface="Malgun Gothic"/>
                          <a:cs typeface="Malgun Gothic"/>
                        </a:rPr>
                        <a:t>근사 거리·시간</a:t>
                      </a:r>
                    </a:p>
                  </a:txBody>
                  <a:tcPr marL="85725" marR="85725" marT="28575" marB="28575">
                    <a:solidFill>
                      <a:srgbClr val="F1F1EF"/>
                    </a:solidFill>
                  </a:tcPr>
                </a:tc>
              </a:tr>
              <a:tr h="619125">
                <a:tc>
                  <a:txBody>
                    <a:bodyPr/>
                    <a:lstStyle/>
                    <a:p>
                      <a:r>
                        <a:rPr sz="1725" b="0">
                          <a:solidFill>
                            <a:srgbClr val="37352F"/>
                          </a:solidFill>
                          <a:latin typeface="Malgun Gothic"/>
                          <a:ea typeface="Malgun Gothic"/>
                          <a:cs typeface="Malgun Gothic"/>
                        </a:rPr>
                        <a:t>A 회기</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회기역 1번 · 회기시장 · 시조사삼거리</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886m · 11분</a:t>
                      </a:r>
                    </a:p>
                  </a:txBody>
                  <a:tcPr marL="85725" marR="85725" marT="28575" marB="28575">
                    <a:solidFill>
                      <a:srgbClr val="FFFFFF"/>
                    </a:solidFill>
                  </a:tcPr>
                </a:tc>
              </a:tr>
              <a:tr h="619125">
                <a:tc>
                  <a:txBody>
                    <a:bodyPr/>
                    <a:lstStyle/>
                    <a:p>
                      <a:r>
                        <a:rPr sz="1725" b="0">
                          <a:solidFill>
                            <a:srgbClr val="37352F"/>
                          </a:solidFill>
                          <a:latin typeface="Malgun Gothic"/>
                          <a:ea typeface="Malgun Gothic"/>
                          <a:cs typeface="Malgun Gothic"/>
                        </a:rPr>
                        <a:t>B 이문</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외대앞역 1번 · 청량초등학교 · 이경시장</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1,147m · 14분</a:t>
                      </a:r>
                    </a:p>
                  </a:txBody>
                  <a:tcPr marL="85725" marR="85725" marT="28575" marB="28575">
                    <a:solidFill>
                      <a:srgbClr val="FFFFFF"/>
                    </a:solidFill>
                  </a:tcPr>
                </a:tc>
              </a:tr>
              <a:tr h="619125">
                <a:tc>
                  <a:txBody>
                    <a:bodyPr/>
                    <a:lstStyle/>
                    <a:p>
                      <a:r>
                        <a:rPr sz="1725" b="0">
                          <a:solidFill>
                            <a:srgbClr val="37352F"/>
                          </a:solidFill>
                          <a:latin typeface="Malgun Gothic"/>
                          <a:ea typeface="Malgun Gothic"/>
                          <a:cs typeface="Malgun Gothic"/>
                        </a:rPr>
                        <a:t>C 전농</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서울시립대 · 시립대앞사거리 · 전곡마을마당공원</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990m · 12분</a:t>
                      </a:r>
                    </a:p>
                  </a:txBody>
                  <a:tcPr marL="85725" marR="85725" marT="28575" marB="28575">
                    <a:solidFill>
                      <a:srgbClr val="FFFFFF"/>
                    </a:solidFill>
                  </a:tcPr>
                </a:tc>
              </a:tr>
            </a:tbl>
          </a:graphicData>
        </a:graphic>
      </p:graphicFrame>
      <p:sp>
        <p:nvSpPr>
          <p:cNvPr id="63" name="">
            <a:extLst xmlns:a="http://schemas.openxmlformats.org/drawingml/2006/main">
              <a:ext uri="{FF2B5EF4-FFF2-40B4-BE49-F238E27FC236}">
                <a16:creationId xmlns:a16="http://schemas.microsoft.com/office/drawing/2014/main" id="{41A209B8-7BE3-46F7-A855-9E75582D0B7D}"/>
              </a:ext>
            </a:extLst>
          </p:cNvPr>
          <p:cNvSpPr>
            <a:spLocks xmlns:a="http://schemas.openxmlformats.org/drawingml/2006/main" noGrp="1"/>
          </p:cNvSpPr>
          <p:nvPr/>
        </p:nvSpPr>
        <p:spPr>
          <a:xfrm xmlns:a="http://schemas.openxmlformats.org/drawingml/2006/main">
            <a:off x="3048000" y="63150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37352F"/>
                </a:solidFill>
                <a:latin typeface="Malgun Gothic"/>
                <a:ea typeface="Malgun Gothic"/>
                <a:cs typeface="Malgun Gothic"/>
              </a:defRPr>
            </a:pPr>
            <a:r>
              <a:rPr sz="2475" b="1">
                <a:solidFill>
                  <a:srgbClr val="37352F"/>
                </a:solidFill>
                <a:latin typeface="Malgun Gothic"/>
                <a:ea typeface="Malgun Gothic"/>
                <a:cs typeface="Malgun Gothic"/>
              </a:rPr>
              <a:t>9 / 16곳 포함</a:t>
            </a:r>
          </a:p>
        </p:txBody>
      </p:sp>
      <p:sp>
        <p:nvSpPr>
          <p:cNvPr id="64" name="">
            <a:extLst xmlns:a="http://schemas.openxmlformats.org/drawingml/2006/main">
              <a:ext uri="{FF2B5EF4-FFF2-40B4-BE49-F238E27FC236}">
                <a16:creationId xmlns:a16="http://schemas.microsoft.com/office/drawing/2014/main" id="{BA00A176-79B5-4804-800C-ECC529C5FEDB}"/>
              </a:ext>
            </a:extLst>
          </p:cNvPr>
          <p:cNvSpPr>
            <a:spLocks xmlns:a="http://schemas.openxmlformats.org/drawingml/2006/main" noGrp="1"/>
          </p:cNvSpPr>
          <p:nvPr/>
        </p:nvSpPr>
        <p:spPr>
          <a:xfrm xmlns:a="http://schemas.openxmlformats.org/drawingml/2006/main">
            <a:off x="9001125" y="6315075"/>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37352F"/>
                </a:solidFill>
                <a:latin typeface="Malgun Gothic"/>
                <a:ea typeface="Malgun Gothic"/>
                <a:cs typeface="Malgun Gothic"/>
              </a:defRPr>
            </a:pPr>
            <a:r>
              <a:rPr sz="2475" b="1">
                <a:solidFill>
                  <a:srgbClr val="37352F"/>
                </a:solidFill>
                <a:latin typeface="Malgun Gothic"/>
                <a:ea typeface="Malgun Gothic"/>
                <a:cs typeface="Malgun Gothic"/>
              </a:rPr>
              <a:t>소외도 합의 약 70.3%</a:t>
            </a:r>
          </a:p>
        </p:txBody>
      </p:sp>
      <p:sp>
        <p:nvSpPr>
          <p:cNvPr id="65" name="">
            <a:extLst xmlns:a="http://schemas.openxmlformats.org/drawingml/2006/main">
              <a:ext uri="{FF2B5EF4-FFF2-40B4-BE49-F238E27FC236}">
                <a16:creationId xmlns:a16="http://schemas.microsoft.com/office/drawing/2014/main" id="{4CB05A76-D759-467F-9878-5F3180BECAED}"/>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0669A083-6050-4ACE-9EAF-D9BC30BAD1CA}"/>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7" name="">
            <a:extLst xmlns:a="http://schemas.openxmlformats.org/drawingml/2006/main">
              <a:ext uri="{FF2B5EF4-FFF2-40B4-BE49-F238E27FC236}">
                <a16:creationId xmlns:a16="http://schemas.microsoft.com/office/drawing/2014/main" id="{76313C5C-6CBC-4191-AC2B-C318F37F0988}"/>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대표점 직선거리 × 1.25, 보행속도 80m/분 가정 · 현장 경로 확인 필요</a:t>
            </a:r>
          </a:p>
        </p:txBody>
      </p:sp>
    </p:spTree>
    <p:extLst>
      <p:ext uri="{BB962C8B-B14F-4D97-AF65-F5344CB8AC3E}">
        <p14:creationId xmlns:p14="http://schemas.microsoft.com/office/powerpoint/2010/main" val="14524637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D57AFBB7-31B9-474D-9200-E18486E10924}"/>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766298-52F3-4D4A-A20D-39AC2A20015B}"/>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0440079-7024-40A4-A9DB-83AE23477596}"/>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75C75447-224D-4ECA-80FE-FF555355E77F}"/>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59907300-BF76-40A8-A4D4-26ED309A0D78}"/>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D1F0494B-076D-4DA9-9D21-570301F9FB1C}"/>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D5A2CAC7-351E-4EAA-BF36-7BC0BDA37C97}"/>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353D6BDD-1EEF-44EA-8FA3-5C8B397C5DEC}"/>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C124D55F-3A90-4F2B-BA9F-6879267E7823}"/>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A5825F15-37BE-43E3-BDDA-65609658D892}"/>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2D59B99-896F-4740-8295-531132DD259E}"/>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71E5CE5-2F43-4D25-8D53-25A53F1506FC}"/>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FB6128C-B4F0-43A9-ACBA-4FB2B03F48CF}"/>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D971C9CF-EE59-40E2-8B41-362471C0A93D}"/>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A2AF7459-17B9-48E6-AFDA-0A1E451BC878}"/>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0FBDF4D-1381-4DDF-9056-082DF2D2A2A9}"/>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F18DD50-70FB-40AF-B309-AA3481878FD8}"/>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679D134-5487-40DD-8B4A-3A0648A83068}"/>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655D3C49-54FF-40DF-8AF7-1B777E612876}"/>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997E3F8A-FC76-4B45-B69F-73CECFE43C4D}"/>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774E4BE-150E-4DBC-BE84-FBC34B0645B0}"/>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F4EFE4C-4C51-4796-9AF4-103BD6DC5716}"/>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3120230-11A7-4DEB-A2F3-B177C8691BC3}"/>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58BBFE06-13CD-46FB-80CC-14198C3DD6C1}"/>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F699054E-9A0E-46A5-B738-2E756CAC9DC2}"/>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D867FDF-E351-462A-B83D-9C565C65995C}"/>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0406DED-7ECE-455A-8540-6BBF731DB4E7}"/>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D7C957F-98FC-4C90-8CC5-E6784C02FE42}"/>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9C304FA5-550A-49A0-9C5E-666C7A287413}"/>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A5A01BE8-EA9B-4DA7-8B93-C57CE6CFE7B3}"/>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48311DC-6212-4D2F-84CB-8FA939F4155B}"/>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2EAC931-B23C-4688-BB28-30519E68B7E1}"/>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A28ACFF-7FD4-4272-A88C-70A12E411FD4}"/>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CFC50ED4-7541-42C2-A995-B8C4E5905A93}"/>
              </a:ext>
            </a:extLst>
          </p:cNvPr>
          <p:cNvSpPr>
            <a:spLocks xmlns:a="http://schemas.openxmlformats.org/drawingml/2006/main" noGrp="1"/>
          </p:cNvSpPr>
          <p:nvPr/>
        </p:nvSpPr>
        <p:spPr>
          <a:xfrm xmlns:a="http://schemas.openxmlformats.org/drawingml/2006/main">
            <a:off x="95250" y="501015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A7840C70-793A-49DB-8B6D-8425EBA72FC4}"/>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876F3F46-FE13-4806-8B44-F31286127F40}"/>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7CBB64F3-A458-4DF7-9A6A-63E566509AD2}"/>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BF0CCB30-AC06-40C0-BC9F-9E85AD76999B}"/>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D8336DA5-F078-4410-A583-51745EAECEFC}"/>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03351ACA-F401-4E43-A45F-177E2C61A040}"/>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F46DB726-5539-4C2A-84FB-93B821AEA407}"/>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C7B5C92-58AD-43F4-A1A2-B307D15C2DD5}"/>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8C350127-B8EA-48F2-9D6B-BD3959876294}"/>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51FA54BC-1516-4175-AA06-3DB3161CD3B1}"/>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844776BA-566D-4CD5-A53E-1931CE7083A1}"/>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B69DC550-78DA-4C1F-BE8B-F5038DA37E5C}"/>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EBDB1B4B-322C-4B56-A2CB-942AF45F35CF}"/>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8E3138EF-1382-4A8A-98AC-E1FE22172D5A}"/>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DD133B44-C245-405F-805C-41550944264A}"/>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7BA6EE0A-000B-44A9-9511-100FA55B6F17}"/>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B272791E-D58C-41C8-853E-679CEAD9B1D9}"/>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3DC577C4-5C93-43A7-8CAA-E1BDD69DF6F7}"/>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방문객 웹 가이드</a:t>
            </a:r>
          </a:p>
        </p:txBody>
      </p:sp>
      <p:sp>
        <p:nvSpPr>
          <p:cNvPr id="53" name="">
            <a:extLst xmlns:a="http://schemas.openxmlformats.org/drawingml/2006/main">
              <a:ext uri="{FF2B5EF4-FFF2-40B4-BE49-F238E27FC236}">
                <a16:creationId xmlns:a16="http://schemas.microsoft.com/office/drawing/2014/main" id="{C6EC7A7A-6460-49D1-AF61-E777BE79B47A}"/>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6957904A-E4E3-4A16-A3DA-0BB299510A16}"/>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E05BB41D-B7A0-4A86-B0CB-D2628A88E0E5}"/>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C2F59468-B68F-48C0-9376-E4AC059B4721}"/>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B3DEC2E7-86AD-4138-9485-12F99A4FE79C}"/>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694F863D-0D5B-437A-8DAB-01B584F7D659}"/>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방문객 웹 가이드</a:t>
            </a:r>
          </a:p>
        </p:txBody>
      </p:sp>
      <p:sp>
        <p:nvSpPr>
          <p:cNvPr id="59" name="">
            <a:extLst xmlns:a="http://schemas.openxmlformats.org/drawingml/2006/main">
              <a:ext uri="{FF2B5EF4-FFF2-40B4-BE49-F238E27FC236}">
                <a16:creationId xmlns:a16="http://schemas.microsoft.com/office/drawing/2014/main" id="{045F856B-FEE7-46EC-89BF-8AFBAEFB0B35}"/>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취향 추천에서 상권별 배정 근거까지</a:t>
            </a:r>
          </a:p>
        </p:txBody>
      </p:sp>
      <p:sp>
        <p:nvSpPr>
          <p:cNvPr id="60" name="">
            <a:extLst xmlns:a="http://schemas.openxmlformats.org/drawingml/2006/main">
              <a:ext uri="{FF2B5EF4-FFF2-40B4-BE49-F238E27FC236}">
                <a16:creationId xmlns:a16="http://schemas.microsoft.com/office/drawing/2014/main" id="{28B59215-A0B6-4E15-9B7D-E3D7DF298B3E}"/>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756634C1-9364-4CBE-97A3-B4CB65206B26}"/>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09 / 11</a:t>
            </a:r>
          </a:p>
        </p:txBody>
      </p:sp>
      <p:pic>
        <p:nvPicPr>
          <p:cNvPr id="128" name=""/>
          <p:cNvPicPr>
            <a:picLocks xmlns:a="http://schemas.openxmlformats.org/drawingml/2006/main" noChangeAspect="1"/>
          </p:cNvPicPr>
          <p:nvPr/>
        </p:nvPicPr>
        <p:blipFill>
          <a:blip xmlns:r="http://schemas.openxmlformats.org/officeDocument/2006/relationships" xmlns:a="http://schemas.openxmlformats.org/drawingml/2006/main" r:embed="Rf58a72ea9b4b48ed"/>
          <a:stretch xmlns:a="http://schemas.openxmlformats.org/drawingml/2006/main"/>
        </p:blipFill>
        <p:spPr>
          <a:xfrm xmlns:a="http://schemas.openxmlformats.org/drawingml/2006/main">
            <a:off x="3722370" y="3371850"/>
            <a:ext cx="4937760" cy="3429000"/>
          </a:xfrm>
          <a:prstGeom xmlns:a="http://schemas.openxmlformats.org/drawingml/2006/main" prst="rect">
            <a:avLst/>
          </a:prstGeom>
        </p:spPr>
      </p:pic>
      <p:pic>
        <p:nvPicPr>
          <p:cNvPr id="129" name=""/>
          <p:cNvPicPr>
            <a:picLocks xmlns:a="http://schemas.openxmlformats.org/drawingml/2006/main" noChangeAspect="1"/>
          </p:cNvPicPr>
          <p:nvPr/>
        </p:nvPicPr>
        <p:blipFill>
          <a:blip xmlns:r="http://schemas.openxmlformats.org/officeDocument/2006/relationships" xmlns:a="http://schemas.openxmlformats.org/drawingml/2006/main" r:embed="Rf7fdac7a5f594ee5"/>
          <a:stretch xmlns:a="http://schemas.openxmlformats.org/drawingml/2006/main"/>
        </p:blipFill>
        <p:spPr>
          <a:xfrm xmlns:a="http://schemas.openxmlformats.org/drawingml/2006/main">
            <a:off x="9844052" y="3333750"/>
            <a:ext cx="4543495" cy="3743325"/>
          </a:xfrm>
          <a:prstGeom xmlns:a="http://schemas.openxmlformats.org/drawingml/2006/main" prst="rect">
            <a:avLst/>
          </a:prstGeom>
        </p:spPr>
      </p:pic>
      <p:sp>
        <p:nvSpPr>
          <p:cNvPr id="64" name="">
            <a:extLst xmlns:a="http://schemas.openxmlformats.org/drawingml/2006/main">
              <a:ext uri="{FF2B5EF4-FFF2-40B4-BE49-F238E27FC236}">
                <a16:creationId xmlns:a16="http://schemas.microsoft.com/office/drawing/2014/main" id="{60C861B4-26D9-434B-928A-72306F609ADA}"/>
              </a:ext>
            </a:extLst>
          </p:cNvPr>
          <p:cNvSpPr>
            <a:spLocks xmlns:a="http://schemas.openxmlformats.org/drawingml/2006/main" noGrp="1"/>
          </p:cNvSpPr>
          <p:nvPr/>
        </p:nvSpPr>
        <p:spPr>
          <a:xfrm xmlns:a="http://schemas.openxmlformats.org/drawingml/2006/main">
            <a:off x="3048000" y="7305675"/>
            <a:ext cx="11506200" cy="64770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89EBD740-E650-440C-9B03-D33536BD89E3}"/>
              </a:ext>
            </a:extLst>
          </p:cNvPr>
          <p:cNvSpPr>
            <a:spLocks xmlns:a="http://schemas.openxmlformats.org/drawingml/2006/main" noGrp="1"/>
          </p:cNvSpPr>
          <p:nvPr/>
        </p:nvSpPr>
        <p:spPr>
          <a:xfrm xmlns:a="http://schemas.openxmlformats.org/drawingml/2006/main">
            <a:off x="3238500" y="742950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6" name="">
            <a:extLst xmlns:a="http://schemas.openxmlformats.org/drawingml/2006/main">
              <a:ext uri="{FF2B5EF4-FFF2-40B4-BE49-F238E27FC236}">
                <a16:creationId xmlns:a16="http://schemas.microsoft.com/office/drawing/2014/main" id="{E0BCE9C9-C819-4003-B4B7-18BF93746AA8}"/>
              </a:ext>
            </a:extLst>
          </p:cNvPr>
          <p:cNvSpPr>
            <a:spLocks xmlns:a="http://schemas.openxmlformats.org/drawingml/2006/main" noGrp="1"/>
          </p:cNvSpPr>
          <p:nvPr/>
        </p:nvSpPr>
        <p:spPr>
          <a:xfrm xmlns:a="http://schemas.openxmlformats.org/drawingml/2006/main">
            <a:off x="3714750" y="741997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취향 추천과 정책 배정을 구분하고, 상권 상세에서 배정 근거를 확인</a:t>
            </a:r>
          </a:p>
        </p:txBody>
      </p:sp>
    </p:spTree>
    <p:extLst>
      <p:ext uri="{BB962C8B-B14F-4D97-AF65-F5344CB8AC3E}">
        <p14:creationId xmlns:p14="http://schemas.microsoft.com/office/powerpoint/2010/main" val="8720107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688C56F2-5E4D-4B0C-9502-ECFDE0A57C9B}"/>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4EB9276-4C3C-4689-90E7-EF5C1ACD7F69}"/>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136240D-70CA-48A4-AB63-8F5695EEFDAA}"/>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B3190506-2D96-4D48-B214-12F6C1FAEF01}"/>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A784A7A9-C3AA-4EFE-A70F-BEE0852D3FD6}"/>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A85F6BB1-B1B1-4E10-A61D-63652207A728}"/>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40796965-64C0-424E-BF04-068440D3ABF2}"/>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E14FA87F-A2D7-4097-90C2-0E56F064E291}"/>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CC0AA5AD-C6EC-4766-8DAA-DD6BE8D3AC65}"/>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0C2076B6-1889-4C19-8698-E8D6DEB7C319}"/>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E0A8679-ECCC-4310-B7A4-C8C45B3F3BA4}"/>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60233A2-445F-43E3-B0E5-BED0CCD50C4F}"/>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FDA9A88-7DC9-48D3-AECC-15977EF29659}"/>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055D0DF8-5B8C-4930-AB7F-9623073ACC99}"/>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705E70FE-B18D-48E6-8521-2F256E36E52C}"/>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DE6783A-9EF9-4CF1-8E96-EC2D6F5F06AC}"/>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43EEF31-5114-4E59-A9CD-86149CCDE6FF}"/>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A0F04F5-E25F-4CD8-BFCA-E12206E0E60B}"/>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9C1971B6-88FE-46B0-B7C3-2DB5DE1987FF}"/>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42979E12-4CD8-4883-B6DE-27E850B570DB}"/>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6C5E12B-B46C-464E-8411-33DAA58A686A}"/>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7FD01C2-16BE-40CE-A263-50B6D6F83216}"/>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69979B0-BCF0-4C22-8AF9-CE5C604F344B}"/>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3C043A8D-40EA-40E4-A362-16F672EE496A}"/>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183056C8-4316-4974-BD08-B1D263571F9E}"/>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BB24919-DBB1-4E71-9019-D5773651ED57}"/>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990F0AD-529A-4150-A739-D9E1C22FA3C8}"/>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3B8B892-ED6C-4CE9-8AE0-88962A86D109}"/>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B2F230CE-A619-4540-805F-485892F779B9}"/>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78E298B1-85C1-45BB-A6E5-8A44FAE18E53}"/>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6AE784E7-E563-4681-AF6A-DF86EA2C63F1}"/>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ABCB961-7C6B-417D-A83F-515769394127}"/>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6C7950F-1880-4D2E-A460-EEF895F007BD}"/>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610AD308-E057-48B2-852D-CDC9AE9531C1}"/>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E44B0BC0-8C61-4F3D-BDA7-927BCF979BFC}"/>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3389242A-3FA2-45D2-8616-AB6F35C9B852}"/>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766782A7-A9BB-4D33-BC1F-C99AF989041D}"/>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024009F1-BE5A-4A1C-BE79-DE46758B56C8}"/>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31123CBE-E85A-4550-8BAA-C31F835C43D7}"/>
              </a:ext>
            </a:extLst>
          </p:cNvPr>
          <p:cNvSpPr>
            <a:spLocks xmlns:a="http://schemas.openxmlformats.org/drawingml/2006/main" noGrp="1"/>
          </p:cNvSpPr>
          <p:nvPr/>
        </p:nvSpPr>
        <p:spPr>
          <a:xfrm xmlns:a="http://schemas.openxmlformats.org/drawingml/2006/main">
            <a:off x="95250" y="541972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003F6DC3-C6BD-4186-A95B-D56FD5ADA0FB}"/>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57A4E0A3-9B69-4996-8165-E585AE8B97B8}"/>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6B36794C-E99F-450A-8308-F7A5C35968B4}"/>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E5B99E6A-DDC4-42F0-BD6D-42BB492FE63D}"/>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85CB3139-7861-4332-85EB-6B41D6676EFB}"/>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03A68E66-76E0-460A-90FF-4FF87535AF77}"/>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756E2EC7-DB3F-4504-AD75-2B45904A4AB3}"/>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56C2B9F3-D57E-4720-81BE-05CFA4E4F115}"/>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72708E4C-1CC8-4E08-8DA0-A64D4B1C4EF5}"/>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F1752CFA-BEAE-4F8B-A74A-CAF3C51D6D69}"/>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71A6CF33-D096-439A-BE63-B20C4719EC1B}"/>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675B9CEF-1603-4A73-B8F9-32E252D39F4B}"/>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27CF50A9-4EF4-415E-B4F0-5D718A86B504}"/>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운영과 성과 측정</a:t>
            </a:r>
          </a:p>
        </p:txBody>
      </p:sp>
      <p:sp>
        <p:nvSpPr>
          <p:cNvPr id="53" name="">
            <a:extLst xmlns:a="http://schemas.openxmlformats.org/drawingml/2006/main">
              <a:ext uri="{FF2B5EF4-FFF2-40B4-BE49-F238E27FC236}">
                <a16:creationId xmlns:a16="http://schemas.microsoft.com/office/drawing/2014/main" id="{EE5D79AF-E0DC-4496-A40E-168E8B01E134}"/>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F82532CF-657C-402C-A430-60FB67BD0438}"/>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C8A87E6B-EEE4-465B-AD36-5AC5C73C628C}"/>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75A6FD9C-4705-4F62-9EF3-8464EBF957E4}"/>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C3B714DB-252B-4844-BAC0-B3ECD7773168}"/>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D111474A-1E93-4581-8CEF-A54EC85E2A6B}"/>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운영과 성과 측정</a:t>
            </a:r>
          </a:p>
        </p:txBody>
      </p:sp>
      <p:sp>
        <p:nvSpPr>
          <p:cNvPr id="59" name="">
            <a:extLst xmlns:a="http://schemas.openxmlformats.org/drawingml/2006/main">
              <a:ext uri="{FF2B5EF4-FFF2-40B4-BE49-F238E27FC236}">
                <a16:creationId xmlns:a16="http://schemas.microsoft.com/office/drawing/2014/main" id="{B43E2E04-0CEF-4678-A351-E841698A037D}"/>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행사 전 협의부터 사후 평가까지의 실행 제안</a:t>
            </a:r>
          </a:p>
        </p:txBody>
      </p:sp>
      <p:sp>
        <p:nvSpPr>
          <p:cNvPr id="60" name="">
            <a:extLst xmlns:a="http://schemas.openxmlformats.org/drawingml/2006/main">
              <a:ext uri="{FF2B5EF4-FFF2-40B4-BE49-F238E27FC236}">
                <a16:creationId xmlns:a16="http://schemas.microsoft.com/office/drawing/2014/main" id="{D435CE88-CBCB-4331-B7C4-FA03A346844C}"/>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4AEC9CC7-CBEC-488E-B0E5-BA924719B9D9}"/>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10 / 11</a:t>
            </a:r>
          </a:p>
        </p:txBody>
      </p:sp>
      <p:graphicFrame>
        <p:nvGraphicFramePr>
          <p:cNvPr id="128" name=""/>
          <p:cNvGraphicFramePr/>
          <p:nvPr/>
        </p:nvGraphicFramePr>
        <p:xfrm>
          <a:off xmlns:a="http://schemas.openxmlformats.org/drawingml/2006/main" x="3048000" y="3343275"/>
          <a:ext xmlns:a="http://schemas.openxmlformats.org/drawingml/2006/main" cx="5286375" cy="3333750"/>
        </p:xfrm>
        <a:graphic xmlns:a="http://schemas.openxmlformats.org/drawingml/2006/main">
          <a:graphicData uri="http://schemas.openxmlformats.org/drawingml/2006/table">
            <a:tbl>
              <a:tblPr/>
              <a:tblGrid>
                <a:gridCol w="1476375"/>
                <a:gridCol w="3810000"/>
              </a:tblGrid>
              <a:tr h="666750">
                <a:tc>
                  <a:txBody>
                    <a:bodyPr/>
                    <a:lstStyle/>
                    <a:p>
                      <a:r>
                        <a:rPr sz="1800" b="1">
                          <a:solidFill>
                            <a:srgbClr val="37352F"/>
                          </a:solidFill>
                          <a:latin typeface="Malgun Gothic"/>
                          <a:ea typeface="Malgun Gothic"/>
                          <a:cs typeface="Malgun Gothic"/>
                        </a:rPr>
                        <a:t>시점</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실행</a:t>
                      </a:r>
                    </a:p>
                  </a:txBody>
                  <a:tcPr marL="85725" marR="85725" marT="28575" marB="28575">
                    <a:solidFill>
                      <a:srgbClr val="F1F1EF"/>
                    </a:solidFill>
                  </a:tcPr>
                </a:tc>
              </a:tr>
              <a:tr h="666750">
                <a:tc>
                  <a:txBody>
                    <a:bodyPr/>
                    <a:lstStyle/>
                    <a:p>
                      <a:r>
                        <a:rPr sz="1800" b="0">
                          <a:solidFill>
                            <a:srgbClr val="37352F"/>
                          </a:solidFill>
                          <a:latin typeface="Malgun Gothic"/>
                          <a:ea typeface="Malgun Gothic"/>
                          <a:cs typeface="Malgun Gothic"/>
                        </a:rPr>
                        <a:t>4주 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상권·상인 협의</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2~3주 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제휴 모집·경로 확인</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1주 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쿠폰·집계 점검</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당일·이후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방문 안내·운영·평가</a:t>
                      </a:r>
                    </a:p>
                  </a:txBody>
                  <a:tcPr marL="85725" marR="85725" marT="28575" marB="28575">
                    <a:solidFill>
                      <a:srgbClr val="FFFFFF"/>
                    </a:solidFill>
                  </a:tcPr>
                </a:tc>
              </a:tr>
            </a:tbl>
          </a:graphicData>
        </a:graphic>
      </p:graphicFrame>
      <p:graphicFrame>
        <p:nvGraphicFramePr>
          <p:cNvPr id="129" name=""/>
          <p:cNvGraphicFramePr/>
          <p:nvPr/>
        </p:nvGraphicFramePr>
        <p:xfrm>
          <a:off xmlns:a="http://schemas.openxmlformats.org/drawingml/2006/main" x="8686800" y="3343275"/>
          <a:ext xmlns:a="http://schemas.openxmlformats.org/drawingml/2006/main" cx="5867400" cy="3333750"/>
        </p:xfrm>
        <a:graphic xmlns:a="http://schemas.openxmlformats.org/drawingml/2006/main">
          <a:graphicData uri="http://schemas.openxmlformats.org/drawingml/2006/table">
            <a:tbl>
              <a:tblPr/>
              <a:tblGrid>
                <a:gridCol w="1809750"/>
                <a:gridCol w="4057650"/>
              </a:tblGrid>
              <a:tr h="666750">
                <a:tc>
                  <a:txBody>
                    <a:bodyPr/>
                    <a:lstStyle/>
                    <a:p>
                      <a:r>
                        <a:rPr sz="1800" b="1">
                          <a:solidFill>
                            <a:srgbClr val="37352F"/>
                          </a:solidFill>
                          <a:latin typeface="Malgun Gothic"/>
                          <a:ea typeface="Malgun Gothic"/>
                          <a:cs typeface="Malgun Gothic"/>
                        </a:rPr>
                        <a:t>지표</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측정</a:t>
                      </a:r>
                    </a:p>
                  </a:txBody>
                  <a:tcPr marL="85725" marR="85725" marT="28575" marB="28575">
                    <a:solidFill>
                      <a:srgbClr val="F1F1EF"/>
                    </a:solidFill>
                  </a:tcPr>
                </a:tc>
              </a:tr>
              <a:tr h="666750">
                <a:tc>
                  <a:txBody>
                    <a:bodyPr/>
                    <a:lstStyle/>
                    <a:p>
                      <a:r>
                        <a:rPr sz="1800" b="0">
                          <a:solidFill>
                            <a:srgbClr val="37352F"/>
                          </a:solidFill>
                          <a:latin typeface="Malgun Gothic"/>
                          <a:ea typeface="Malgun Gothic"/>
                          <a:cs typeface="Malgun Gothic"/>
                        </a:rPr>
                        <a:t>모집 실적</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확정 수 / 배정 수</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방문·완주</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중복을 구분한 인증 로그</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소비 변화</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동의 매장·비교집단 검토</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재참여</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상인 설문·운영 회고</a:t>
                      </a:r>
                    </a:p>
                  </a:txBody>
                  <a:tcPr marL="85725" marR="85725" marT="28575" marB="28575">
                    <a:solidFill>
                      <a:srgbClr val="FFFFFF"/>
                    </a:solidFill>
                  </a:tcPr>
                </a:tc>
              </a:tr>
            </a:tbl>
          </a:graphicData>
        </a:graphic>
      </p:graphicFrame>
      <p:sp>
        <p:nvSpPr>
          <p:cNvPr id="64" name="">
            <a:extLst xmlns:a="http://schemas.openxmlformats.org/drawingml/2006/main">
              <a:ext uri="{FF2B5EF4-FFF2-40B4-BE49-F238E27FC236}">
                <a16:creationId xmlns:a16="http://schemas.microsoft.com/office/drawing/2014/main" id="{30D754AF-2CA1-4189-B941-05B9178D7E59}"/>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7F30F764-05A7-4154-AAAC-4632E48541BF}"/>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6" name="">
            <a:extLst xmlns:a="http://schemas.openxmlformats.org/drawingml/2006/main">
              <a:ext uri="{FF2B5EF4-FFF2-40B4-BE49-F238E27FC236}">
                <a16:creationId xmlns:a16="http://schemas.microsoft.com/office/drawing/2014/main" id="{AE6F21E8-0107-4FBB-A2A4-B2E251AEECE8}"/>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대학·상인회·관계 기관·분석팀 역할 협의 · 인력·쿠폰 등의 비용은 별도 산정</a:t>
            </a:r>
          </a:p>
        </p:txBody>
      </p:sp>
    </p:spTree>
    <p:extLst>
      <p:ext uri="{BB962C8B-B14F-4D97-AF65-F5344CB8AC3E}">
        <p14:creationId xmlns:p14="http://schemas.microsoft.com/office/powerpoint/2010/main" val="1645200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C6C65E18-1CA8-4387-AED5-C798D993C3BA}"/>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BA469B-0E55-4C82-9B8C-CDC90E31C217}"/>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2B8C9FA-FDF0-4F04-B55E-DE3D566B2022}"/>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27BC2E24-C1D0-41FC-BC61-7596C7B0CCE6}"/>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91E763AF-F35D-4816-8264-3772953A75D4}"/>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BD6BCE2C-53E6-416B-A083-80AD160276CA}"/>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F4B97024-8163-483F-9481-7B7EABB1DF66}"/>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2B7310ED-7389-43BD-86FC-818D88891211}"/>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9D18D6F6-1BBC-48AF-85E3-F7C25C330D8F}"/>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7CD1D7AF-8F4E-45AF-BA7C-6F90AB374308}"/>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8932ACD-8AFB-46D4-9FEC-CFE0CDA78AF2}"/>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4A34086-C2AE-410C-A11F-54FD7E05EF33}"/>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9CC6E10-FD3F-4C32-B664-C8F4F7E56F1C}"/>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058118D1-B8DE-4C26-AFFD-BD8E9CF70694}"/>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B5936D14-3ECA-4B04-9010-870C120B7E43}"/>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1E42DAD-E67A-4444-B788-545F9E10AB20}"/>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13EA989-6F56-4B33-8A38-D52D76E26C9B}"/>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E1F0748-9AAA-4746-9FDB-86D7137126C7}"/>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BC83F48E-A5EF-492C-96F0-A5CF3805FF5B}"/>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2F0A1605-EDA9-4E86-8021-5BDC5BF23142}"/>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BAEA61E-F0B2-4A6C-9D8A-93BFB7A30324}"/>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BE8A07E-4DF1-453E-B310-FC83198D8E30}"/>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46D909B-B78F-4824-BB3B-F9B014750F8D}"/>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55D39AC0-D154-4895-A872-C411173783C4}"/>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6C0D57A2-A0C1-496F-B422-5F9F708534E2}"/>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A20D77C-7F8A-4B92-B6BB-F13DFAC09707}"/>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ECABA46-90E4-4DA5-8F30-64558DA536F8}"/>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04EA294-F8F5-4689-AAA6-908F483C9ED3}"/>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15A640AF-C888-44B7-803C-63A01091E733}"/>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14246CB4-5BC8-46FD-A0E5-AE7F442AFE1E}"/>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152DD4B2-3B43-4793-817D-09833BE99ACD}"/>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1C26CE3B-A2BB-4D5F-9921-B9A1801DE1F9}"/>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82681BC-758F-4F9E-90AB-3E9301715F06}"/>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BE19E5EB-268C-453C-AA5F-528FA8D97760}"/>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ED8F667A-0E04-47CA-8743-763940A69DA2}"/>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008668DC-35C3-4161-8FA6-C9EF1943F137}"/>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CCCB2471-C2AC-4F4B-8F87-A5F196965FB8}"/>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02BA29F7-77B2-433A-B77B-DC1C8BADC291}"/>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00444CD9-D7E4-475E-A8FA-0678C74D7F3B}"/>
              </a:ext>
            </a:extLst>
          </p:cNvPr>
          <p:cNvSpPr>
            <a:spLocks xmlns:a="http://schemas.openxmlformats.org/drawingml/2006/main" noGrp="1"/>
          </p:cNvSpPr>
          <p:nvPr/>
        </p:nvSpPr>
        <p:spPr>
          <a:xfrm xmlns:a="http://schemas.openxmlformats.org/drawingml/2006/main">
            <a:off x="95250" y="541972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F7BE4741-74C1-49B4-BACB-BC1E5DCA4EA3}"/>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49E1B823-047C-4B8F-A685-A180CFCF62D0}"/>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1683DEFD-F291-4000-8A0E-0C554FDD440A}"/>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863521BD-80D7-45E7-A00E-651B965EC490}"/>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888D993C-22E9-4266-B8CC-3714550695C3}"/>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291BDCBE-7780-4815-80FA-7DDD2F0C528A}"/>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0D61752D-5B96-4D49-ACAA-17DF9BC98B08}"/>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E52136B2-33AA-4DC3-8D6F-1E5113D953C5}"/>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1063B9D6-AB9D-475F-992F-81903F3C2985}"/>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92277AA7-BBB6-48AF-A9D1-EA78520C20BA}"/>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F2D146AA-4D96-4C76-AEBB-5A4FC7CB63CD}"/>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E8F716EB-3CED-49E4-A5B2-A047A3D10640}"/>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5CEF33E0-B508-4A2A-A4A5-2FBA3BB71E48}"/>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시범 운영 제안</a:t>
            </a:r>
          </a:p>
        </p:txBody>
      </p:sp>
      <p:sp>
        <p:nvSpPr>
          <p:cNvPr id="53" name="">
            <a:extLst xmlns:a="http://schemas.openxmlformats.org/drawingml/2006/main">
              <a:ext uri="{FF2B5EF4-FFF2-40B4-BE49-F238E27FC236}">
                <a16:creationId xmlns:a16="http://schemas.microsoft.com/office/drawing/2014/main" id="{F13448AD-35CC-4016-8BE2-171AC5139BA8}"/>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B438EEF2-B377-4468-82B9-EB91B5E22B58}"/>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B4FA5AC0-4A1A-448B-BD9A-4381ED36EA7D}"/>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5D9ED3D6-3844-4F21-9867-0BF26851253E}"/>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46C812C0-C8C2-4DAC-8401-379EA02CD796}"/>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5B1C1DF8-8B46-4FF9-A34D-AF0CBC392BC6}"/>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시범 운영 제안</a:t>
            </a:r>
          </a:p>
        </p:txBody>
      </p:sp>
      <p:sp>
        <p:nvSpPr>
          <p:cNvPr id="59" name="">
            <a:extLst xmlns:a="http://schemas.openxmlformats.org/drawingml/2006/main">
              <a:ext uri="{FF2B5EF4-FFF2-40B4-BE49-F238E27FC236}">
                <a16:creationId xmlns:a16="http://schemas.microsoft.com/office/drawing/2014/main" id="{FB6CB07C-4EAA-4847-91C0-18E9A7C57C73}"/>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현장 검증과 제휴 협의를 위한 시범 운영</a:t>
            </a:r>
          </a:p>
        </p:txBody>
      </p:sp>
      <p:sp>
        <p:nvSpPr>
          <p:cNvPr id="60" name="">
            <a:extLst xmlns:a="http://schemas.openxmlformats.org/drawingml/2006/main">
              <a:ext uri="{FF2B5EF4-FFF2-40B4-BE49-F238E27FC236}">
                <a16:creationId xmlns:a16="http://schemas.microsoft.com/office/drawing/2014/main" id="{FE86950E-DA04-4FCF-A2EE-614C7F59AE28}"/>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E9EE975E-547E-4014-BF50-95AF252106DA}"/>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11 / 11</a:t>
            </a:r>
          </a:p>
        </p:txBody>
      </p:sp>
      <p:sp>
        <p:nvSpPr>
          <p:cNvPr id="62" name="">
            <a:extLst xmlns:a="http://schemas.openxmlformats.org/drawingml/2006/main">
              <a:ext uri="{FF2B5EF4-FFF2-40B4-BE49-F238E27FC236}">
                <a16:creationId xmlns:a16="http://schemas.microsoft.com/office/drawing/2014/main" id="{04EE9971-D30C-471B-91F2-D96FCB58F4B7}"/>
              </a:ext>
            </a:extLst>
          </p:cNvPr>
          <p:cNvSpPr>
            <a:spLocks xmlns:a="http://schemas.openxmlformats.org/drawingml/2006/main" noGrp="1"/>
          </p:cNvSpPr>
          <p:nvPr/>
        </p:nvSpPr>
        <p:spPr>
          <a:xfrm xmlns:a="http://schemas.openxmlformats.org/drawingml/2006/main">
            <a:off x="3048000" y="3571875"/>
            <a:ext cx="5381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a:solidFill>
                  <a:srgbClr val="37352F"/>
                </a:solidFill>
                <a:latin typeface="Malgun Gothic"/>
                <a:ea typeface="Malgun Gothic"/>
                <a:cs typeface="Malgun Gothic"/>
              </a:defRPr>
            </a:pPr>
            <a:r>
              <a:rPr sz="4800" b="1">
                <a:solidFill>
                  <a:srgbClr val="37352F"/>
                </a:solidFill>
                <a:latin typeface="Malgun Gothic"/>
                <a:ea typeface="Malgun Gothic"/>
                <a:cs typeface="Malgun Gothic"/>
              </a:rPr>
              <a:t>16개 상권</a:t>
            </a:r>
          </a:p>
        </p:txBody>
      </p:sp>
      <p:sp>
        <p:nvSpPr>
          <p:cNvPr id="63" name="">
            <a:extLst xmlns:a="http://schemas.openxmlformats.org/drawingml/2006/main">
              <a:ext uri="{FF2B5EF4-FFF2-40B4-BE49-F238E27FC236}">
                <a16:creationId xmlns:a16="http://schemas.microsoft.com/office/drawing/2014/main" id="{E383263A-B676-46FA-AD5C-8DCCFE1BACAA}"/>
              </a:ext>
            </a:extLst>
          </p:cNvPr>
          <p:cNvSpPr>
            <a:spLocks xmlns:a="http://schemas.openxmlformats.org/drawingml/2006/main" noGrp="1"/>
          </p:cNvSpPr>
          <p:nvPr/>
        </p:nvSpPr>
        <p:spPr>
          <a:xfrm xmlns:a="http://schemas.openxmlformats.org/drawingml/2006/main">
            <a:off x="9020175" y="3571875"/>
            <a:ext cx="5429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a:solidFill>
                  <a:srgbClr val="37352F"/>
                </a:solidFill>
                <a:latin typeface="Malgun Gothic"/>
                <a:ea typeface="Malgun Gothic"/>
                <a:cs typeface="Malgun Gothic"/>
              </a:defRPr>
            </a:pPr>
            <a:r>
              <a:rPr sz="4800" b="1">
                <a:solidFill>
                  <a:srgbClr val="37352F"/>
                </a:solidFill>
                <a:latin typeface="Malgun Gothic"/>
                <a:ea typeface="Malgun Gothic"/>
                <a:cs typeface="Malgun Gothic"/>
              </a:rPr>
              <a:t>60개 배정</a:t>
            </a:r>
          </a:p>
        </p:txBody>
      </p:sp>
      <p:sp>
        <p:nvSpPr>
          <p:cNvPr id="64" name="">
            <a:extLst xmlns:a="http://schemas.openxmlformats.org/drawingml/2006/main">
              <a:ext uri="{FF2B5EF4-FFF2-40B4-BE49-F238E27FC236}">
                <a16:creationId xmlns:a16="http://schemas.microsoft.com/office/drawing/2014/main" id="{EA99C5C4-4391-4FFE-A5E9-31069C4B3B72}"/>
              </a:ext>
            </a:extLst>
          </p:cNvPr>
          <p:cNvSpPr>
            <a:spLocks xmlns:a="http://schemas.openxmlformats.org/drawingml/2006/main" noGrp="1"/>
          </p:cNvSpPr>
          <p:nvPr/>
        </p:nvSpPr>
        <p:spPr>
          <a:xfrm xmlns:a="http://schemas.openxmlformats.org/drawingml/2006/main">
            <a:off x="3048000" y="4953000"/>
            <a:ext cx="11506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75" b="1">
                <a:solidFill>
                  <a:srgbClr val="487CA5"/>
                </a:solidFill>
                <a:latin typeface="Malgun Gothic"/>
                <a:ea typeface="Malgun Gothic"/>
                <a:cs typeface="Malgun Gothic"/>
              </a:defRPr>
            </a:pPr>
            <a:r>
              <a:rPr sz="3375" b="1">
                <a:solidFill>
                  <a:srgbClr val="487CA5"/>
                </a:solidFill>
                <a:latin typeface="Malgun Gothic"/>
                <a:ea typeface="Malgun Gothic"/>
                <a:cs typeface="Malgun Gothic"/>
              </a:rPr>
              <a:t>소외도 상위 5곳에 27개</a:t>
            </a:r>
          </a:p>
        </p:txBody>
      </p:sp>
      <p:sp>
        <p:nvSpPr>
          <p:cNvPr id="65" name="">
            <a:extLst xmlns:a="http://schemas.openxmlformats.org/drawingml/2006/main">
              <a:ext uri="{FF2B5EF4-FFF2-40B4-BE49-F238E27FC236}">
                <a16:creationId xmlns:a16="http://schemas.microsoft.com/office/drawing/2014/main" id="{377F5D45-8989-4996-BC8F-7443C792353D}"/>
              </a:ext>
            </a:extLst>
          </p:cNvPr>
          <p:cNvSpPr>
            <a:spLocks xmlns:a="http://schemas.openxmlformats.org/drawingml/2006/main" noGrp="1"/>
          </p:cNvSpPr>
          <p:nvPr/>
        </p:nvSpPr>
        <p:spPr>
          <a:xfrm xmlns:a="http://schemas.openxmlformats.org/drawingml/2006/main">
            <a:off x="3048000" y="6038850"/>
            <a:ext cx="11506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37352F"/>
                </a:solidFill>
                <a:latin typeface="Malgun Gothic"/>
                <a:ea typeface="Malgun Gothic"/>
                <a:cs typeface="Malgun Gothic"/>
              </a:defRPr>
            </a:pPr>
            <a:r>
              <a:rPr sz="2325" b="0">
                <a:solidFill>
                  <a:srgbClr val="37352F"/>
                </a:solidFill>
                <a:latin typeface="Malgun Gothic"/>
                <a:ea typeface="Malgun Gothic"/>
                <a:cs typeface="Malgun Gothic"/>
              </a:rPr>
              <a:t>참여 상점을 모집하고, 실제 방문과 소비 자료를 모아</a:t>
            </a:r>
          </a:p>
          <a:p xmlns:a="http://schemas.openxmlformats.org/drawingml/2006/main">
            <a:pPr>
              <a:defRPr sz="2325" b="0">
                <a:solidFill>
                  <a:srgbClr val="37352F"/>
                </a:solidFill>
                <a:latin typeface="Malgun Gothic"/>
                <a:ea typeface="Malgun Gothic"/>
                <a:cs typeface="Malgun Gothic"/>
              </a:defRPr>
            </a:pPr>
            <a:r>
              <a:rPr sz="2325" b="0">
                <a:solidFill>
                  <a:srgbClr val="37352F"/>
                </a:solidFill>
                <a:latin typeface="Malgun Gothic"/>
                <a:ea typeface="Malgun Gothic"/>
                <a:cs typeface="Malgun Gothic"/>
              </a:rPr>
              <a:t>다음 행사 배정에 반영하겠습니다</a:t>
            </a:r>
          </a:p>
        </p:txBody>
      </p:sp>
      <p:sp>
        <p:nvSpPr>
          <p:cNvPr id="66" name="">
            <a:extLst xmlns:a="http://schemas.openxmlformats.org/drawingml/2006/main">
              <a:ext uri="{FF2B5EF4-FFF2-40B4-BE49-F238E27FC236}">
                <a16:creationId xmlns:a16="http://schemas.microsoft.com/office/drawing/2014/main" id="{209C132E-1C7E-4779-8811-0DEA757C3795}"/>
              </a:ext>
            </a:extLst>
          </p:cNvPr>
          <p:cNvSpPr>
            <a:spLocks xmlns:a="http://schemas.openxmlformats.org/drawingml/2006/main" noGrp="1"/>
          </p:cNvSpPr>
          <p:nvPr/>
        </p:nvSpPr>
        <p:spPr>
          <a:xfrm xmlns:a="http://schemas.openxmlformats.org/drawingml/2006/main">
            <a:off x="3048000" y="7391400"/>
            <a:ext cx="11506200" cy="57150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E05C7C7C-1D86-42A5-8925-9CEDAC627D91}"/>
              </a:ext>
            </a:extLst>
          </p:cNvPr>
          <p:cNvSpPr>
            <a:spLocks xmlns:a="http://schemas.openxmlformats.org/drawingml/2006/main" noGrp="1"/>
          </p:cNvSpPr>
          <p:nvPr/>
        </p:nvSpPr>
        <p:spPr>
          <a:xfrm xmlns:a="http://schemas.openxmlformats.org/drawingml/2006/main">
            <a:off x="3238500" y="751522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8" name="">
            <a:extLst xmlns:a="http://schemas.openxmlformats.org/drawingml/2006/main">
              <a:ext uri="{FF2B5EF4-FFF2-40B4-BE49-F238E27FC236}">
                <a16:creationId xmlns:a16="http://schemas.microsoft.com/office/drawing/2014/main" id="{95DFFC67-BA04-4452-893A-420C57F60F99}"/>
              </a:ext>
            </a:extLst>
          </p:cNvPr>
          <p:cNvSpPr>
            <a:spLocks xmlns:a="http://schemas.openxmlformats.org/drawingml/2006/main" noGrp="1"/>
          </p:cNvSpPr>
          <p:nvPr/>
        </p:nvSpPr>
        <p:spPr>
          <a:xfrm xmlns:a="http://schemas.openxmlformats.org/drawingml/2006/main">
            <a:off x="3714750" y="75057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시범 운영 기회를 요청드립니다</a:t>
            </a:r>
          </a:p>
        </p:txBody>
      </p:sp>
    </p:spTree>
    <p:extLst>
      <p:ext uri="{BB962C8B-B14F-4D97-AF65-F5344CB8AC3E}">
        <p14:creationId xmlns:p14="http://schemas.microsoft.com/office/powerpoint/2010/main" val="11243252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A8A61A38-8E68-4315-811B-D53D03F07349}"/>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D7406A-7717-4A4B-8B1E-CC7684805AAF}"/>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71493E2-3BD8-4656-8954-3550B5B6E4AA}"/>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7E950124-4423-47A5-BF30-6B1B3AB86D8A}"/>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189579F5-EC5E-4096-86B6-319BCCAF5A6D}"/>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E314AF38-AACB-40AB-AF41-296BA6D43D68}"/>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3D2D605F-B822-4833-B6C6-BD1447F7723A}"/>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E5C25843-E5D6-4B4D-9D63-622F4FFBF9CD}"/>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4E0EF090-2D90-4821-9E9B-E4D43598B5D3}"/>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DFC555A9-2F67-4583-93F7-C6F6B1C68B6F}"/>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42A84AF-FB35-47B4-A883-713732FA48A9}"/>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CE32F8A-3280-4EC3-B19A-744DE89292FE}"/>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BA1912A-DDDD-4555-B8B5-358175ECAA06}"/>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9EAB78F2-A5F4-49CE-9C20-EA03B9C7E922}"/>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F593612C-A492-4BBC-8312-906EDD891B00}"/>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1E3FD43-F0B3-4C2C-9FD5-AC9E63E4B352}"/>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3F43E91-69DF-4542-8B74-8FE31836CE72}"/>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F5C96D7-1AA3-4F71-AF9D-5C62972DA51B}"/>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3E46B37E-DEA0-491A-B9E1-D808F82C5258}"/>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B5C21607-6DD3-421F-8145-00E1AABE8BA0}"/>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323B030-5A3B-4C9D-9310-2065C8532A70}"/>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BB6A4B5-F964-4C10-9547-0C3A32C5E1E8}"/>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F535B94-8F29-4B9F-8F96-91C6B8A110BA}"/>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C0F40368-8FFC-4418-AB87-6721D00E3E2D}"/>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AD54C75C-6B5C-4C72-BE12-10CC71424723}"/>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8B8BA19-C31B-4B61-97A4-CD1C44E89703}"/>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8A031F9-E68E-4533-96CA-C703EEA2F30B}"/>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3C41F37-DA85-4A50-9075-0F0F563B8064}"/>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9FCF108F-7EDE-46D7-AF81-6A85F64052E0}"/>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0A371BFD-5F1A-4D4C-BCDF-037F74C3E68D}"/>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D7AB16A-75FF-4B8F-B80D-AC0FED0EFA60}"/>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A685372-7EB9-4FAF-91D9-8D435E0034DD}"/>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E0D4D22-BDA5-42DB-861C-1937DC0E98B5}"/>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286D4996-CF11-4FEC-AA82-10DA1E3D5A65}"/>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A6DF27A3-0E50-41CD-9AAF-8531479EBF17}"/>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F23E9A2-1EB7-4656-9954-D8CDFD345CCB}"/>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ED895648-080A-4E20-BAD8-8FE870608736}"/>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8779222B-2F77-4A01-A5FA-2E6AF64EBA6B}"/>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A66412A2-812B-451C-8EF9-5BFECAC7D437}"/>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9EE49657-DE18-4DD0-899F-CE7D10A53414}"/>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F08B1ED7-7689-4BAF-81C8-606F8F361754}"/>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4F3AB7B9-6938-4E38-85D6-C76BC0C1AE51}"/>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F1537BD6-365E-4CF5-89EF-F89358F54335}"/>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717F38E0-EE3E-4A12-8047-26F25511ED15}"/>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1BB9D99C-C5F9-475D-B2AF-C6B4D495A949}"/>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381FADF7-F4F6-4AB4-B308-A8F3E14407EC}"/>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82AB2E9F-D001-4C77-9104-0B03DE174FB7}"/>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917A9D27-73D4-4CDA-BE42-0EEDA0CBC32F}"/>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EAD495C6-C124-4C47-A70C-DDA4EC79C48D}"/>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5BBC6898-75F4-4874-B724-3C2ED8E9D6AC}"/>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6B14EC4C-C07D-4954-B2C5-677EE129BB1B}"/>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2BA8AB21-2B1C-47F0-B7A8-4F2E24874C2B}"/>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전체 배정표</a:t>
            </a:r>
          </a:p>
        </p:txBody>
      </p:sp>
      <p:sp>
        <p:nvSpPr>
          <p:cNvPr id="53" name="">
            <a:extLst xmlns:a="http://schemas.openxmlformats.org/drawingml/2006/main">
              <a:ext uri="{FF2B5EF4-FFF2-40B4-BE49-F238E27FC236}">
                <a16:creationId xmlns:a16="http://schemas.microsoft.com/office/drawing/2014/main" id="{34CBA878-17B5-4381-AB2D-D87A4EB05B6A}"/>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274417EE-FA11-4116-93B4-6ECFCEA715A3}"/>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EB4CB039-6C29-4FAA-99E0-197F6EC7C0BF}"/>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2ACE806A-0DCA-4D4C-9677-C6E5FA88FD1D}"/>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B4D83B68-4170-428F-A754-FBDA90AD5EA3}"/>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29A9A82E-26C0-453D-9C41-7AED29BC0DD7}"/>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전체 배정표</a:t>
            </a:r>
          </a:p>
        </p:txBody>
      </p:sp>
      <p:sp>
        <p:nvSpPr>
          <p:cNvPr id="59" name="">
            <a:extLst xmlns:a="http://schemas.openxmlformats.org/drawingml/2006/main">
              <a:ext uri="{FF2B5EF4-FFF2-40B4-BE49-F238E27FC236}">
                <a16:creationId xmlns:a16="http://schemas.microsoft.com/office/drawing/2014/main" id="{9DE6F504-0E5A-46E4-BCC9-E469CEC6AD1B}"/>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B10-14 공개값 · D·L·R·M은 소수 셋째 자리 반올림</a:t>
            </a:r>
          </a:p>
        </p:txBody>
      </p:sp>
      <p:sp>
        <p:nvSpPr>
          <p:cNvPr id="60" name="">
            <a:extLst xmlns:a="http://schemas.openxmlformats.org/drawingml/2006/main">
              <a:ext uri="{FF2B5EF4-FFF2-40B4-BE49-F238E27FC236}">
                <a16:creationId xmlns:a16="http://schemas.microsoft.com/office/drawing/2014/main" id="{9CC4FFCE-8700-4AF7-9C38-6AC58A61F991}"/>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B6938E69-D4E0-4704-BDC2-DEC34010210B}"/>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A</a:t>
            </a:r>
          </a:p>
        </p:txBody>
      </p:sp>
      <p:graphicFrame>
        <p:nvGraphicFramePr>
          <p:cNvPr id="125" name=""/>
          <p:cNvGraphicFramePr/>
          <p:nvPr/>
        </p:nvGraphicFramePr>
        <p:xfrm>
          <a:off xmlns:a="http://schemas.openxmlformats.org/drawingml/2006/main" x="3048000" y="3238500"/>
          <a:ext xmlns:a="http://schemas.openxmlformats.org/drawingml/2006/main" cx="11506200" cy="4333875"/>
        </p:xfrm>
        <a:graphic xmlns:a="http://schemas.openxmlformats.org/drawingml/2006/main">
          <a:graphicData uri="http://schemas.openxmlformats.org/drawingml/2006/table">
            <a:tbl>
              <a:tblPr/>
              <a:tblGrid>
                <a:gridCol w="3390900"/>
                <a:gridCol w="1524000"/>
                <a:gridCol w="1524000"/>
                <a:gridCol w="1524000"/>
                <a:gridCol w="1524000"/>
                <a:gridCol w="1009650"/>
                <a:gridCol w="1009650"/>
              </a:tblGrid>
              <a:tr h="254934">
                <a:tc>
                  <a:txBody>
                    <a:bodyPr/>
                    <a:lstStyle/>
                    <a:p>
                      <a:r>
                        <a:rPr sz="1275" b="1">
                          <a:solidFill>
                            <a:srgbClr val="37352F"/>
                          </a:solidFill>
                          <a:latin typeface="Malgun Gothic"/>
                          <a:ea typeface="Malgun Gothic"/>
                          <a:cs typeface="Malgun Gothic"/>
                        </a:rPr>
                        <a:t>상권</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D</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L</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R</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M</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기존</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최종</a:t>
                      </a:r>
                    </a:p>
                  </a:txBody>
                  <a:tcPr marL="85725" marR="85725" marT="28575" marB="28575">
                    <a:solidFill>
                      <a:srgbClr val="F1F1EF"/>
                    </a:solidFill>
                  </a:tcPr>
                </a:tc>
              </a:tr>
              <a:tr h="254934">
                <a:tc>
                  <a:txBody>
                    <a:bodyPr/>
                    <a:lstStyle/>
                    <a:p>
                      <a:r>
                        <a:rPr sz="1275" b="0">
                          <a:solidFill>
                            <a:srgbClr val="37352F"/>
                          </a:solidFill>
                          <a:latin typeface="Malgun Gothic"/>
                          <a:ea typeface="Malgun Gothic"/>
                          <a:cs typeface="Malgun Gothic"/>
                        </a:rPr>
                        <a:t>시립대앞사거리</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1.000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0.807</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0.669</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이경시장</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0.906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1.000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0.661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0.629</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회기역 1번</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0.906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0.750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0.713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회기시장</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0.750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0.562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0.812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0.527</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시조사삼거리</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0.812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0.716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0.510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전곡마을마당공원</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0.562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0.756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0.448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경희대삼거리</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0.281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0.500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0.937</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0.351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서울시립대</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0.281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0.438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0.970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0.340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회기역</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0.500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0.375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0.695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0.301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청량초등학교</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0.875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0.820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0.271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경희대후문</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0.406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0.250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0.827</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0.264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삼육보건대학교</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0.732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0.263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회기역 2번</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0.938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0.609</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0.255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경희대학교</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0.812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0.062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0.958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0.216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외대앞역 1번</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0.406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0.208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r h="254934">
                <a:tc>
                  <a:txBody>
                    <a:bodyPr/>
                    <a:lstStyle/>
                    <a:p>
                      <a:r>
                        <a:rPr sz="1275" b="0">
                          <a:solidFill>
                            <a:srgbClr val="37352F"/>
                          </a:solidFill>
                          <a:latin typeface="Malgun Gothic"/>
                          <a:ea typeface="Malgun Gothic"/>
                          <a:cs typeface="Malgun Gothic"/>
                        </a:rPr>
                        <a:t>외대앞역 2번</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0.062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0.312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0.869</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0.121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bl>
          </a:graphicData>
        </a:graphic>
      </p:graphicFrame>
      <p:sp>
        <p:nvSpPr>
          <p:cNvPr id="63" name="">
            <a:extLst xmlns:a="http://schemas.openxmlformats.org/drawingml/2006/main">
              <a:ext uri="{FF2B5EF4-FFF2-40B4-BE49-F238E27FC236}">
                <a16:creationId xmlns:a16="http://schemas.microsoft.com/office/drawing/2014/main" id="{9CBC8C5C-57F5-4DA7-B75C-9894A841B91A}"/>
              </a:ext>
            </a:extLst>
          </p:cNvPr>
          <p:cNvSpPr>
            <a:spLocks xmlns:a="http://schemas.openxmlformats.org/drawingml/2006/main" noGrp="1"/>
          </p:cNvSpPr>
          <p:nvPr/>
        </p:nvSpPr>
        <p:spPr>
          <a:xfrm xmlns:a="http://schemas.openxmlformats.org/drawingml/2006/main">
            <a:off x="3048000" y="7810500"/>
            <a:ext cx="11506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16곳 기존 50개 → 최종 60개. 기존 연계존 10개를 포함하면 전후 전체 총량은 60개</a:t>
            </a:r>
          </a:p>
        </p:txBody>
      </p:sp>
    </p:spTree>
    <p:extLst>
      <p:ext uri="{BB962C8B-B14F-4D97-AF65-F5344CB8AC3E}">
        <p14:creationId xmlns:p14="http://schemas.microsoft.com/office/powerpoint/2010/main" val="77745327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AA3A0E57-9072-49FE-B6CA-C10AD315D5AE}"/>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37BA01-2E2C-4EDA-B785-A6DDFBE1363E}"/>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2436326-033E-47A7-B626-08B5574485B2}"/>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80A901CB-E06A-4498-830F-5897D1F86EDE}"/>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52261B48-40D7-473D-AD42-2E2691517570}"/>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6942E6C7-3AEF-480B-9E00-F67E2D78CB7B}"/>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BBBF3BC2-37BE-4990-B036-2164801AE658}"/>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9EFB4C1D-0126-42F0-9ACB-F420D62AF3F4}"/>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6963A0D2-7736-4548-9A07-5235C09F27C1}"/>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6EA48595-C46F-49C9-84A3-E51554DD2E08}"/>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D35E9B9-4F6D-47DB-9701-0FF5D7D64432}"/>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2EFF22F-8023-44E5-ABAB-54E6F13E54A3}"/>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6DF33F7-2F05-4360-8F71-BFC04424E4A1}"/>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2AE0B2F6-048D-4C2E-BC4F-185FA73011D3}"/>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A89D3DF6-2ED3-42B9-9A85-51E1B28041E8}"/>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9ED8119-6500-403A-A062-AEAD01D9B6D4}"/>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1438DCB-0C5C-49B5-A393-407EAA83B3A1}"/>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8FB4660-769F-4381-9B65-99E1C9E57ABB}"/>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16D76A3B-3B70-432C-9240-F4A52677DE62}"/>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CDB3F2BA-E380-436B-8606-8D915E9C2C92}"/>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C8EC39B-BD7C-404E-8185-7BD94D3FED9A}"/>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831F98E-6D59-4833-B323-E11AC75550E5}"/>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62C8A95-F84A-4F90-BFF0-9F7B8F9BA5A8}"/>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5C337F5A-3765-4ABB-9100-03578C975F92}"/>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60C127B9-2EC5-4468-A402-E8A62E57C322}"/>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2F56357-673E-4850-B334-004C763B2DEB}"/>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4103AB5-DC51-47C4-86D9-BC7DFA67CF7B}"/>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B92097B-2798-4616-BC01-5D69F669C094}"/>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C0F8DFF0-EF64-471F-913E-69494D3685F6}"/>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D63CDEA6-74AE-4CE6-B648-E808ED79E820}"/>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A45C3940-5FAB-4769-9911-98B0F6DF2789}"/>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4F63CC4-4451-43D5-808A-97202C558B57}"/>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5C2F2AFD-6DD0-4A73-A395-7617CF1C4025}"/>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85F43D7C-D90B-4A59-B511-87FA9B2766B3}"/>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5B9CC547-C962-4AAF-869C-52A7926CA124}"/>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2F40035C-DE84-4D38-B04D-4F8DDBA5E128}"/>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D99CC10E-58FB-4528-972D-F2F2CB0462AA}"/>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28979388-84E1-4D5A-84D4-06C67901E26B}"/>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0A7D243E-E2AC-4096-BB1B-73F3F058F566}"/>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BEFD5203-70FD-4891-8858-C28BA7F76723}"/>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05620046-8949-4931-8762-F2B8303CA4C8}"/>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2324A77-ADB1-4A8E-A256-C75D78F11754}"/>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5C00179B-2981-4901-97E9-D7D58DFDBCC1}"/>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E87FDA12-9C69-4236-8F11-956F75CDE08C}"/>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517A4F18-E64B-474D-B958-5E0C336BFE6B}"/>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498C4401-58B2-4B30-86EB-415E0F60333E}"/>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FB70C1CC-B8E2-48DF-9570-CF3C73927D2A}"/>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2A677D35-74F6-4E1F-ADD0-588EA3A2C2AA}"/>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474B1F60-CE43-4FD2-B41E-0BF352BB026A}"/>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C7D98490-7B6C-4B92-826F-E1D095DE4DD5}"/>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A865BD8B-93B8-4B5A-8319-CFF700DCB793}"/>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001CB10A-6160-4B93-BE33-F1BE95EEFCCE}"/>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목적함수와 검증</a:t>
            </a:r>
          </a:p>
        </p:txBody>
      </p:sp>
      <p:sp>
        <p:nvSpPr>
          <p:cNvPr id="53" name="">
            <a:extLst xmlns:a="http://schemas.openxmlformats.org/drawingml/2006/main">
              <a:ext uri="{FF2B5EF4-FFF2-40B4-BE49-F238E27FC236}">
                <a16:creationId xmlns:a16="http://schemas.microsoft.com/office/drawing/2014/main" id="{4964C2CA-FDA3-43E9-846D-081F0C1EDF53}"/>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1942EF2A-ABAC-4295-BE69-F284BACE0937}"/>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1BECFC66-27C9-46F9-B05C-7628F786F1DF}"/>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BD1C5EB4-6D37-4992-97CA-2FD03AB2ADA3}"/>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A720C04E-9081-498D-8408-8179760676AA}"/>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30F762B9-571D-43C2-9E54-91C7EF7AAA0A}"/>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목적함수와 검증</a:t>
            </a:r>
          </a:p>
        </p:txBody>
      </p:sp>
      <p:sp>
        <p:nvSpPr>
          <p:cNvPr id="59" name="">
            <a:extLst xmlns:a="http://schemas.openxmlformats.org/drawingml/2006/main">
              <a:ext uri="{FF2B5EF4-FFF2-40B4-BE49-F238E27FC236}">
                <a16:creationId xmlns:a16="http://schemas.microsoft.com/office/drawing/2014/main" id="{2926BD98-19B9-4033-ADE5-FB043985905F}"/>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주어진 목적함수와 제약 아래의 최적해</a:t>
            </a:r>
          </a:p>
        </p:txBody>
      </p:sp>
      <p:sp>
        <p:nvSpPr>
          <p:cNvPr id="60" name="">
            <a:extLst xmlns:a="http://schemas.openxmlformats.org/drawingml/2006/main">
              <a:ext uri="{FF2B5EF4-FFF2-40B4-BE49-F238E27FC236}">
                <a16:creationId xmlns:a16="http://schemas.microsoft.com/office/drawing/2014/main" id="{08F019A2-17B6-46D7-B8B0-E0F1BC021A29}"/>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856880DA-FA1C-48AE-A7B2-BE19DCA5C487}"/>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B</a:t>
            </a:r>
          </a:p>
        </p:txBody>
      </p:sp>
      <p:sp>
        <p:nvSpPr>
          <p:cNvPr id="62" name="">
            <a:extLst xmlns:a="http://schemas.openxmlformats.org/drawingml/2006/main">
              <a:ext uri="{FF2B5EF4-FFF2-40B4-BE49-F238E27FC236}">
                <a16:creationId xmlns:a16="http://schemas.microsoft.com/office/drawing/2014/main" id="{461903CF-ACD4-4601-AECE-975169F1FA28}"/>
              </a:ext>
            </a:extLst>
          </p:cNvPr>
          <p:cNvSpPr>
            <a:spLocks xmlns:a="http://schemas.openxmlformats.org/drawingml/2006/main" noGrp="1"/>
          </p:cNvSpPr>
          <p:nvPr/>
        </p:nvSpPr>
        <p:spPr>
          <a:xfrm xmlns:a="http://schemas.openxmlformats.org/drawingml/2006/main">
            <a:off x="3048000" y="3419475"/>
            <a:ext cx="11506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525" b="1">
                <a:solidFill>
                  <a:srgbClr val="37352F"/>
                </a:solidFill>
                <a:latin typeface="Malgun Gothic"/>
                <a:ea typeface="Malgun Gothic"/>
                <a:cs typeface="Malgun Gothic"/>
              </a:defRPr>
            </a:pPr>
            <a:r>
              <a:rPr sz="3525" b="1">
                <a:solidFill>
                  <a:srgbClr val="37352F"/>
                </a:solidFill>
                <a:latin typeface="Malgun Gothic"/>
                <a:ea typeface="Malgun Gothic"/>
                <a:cs typeface="Malgun Gothic"/>
              </a:rPr>
              <a:t>max Σ Mᵢ√kᵢ</a:t>
            </a:r>
          </a:p>
        </p:txBody>
      </p:sp>
      <p:sp>
        <p:nvSpPr>
          <p:cNvPr id="63" name="">
            <a:extLst xmlns:a="http://schemas.openxmlformats.org/drawingml/2006/main">
              <a:ext uri="{FF2B5EF4-FFF2-40B4-BE49-F238E27FC236}">
                <a16:creationId xmlns:a16="http://schemas.microsoft.com/office/drawing/2014/main" id="{3C8DD0EE-0291-4642-BD72-657AC45AC47F}"/>
              </a:ext>
            </a:extLst>
          </p:cNvPr>
          <p:cNvSpPr>
            <a:spLocks xmlns:a="http://schemas.openxmlformats.org/drawingml/2006/main" noGrp="1"/>
          </p:cNvSpPr>
          <p:nvPr/>
        </p:nvSpPr>
        <p:spPr>
          <a:xfrm xmlns:a="http://schemas.openxmlformats.org/drawingml/2006/main">
            <a:off x="3048000" y="4295775"/>
            <a:ext cx="11506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37352F"/>
                </a:solidFill>
                <a:latin typeface="Malgun Gothic"/>
                <a:ea typeface="Malgun Gothic"/>
                <a:cs typeface="Malgun Gothic"/>
              </a:defRPr>
            </a:pPr>
            <a:r>
              <a:rPr sz="2325" b="0">
                <a:solidFill>
                  <a:srgbClr val="37352F"/>
                </a:solidFill>
                <a:latin typeface="Malgun Gothic"/>
                <a:ea typeface="Malgun Gothic"/>
                <a:cs typeface="Malgun Gothic"/>
              </a:rPr>
              <a:t>Σ kᵢ = 60    2 ≤ kᵢ ≤ min(6, ⌊0.20 × 점포 수⌋)</a:t>
            </a:r>
          </a:p>
        </p:txBody>
      </p:sp>
      <p:graphicFrame>
        <p:nvGraphicFramePr>
          <p:cNvPr id="129" name=""/>
          <p:cNvGraphicFramePr/>
          <p:nvPr/>
        </p:nvGraphicFramePr>
        <p:xfrm>
          <a:off xmlns:a="http://schemas.openxmlformats.org/drawingml/2006/main" x="3048000" y="5343525"/>
          <a:ext xmlns:a="http://schemas.openxmlformats.org/drawingml/2006/main" cx="11506200" cy="1752600"/>
        </p:xfrm>
        <a:graphic xmlns:a="http://schemas.openxmlformats.org/drawingml/2006/main">
          <a:graphicData uri="http://schemas.openxmlformats.org/drawingml/2006/table">
            <a:tbl>
              <a:tblPr/>
              <a:tblGrid>
                <a:gridCol w="5753100"/>
                <a:gridCol w="5753100"/>
              </a:tblGrid>
              <a:tr h="438150">
                <a:tc>
                  <a:txBody>
                    <a:bodyPr/>
                    <a:lstStyle/>
                    <a:p>
                      <a:r>
                        <a:rPr sz="1725" b="1">
                          <a:solidFill>
                            <a:srgbClr val="37352F"/>
                          </a:solidFill>
                          <a:latin typeface="Malgun Gothic"/>
                          <a:ea typeface="Malgun Gothic"/>
                          <a:cs typeface="Malgun Gothic"/>
                        </a:rPr>
                        <a:t>기록된 검증</a:t>
                      </a:r>
                    </a:p>
                  </a:txBody>
                  <a:tcPr marL="85725" marR="85725" marT="28575" marB="28575">
                    <a:solidFill>
                      <a:srgbClr val="F1F1EF"/>
                    </a:solidFill>
                  </a:tcPr>
                </a:tc>
                <a:tc>
                  <a:txBody>
                    <a:bodyPr/>
                    <a:lstStyle/>
                    <a:p>
                      <a:r>
                        <a:rPr sz="1725" b="1">
                          <a:solidFill>
                            <a:srgbClr val="37352F"/>
                          </a:solidFill>
                          <a:latin typeface="Malgun Gothic"/>
                          <a:ea typeface="Malgun Gothic"/>
                          <a:cs typeface="Malgun Gothic"/>
                        </a:rPr>
                        <a:t>결과</a:t>
                      </a:r>
                    </a:p>
                  </a:txBody>
                  <a:tcPr marL="85725" marR="85725" marT="28575" marB="28575">
                    <a:solidFill>
                      <a:srgbClr val="F1F1EF"/>
                    </a:solidFill>
                  </a:tcPr>
                </a:tc>
              </a:tr>
              <a:tr h="438150">
                <a:tc>
                  <a:txBody>
                    <a:bodyPr/>
                    <a:lstStyle/>
                    <a:p>
                      <a:r>
                        <a:rPr sz="1725" b="0">
                          <a:solidFill>
                            <a:srgbClr val="37352F"/>
                          </a:solidFill>
                          <a:latin typeface="Malgun Gothic"/>
                          <a:ea typeface="Malgun Gothic"/>
                          <a:cs typeface="Malgun Gothic"/>
                        </a:rPr>
                        <a:t>DP와 탐욕 배정</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목적값 12.14232로 일치</a:t>
                      </a:r>
                    </a:p>
                  </a:txBody>
                  <a:tcPr marL="85725" marR="85725" marT="28575" marB="28575">
                    <a:solidFill>
                      <a:srgbClr val="FFFFFF"/>
                    </a:solidFill>
                  </a:tcPr>
                </a:tc>
              </a:tr>
              <a:tr h="438150">
                <a:tc>
                  <a:txBody>
                    <a:bodyPr/>
                    <a:lstStyle/>
                    <a:p>
                      <a:r>
                        <a:rPr sz="1725" b="0">
                          <a:solidFill>
                            <a:srgbClr val="37352F"/>
                          </a:solidFill>
                          <a:latin typeface="Malgun Gothic"/>
                          <a:ea typeface="Malgun Gothic"/>
                          <a:cs typeface="Malgun Gothic"/>
                        </a:rPr>
                        <a:t>β 0.6~2.0/km 민감도</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상위 5곳 중 4~5곳 유지</a:t>
                      </a:r>
                    </a:p>
                  </a:txBody>
                  <a:tcPr marL="85725" marR="85725" marT="28575" marB="28575">
                    <a:solidFill>
                      <a:srgbClr val="FFFFFF"/>
                    </a:solidFill>
                  </a:tcPr>
                </a:tc>
              </a:tr>
              <a:tr h="438150">
                <a:tc>
                  <a:txBody>
                    <a:bodyPr/>
                    <a:lstStyle/>
                    <a:p>
                      <a:r>
                        <a:rPr sz="1725" b="0">
                          <a:solidFill>
                            <a:srgbClr val="37352F"/>
                          </a:solidFill>
                          <a:latin typeface="Malgun Gothic"/>
                          <a:ea typeface="Malgun Gothic"/>
                          <a:cs typeface="Malgun Gothic"/>
                        </a:rPr>
                        <a:t>원본 입력·거리 파일</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현재 폴더에 없어 재실행하지 않음</a:t>
                      </a:r>
                    </a:p>
                  </a:txBody>
                  <a:tcPr marL="85725" marR="85725" marT="28575" marB="28575">
                    <a:solidFill>
                      <a:srgbClr val="FFFFFF"/>
                    </a:solidFill>
                  </a:tcPr>
                </a:tc>
              </a:tr>
            </a:tbl>
          </a:graphicData>
        </a:graphic>
      </p:graphicFrame>
      <p:sp>
        <p:nvSpPr>
          <p:cNvPr id="65" name="">
            <a:extLst xmlns:a="http://schemas.openxmlformats.org/drawingml/2006/main">
              <a:ext uri="{FF2B5EF4-FFF2-40B4-BE49-F238E27FC236}">
                <a16:creationId xmlns:a16="http://schemas.microsoft.com/office/drawing/2014/main" id="{FC1E2EB0-E90F-4D27-8AF7-47663D5A4827}"/>
              </a:ext>
            </a:extLst>
          </p:cNvPr>
          <p:cNvSpPr>
            <a:spLocks xmlns:a="http://schemas.openxmlformats.org/drawingml/2006/main" noGrp="1"/>
          </p:cNvSpPr>
          <p:nvPr/>
        </p:nvSpPr>
        <p:spPr>
          <a:xfrm xmlns:a="http://schemas.openxmlformats.org/drawingml/2006/main">
            <a:off x="3048000" y="75342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B10-14 검증 기록. 실제 매출 효과의 최적성을 검증한 것이 아님</a:t>
            </a:r>
          </a:p>
        </p:txBody>
      </p:sp>
    </p:spTree>
    <p:extLst>
      <p:ext uri="{BB962C8B-B14F-4D97-AF65-F5344CB8AC3E}">
        <p14:creationId xmlns:p14="http://schemas.microsoft.com/office/powerpoint/2010/main" val="189804268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014129C0-2E7A-47DC-AA78-C07EC66796C5}"/>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7CBBA3-ED53-4F19-8EE1-FA1F2936C466}"/>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4ABD98C-8C1F-4079-B1A2-764DB3C0D7EA}"/>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5F384ED7-2AB0-45B5-95F0-34F74E9D4EE5}"/>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C4ADC163-9ABF-4488-AE29-BF6F4611F3B5}"/>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8661124B-C9CE-4B95-9B9E-D1A475FD17B7}"/>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1EF68B26-EA3E-4635-9075-14806F42F014}"/>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79101519-652F-4758-84A6-9D821EADDB7E}"/>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088BD3CF-C2CB-40A5-85D1-3AA82918E517}"/>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91D941C9-7729-4414-A949-71229157C27A}"/>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04CCDA3-AF9C-4ABB-B29F-8F670BF8D42D}"/>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CC7EBF4-1626-4A0F-90A9-093E8B3FED55}"/>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2B15C8B-5783-4A7F-8539-D78A8B5406AD}"/>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C57E36E9-7AF2-4FF8-AAE2-93787B802D3E}"/>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AF4185AD-4CD5-442D-AFAF-31D70BAA2ABF}"/>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F7B7E49-E496-4983-A0E0-87EC80D1F9BD}"/>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D6BF21B-5806-439B-A64E-7167BC140F4E}"/>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42DC87A-6045-4931-A088-09A5CB6496CF}"/>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EF87EFD5-5C06-495D-BF6A-84B2DE24EFE2}"/>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8BDCEAC4-D14F-421B-B900-45052C9A60C0}"/>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4F1D017-A369-456C-97C1-F7B225A9758D}"/>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F08552B-F7AB-40D7-B53D-C5BDC02DF63D}"/>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CBE6BF8-0E41-408E-BBB0-BF207EDBE888}"/>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423C4C57-C0D8-4E72-B4D2-CEE8B6194A5D}"/>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DF19C284-BBCA-467E-BEA1-259BDB8CE04B}"/>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55CD124-CB7B-4804-917E-BB199FE1F50B}"/>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C2FCBEC-7075-4C72-95B1-77CB93BFD6E2}"/>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7AF2012-27D1-42A8-8C09-A7E258527186}"/>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A55E8D2F-60E8-4BB1-9950-BAD66B08022A}"/>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133B7054-CF69-4283-B4EE-AEFC338CEFBF}"/>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CE9C75D-EA90-4164-A462-15649C1A18BB}"/>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C1830B28-3654-4AB9-91AC-2631707CC9A0}"/>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FCD75CB-B35F-4A83-82C6-E59CD24129FB}"/>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D84494A3-3AB7-45A9-B730-4AF06FCDCB99}"/>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F6E39125-986C-472B-8D14-E5C052406A55}"/>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F1153FB2-4335-4AD7-A3A4-5D9121B9AC8D}"/>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BAAA9073-E87B-4473-9FC5-DE755F7BE493}"/>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F378A25F-4941-4B0D-8927-2EFDDEA31600}"/>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DD1069F1-B035-4B2B-BF2C-B9FE3ACEA346}"/>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F2F603AC-F072-46FE-B942-A27CDF825E1C}"/>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30A1C957-CFF1-4F36-B32F-D0662E6657E5}"/>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BA291302-204B-42BE-A39E-9727468FB0D9}"/>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A476A7EC-F0AB-4BF5-A8A8-9191C7D0731C}"/>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1884A39B-B0D2-4FE9-8167-7C10B3A8BDC9}"/>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22F9C7A3-6107-4014-A654-82F6562A22F5}"/>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A6661BF4-E252-4903-A333-84F16FD72366}"/>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8F725E7D-0589-4C29-9344-A8F15256B55D}"/>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27905450-74AD-47DC-B745-8A00893BB383}"/>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4137213F-3957-4D76-89E8-70B9F28F7488}"/>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12D8481E-1770-419C-86C9-7AF27A3C3954}"/>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BC5E0F24-5F71-429A-9C44-28E2A078F3D3}"/>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DD1EA6D1-D71A-411D-93D8-5A6DC0D6B990}"/>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지수의 Shapley 설명</a:t>
            </a:r>
          </a:p>
        </p:txBody>
      </p:sp>
      <p:sp>
        <p:nvSpPr>
          <p:cNvPr id="53" name="">
            <a:extLst xmlns:a="http://schemas.openxmlformats.org/drawingml/2006/main">
              <a:ext uri="{FF2B5EF4-FFF2-40B4-BE49-F238E27FC236}">
                <a16:creationId xmlns:a16="http://schemas.microsoft.com/office/drawing/2014/main" id="{8877DBF5-A8EB-4991-A03E-9C0926C2D343}"/>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6FC3BD48-0883-4FD3-B3FD-7632514F7A4D}"/>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ABD831E9-D516-4CD1-9658-60E1E9E4A772}"/>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3FB070F4-1B76-4412-8843-96A4E9B20515}"/>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4CA18C3B-E108-49F0-B3C4-DCC866296C54}"/>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F29A314A-DEFB-4362-95FB-B8FE5DE2B9DB}"/>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지수의 Shapley 설명</a:t>
            </a:r>
          </a:p>
        </p:txBody>
      </p:sp>
      <p:sp>
        <p:nvSpPr>
          <p:cNvPr id="59" name="">
            <a:extLst xmlns:a="http://schemas.openxmlformats.org/drawingml/2006/main">
              <a:ext uri="{FF2B5EF4-FFF2-40B4-BE49-F238E27FC236}">
                <a16:creationId xmlns:a16="http://schemas.microsoft.com/office/drawing/2014/main" id="{05B4C1F9-3A73-460A-A2D7-92D75208AF25}"/>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평균 절대 Shapley 비중 · 기존 분석 기록</a:t>
            </a:r>
          </a:p>
        </p:txBody>
      </p:sp>
      <p:sp>
        <p:nvSpPr>
          <p:cNvPr id="60" name="">
            <a:extLst xmlns:a="http://schemas.openxmlformats.org/drawingml/2006/main">
              <a:ext uri="{FF2B5EF4-FFF2-40B4-BE49-F238E27FC236}">
                <a16:creationId xmlns:a16="http://schemas.microsoft.com/office/drawing/2014/main" id="{D79C8458-3081-412C-8D38-FC39D34BCBCB}"/>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4CDAFE63-FA33-412C-82AD-F352D1AC617F}"/>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C</a:t>
            </a:r>
          </a:p>
        </p:txBody>
      </p:sp>
      <p:graphicFrame>
        <p:nvGraphicFramePr>
          <p:cNvPr id="127" name="Chart"/>
          <p:cNvGraphicFramePr/>
          <p:nvPr/>
        </p:nvGraphicFramePr>
        <p:xfrm>
          <a:off xmlns:a="http://schemas.openxmlformats.org/drawingml/2006/main" x="3048000" y="3381375"/>
          <a:ext xmlns:a="http://schemas.openxmlformats.org/drawingml/2006/main" cx="11506200" cy="3171825"/>
        </p:xfrm>
        <a:graphic xmlns:a="http://schemas.openxmlformats.org/drawingml/2006/main">
          <a:graphicData uri="http://schemas.openxmlformats.org/drawingml/2006/chart">
            <c:chart xmlns:r="http://schemas.openxmlformats.org/officeDocument/2006/relationships" xmlns:c="http://schemas.openxmlformats.org/drawingml/2006/chart" r:id="R077541e3c16847aa"/>
          </a:graphicData>
        </a:graphic>
      </p:graphicFrame>
      <p:sp>
        <p:nvSpPr>
          <p:cNvPr id="63" name="">
            <a:extLst xmlns:a="http://schemas.openxmlformats.org/drawingml/2006/main">
              <a:ext uri="{FF2B5EF4-FFF2-40B4-BE49-F238E27FC236}">
                <a16:creationId xmlns:a16="http://schemas.microsoft.com/office/drawing/2014/main" id="{4E26EF0D-DFBB-4786-80E1-367A6342F359}"/>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FB8D2578-DDA7-4A9C-8767-5FE934BD37CD}"/>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5" name="">
            <a:extLst xmlns:a="http://schemas.openxmlformats.org/drawingml/2006/main">
              <a:ext uri="{FF2B5EF4-FFF2-40B4-BE49-F238E27FC236}">
                <a16:creationId xmlns:a16="http://schemas.microsoft.com/office/drawing/2014/main" id="{EC170D27-7124-471C-956D-ADC00B94699F}"/>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지수 출력의 설명이며 축제 매출에 대한 인과 기여율이 아님</a:t>
            </a:r>
          </a:p>
        </p:txBody>
      </p:sp>
    </p:spTree>
    <p:extLst>
      <p:ext uri="{BB962C8B-B14F-4D97-AF65-F5344CB8AC3E}">
        <p14:creationId xmlns:p14="http://schemas.microsoft.com/office/powerpoint/2010/main" val="122076471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3C1298E8-B976-4012-8043-AA8A6AA4EC49}"/>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0BE716-BCAE-4F41-B388-FE50713469BA}"/>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8E8181E-CADB-4C07-A2E6-3DE6529015C2}"/>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1CF568C8-0EC1-490B-958A-74108515C0C6}"/>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C5E22F97-3B07-4274-984D-42CA1AD13115}"/>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C89E890A-141C-422D-8D8C-CD8466D4220D}"/>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D75D2F70-AB4E-4E58-8CD9-DBE1234657E8}"/>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6EBB057B-D01C-40B9-A65B-8B1683E99A6D}"/>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7D31B3E1-9F34-447D-9DB7-1A51FEFEB091}"/>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B9CF4B06-EB2E-4650-82E9-3CDAAEAB5DDA}"/>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D56A5F6-E8B2-4FA7-B854-855FBA1129F1}"/>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4F314E2-4F0E-434B-A5AB-70B7895ABDF2}"/>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C0CEAA5-480F-4A8A-AA63-B6A8B0063E2D}"/>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65405AC7-802F-4D1F-BC1D-07724A1DEBB1}"/>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38D9531A-C781-423B-A150-45F481110C4D}"/>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1A64BB9-8523-4B6F-A26E-FBF13C883858}"/>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BD24F14-5B3A-4359-931B-E8086396517F}"/>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EB44D4A-316B-4ADF-AA16-E47C979582F6}"/>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428CA431-E98E-43E1-A0DA-AFF28C30EB25}"/>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F0DC0EEB-8EDC-4B78-A339-62EF25F3CA6B}"/>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73A84A9-C85B-4DDE-B050-FCB12ABF635F}"/>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647B8A2-41C4-4141-8A25-30FDAD4C23FF}"/>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4299108-0030-4BA6-A15B-C688CE0ADFC4}"/>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65639AD7-B2CB-43BE-B8B5-7E630BC37F1F}"/>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142EBD31-6348-4442-826F-5769233387A9}"/>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65C2E73-20F6-4C85-9C82-7573B7F45780}"/>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B8E3691-3313-4809-87CA-34A698033422}"/>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EFEE8CC-271F-46FF-B501-7E3AD3652225}"/>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27E8EEE0-D6EE-4340-85F9-A5C17FF38418}"/>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F4E078C8-4969-4EB6-BE80-F85FC983E93D}"/>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F04A7CF1-14D5-4C16-93E6-74141918CC3D}"/>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8F1F25A-0B43-45CB-8227-53232B26E81B}"/>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16573FB-AD0D-477F-8AC6-64F6C98B4804}"/>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81DD4423-8FA3-4E30-9E8A-7BF7677F17C1}"/>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F85AD226-9041-48F9-8675-CAE3D418D200}"/>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C5ED38DF-4167-4001-9CBB-B59D706EF6C2}"/>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E37D979-9725-4986-86BA-C2C29EBCB9C8}"/>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9E3760E4-3247-4124-AF7F-7EBE821884BE}"/>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DC77BC20-56D7-4ADA-8EC8-FC92762DA969}"/>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4FA6381D-530F-46D5-9C4D-DB5E1F5A7392}"/>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99374AAC-AB71-4920-AFC0-B18BDF68F28D}"/>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BCD59A57-6E03-4E1A-B299-BF4D3B961A96}"/>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76E6BE30-4998-4998-ABC6-BE82E5361CFB}"/>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99521935-0D8A-4F4D-904F-077063E13B20}"/>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BA145D07-723E-454E-BEA4-2ACB08DBFD80}"/>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EBE4ACCF-72B7-464D-B19A-B059BF8980CE}"/>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D69893F8-CBD2-4B92-8CBA-97E6FD94996E}"/>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C90D2679-7984-49CC-98A1-0FE7EA741005}"/>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7EB6EDA5-4C61-4EB8-B65D-443789E157C9}"/>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2B1B1719-AE20-4DFF-AE34-2D5CCEAF948A}"/>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371D93F3-6790-4271-97B1-98C1E3FABBBE}"/>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8AF2A39C-A6CE-4920-90CA-B3B671E3441A}"/>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데이터 범위와 한계</a:t>
            </a:r>
          </a:p>
        </p:txBody>
      </p:sp>
      <p:sp>
        <p:nvSpPr>
          <p:cNvPr id="53" name="">
            <a:extLst xmlns:a="http://schemas.openxmlformats.org/drawingml/2006/main">
              <a:ext uri="{FF2B5EF4-FFF2-40B4-BE49-F238E27FC236}">
                <a16:creationId xmlns:a16="http://schemas.microsoft.com/office/drawing/2014/main" id="{B671462A-1A21-45CC-973C-E619F5D354B9}"/>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F8E0938D-7899-4CFE-A4F1-CE55D51896E3}"/>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127AFC0B-5B66-4B51-8357-5C433AD19829}"/>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99BF5A58-C645-4821-81DD-0D74F7FC717E}"/>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E21D83F1-939F-47B5-8A7D-30FD875D7CF7}"/>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F14DCF59-F041-4978-8DB7-004F9C44AEA7}"/>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데이터 범위와 한계</a:t>
            </a:r>
          </a:p>
        </p:txBody>
      </p:sp>
      <p:sp>
        <p:nvSpPr>
          <p:cNvPr id="59" name="">
            <a:extLst xmlns:a="http://schemas.openxmlformats.org/drawingml/2006/main">
              <a:ext uri="{FF2B5EF4-FFF2-40B4-BE49-F238E27FC236}">
                <a16:creationId xmlns:a16="http://schemas.microsoft.com/office/drawing/2014/main" id="{CBD59E62-B66A-4CD3-9C5F-7AE85273D9FE}"/>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분기·모집 단위·대체값을 구분</a:t>
            </a:r>
          </a:p>
        </p:txBody>
      </p:sp>
      <p:sp>
        <p:nvSpPr>
          <p:cNvPr id="60" name="">
            <a:extLst xmlns:a="http://schemas.openxmlformats.org/drawingml/2006/main">
              <a:ext uri="{FF2B5EF4-FFF2-40B4-BE49-F238E27FC236}">
                <a16:creationId xmlns:a16="http://schemas.microsoft.com/office/drawing/2014/main" id="{D695D5F4-E813-4FD1-9197-DB8E6FC63B89}"/>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7DD89A5E-B0E0-4720-88B5-AC190E8DA6B9}"/>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D</a:t>
            </a:r>
          </a:p>
        </p:txBody>
      </p:sp>
      <p:graphicFrame>
        <p:nvGraphicFramePr>
          <p:cNvPr id="125" name=""/>
          <p:cNvGraphicFramePr/>
          <p:nvPr/>
        </p:nvGraphicFramePr>
        <p:xfrm>
          <a:off xmlns:a="http://schemas.openxmlformats.org/drawingml/2006/main" x="3048000" y="3352800"/>
          <a:ext xmlns:a="http://schemas.openxmlformats.org/drawingml/2006/main" cx="11506200" cy="3810000"/>
        </p:xfrm>
        <a:graphic xmlns:a="http://schemas.openxmlformats.org/drawingml/2006/main">
          <a:graphicData uri="http://schemas.openxmlformats.org/drawingml/2006/table">
            <a:tbl>
              <a:tblPr/>
              <a:tblGrid>
                <a:gridCol w="2619375"/>
                <a:gridCol w="8886825"/>
              </a:tblGrid>
              <a:tr h="544286">
                <a:tc>
                  <a:txBody>
                    <a:bodyPr/>
                    <a:lstStyle/>
                    <a:p>
                      <a:r>
                        <a:rPr sz="1800" b="1">
                          <a:solidFill>
                            <a:srgbClr val="37352F"/>
                          </a:solidFill>
                          <a:latin typeface="Malgun Gothic"/>
                          <a:ea typeface="Malgun Gothic"/>
                          <a:cs typeface="Malgun Gothic"/>
                        </a:rPr>
                        <a:t>항목</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적용 기준</a:t>
                      </a:r>
                    </a:p>
                  </a:txBody>
                  <a:tcPr marL="85725" marR="85725" marT="28575" marB="28575">
                    <a:solidFill>
                      <a:srgbClr val="F1F1EF"/>
                    </a:solidFill>
                  </a:tcPr>
                </a:tc>
              </a:tr>
              <a:tr h="544286">
                <a:tc>
                  <a:txBody>
                    <a:bodyPr/>
                    <a:lstStyle/>
                    <a:p>
                      <a:r>
                        <a:rPr sz="1800" b="0">
                          <a:solidFill>
                            <a:srgbClr val="37352F"/>
                          </a:solidFill>
                          <a:latin typeface="Malgun Gothic"/>
                          <a:ea typeface="Malgun Gothic"/>
                          <a:cs typeface="Malgun Gothic"/>
                        </a:rPr>
                        <a:t>웹 전체</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현재 명단 23곳 · 4,374점포</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정책 대상</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코어 9 + 참여 7 = 16곳 · 2,699점포</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이경시장</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2026년 1분기 매출 대체 / 현재 점포 수</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D·L·R·M</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PDF 공개값 소수 셋째 자리 / 거리 재계산 아님</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시계열</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유동은 재현 / 장기 매출은 구성안 기록값</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배정·체험</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모집 계획 / 가상 스탬프·쿠폰은 실제 사용 불가</a:t>
                      </a:r>
                    </a:p>
                  </a:txBody>
                  <a:tcPr marL="85725" marR="85725" marT="28575" marB="28575">
                    <a:solidFill>
                      <a:srgbClr val="FFFFFF"/>
                    </a:solidFill>
                  </a:tcPr>
                </a:tc>
              </a:tr>
            </a:tbl>
          </a:graphicData>
        </a:graphic>
      </p:graphicFrame>
      <p:sp>
        <p:nvSpPr>
          <p:cNvPr id="63" name="">
            <a:extLst xmlns:a="http://schemas.openxmlformats.org/drawingml/2006/main">
              <a:ext uri="{FF2B5EF4-FFF2-40B4-BE49-F238E27FC236}">
                <a16:creationId xmlns:a16="http://schemas.microsoft.com/office/drawing/2014/main" id="{A3427B93-D601-4C12-A1C2-9839BFA0C473}"/>
              </a:ext>
            </a:extLst>
          </p:cNvPr>
          <p:cNvSpPr>
            <a:spLocks xmlns:a="http://schemas.openxmlformats.org/drawingml/2006/main" noGrp="1"/>
          </p:cNvSpPr>
          <p:nvPr/>
        </p:nvSpPr>
        <p:spPr>
          <a:xfrm xmlns:a="http://schemas.openxmlformats.org/drawingml/2006/main">
            <a:off x="3048000" y="7581900"/>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787774"/>
                </a:solidFill>
                <a:latin typeface="Malgun Gothic"/>
                <a:ea typeface="Malgun Gothic"/>
                <a:cs typeface="Malgun Gothic"/>
              </a:defRPr>
            </a:pPr>
            <a:r>
              <a:rPr sz="1725" b="0">
                <a:solidFill>
                  <a:srgbClr val="787774"/>
                </a:solidFill>
                <a:latin typeface="Malgun Gothic"/>
                <a:ea typeface="Malgun Gothic"/>
                <a:cs typeface="Malgun Gothic"/>
              </a:rPr>
              <a:t>교정된 연계존 명단이 없어 구성안의 4,402점포는 적용하지 않음</a:t>
            </a:r>
          </a:p>
        </p:txBody>
      </p:sp>
    </p:spTree>
    <p:extLst>
      <p:ext uri="{BB962C8B-B14F-4D97-AF65-F5344CB8AC3E}">
        <p14:creationId xmlns:p14="http://schemas.microsoft.com/office/powerpoint/2010/main" val="13358507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E93AE581-86C6-49DB-BD39-6EFAD01F7B00}"/>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D8A8CE-1D2E-438B-A6B9-244254569A57}"/>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64F17AF-3768-4F85-9F4A-EAE623A18878}"/>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3710EDE1-EDCD-4D3A-94FB-AA862869696C}"/>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73A70AAE-02F5-4BFF-99D2-8A49026147A7}"/>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D39C0283-1BF3-47A7-8A1F-74AF18A80C18}"/>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F7BC95A1-CACB-4352-B4A2-4DEEC858896A}"/>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8B8A6D5B-6D93-448B-93DE-1B56AE3E4603}"/>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9BDD6FCB-3566-41A3-95E1-DE962A11313D}"/>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158FC448-8A3B-44E5-B39C-40A98E9602D2}"/>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FCC80CE-0F8F-4811-8184-676AE55EA671}"/>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42C948D-4750-4CDF-A264-315810732F86}"/>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408B9C0-AAAE-4829-851D-39788A321364}"/>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526687AD-2503-4468-BDF3-EA6E3EAC6D55}"/>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DED52231-E433-4960-BF2D-488250C663CF}"/>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F0943BA-FAAA-4ADE-8B35-E7E1EFB1A7E4}"/>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183C70E-4BF1-4D65-B300-924B04E2F82A}"/>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AD5BFD1-5B99-4CDD-971E-2ED753DECCC6}"/>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4CA30BFA-98D4-4607-995A-DFC35C2D0C73}"/>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FB311924-FA4A-46D0-9404-6DE193327F83}"/>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FE5F830-5F1E-4317-8896-1D508F561C42}"/>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4AA27DF-718B-46FE-B92F-681F73AF4D43}"/>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3F44450-1E17-4E89-AF68-0DA4B484FA6F}"/>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62F1E7AC-FF89-4B13-BB66-A56AB4707247}"/>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456F304A-3781-4F54-80BF-71D55EBF6C69}"/>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72DF42D-4A9D-4177-8B0A-BE308F66EDCB}"/>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53CCC7B-BEED-4F86-B693-ED1068FD258F}"/>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DD7F028-E7C3-4CF2-B3FE-50719BAE8143}"/>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87F9DCF5-2A18-4612-B345-96E66881B694}"/>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B24CE584-50AF-4039-91D6-D42C2EB50027}"/>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A4D7A556-F0C5-4EBF-B82A-8DD8C144A559}"/>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EB3921A-51E1-451C-B81F-E9D0DE1FA866}"/>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2502C727-6E43-4365-8ADC-C26D1726F1CC}"/>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78C2564C-EACF-485E-8A97-5F24039885EB}"/>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DA3E462A-F76A-43ED-8C2C-EF57F6FFBD3F}"/>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5C5B910F-28E0-4270-97B3-D4821B346DB5}"/>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58AE393-683F-4E5A-82A1-3ED237B5268D}"/>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AD2FF047-CA52-4010-B62C-E35BE514903E}"/>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EAA1C63C-EDCF-4E87-9EDB-7C06F350FD3A}"/>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E5BCD451-7744-42F2-A384-476402AE20A7}"/>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8FB9005-1A98-4536-85E5-48BB815DD66F}"/>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725A577-CF27-4069-B709-2AEB924C7407}"/>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46910328-F139-44DD-A389-61A2770FAB23}"/>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F2B93C50-5D5F-4C29-86C7-1E14BF5C5EB8}"/>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A82CDD14-D760-49EB-AE41-DC3EC002ED93}"/>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857D4157-E597-445C-A7B9-043DCE63F668}"/>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CB0F6CF7-D96A-4E21-99FA-D131354360F4}"/>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E8989152-7017-4489-B6B9-B4A420300B32}"/>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01A8B7B7-F7F5-4E60-BAB3-90A1319FA52E}"/>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66CB3C5B-A006-438C-97D6-36ADF8609792}"/>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3BB9BBB6-CAC7-4210-8289-196076BDFE9F}"/>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FB0705A4-1C31-453E-B23C-000AE25D16D9}"/>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거리 기준과 클리핑</a:t>
            </a:r>
          </a:p>
        </p:txBody>
      </p:sp>
      <p:sp>
        <p:nvSpPr>
          <p:cNvPr id="53" name="">
            <a:extLst xmlns:a="http://schemas.openxmlformats.org/drawingml/2006/main">
              <a:ext uri="{FF2B5EF4-FFF2-40B4-BE49-F238E27FC236}">
                <a16:creationId xmlns:a16="http://schemas.microsoft.com/office/drawing/2014/main" id="{29534124-C9CD-4F59-9A0F-CA35D06BEA86}"/>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6D26C229-153C-45B7-BC25-CED96CD9C290}"/>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FA366F4E-5EF7-4B6D-A007-1E2847117E19}"/>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0C7A3920-2301-4238-A362-54822AD46720}"/>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55244C2E-1AAD-41CE-B523-BA95070AB353}"/>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C6400A50-84B9-450C-9502-EA15E621F880}"/>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거리 기준과 클리핑</a:t>
            </a:r>
          </a:p>
        </p:txBody>
      </p:sp>
      <p:sp>
        <p:nvSpPr>
          <p:cNvPr id="59" name="">
            <a:extLst xmlns:a="http://schemas.openxmlformats.org/drawingml/2006/main">
              <a:ext uri="{FF2B5EF4-FFF2-40B4-BE49-F238E27FC236}">
                <a16:creationId xmlns:a16="http://schemas.microsoft.com/office/drawing/2014/main" id="{759638A4-7B8C-42EF-B68C-684EF7E51CE6}"/>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서로 다른 거리 기준과 정규화 방식</a:t>
            </a:r>
          </a:p>
        </p:txBody>
      </p:sp>
      <p:sp>
        <p:nvSpPr>
          <p:cNvPr id="60" name="">
            <a:extLst xmlns:a="http://schemas.openxmlformats.org/drawingml/2006/main">
              <a:ext uri="{FF2B5EF4-FFF2-40B4-BE49-F238E27FC236}">
                <a16:creationId xmlns:a16="http://schemas.microsoft.com/office/drawing/2014/main" id="{3FBD8FA3-88CA-4D73-A50A-D1871BE2D189}"/>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B99111D8-336E-40D4-9905-BBB9933A12D9}"/>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E</a:t>
            </a:r>
          </a:p>
        </p:txBody>
      </p:sp>
      <p:graphicFrame>
        <p:nvGraphicFramePr>
          <p:cNvPr id="127" name=""/>
          <p:cNvGraphicFramePr/>
          <p:nvPr/>
        </p:nvGraphicFramePr>
        <p:xfrm>
          <a:off xmlns:a="http://schemas.openxmlformats.org/drawingml/2006/main" x="3048000" y="3362325"/>
          <a:ext xmlns:a="http://schemas.openxmlformats.org/drawingml/2006/main" cx="11506200" cy="3524250"/>
        </p:xfrm>
        <a:graphic xmlns:a="http://schemas.openxmlformats.org/drawingml/2006/main">
          <a:graphicData uri="http://schemas.openxmlformats.org/drawingml/2006/table">
            <a:tbl>
              <a:tblPr/>
              <a:tblGrid>
                <a:gridCol w="2762250"/>
                <a:gridCol w="8743950"/>
              </a:tblGrid>
              <a:tr h="587375">
                <a:tc>
                  <a:txBody>
                    <a:bodyPr/>
                    <a:lstStyle/>
                    <a:p>
                      <a:r>
                        <a:rPr sz="1875" b="1">
                          <a:solidFill>
                            <a:srgbClr val="37352F"/>
                          </a:solidFill>
                          <a:latin typeface="Malgun Gothic"/>
                          <a:ea typeface="Malgun Gothic"/>
                          <a:cs typeface="Malgun Gothic"/>
                        </a:rPr>
                        <a:t>기준</a:t>
                      </a:r>
                    </a:p>
                  </a:txBody>
                  <a:tcPr marL="85725" marR="85725" marT="28575" marB="28575">
                    <a:solidFill>
                      <a:srgbClr val="F1F1EF"/>
                    </a:solidFill>
                  </a:tcPr>
                </a:tc>
                <a:tc>
                  <a:txBody>
                    <a:bodyPr/>
                    <a:lstStyle/>
                    <a:p>
                      <a:r>
                        <a:rPr sz="1875" b="1">
                          <a:solidFill>
                            <a:srgbClr val="37352F"/>
                          </a:solidFill>
                          <a:latin typeface="Malgun Gothic"/>
                          <a:ea typeface="Malgun Gothic"/>
                          <a:cs typeface="Malgun Gothic"/>
                        </a:rPr>
                        <a:t>용도와 해석</a:t>
                      </a:r>
                    </a:p>
                  </a:txBody>
                  <a:tcPr marL="85725" marR="85725" marT="28575" marB="28575">
                    <a:solidFill>
                      <a:srgbClr val="F1F1EF"/>
                    </a:solidFill>
                  </a:tcPr>
                </a:tc>
              </a:tr>
              <a:tr h="587375">
                <a:tc>
                  <a:txBody>
                    <a:bodyPr/>
                    <a:lstStyle/>
                    <a:p>
                      <a:r>
                        <a:rPr sz="1875" b="0">
                          <a:solidFill>
                            <a:srgbClr val="37352F"/>
                          </a:solidFill>
                          <a:latin typeface="Malgun Gothic"/>
                          <a:ea typeface="Malgun Gothic"/>
                          <a:cs typeface="Malgun Gothic"/>
                        </a:rPr>
                        <a:t>300m</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삼각형 외곽 참여 범위 규칙</a:t>
                      </a:r>
                    </a:p>
                  </a:txBody>
                  <a:tcPr marL="85725" marR="85725" marT="28575" marB="28575">
                    <a:solidFill>
                      <a:srgbClr val="FFFFFF"/>
                    </a:solidFill>
                  </a:tcPr>
                </a:tc>
              </a:tr>
              <a:tr h="587375">
                <a:tc>
                  <a:txBody>
                    <a:bodyPr/>
                    <a:lstStyle/>
                    <a:p>
                      <a:r>
                        <a:rPr sz="1875" b="0">
                          <a:solidFill>
                            <a:srgbClr val="37352F"/>
                          </a:solidFill>
                          <a:latin typeface="Malgun Gothic"/>
                          <a:ea typeface="Malgun Gothic"/>
                          <a:cs typeface="Malgun Gothic"/>
                        </a:rPr>
                        <a:t>583m</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평시 20대 비중 모형의 반감거리</a:t>
                      </a:r>
                    </a:p>
                  </a:txBody>
                  <a:tcPr marL="85725" marR="85725" marT="28575" marB="28575">
                    <a:solidFill>
                      <a:srgbClr val="FFFFFF"/>
                    </a:solidFill>
                  </a:tcPr>
                </a:tc>
              </a:tr>
              <a:tr h="587375">
                <a:tc>
                  <a:txBody>
                    <a:bodyPr/>
                    <a:lstStyle/>
                    <a:p>
                      <a:r>
                        <a:rPr sz="1875" b="0">
                          <a:solidFill>
                            <a:srgbClr val="37352F"/>
                          </a:solidFill>
                          <a:latin typeface="Malgun Gothic"/>
                          <a:ea typeface="Malgun Gothic"/>
                          <a:cs typeface="Malgun Gothic"/>
                        </a:rPr>
                        <a:t>425m 분절점</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추가 설명력 유의하지 않음 · F=1.51</a:t>
                      </a:r>
                    </a:p>
                  </a:txBody>
                  <a:tcPr marL="85725" marR="85725" marT="28575" marB="28575">
                    <a:solidFill>
                      <a:srgbClr val="FFFFFF"/>
                    </a:solidFill>
                  </a:tcPr>
                </a:tc>
              </a:tr>
              <a:tr h="587375">
                <a:tc>
                  <a:txBody>
                    <a:bodyPr/>
                    <a:lstStyle/>
                    <a:p>
                      <a:r>
                        <a:rPr sz="1875" b="0">
                          <a:solidFill>
                            <a:srgbClr val="37352F"/>
                          </a:solidFill>
                          <a:latin typeface="Malgun Gothic"/>
                          <a:ea typeface="Malgun Gothic"/>
                          <a:cs typeface="Malgun Gothic"/>
                        </a:rPr>
                        <a:t>500점포 클리핑</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옛 min-max 점포 항의 방어 장치</a:t>
                      </a:r>
                    </a:p>
                  </a:txBody>
                  <a:tcPr marL="85725" marR="85725" marT="28575" marB="28575">
                    <a:solidFill>
                      <a:srgbClr val="FFFFFF"/>
                    </a:solidFill>
                  </a:tcPr>
                </a:tc>
              </a:tr>
              <a:tr h="587375">
                <a:tc>
                  <a:txBody>
                    <a:bodyPr/>
                    <a:lstStyle/>
                    <a:p>
                      <a:r>
                        <a:rPr sz="1875" b="0">
                          <a:solidFill>
                            <a:srgbClr val="37352F"/>
                          </a:solidFill>
                          <a:latin typeface="Malgun Gothic"/>
                          <a:ea typeface="Malgun Gothic"/>
                          <a:cs typeface="Malgun Gothic"/>
                        </a:rPr>
                        <a:t>현재 배정</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16곳 내 백분위·비율 지표와 최대6개 상한</a:t>
                      </a:r>
                    </a:p>
                  </a:txBody>
                  <a:tcPr marL="85725" marR="85725" marT="28575" marB="28575">
                    <a:solidFill>
                      <a:srgbClr val="FFFFFF"/>
                    </a:solidFill>
                  </a:tcPr>
                </a:tc>
              </a:tr>
            </a:tbl>
          </a:graphicData>
        </a:graphic>
      </p:graphicFrame>
      <p:sp>
        <p:nvSpPr>
          <p:cNvPr id="63" name="">
            <a:extLst xmlns:a="http://schemas.openxmlformats.org/drawingml/2006/main">
              <a:ext uri="{FF2B5EF4-FFF2-40B4-BE49-F238E27FC236}">
                <a16:creationId xmlns:a16="http://schemas.microsoft.com/office/drawing/2014/main" id="{FF5AE2A5-0951-4CD5-8ADA-DF5840137839}"/>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E1962EBE-52F8-4843-A043-288FC60F41AE}"/>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5" name="">
            <a:extLst xmlns:a="http://schemas.openxmlformats.org/drawingml/2006/main">
              <a:ext uri="{FF2B5EF4-FFF2-40B4-BE49-F238E27FC236}">
                <a16:creationId xmlns:a16="http://schemas.microsoft.com/office/drawing/2014/main" id="{A1416E45-8A57-4BC7-B36F-FD2E061AF5BB}"/>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“400m에서 확실히 급감” 또는 “추가 예산 0원”으로 설명하지 않음</a:t>
            </a:r>
          </a:p>
        </p:txBody>
      </p:sp>
    </p:spTree>
    <p:extLst>
      <p:ext uri="{BB962C8B-B14F-4D97-AF65-F5344CB8AC3E}">
        <p14:creationId xmlns:p14="http://schemas.microsoft.com/office/powerpoint/2010/main" val="560954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2026-09-13T07:39:48.6870000Z</dcterms:created>
  <dcterms:modified xsi:type="dcterms:W3CDTF">2026-09-13T07:39:48.6870000Z</dcterms:modified>
</coreProperties>
</file>